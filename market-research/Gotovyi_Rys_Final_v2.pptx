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sldIdLst>
    <p:sldId id="286" r:id="rId12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277" r:id="rId31"/>
    <p:sldId id="279" r:id="rId32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2000" cy="6858000"/>
  <p:notesSz cx="7559675" cy="10691813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" Target="slides/slide1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6049C9C-26D1-4BF7-95C2-7ABB3BE0045C}" type="slidenum">
              <a:t>‹№›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51877D8-6C42-493E-8137-7AA72E3A88C7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12FBAA39-EC53-4CF0-B60E-14DE506C665D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D6FE0B3-4447-4A7D-B583-5EE32AB8B828}" type="slidenum">
              <a:t>‹№›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5602CAE-D726-43B9-920E-EA5939FE8FE7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538AA35-9490-4648-8368-19B3123CAD3A}" type="slidenum">
              <a:t>‹№›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AB01A933-A588-48C4-BB5D-0E2F439E6893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926C7FD-F93C-4D5B-BE9B-12BDB056F4FC}" type="slidenum">
              <a:t>‹№›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4FE91E-1351-4F9F-8CF5-0B7F6789C7CF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82F14AF9-FC9F-4855-811B-1BDAF89C796A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208C1557-350F-440A-AEDD-9DFC903CA691}" type="slidenum">
              <a:t>‹№›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BF6D8D-7452-4BBD-B80A-CCF3520CA285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5393B8F-BA6B-4E36-8247-E9C295277C1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806D57-E2E7-4FCC-8AB1-E1592A1A5373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6F79F3-08D0-4626-8438-E303BB1E74C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strike="noStrike" cap="all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701CCC-9DC2-4749-8F63-A885FB3A76DD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010AE7C-BC5C-431D-A7BD-9638F561294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8B0B25-FF38-4398-BF0F-2F66D13BE1AC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51B68A-7401-4164-B7B7-66C50FF87152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9605F44-7B5C-4EC4-9071-29658010D3A1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C384E6A-BA14-4EB6-BCD8-4BF7C0D4A84E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141A942-13C1-4351-B248-8F6A5E969205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‹№›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image" Target="../media/image6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6.jpg"/><Relationship Id="rId5" Type="http://schemas.openxmlformats.org/officeDocument/2006/relationships/image" Target="../media/image70.jpg"/><Relationship Id="rId6" Type="http://schemas.openxmlformats.org/officeDocument/2006/relationships/image" Target="../media/image71.jpg"/><Relationship Id="rId7" Type="http://schemas.openxmlformats.org/officeDocument/2006/relationships/image" Target="../media/image72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17.jpeg"/><Relationship Id="rId5" Type="http://schemas.openxmlformats.org/officeDocument/2006/relationships/image" Target="../media/image12.jpeg"/><Relationship Id="rId6" Type="http://schemas.openxmlformats.org/officeDocument/2006/relationships/image" Target="../media/image73.jpg"/><Relationship Id="rId7" Type="http://schemas.openxmlformats.org/officeDocument/2006/relationships/image" Target="../media/image74.jpg"/><Relationship Id="rId8" Type="http://schemas.openxmlformats.org/officeDocument/2006/relationships/image" Target="../media/image75.jpg"/><Relationship Id="rId9" Type="http://schemas.openxmlformats.org/officeDocument/2006/relationships/image" Target="../media/image54.jpe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openxmlformats.org/officeDocument/2006/relationships/image" Target="../media/image76.jpg"/><Relationship Id="rId5" Type="http://schemas.openxmlformats.org/officeDocument/2006/relationships/image" Target="../media/image28.jpeg"/><Relationship Id="rId6" Type="http://schemas.openxmlformats.org/officeDocument/2006/relationships/image" Target="../media/image26.jpeg"/><Relationship Id="rId7" Type="http://schemas.openxmlformats.org/officeDocument/2006/relationships/image" Target="../media/image77.jpg"/><Relationship Id="rId8" Type="http://schemas.openxmlformats.org/officeDocument/2006/relationships/image" Target="../media/image25.jpeg"/><Relationship Id="rId9" Type="http://schemas.openxmlformats.org/officeDocument/2006/relationships/image" Target="../media/image40.jpeg"/><Relationship Id="rId10" Type="http://schemas.openxmlformats.org/officeDocument/2006/relationships/image" Target="../media/image21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0.jpg"/><Relationship Id="rId4" Type="http://schemas.openxmlformats.org/officeDocument/2006/relationships/image" Target="../media/image60.jpeg"/><Relationship Id="rId5" Type="http://schemas.openxmlformats.org/officeDocument/2006/relationships/image" Target="../media/image66.jpeg"/><Relationship Id="rId6" Type="http://schemas.openxmlformats.org/officeDocument/2006/relationships/image" Target="../media/image64.jpeg"/><Relationship Id="rId7" Type="http://schemas.openxmlformats.org/officeDocument/2006/relationships/image" Target="../media/image46.jpeg"/><Relationship Id="rId8" Type="http://schemas.openxmlformats.org/officeDocument/2006/relationships/image" Target="../media/image57.jpeg"/><Relationship Id="rId9" Type="http://schemas.openxmlformats.org/officeDocument/2006/relationships/image" Target="../media/image59.jpeg"/><Relationship Id="rId10" Type="http://schemas.openxmlformats.org/officeDocument/2006/relationships/image" Target="../media/image44.jpeg"/><Relationship Id="rId11" Type="http://schemas.openxmlformats.org/officeDocument/2006/relationships/image" Target="../media/image53.jpeg"/><Relationship Id="rId12" Type="http://schemas.openxmlformats.org/officeDocument/2006/relationships/image" Target="../media/image50.jpe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1.jpg"/><Relationship Id="rId4" Type="http://schemas.openxmlformats.org/officeDocument/2006/relationships/image" Target="../media/image34.jpeg"/><Relationship Id="rId5" Type="http://schemas.openxmlformats.org/officeDocument/2006/relationships/image" Target="../media/image35.jpeg"/><Relationship Id="rId6" Type="http://schemas.openxmlformats.org/officeDocument/2006/relationships/image" Target="../media/image38.jpeg"/><Relationship Id="rId7" Type="http://schemas.openxmlformats.org/officeDocument/2006/relationships/image" Target="../media/image42.jpeg"/><Relationship Id="rId8" Type="http://schemas.openxmlformats.org/officeDocument/2006/relationships/image" Target="../media/image43.jpe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Relationship Id="rId6" Type="http://schemas.openxmlformats.org/officeDocument/2006/relationships/image" Target="../media/image15.jpeg"/><Relationship Id="rId7" Type="http://schemas.openxmlformats.org/officeDocument/2006/relationships/image" Target="../media/image16.jpeg"/><Relationship Id="rId8" Type="http://schemas.openxmlformats.org/officeDocument/2006/relationships/image" Target="../media/image17.jpeg"/><Relationship Id="rId9" Type="http://schemas.openxmlformats.org/officeDocument/2006/relationships/image" Target="../media/image18.jpeg"/><Relationship Id="rId10" Type="http://schemas.openxmlformats.org/officeDocument/2006/relationships/image" Target="../media/image19.jpeg"/><Relationship Id="rId11" Type="http://schemas.openxmlformats.org/officeDocument/2006/relationships/image" Target="../media/image20.jpe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4.jpeg"/><Relationship Id="rId4" Type="http://schemas.openxmlformats.org/officeDocument/2006/relationships/image" Target="../media/image55.jpeg"/><Relationship Id="rId5" Type="http://schemas.openxmlformats.org/officeDocument/2006/relationships/image" Target="../media/image56.jpeg"/><Relationship Id="rId6" Type="http://schemas.openxmlformats.org/officeDocument/2006/relationships/image" Target="../media/image73.jpg"/><Relationship Id="rId7" Type="http://schemas.openxmlformats.org/officeDocument/2006/relationships/image" Target="../media/image74.jpg"/><Relationship Id="rId8" Type="http://schemas.openxmlformats.org/officeDocument/2006/relationships/image" Target="../media/image7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1.jpeg"/><Relationship Id="rId4" Type="http://schemas.openxmlformats.org/officeDocument/2006/relationships/image" Target="../media/image22.jpeg"/><Relationship Id="rId5" Type="http://schemas.openxmlformats.org/officeDocument/2006/relationships/image" Target="../media/image23.jpeg"/><Relationship Id="rId6" Type="http://schemas.openxmlformats.org/officeDocument/2006/relationships/image" Target="../media/image24.jpeg"/><Relationship Id="rId7" Type="http://schemas.openxmlformats.org/officeDocument/2006/relationships/image" Target="../media/image25.jpeg"/><Relationship Id="rId8" Type="http://schemas.openxmlformats.org/officeDocument/2006/relationships/image" Target="../media/image26.jpeg"/><Relationship Id="rId9" Type="http://schemas.openxmlformats.org/officeDocument/2006/relationships/image" Target="../media/image27.jpeg"/><Relationship Id="rId10" Type="http://schemas.openxmlformats.org/officeDocument/2006/relationships/image" Target="../media/image7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28.jpeg"/><Relationship Id="rId4" Type="http://schemas.openxmlformats.org/officeDocument/2006/relationships/image" Target="../media/image29.jpeg"/><Relationship Id="rId5" Type="http://schemas.openxmlformats.org/officeDocument/2006/relationships/image" Target="../media/image30.jpeg"/><Relationship Id="rId6" Type="http://schemas.openxmlformats.org/officeDocument/2006/relationships/image" Target="../media/image31.jpeg"/><Relationship Id="rId7" Type="http://schemas.openxmlformats.org/officeDocument/2006/relationships/image" Target="../media/image32.jpeg"/><Relationship Id="rId8" Type="http://schemas.openxmlformats.org/officeDocument/2006/relationships/image" Target="../media/image33.jpeg"/><Relationship Id="rId9" Type="http://schemas.openxmlformats.org/officeDocument/2006/relationships/image" Target="../media/image40.jpeg"/><Relationship Id="rId10" Type="http://schemas.openxmlformats.org/officeDocument/2006/relationships/image" Target="../media/image41.jpeg"/><Relationship Id="rId11" Type="http://schemas.openxmlformats.org/officeDocument/2006/relationships/image" Target="../media/image76.jpg"/><Relationship Id="rId12" Type="http://schemas.openxmlformats.org/officeDocument/2006/relationships/image" Target="../media/image7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4.jpeg"/><Relationship Id="rId4" Type="http://schemas.openxmlformats.org/officeDocument/2006/relationships/image" Target="../media/image35.jpeg"/><Relationship Id="rId5" Type="http://schemas.openxmlformats.org/officeDocument/2006/relationships/image" Target="../media/image36.jpeg"/><Relationship Id="rId6" Type="http://schemas.openxmlformats.org/officeDocument/2006/relationships/image" Target="../media/image37.jpeg"/><Relationship Id="rId7" Type="http://schemas.openxmlformats.org/officeDocument/2006/relationships/image" Target="../media/image38.jpeg"/><Relationship Id="rId8" Type="http://schemas.openxmlformats.org/officeDocument/2006/relationships/image" Target="../media/image39.jpeg"/><Relationship Id="rId9" Type="http://schemas.openxmlformats.org/officeDocument/2006/relationships/image" Target="../media/image42.jpeg"/><Relationship Id="rId10" Type="http://schemas.openxmlformats.org/officeDocument/2006/relationships/image" Target="../media/image43.jpe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6.jpeg"/><Relationship Id="rId4" Type="http://schemas.openxmlformats.org/officeDocument/2006/relationships/image" Target="../media/image47.jpeg"/><Relationship Id="rId5" Type="http://schemas.openxmlformats.org/officeDocument/2006/relationships/image" Target="../media/image48.jpeg"/><Relationship Id="rId6" Type="http://schemas.openxmlformats.org/officeDocument/2006/relationships/image" Target="../media/image49.jpeg"/><Relationship Id="rId7" Type="http://schemas.openxmlformats.org/officeDocument/2006/relationships/image" Target="../media/image50.jpeg"/><Relationship Id="rId8" Type="http://schemas.openxmlformats.org/officeDocument/2006/relationships/image" Target="../media/image51.jpeg"/><Relationship Id="rId9" Type="http://schemas.openxmlformats.org/officeDocument/2006/relationships/image" Target="../media/image52.jpeg"/><Relationship Id="rId10" Type="http://schemas.openxmlformats.org/officeDocument/2006/relationships/image" Target="../media/image53.jpe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44.jpeg"/><Relationship Id="rId4" Type="http://schemas.openxmlformats.org/officeDocument/2006/relationships/image" Target="../media/image45.jpeg"/><Relationship Id="rId5" Type="http://schemas.openxmlformats.org/officeDocument/2006/relationships/image" Target="../media/image57.jpeg"/><Relationship Id="rId6" Type="http://schemas.openxmlformats.org/officeDocument/2006/relationships/image" Target="../media/image58.jpeg"/><Relationship Id="rId7" Type="http://schemas.openxmlformats.org/officeDocument/2006/relationships/image" Target="../media/image54.jpeg"/><Relationship Id="rId8" Type="http://schemas.openxmlformats.org/officeDocument/2006/relationships/image" Target="../media/image59.jpeg"/><Relationship Id="rId9" Type="http://schemas.openxmlformats.org/officeDocument/2006/relationships/image" Target="../media/image56.jpe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0.jpeg"/><Relationship Id="rId4" Type="http://schemas.openxmlformats.org/officeDocument/2006/relationships/image" Target="../media/image61.jpeg"/><Relationship Id="rId5" Type="http://schemas.openxmlformats.org/officeDocument/2006/relationships/image" Target="../media/image62.jpeg"/><Relationship Id="rId6" Type="http://schemas.openxmlformats.org/officeDocument/2006/relationships/image" Target="../media/image63.jpeg"/><Relationship Id="rId7" Type="http://schemas.openxmlformats.org/officeDocument/2006/relationships/image" Target="../media/image64.jpeg"/><Relationship Id="rId8" Type="http://schemas.openxmlformats.org/officeDocument/2006/relationships/image" Target="../media/image65.jpeg"/><Relationship Id="rId9" Type="http://schemas.openxmlformats.org/officeDocument/2006/relationships/image" Target="../media/image6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 dirty="0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7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8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9" name="Picture 4" descr="logo.png"/>
          <p:cNvPicPr/>
          <p:nvPr/>
        </p:nvPicPr>
        <p:blipFill>
          <a:blip r:embed="rId2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420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950" b="1" strike="noStrike" spc="-1">
                <a:solidFill>
                  <a:srgbClr val="FFC95C"/>
                </a:solidFill>
                <a:latin typeface="Segoe UI"/>
              </a:rPr>
              <a:t>РИТЕЙЛ-АУДИТ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1900" b="1" strike="noStrike" spc="-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15000"/>
              </a:lnSpc>
            </a:pPr>
            <a:r>
              <a:rPr lang="en-US" sz="1700" b="1" strike="noStrike" spc="-1">
                <a:solidFill>
                  <a:srgbClr val="465382"/>
                </a:solidFill>
                <a:latin typeface="Segoe UI"/>
              </a:rPr>
              <a:t>15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TextBox 8"/>
          <p:cNvSpPr/>
          <p:nvPr/>
        </p:nvSpPr>
        <p:spPr>
          <a:xfrm>
            <a:off x="603360" y="1252800"/>
            <a:ext cx="1088100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950" b="0" strike="noStrike" spc="-1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Rectangle 9"/>
          <p:cNvSpPr/>
          <p:nvPr/>
        </p:nvSpPr>
        <p:spPr>
          <a:xfrm>
            <a:off x="567000" y="1517760"/>
            <a:ext cx="40680" cy="17352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5" name="TextBox 10"/>
          <p:cNvSpPr/>
          <p:nvPr/>
        </p:nvSpPr>
        <p:spPr>
          <a:xfrm>
            <a:off x="713160" y="1531440"/>
            <a:ext cx="6400440" cy="1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80" b="1" strike="noStrike" spc="-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  <a:endParaRPr lang="en-US" sz="6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TextBox 11"/>
          <p:cNvSpPr/>
          <p:nvPr/>
        </p:nvSpPr>
        <p:spPr>
          <a:xfrm>
            <a:off x="7315200" y="1531440"/>
            <a:ext cx="4023000" cy="1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15000"/>
              </a:lnSpc>
            </a:pPr>
            <a:r>
              <a:rPr lang="en-US" sz="680" b="1" strike="noStrike" spc="-1">
                <a:solidFill>
                  <a:srgbClr val="C4820A"/>
                </a:solidFill>
                <a:latin typeface="Segoe UI"/>
              </a:rPr>
              <a:t>12 SKU</a:t>
            </a:r>
            <a:endParaRPr lang="en-US" sz="6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TextBox 12"/>
          <p:cNvSpPr/>
          <p:nvPr/>
        </p:nvSpPr>
        <p:spPr>
          <a:xfrm>
            <a:off x="567000" y="1755720"/>
            <a:ext cx="2614680" cy="10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10" b="1" strike="noStrike" spc="-1">
                <a:solidFill>
                  <a:srgbClr val="717890"/>
                </a:solidFill>
                <a:latin typeface="Segoe UI"/>
              </a:rPr>
              <a:t>МЕРЕЖА</a:t>
            </a:r>
            <a:endParaRPr lang="en-US" sz="6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TextBox 13"/>
          <p:cNvSpPr/>
          <p:nvPr/>
        </p:nvSpPr>
        <p:spPr>
          <a:xfrm>
            <a:off x="3182040" y="1755720"/>
            <a:ext cx="3931560" cy="10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10" b="1" strike="noStrike" spc="-1">
                <a:solidFill>
                  <a:srgbClr val="717890"/>
                </a:solidFill>
                <a:latin typeface="Segoe UI"/>
              </a:rPr>
              <a:t>ЩО САМЕ СТОЇТЬ</a:t>
            </a:r>
            <a:endParaRPr lang="en-US" sz="6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Box 14"/>
          <p:cNvSpPr/>
          <p:nvPr/>
        </p:nvSpPr>
        <p:spPr>
          <a:xfrm>
            <a:off x="7113960" y="1755720"/>
            <a:ext cx="1389600" cy="10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10" b="1" strike="noStrike" spc="-1">
                <a:solidFill>
                  <a:srgbClr val="717890"/>
                </a:solidFill>
                <a:latin typeface="Segoe UI"/>
              </a:rPr>
              <a:t>ФОРМАТ</a:t>
            </a:r>
            <a:endParaRPr lang="en-US" sz="6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TextBox 15"/>
          <p:cNvSpPr/>
          <p:nvPr/>
        </p:nvSpPr>
        <p:spPr>
          <a:xfrm>
            <a:off x="8503920" y="1755720"/>
            <a:ext cx="456840" cy="10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10" b="1" strike="noStrike" spc="-1">
                <a:solidFill>
                  <a:srgbClr val="717890"/>
                </a:solidFill>
                <a:latin typeface="Segoe UI"/>
              </a:rPr>
              <a:t>SKU</a:t>
            </a:r>
            <a:endParaRPr lang="en-US" sz="6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TextBox 16"/>
          <p:cNvSpPr/>
          <p:nvPr/>
        </p:nvSpPr>
        <p:spPr>
          <a:xfrm>
            <a:off x="8961120" y="1755720"/>
            <a:ext cx="1334520" cy="10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10" b="1" strike="noStrike" spc="-1">
                <a:solidFill>
                  <a:srgbClr val="717890"/>
                </a:solidFill>
                <a:latin typeface="Segoe UI"/>
              </a:rPr>
              <a:t>ЦІНА ЗА УПАКОВКУ</a:t>
            </a:r>
            <a:endParaRPr lang="en-US" sz="6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TextBox 17"/>
          <p:cNvSpPr/>
          <p:nvPr/>
        </p:nvSpPr>
        <p:spPr>
          <a:xfrm>
            <a:off x="10296000" y="1755720"/>
            <a:ext cx="1517400" cy="10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10" b="1" strike="noStrike" spc="-1">
                <a:solidFill>
                  <a:srgbClr val="717890"/>
                </a:solidFill>
                <a:latin typeface="Segoe UI"/>
              </a:rPr>
              <a:t>ПОХОДЖЕННЯ</a:t>
            </a:r>
            <a:endParaRPr lang="en-US" sz="6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TextBox 18"/>
          <p:cNvSpPr/>
          <p:nvPr/>
        </p:nvSpPr>
        <p:spPr>
          <a:xfrm>
            <a:off x="567000" y="193860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Сільпо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TextBox 19"/>
          <p:cNvSpPr/>
          <p:nvPr/>
        </p:nvSpPr>
        <p:spPr>
          <a:xfrm>
            <a:off x="3182040" y="193860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303A5D"/>
                </a:solidFill>
                <a:latin typeface="Segoe UI"/>
              </a:rPr>
              <a:t>Ben's Original / Uncle Ben's Express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TextBox 20"/>
          <p:cNvSpPr/>
          <p:nvPr/>
        </p:nvSpPr>
        <p:spPr>
          <a:xfrm>
            <a:off x="7113960" y="193860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C4820A"/>
                </a:solidFill>
                <a:latin typeface="Segoe UI"/>
              </a:rPr>
              <a:t>пауч 220–250 г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TextBox 21"/>
          <p:cNvSpPr/>
          <p:nvPr/>
        </p:nvSpPr>
        <p:spPr>
          <a:xfrm>
            <a:off x="8503920" y="193860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303A5D"/>
                </a:solidFill>
                <a:latin typeface="Segoe UI"/>
              </a:rPr>
              <a:t>11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TextBox 22"/>
          <p:cNvSpPr/>
          <p:nvPr/>
        </p:nvSpPr>
        <p:spPr>
          <a:xfrm>
            <a:off x="8961120" y="193860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90–179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TextBox 23"/>
          <p:cNvSpPr/>
          <p:nvPr/>
        </p:nvSpPr>
        <p:spPr>
          <a:xfrm>
            <a:off x="10296000" y="193860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717890"/>
                </a:solidFill>
                <a:latin typeface="Segoe UI"/>
              </a:rPr>
              <a:t>Mars · ЄС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Rounded Rectangle 24"/>
          <p:cNvSpPr/>
          <p:nvPr/>
        </p:nvSpPr>
        <p:spPr>
          <a:xfrm>
            <a:off x="493920" y="2121480"/>
            <a:ext cx="10935720" cy="214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0" name="TextBox 25"/>
          <p:cNvSpPr/>
          <p:nvPr/>
        </p:nvSpPr>
        <p:spPr>
          <a:xfrm>
            <a:off x="567000" y="215352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МегаМаркет · Ultramarket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TextBox 26"/>
          <p:cNvSpPr/>
          <p:nvPr/>
        </p:nvSpPr>
        <p:spPr>
          <a:xfrm>
            <a:off x="3182040" y="215352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TextBox 27"/>
          <p:cNvSpPr/>
          <p:nvPr/>
        </p:nvSpPr>
        <p:spPr>
          <a:xfrm>
            <a:off x="7113960" y="215352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C4820A"/>
                </a:solidFill>
                <a:latin typeface="Segoe UI"/>
              </a:rPr>
              <a:t>лоток 350 г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TextBox 28"/>
          <p:cNvSpPr/>
          <p:nvPr/>
        </p:nvSpPr>
        <p:spPr>
          <a:xfrm>
            <a:off x="8503920" y="215352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303A5D"/>
                </a:solidFill>
                <a:latin typeface="Segoe UI"/>
              </a:rPr>
              <a:t>1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TextBox 29"/>
          <p:cNvSpPr/>
          <p:nvPr/>
        </p:nvSpPr>
        <p:spPr>
          <a:xfrm>
            <a:off x="8961120" y="215352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207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TextBox 30"/>
          <p:cNvSpPr/>
          <p:nvPr/>
        </p:nvSpPr>
        <p:spPr>
          <a:xfrm>
            <a:off x="10296000" y="215352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717890"/>
                </a:solidFill>
                <a:latin typeface="Segoe UI"/>
              </a:rPr>
              <a:t>Україна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Rectangle 31"/>
          <p:cNvSpPr/>
          <p:nvPr/>
        </p:nvSpPr>
        <p:spPr>
          <a:xfrm>
            <a:off x="567000" y="2487240"/>
            <a:ext cx="40680" cy="17352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7" name="TextBox 32"/>
          <p:cNvSpPr/>
          <p:nvPr/>
        </p:nvSpPr>
        <p:spPr>
          <a:xfrm>
            <a:off x="713160" y="2500920"/>
            <a:ext cx="6400440" cy="1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80" b="1" strike="noStrike" spc="-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  <a:endParaRPr lang="en-US" sz="6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33"/>
          <p:cNvSpPr/>
          <p:nvPr/>
        </p:nvSpPr>
        <p:spPr>
          <a:xfrm>
            <a:off x="7315200" y="2500920"/>
            <a:ext cx="4023000" cy="1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15000"/>
              </a:lnSpc>
            </a:pPr>
            <a:r>
              <a:rPr lang="en-US" sz="680" b="1" strike="noStrike" spc="-1">
                <a:solidFill>
                  <a:srgbClr val="1E9EA6"/>
                </a:solidFill>
                <a:latin typeface="Segoe UI"/>
              </a:rPr>
              <a:t>11 SKU</a:t>
            </a:r>
            <a:endParaRPr lang="en-US" sz="6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TextBox 34"/>
          <p:cNvSpPr/>
          <p:nvPr/>
        </p:nvSpPr>
        <p:spPr>
          <a:xfrm>
            <a:off x="567000" y="272484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Ашан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TextBox 35"/>
          <p:cNvSpPr/>
          <p:nvPr/>
        </p:nvSpPr>
        <p:spPr>
          <a:xfrm>
            <a:off x="3182040" y="272484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TextBox 36"/>
          <p:cNvSpPr/>
          <p:nvPr/>
        </p:nvSpPr>
        <p:spPr>
          <a:xfrm>
            <a:off x="7113960" y="272484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E9EA6"/>
                </a:solidFill>
                <a:latin typeface="Segoe UI"/>
              </a:rPr>
              <a:t>лоток 280 г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" name="TextBox 37"/>
          <p:cNvSpPr/>
          <p:nvPr/>
        </p:nvSpPr>
        <p:spPr>
          <a:xfrm>
            <a:off x="8503920" y="272484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303A5D"/>
                </a:solidFill>
                <a:latin typeface="Segoe UI"/>
              </a:rPr>
              <a:t>1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TextBox 38"/>
          <p:cNvSpPr/>
          <p:nvPr/>
        </p:nvSpPr>
        <p:spPr>
          <a:xfrm>
            <a:off x="8961120" y="272484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112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TextBox 39"/>
          <p:cNvSpPr/>
          <p:nvPr/>
        </p:nvSpPr>
        <p:spPr>
          <a:xfrm>
            <a:off x="10296000" y="272484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717890"/>
                </a:solidFill>
                <a:latin typeface="Segoe UI"/>
              </a:rPr>
              <a:t>Україна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Rounded Rectangle 40"/>
          <p:cNvSpPr/>
          <p:nvPr/>
        </p:nvSpPr>
        <p:spPr>
          <a:xfrm>
            <a:off x="493920" y="2907720"/>
            <a:ext cx="10935720" cy="214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6" name="TextBox 41"/>
          <p:cNvSpPr/>
          <p:nvPr/>
        </p:nvSpPr>
        <p:spPr>
          <a:xfrm>
            <a:off x="567000" y="293976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Сільпо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TextBox 42"/>
          <p:cNvSpPr/>
          <p:nvPr/>
        </p:nvSpPr>
        <p:spPr>
          <a:xfrm>
            <a:off x="3182040" y="293976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TextBox 43"/>
          <p:cNvSpPr/>
          <p:nvPr/>
        </p:nvSpPr>
        <p:spPr>
          <a:xfrm>
            <a:off x="7113960" y="293976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E9EA6"/>
                </a:solidFill>
                <a:latin typeface="Segoe UI"/>
              </a:rPr>
              <a:t>лоток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TextBox 44"/>
          <p:cNvSpPr/>
          <p:nvPr/>
        </p:nvSpPr>
        <p:spPr>
          <a:xfrm>
            <a:off x="8503920" y="293976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303A5D"/>
                </a:solidFill>
                <a:latin typeface="Segoe UI"/>
              </a:rPr>
              <a:t>2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TextBox 45"/>
          <p:cNvSpPr/>
          <p:nvPr/>
        </p:nvSpPr>
        <p:spPr>
          <a:xfrm>
            <a:off x="8961120" y="293976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75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TextBox 46"/>
          <p:cNvSpPr/>
          <p:nvPr/>
        </p:nvSpPr>
        <p:spPr>
          <a:xfrm>
            <a:off x="10296000" y="293976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717890"/>
                </a:solidFill>
                <a:latin typeface="Segoe UI"/>
              </a:rPr>
              <a:t>Україна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TextBox 47"/>
          <p:cNvSpPr/>
          <p:nvPr/>
        </p:nvSpPr>
        <p:spPr>
          <a:xfrm>
            <a:off x="567000" y="315468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Сільпо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TextBox 48"/>
          <p:cNvSpPr/>
          <p:nvPr/>
        </p:nvSpPr>
        <p:spPr>
          <a:xfrm>
            <a:off x="3182040" y="315468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TextBox 49"/>
          <p:cNvSpPr/>
          <p:nvPr/>
        </p:nvSpPr>
        <p:spPr>
          <a:xfrm>
            <a:off x="7113960" y="315468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E9EA6"/>
                </a:solidFill>
                <a:latin typeface="Segoe UI"/>
              </a:rPr>
              <a:t>кулінарія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TextBox 50"/>
          <p:cNvSpPr/>
          <p:nvPr/>
        </p:nvSpPr>
        <p:spPr>
          <a:xfrm>
            <a:off x="8503920" y="315468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303A5D"/>
                </a:solidFill>
                <a:latin typeface="Segoe UI"/>
              </a:rPr>
              <a:t>6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TextBox 51"/>
          <p:cNvSpPr/>
          <p:nvPr/>
        </p:nvSpPr>
        <p:spPr>
          <a:xfrm>
            <a:off x="8961120" y="315468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139–439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TextBox 52"/>
          <p:cNvSpPr/>
          <p:nvPr/>
        </p:nvSpPr>
        <p:spPr>
          <a:xfrm>
            <a:off x="10296000" y="315468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717890"/>
                </a:solidFill>
                <a:latin typeface="Segoe UI"/>
              </a:rPr>
              <a:t>Україна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Rounded Rectangle 53"/>
          <p:cNvSpPr/>
          <p:nvPr/>
        </p:nvSpPr>
        <p:spPr>
          <a:xfrm>
            <a:off x="493920" y="3337560"/>
            <a:ext cx="10935720" cy="214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9" name="TextBox 54"/>
          <p:cNvSpPr/>
          <p:nvPr/>
        </p:nvSpPr>
        <p:spPr>
          <a:xfrm>
            <a:off x="567000" y="336960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NOVUS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TextBox 55"/>
          <p:cNvSpPr/>
          <p:nvPr/>
        </p:nvSpPr>
        <p:spPr>
          <a:xfrm>
            <a:off x="3182040" y="336960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TextBox 56"/>
          <p:cNvSpPr/>
          <p:nvPr/>
        </p:nvSpPr>
        <p:spPr>
          <a:xfrm>
            <a:off x="7113960" y="336960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E9EA6"/>
                </a:solidFill>
                <a:latin typeface="Segoe UI"/>
              </a:rPr>
              <a:t>кулінарія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TextBox 57"/>
          <p:cNvSpPr/>
          <p:nvPr/>
        </p:nvSpPr>
        <p:spPr>
          <a:xfrm>
            <a:off x="8503920" y="336960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303A5D"/>
                </a:solidFill>
                <a:latin typeface="Segoe UI"/>
              </a:rPr>
              <a:t>1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TextBox 58"/>
          <p:cNvSpPr/>
          <p:nvPr/>
        </p:nvSpPr>
        <p:spPr>
          <a:xfrm>
            <a:off x="8961120" y="336960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299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TextBox 59"/>
          <p:cNvSpPr/>
          <p:nvPr/>
        </p:nvSpPr>
        <p:spPr>
          <a:xfrm>
            <a:off x="10296000" y="336960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717890"/>
                </a:solidFill>
                <a:latin typeface="Segoe UI"/>
              </a:rPr>
              <a:t>Україна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TextBox 60"/>
          <p:cNvSpPr/>
          <p:nvPr/>
        </p:nvSpPr>
        <p:spPr>
          <a:xfrm>
            <a:off x="567000" y="358452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МегаМаркет · Ultramarket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TextBox 61"/>
          <p:cNvSpPr/>
          <p:nvPr/>
        </p:nvSpPr>
        <p:spPr>
          <a:xfrm>
            <a:off x="3182040" y="358452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303A5D"/>
                </a:solidFill>
                <a:latin typeface="Segoe UI"/>
              </a:rPr>
              <a:t>Рис японський з овочами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TextBox 62"/>
          <p:cNvSpPr/>
          <p:nvPr/>
        </p:nvSpPr>
        <p:spPr>
          <a:xfrm>
            <a:off x="7113960" y="358452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E9EA6"/>
                </a:solidFill>
                <a:latin typeface="Segoe UI"/>
              </a:rPr>
              <a:t>кулінарія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" name="TextBox 63"/>
          <p:cNvSpPr/>
          <p:nvPr/>
        </p:nvSpPr>
        <p:spPr>
          <a:xfrm>
            <a:off x="8503920" y="358452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303A5D"/>
                </a:solidFill>
                <a:latin typeface="Segoe UI"/>
              </a:rPr>
              <a:t>1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" name="TextBox 64"/>
          <p:cNvSpPr/>
          <p:nvPr/>
        </p:nvSpPr>
        <p:spPr>
          <a:xfrm>
            <a:off x="8961120" y="358452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366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TextBox 65"/>
          <p:cNvSpPr/>
          <p:nvPr/>
        </p:nvSpPr>
        <p:spPr>
          <a:xfrm>
            <a:off x="10296000" y="358452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717890"/>
                </a:solidFill>
                <a:latin typeface="Segoe UI"/>
              </a:rPr>
              <a:t>Україна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Rectangle 66"/>
          <p:cNvSpPr/>
          <p:nvPr/>
        </p:nvSpPr>
        <p:spPr>
          <a:xfrm>
            <a:off x="567000" y="3918240"/>
            <a:ext cx="40680" cy="173520"/>
          </a:xfrm>
          <a:prstGeom prst="rect">
            <a:avLst/>
          </a:prstGeom>
          <a:solidFill>
            <a:srgbClr val="5D4B9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2" name="TextBox 67"/>
          <p:cNvSpPr/>
          <p:nvPr/>
        </p:nvSpPr>
        <p:spPr>
          <a:xfrm>
            <a:off x="713160" y="3931920"/>
            <a:ext cx="6400440" cy="1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80" b="1" strike="noStrike" spc="-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  <a:endParaRPr lang="en-US" sz="6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TextBox 68"/>
          <p:cNvSpPr/>
          <p:nvPr/>
        </p:nvSpPr>
        <p:spPr>
          <a:xfrm>
            <a:off x="7315200" y="3931920"/>
            <a:ext cx="4023000" cy="11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15000"/>
              </a:lnSpc>
            </a:pPr>
            <a:r>
              <a:rPr lang="en-US" sz="680" b="1" strike="noStrike" spc="-1">
                <a:solidFill>
                  <a:srgbClr val="5D4B96"/>
                </a:solidFill>
                <a:latin typeface="Segoe UI"/>
              </a:rPr>
              <a:t>3 SKU</a:t>
            </a:r>
            <a:endParaRPr lang="en-US" sz="6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4" name="TextBox 69"/>
          <p:cNvSpPr/>
          <p:nvPr/>
        </p:nvSpPr>
        <p:spPr>
          <a:xfrm>
            <a:off x="567000" y="415584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TextBox 70"/>
          <p:cNvSpPr/>
          <p:nvPr/>
        </p:nvSpPr>
        <p:spPr>
          <a:xfrm>
            <a:off x="3182040" y="415584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TextBox 71"/>
          <p:cNvSpPr/>
          <p:nvPr/>
        </p:nvSpPr>
        <p:spPr>
          <a:xfrm>
            <a:off x="7113960" y="415584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5D4B96"/>
                </a:solidFill>
                <a:latin typeface="Segoe UI"/>
              </a:rPr>
              <a:t>пакет 200 г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TextBox 72"/>
          <p:cNvSpPr/>
          <p:nvPr/>
        </p:nvSpPr>
        <p:spPr>
          <a:xfrm>
            <a:off x="8503920" y="415584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303A5D"/>
                </a:solidFill>
                <a:latin typeface="Segoe UI"/>
              </a:rPr>
              <a:t>1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TextBox 73"/>
          <p:cNvSpPr/>
          <p:nvPr/>
        </p:nvSpPr>
        <p:spPr>
          <a:xfrm>
            <a:off x="8961120" y="415584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89–92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TextBox 74"/>
          <p:cNvSpPr/>
          <p:nvPr/>
        </p:nvSpPr>
        <p:spPr>
          <a:xfrm>
            <a:off x="10296000" y="415584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717890"/>
                </a:solidFill>
                <a:latin typeface="Segoe UI"/>
              </a:rPr>
              <a:t>Україна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" name="Rounded Rectangle 75"/>
          <p:cNvSpPr/>
          <p:nvPr/>
        </p:nvSpPr>
        <p:spPr>
          <a:xfrm>
            <a:off x="493920" y="4338720"/>
            <a:ext cx="10935720" cy="2145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1" name="TextBox 76"/>
          <p:cNvSpPr/>
          <p:nvPr/>
        </p:nvSpPr>
        <p:spPr>
          <a:xfrm>
            <a:off x="567000" y="437076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NOVUS · Сільпо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TextBox 77"/>
          <p:cNvSpPr/>
          <p:nvPr/>
        </p:nvSpPr>
        <p:spPr>
          <a:xfrm>
            <a:off x="3182040" y="437076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TextBox 78"/>
          <p:cNvSpPr/>
          <p:nvPr/>
        </p:nvSpPr>
        <p:spPr>
          <a:xfrm>
            <a:off x="7113960" y="437076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5D4B96"/>
                </a:solidFill>
                <a:latin typeface="Segoe UI"/>
              </a:rPr>
              <a:t>пакет 250 г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4" name="TextBox 79"/>
          <p:cNvSpPr/>
          <p:nvPr/>
        </p:nvSpPr>
        <p:spPr>
          <a:xfrm>
            <a:off x="8503920" y="437076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303A5D"/>
                </a:solidFill>
                <a:latin typeface="Segoe UI"/>
              </a:rPr>
              <a:t>1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TextBox 80"/>
          <p:cNvSpPr/>
          <p:nvPr/>
        </p:nvSpPr>
        <p:spPr>
          <a:xfrm>
            <a:off x="8961120" y="437076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59–85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TextBox 81"/>
          <p:cNvSpPr/>
          <p:nvPr/>
        </p:nvSpPr>
        <p:spPr>
          <a:xfrm>
            <a:off x="10296000" y="437076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717890"/>
                </a:solidFill>
                <a:latin typeface="Segoe UI"/>
              </a:rPr>
              <a:t>Україна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" name="TextBox 82"/>
          <p:cNvSpPr/>
          <p:nvPr/>
        </p:nvSpPr>
        <p:spPr>
          <a:xfrm>
            <a:off x="567000" y="4585680"/>
            <a:ext cx="261468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МегаМаркет · Ultramarket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TextBox 83"/>
          <p:cNvSpPr/>
          <p:nvPr/>
        </p:nvSpPr>
        <p:spPr>
          <a:xfrm>
            <a:off x="3182040" y="4585680"/>
            <a:ext cx="393156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TextBox 84"/>
          <p:cNvSpPr/>
          <p:nvPr/>
        </p:nvSpPr>
        <p:spPr>
          <a:xfrm>
            <a:off x="7113960" y="4585680"/>
            <a:ext cx="13896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5D4B96"/>
                </a:solidFill>
                <a:latin typeface="Segoe UI"/>
              </a:rPr>
              <a:t>пакет 500 г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TextBox 85"/>
          <p:cNvSpPr/>
          <p:nvPr/>
        </p:nvSpPr>
        <p:spPr>
          <a:xfrm>
            <a:off x="8503920" y="4585680"/>
            <a:ext cx="45684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303A5D"/>
                </a:solidFill>
                <a:latin typeface="Segoe UI"/>
              </a:rPr>
              <a:t>1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Box 86"/>
          <p:cNvSpPr/>
          <p:nvPr/>
        </p:nvSpPr>
        <p:spPr>
          <a:xfrm>
            <a:off x="8961120" y="4585680"/>
            <a:ext cx="133452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1" strike="noStrike" spc="-1">
                <a:solidFill>
                  <a:srgbClr val="1C2235"/>
                </a:solidFill>
                <a:latin typeface="Segoe UI"/>
              </a:rPr>
              <a:t>78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TextBox 87"/>
          <p:cNvSpPr/>
          <p:nvPr/>
        </p:nvSpPr>
        <p:spPr>
          <a:xfrm>
            <a:off x="10296000" y="4585680"/>
            <a:ext cx="1517400" cy="12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710" b="0" strike="noStrike" spc="-1">
                <a:solidFill>
                  <a:srgbClr val="717890"/>
                </a:solidFill>
                <a:latin typeface="Segoe UI"/>
              </a:rPr>
              <a:t>Україна</a:t>
            </a:r>
            <a:endParaRPr lang="en-US" sz="71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Rectangle 1"/>
          <p:cNvSpPr/>
          <p:nvPr/>
        </p:nvSpPr>
        <p:spPr>
          <a:xfrm>
            <a:off x="-52020" y="155700"/>
            <a:ext cx="1219176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4" name="Rectangle 2"/>
          <p:cNvSpPr/>
          <p:nvPr/>
        </p:nvSpPr>
        <p:spPr>
          <a:xfrm>
            <a:off x="0" y="0"/>
            <a:ext cx="12191400" cy="1060200"/>
          </a:xfrm>
          <a:prstGeom prst="rect">
            <a:avLst/>
          </a:prstGeom>
          <a:solidFill>
            <a:srgbClr val="303A5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5" name="Rectangle 3"/>
          <p:cNvSpPr/>
          <p:nvPr/>
        </p:nvSpPr>
        <p:spPr>
          <a:xfrm>
            <a:off x="0" y="1060560"/>
            <a:ext cx="12191400" cy="54360"/>
          </a:xfrm>
          <a:prstGeom prst="rect">
            <a:avLst/>
          </a:prstGeom>
          <a:solidFill>
            <a:srgbClr val="F9A50B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46" name="Picture 4" descr="logo.png"/>
          <p:cNvPicPr/>
          <p:nvPr/>
        </p:nvPicPr>
        <p:blipFill>
          <a:blip r:embed="rId2"/>
          <a:stretch/>
        </p:blipFill>
        <p:spPr>
          <a:xfrm>
            <a:off x="603360" y="237600"/>
            <a:ext cx="1389600" cy="603000"/>
          </a:xfrm>
          <a:prstGeom prst="rect">
            <a:avLst/>
          </a:prstGeom>
          <a:ln w="0">
            <a:noFill/>
          </a:ln>
        </p:spPr>
      </p:pic>
      <p:sp>
        <p:nvSpPr>
          <p:cNvPr id="1547" name="TextBox 5"/>
          <p:cNvSpPr/>
          <p:nvPr/>
        </p:nvSpPr>
        <p:spPr>
          <a:xfrm>
            <a:off x="2304360" y="311040"/>
            <a:ext cx="850356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950" b="1" strike="noStrike" spc="-1">
                <a:solidFill>
                  <a:srgbClr val="FFC95C"/>
                </a:solidFill>
                <a:latin typeface="Segoe UI"/>
              </a:rPr>
              <a:t>КАНАЛИ ПРОДАЖУ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TextBox 6"/>
          <p:cNvSpPr/>
          <p:nvPr/>
        </p:nvSpPr>
        <p:spPr>
          <a:xfrm>
            <a:off x="2304360" y="548640"/>
            <a:ext cx="850356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1900" b="1" strike="noStrike" spc="-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TextBox 7"/>
          <p:cNvSpPr/>
          <p:nvPr/>
        </p:nvSpPr>
        <p:spPr>
          <a:xfrm>
            <a:off x="10945440" y="402480"/>
            <a:ext cx="639720" cy="29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r" defTabSz="457200">
              <a:lnSpc>
                <a:spcPct val="115000"/>
              </a:lnSpc>
            </a:pPr>
            <a:r>
              <a:rPr lang="en-US" sz="1700" b="1" strike="noStrike" spc="-1">
                <a:solidFill>
                  <a:srgbClr val="465382"/>
                </a:solidFill>
                <a:latin typeface="Segoe UI"/>
              </a:rPr>
              <a:t>16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Rounded Rectangle 10"/>
          <p:cNvSpPr/>
          <p:nvPr/>
        </p:nvSpPr>
        <p:spPr>
          <a:xfrm>
            <a:off x="5870520" y="1554480"/>
            <a:ext cx="5760360" cy="9324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3" name="Rectangle 11"/>
          <p:cNvSpPr/>
          <p:nvPr/>
        </p:nvSpPr>
        <p:spPr>
          <a:xfrm>
            <a:off x="5870520" y="1554480"/>
            <a:ext cx="40680" cy="932400"/>
          </a:xfrm>
          <a:prstGeom prst="rect">
            <a:avLst/>
          </a:prstGeom>
          <a:solidFill>
            <a:srgbClr val="C94F7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4" name="TextBox 12"/>
          <p:cNvSpPr/>
          <p:nvPr/>
        </p:nvSpPr>
        <p:spPr>
          <a:xfrm>
            <a:off x="6089760" y="1664280"/>
            <a:ext cx="329148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950" b="1" strike="noStrike" spc="-1">
                <a:solidFill>
                  <a:srgbClr val="1C2235"/>
                </a:solidFill>
                <a:latin typeface="Segoe UI"/>
              </a:rPr>
              <a:t>Продуктовий роздріб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" name="Rounded Rectangle 13"/>
          <p:cNvSpPr/>
          <p:nvPr/>
        </p:nvSpPr>
        <p:spPr>
          <a:xfrm>
            <a:off x="10012680" y="1682640"/>
            <a:ext cx="923040" cy="18252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6" name="TextBox 14"/>
          <p:cNvSpPr/>
          <p:nvPr/>
        </p:nvSpPr>
        <p:spPr>
          <a:xfrm>
            <a:off x="10012680" y="1693440"/>
            <a:ext cx="923040" cy="10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15000"/>
              </a:lnSpc>
            </a:pPr>
            <a:r>
              <a:rPr lang="en-US" sz="580" b="1" strike="noStrike" spc="-1">
                <a:solidFill>
                  <a:srgbClr val="FFFFFF"/>
                </a:solidFill>
                <a:latin typeface="Segoe UI"/>
              </a:rPr>
              <a:t>ЦІЛЬОВИЙ КАНАЛ</a:t>
            </a:r>
            <a:endParaRPr lang="en-US" sz="5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TextBox 15"/>
          <p:cNvSpPr/>
          <p:nvPr/>
        </p:nvSpPr>
        <p:spPr>
          <a:xfrm>
            <a:off x="6089760" y="1874520"/>
            <a:ext cx="3840120" cy="11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60" b="1" strike="noStrike" spc="-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  <a:endParaRPr lang="en-US" sz="66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TextBox 16"/>
          <p:cNvSpPr/>
          <p:nvPr/>
        </p:nvSpPr>
        <p:spPr>
          <a:xfrm>
            <a:off x="6089760" y="2057400"/>
            <a:ext cx="5394600" cy="13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6000"/>
              </a:lnSpc>
            </a:pPr>
            <a:r>
              <a:rPr lang="en-US" sz="690" b="0" strike="noStrike" spc="-1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  <a:endParaRPr lang="en-US" sz="69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TextBox 17"/>
          <p:cNvSpPr/>
          <p:nvPr/>
        </p:nvSpPr>
        <p:spPr>
          <a:xfrm>
            <a:off x="6089760" y="2313360"/>
            <a:ext cx="5394600" cy="11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40" b="1" strike="noStrike" spc="-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  <a:endParaRPr lang="en-US" sz="64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Rounded Rectangle 18"/>
          <p:cNvSpPr/>
          <p:nvPr/>
        </p:nvSpPr>
        <p:spPr>
          <a:xfrm>
            <a:off x="5870520" y="2569320"/>
            <a:ext cx="5760360" cy="9324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1" name="Rectangle 19"/>
          <p:cNvSpPr/>
          <p:nvPr/>
        </p:nvSpPr>
        <p:spPr>
          <a:xfrm>
            <a:off x="5870520" y="2569320"/>
            <a:ext cx="40680" cy="932400"/>
          </a:xfrm>
          <a:prstGeom prst="rect">
            <a:avLst/>
          </a:prstGeom>
          <a:solidFill>
            <a:srgbClr val="C4820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2" name="TextBox 20"/>
          <p:cNvSpPr/>
          <p:nvPr/>
        </p:nvSpPr>
        <p:spPr>
          <a:xfrm>
            <a:off x="6089760" y="2679120"/>
            <a:ext cx="329148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950" b="1" strike="noStrike" spc="-1">
                <a:solidFill>
                  <a:srgbClr val="1C2235"/>
                </a:solidFill>
                <a:latin typeface="Segoe UI"/>
              </a:rPr>
              <a:t>Онлайн-маркетплейси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Rounded Rectangle 21"/>
          <p:cNvSpPr/>
          <p:nvPr/>
        </p:nvSpPr>
        <p:spPr>
          <a:xfrm>
            <a:off x="10012680" y="2697480"/>
            <a:ext cx="923040" cy="18252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4" name="TextBox 22"/>
          <p:cNvSpPr/>
          <p:nvPr/>
        </p:nvSpPr>
        <p:spPr>
          <a:xfrm>
            <a:off x="10012680" y="2708280"/>
            <a:ext cx="923040" cy="10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15000"/>
              </a:lnSpc>
            </a:pPr>
            <a:r>
              <a:rPr lang="en-US" sz="580" b="1" strike="noStrike" spc="-1">
                <a:solidFill>
                  <a:srgbClr val="FFFFFF"/>
                </a:solidFill>
                <a:latin typeface="Segoe UI"/>
              </a:rPr>
              <a:t>ЦІЛЬОВИЙ КАНАЛ</a:t>
            </a:r>
            <a:endParaRPr lang="en-US" sz="5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TextBox 23"/>
          <p:cNvSpPr/>
          <p:nvPr/>
        </p:nvSpPr>
        <p:spPr>
          <a:xfrm>
            <a:off x="6089760" y="2889360"/>
            <a:ext cx="3840120" cy="11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60" b="1" strike="noStrike" spc="-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  <a:endParaRPr lang="en-US" sz="66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" name="TextBox 24"/>
          <p:cNvSpPr/>
          <p:nvPr/>
        </p:nvSpPr>
        <p:spPr>
          <a:xfrm>
            <a:off x="6089760" y="3072240"/>
            <a:ext cx="5394600" cy="13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6000"/>
              </a:lnSpc>
            </a:pPr>
            <a:r>
              <a:rPr lang="en-US" sz="690" b="0" strike="noStrike" spc="-1">
                <a:solidFill>
                  <a:srgbClr val="303A5D"/>
                </a:solidFill>
                <a:latin typeface="Segoe UI"/>
              </a:rPr>
              <a:t>MAUDAU · Rozetka · Prom</a:t>
            </a:r>
            <a:endParaRPr lang="en-US" sz="69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TextBox 25"/>
          <p:cNvSpPr/>
          <p:nvPr/>
        </p:nvSpPr>
        <p:spPr>
          <a:xfrm>
            <a:off x="6089760" y="3328560"/>
            <a:ext cx="5394600" cy="11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40" b="1" strike="noStrike" spc="-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  <a:endParaRPr lang="en-US" sz="64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Rounded Rectangle 26"/>
          <p:cNvSpPr/>
          <p:nvPr/>
        </p:nvSpPr>
        <p:spPr>
          <a:xfrm>
            <a:off x="5870520" y="3584520"/>
            <a:ext cx="5760360" cy="12798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9" name="Rectangle 27"/>
          <p:cNvSpPr/>
          <p:nvPr/>
        </p:nvSpPr>
        <p:spPr>
          <a:xfrm>
            <a:off x="5870520" y="3584520"/>
            <a:ext cx="40680" cy="1279800"/>
          </a:xfrm>
          <a:prstGeom prst="rect">
            <a:avLst/>
          </a:prstGeom>
          <a:solidFill>
            <a:srgbClr val="1E9EA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0" name="TextBox 28"/>
          <p:cNvSpPr/>
          <p:nvPr/>
        </p:nvSpPr>
        <p:spPr>
          <a:xfrm>
            <a:off x="6089760" y="3694320"/>
            <a:ext cx="329148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950" b="1" strike="noStrike" spc="-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Rounded Rectangle 29"/>
          <p:cNvSpPr/>
          <p:nvPr/>
        </p:nvSpPr>
        <p:spPr>
          <a:xfrm>
            <a:off x="10012680" y="3712320"/>
            <a:ext cx="1275120" cy="18252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2" name="TextBox 30"/>
          <p:cNvSpPr/>
          <p:nvPr/>
        </p:nvSpPr>
        <p:spPr>
          <a:xfrm>
            <a:off x="10012680" y="3723480"/>
            <a:ext cx="1275120" cy="10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15000"/>
              </a:lnSpc>
            </a:pPr>
            <a:r>
              <a:rPr lang="en-US" sz="580" b="1" strike="noStrike" spc="-1">
                <a:solidFill>
                  <a:srgbClr val="FFFFFF"/>
                </a:solidFill>
                <a:latin typeface="Segoe UI"/>
              </a:rPr>
              <a:t>ЦІЛЬОВИЙ КАНАЛ · ВХІД</a:t>
            </a:r>
            <a:endParaRPr lang="en-US" sz="5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TextBox 31"/>
          <p:cNvSpPr/>
          <p:nvPr/>
        </p:nvSpPr>
        <p:spPr>
          <a:xfrm>
            <a:off x="6089760" y="3904560"/>
            <a:ext cx="3840120" cy="11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60" b="1" strike="noStrike" spc="-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  <a:endParaRPr lang="en-US" sz="66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TextBox 32"/>
          <p:cNvSpPr/>
          <p:nvPr/>
        </p:nvSpPr>
        <p:spPr>
          <a:xfrm>
            <a:off x="6089760" y="4087440"/>
            <a:ext cx="539460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6000"/>
              </a:lnSpc>
            </a:pPr>
            <a:r>
              <a:rPr lang="en-US" sz="690" b="0" strike="noStrike" spc="-1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  <a:endParaRPr lang="en-US" sz="69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TextBox 33"/>
          <p:cNvSpPr/>
          <p:nvPr/>
        </p:nvSpPr>
        <p:spPr>
          <a:xfrm>
            <a:off x="6089760" y="4690800"/>
            <a:ext cx="5394600" cy="11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40" b="1" strike="noStrike" spc="-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  <a:endParaRPr lang="en-US" sz="64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Rounded Rectangle 34"/>
          <p:cNvSpPr/>
          <p:nvPr/>
        </p:nvSpPr>
        <p:spPr>
          <a:xfrm>
            <a:off x="5870520" y="4946760"/>
            <a:ext cx="5760360" cy="113364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7" name="Rectangle 35"/>
          <p:cNvSpPr/>
          <p:nvPr/>
        </p:nvSpPr>
        <p:spPr>
          <a:xfrm>
            <a:off x="5870520" y="4946760"/>
            <a:ext cx="40680" cy="1133640"/>
          </a:xfrm>
          <a:prstGeom prst="rect">
            <a:avLst/>
          </a:prstGeom>
          <a:solidFill>
            <a:srgbClr val="9FA9C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8" name="TextBox 36"/>
          <p:cNvSpPr/>
          <p:nvPr/>
        </p:nvSpPr>
        <p:spPr>
          <a:xfrm>
            <a:off x="6089760" y="5056560"/>
            <a:ext cx="3291480" cy="16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950" b="1" strike="noStrike" spc="-1">
                <a:solidFill>
                  <a:srgbClr val="1C2235"/>
                </a:solidFill>
                <a:latin typeface="Segoe UI"/>
              </a:rPr>
              <a:t>Outdoor- і мілітарі-рітейл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Rounded Rectangle 37"/>
          <p:cNvSpPr/>
          <p:nvPr/>
        </p:nvSpPr>
        <p:spPr>
          <a:xfrm>
            <a:off x="10012680" y="5074920"/>
            <a:ext cx="973440" cy="18252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0" name="TextBox 38"/>
          <p:cNvSpPr/>
          <p:nvPr/>
        </p:nvSpPr>
        <p:spPr>
          <a:xfrm>
            <a:off x="10012680" y="5085720"/>
            <a:ext cx="973440" cy="101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15000"/>
              </a:lnSpc>
            </a:pPr>
            <a:r>
              <a:rPr lang="en-US" sz="580" b="1" strike="noStrike" spc="-1">
                <a:solidFill>
                  <a:srgbClr val="FFFFFF"/>
                </a:solidFill>
                <a:latin typeface="Segoe UI"/>
              </a:rPr>
              <a:t>НЕ НАШ ПОКУПЕЦЬ</a:t>
            </a:r>
            <a:endParaRPr lang="en-US" sz="58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TextBox 39"/>
          <p:cNvSpPr/>
          <p:nvPr/>
        </p:nvSpPr>
        <p:spPr>
          <a:xfrm>
            <a:off x="6089760" y="5266800"/>
            <a:ext cx="3840120" cy="116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60" b="1" strike="noStrike" spc="-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  <a:endParaRPr lang="en-US" sz="66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TextBox 40"/>
          <p:cNvSpPr/>
          <p:nvPr/>
        </p:nvSpPr>
        <p:spPr>
          <a:xfrm>
            <a:off x="6089760" y="5449680"/>
            <a:ext cx="5394600" cy="13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26000"/>
              </a:lnSpc>
            </a:pPr>
            <a:r>
              <a:rPr lang="en-US" sz="690" b="0" strike="noStrike" spc="-1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  <a:endParaRPr lang="en-US" sz="69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TextBox 41"/>
          <p:cNvSpPr/>
          <p:nvPr/>
        </p:nvSpPr>
        <p:spPr>
          <a:xfrm>
            <a:off x="6089760" y="5906880"/>
            <a:ext cx="5394600" cy="11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5000"/>
              </a:lnSpc>
            </a:pPr>
            <a:r>
              <a:rPr lang="en-US" sz="640" b="1" strike="noStrike" spc="-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  <a:endParaRPr lang="en-US" sz="64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" name="Rounded Rectangle 1583"/>
          <p:cNvSpPr/>
          <p:nvPr/>
        </p:nvSpPr>
        <p:spPr>
          <a:xfrm>
            <a:off x="603504" y="1481328"/>
            <a:ext cx="5074920" cy="4846320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832104" y="1627632"/>
            <a:ext cx="47091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ТОЧОК ПРОДАЖУ В КАНАЛІ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832104" y="1993392"/>
            <a:ext cx="4709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Туристичні й військові</a:t>
            </a:r>
          </a:p>
        </p:txBody>
      </p:sp>
      <p:sp>
        <p:nvSpPr>
          <p:cNvPr id="1587" name="TextBox 1586"/>
          <p:cNvSpPr txBox="1"/>
          <p:nvPr/>
        </p:nvSpPr>
        <p:spPr>
          <a:xfrm>
            <a:off x="832104" y="2267712"/>
            <a:ext cx="47091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1588" name="Rounded Rectangle 1587"/>
          <p:cNvSpPr/>
          <p:nvPr/>
        </p:nvSpPr>
        <p:spPr>
          <a:xfrm>
            <a:off x="832104" y="2523744"/>
            <a:ext cx="3794760" cy="420624"/>
          </a:xfrm>
          <a:prstGeom prst="roundRect">
            <a:avLst>
              <a:gd name="adj" fmla="val 2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TextBox 1588"/>
          <p:cNvSpPr txBox="1"/>
          <p:nvPr/>
        </p:nvSpPr>
        <p:spPr>
          <a:xfrm>
            <a:off x="4736592" y="2505456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03A5D"/>
                </a:solidFill>
                <a:latin typeface="Segoe UI"/>
              </a:rPr>
              <a:t>40</a:t>
            </a:r>
          </a:p>
        </p:txBody>
      </p:sp>
      <p:sp>
        <p:nvSpPr>
          <p:cNvPr id="1590" name="TextBox 1589"/>
          <p:cNvSpPr txBox="1"/>
          <p:nvPr/>
        </p:nvSpPr>
        <p:spPr>
          <a:xfrm>
            <a:off x="832104" y="3072384"/>
            <a:ext cx="4709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Азійські й етнічні фудшопи</a:t>
            </a:r>
          </a:p>
        </p:txBody>
      </p:sp>
      <p:sp>
        <p:nvSpPr>
          <p:cNvPr id="1591" name="TextBox 1590"/>
          <p:cNvSpPr txBox="1"/>
          <p:nvPr/>
        </p:nvSpPr>
        <p:spPr>
          <a:xfrm>
            <a:off x="832104" y="3346704"/>
            <a:ext cx="47091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наш вхід</a:t>
            </a:r>
          </a:p>
        </p:txBody>
      </p:sp>
      <p:sp>
        <p:nvSpPr>
          <p:cNvPr id="1592" name="Rounded Rectangle 1591"/>
          <p:cNvSpPr/>
          <p:nvPr/>
        </p:nvSpPr>
        <p:spPr>
          <a:xfrm>
            <a:off x="832104" y="3602736"/>
            <a:ext cx="1897380" cy="420624"/>
          </a:xfrm>
          <a:prstGeom prst="roundRect">
            <a:avLst>
              <a:gd name="adj" fmla="val 2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TextBox 1592"/>
          <p:cNvSpPr txBox="1"/>
          <p:nvPr/>
        </p:nvSpPr>
        <p:spPr>
          <a:xfrm>
            <a:off x="2839212" y="3584448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03A5D"/>
                </a:solidFill>
                <a:latin typeface="Segoe UI"/>
              </a:rPr>
              <a:t>20</a:t>
            </a:r>
          </a:p>
        </p:txBody>
      </p:sp>
      <p:sp>
        <p:nvSpPr>
          <p:cNvPr id="1594" name="TextBox 1593"/>
          <p:cNvSpPr txBox="1"/>
          <p:nvPr/>
        </p:nvSpPr>
        <p:spPr>
          <a:xfrm>
            <a:off x="832104" y="4151376"/>
            <a:ext cx="4709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1595" name="TextBox 1594"/>
          <p:cNvSpPr txBox="1"/>
          <p:nvPr/>
        </p:nvSpPr>
        <p:spPr>
          <a:xfrm>
            <a:off x="832104" y="4425696"/>
            <a:ext cx="47091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MAUDAU, Rozetka, Prom</a:t>
            </a:r>
          </a:p>
        </p:txBody>
      </p:sp>
      <p:sp>
        <p:nvSpPr>
          <p:cNvPr id="1596" name="Rounded Rectangle 1595"/>
          <p:cNvSpPr/>
          <p:nvPr/>
        </p:nvSpPr>
        <p:spPr>
          <a:xfrm>
            <a:off x="832104" y="4681728"/>
            <a:ext cx="284607" cy="420624"/>
          </a:xfrm>
          <a:prstGeom prst="roundRect">
            <a:avLst>
              <a:gd name="adj" fmla="val 2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TextBox 1596"/>
          <p:cNvSpPr txBox="1"/>
          <p:nvPr/>
        </p:nvSpPr>
        <p:spPr>
          <a:xfrm>
            <a:off x="1226439" y="46634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598" name="TextBox 1597"/>
          <p:cNvSpPr txBox="1"/>
          <p:nvPr/>
        </p:nvSpPr>
        <p:spPr>
          <a:xfrm>
            <a:off x="832104" y="5230368"/>
            <a:ext cx="4709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832104" y="5504688"/>
            <a:ext cx="47091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Сільпо, МегаМаркет, Ultramarket</a:t>
            </a:r>
          </a:p>
        </p:txBody>
      </p:sp>
      <p:sp>
        <p:nvSpPr>
          <p:cNvPr id="1600" name="Rounded Rectangle 1599"/>
          <p:cNvSpPr/>
          <p:nvPr/>
        </p:nvSpPr>
        <p:spPr>
          <a:xfrm>
            <a:off x="832104" y="5760720"/>
            <a:ext cx="284607" cy="420624"/>
          </a:xfrm>
          <a:prstGeom prst="roundRect">
            <a:avLst>
              <a:gd name="adj" fmla="val 2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TextBox 1600"/>
          <p:cNvSpPr txBox="1"/>
          <p:nvPr/>
        </p:nvSpPr>
        <p:spPr>
          <a:xfrm>
            <a:off x="1226439" y="5742431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5E4B94"/>
                </a:solidFill>
                <a:latin typeface="Segoe UI"/>
              </a:rPr>
              <a:t>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23 бренди · 4 формати · 64 продавці. Кожна позиція має фото й ціну в каталозі.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9872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09872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4192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НА ПОЛИЦІ МЕРЕЖ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192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E9EA6"/>
                </a:solidFill>
                <a:latin typeface="Segoe U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4192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SKU на всю країну, 11 з них — Ben's Original у «Сільпо». Ритейл-аудит 9 мереж.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6240" y="1700784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16240" y="1700784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011680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ІМПОРТ ЗА МИТНИЦЕЮ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2340864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9A50B"/>
                </a:solidFill>
                <a:latin typeface="Segoe UI"/>
              </a:rPr>
              <a:t>3,5 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182112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Сегменти 1–2 за 16 місяців — лише 1,4 % коду 1904901000. Решта — заморожені суміші й снеки.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03504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2026 ПРОТИ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37A169"/>
                </a:solidFill>
                <a:latin typeface="Segoe UI"/>
              </a:rPr>
              <a:t>×3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Наші сегменти без разової партії Ben's: 0,43 → 1,30 т (однакові місяці).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9872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09872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84192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4192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94F7C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4192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30 позицій (36 %), але це туризм і армія, а не мережева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6240" y="4114800"/>
            <a:ext cx="3541776" cy="2249424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16240" y="4114800"/>
            <a:ext cx="3541776" cy="91440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0560" y="4425696"/>
            <a:ext cx="29931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ВХІД У КАТЕГОРІЮ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0560" y="4754880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4810A"/>
                </a:solidFill>
                <a:latin typeface="Segoe UI"/>
              </a:rPr>
              <a:t>109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0560" y="5596128"/>
            <a:ext cx="299313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Медіана пауча — найдешевший формат: 19 позицій, вага 220–400 г.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Джерела: картки продавців 23–28.09.2026 (84 позиції); митна база codexmb, вивантаження 28.09.2026; ритейл-аудит 9 мереж, 28.09.2026.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Скільки готового рису ввозять в Україну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Код 1904901000: 250 т за 16 місяців, з них готовий рис для розігріву — 0,85 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7269480" cy="4626864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28800"/>
            <a:ext cx="6766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З ЧОГО СКЛАДАЄТЬСЯ КОД, ТОНН ЗА 16 МІСЯЦІВ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3969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Заморожені сирі суміші рис + овочі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139696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193,7 т · 77,4 %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2395728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" y="2395728"/>
            <a:ext cx="6766559" cy="146304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569463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Oerlemans, «Рудь», АТБ-маркет: різото, паелья, гавайська суміш — у морозилку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273862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Рисові чіпси й снеки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2738628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32,4 т · 12,9 %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" y="2994660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" y="2994660"/>
            <a:ext cx="1130116" cy="146304"/>
          </a:xfrm>
          <a:prstGeom prst="roundRect">
            <a:avLst>
              <a:gd name="adj" fmla="val 5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16839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Ficosota «Livity»: солоний снек, не страва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333756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Долма в банці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98464" y="3337560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10,8 т · 4,3 %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6" y="3593592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536" y="3593592"/>
            <a:ext cx="377234" cy="1463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3767328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Виноградне листя з рисом, Болгарія — інший формат і привід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393649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Різото «довести до готовності»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3936492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7,41 т · 3,0 %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" y="4192524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9536" y="4192524"/>
            <a:ext cx="258830" cy="146304"/>
          </a:xfrm>
          <a:prstGeom prst="roundRect">
            <a:avLst>
              <a:gd name="adj" fmla="val 5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4366260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Riso Gallo, Casa Rinaldi, Trevijano: рис сирий, варити 15–18 хв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453542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Інше: топінги, сирий рис, спорт-каша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98464" y="4535424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2,47 т · 1,0 %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6" y="4791456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9536" y="4791456"/>
            <a:ext cx="86325" cy="146304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4965192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Посипки, промисловий рис, GymBeam, ттокпоккі, сублімат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" y="513435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Сегмент 2 · рис під окріп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98464" y="5134356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2,67 т · 1,1 %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" y="5390388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59536" y="5390388"/>
            <a:ext cx="93232" cy="14630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" y="5564124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Китайський рис у чаші 144/174 г (відповідає лінійці Henan)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" y="573328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C2235"/>
                </a:solidFill>
                <a:latin typeface="Segoe UI"/>
              </a:rPr>
              <a:t>Сегмент 1 · готовий рис для розігріву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98464" y="5733288"/>
            <a:ext cx="1691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 i="0">
                <a:solidFill>
                  <a:srgbClr val="303A5D"/>
                </a:solidFill>
                <a:latin typeface="Segoe UI"/>
              </a:rPr>
              <a:t>0,85 т · 0,3 %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9536" y="5989320"/>
            <a:ext cx="6766560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9536" y="5989320"/>
            <a:ext cx="54864" cy="1463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616305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Ben's (Mars), CJ, Clearspring, Haldiram RTE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74152" y="1700784"/>
            <a:ext cx="3514313" cy="3017520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074152" y="1700784"/>
            <a:ext cx="82296" cy="301752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48472" y="1847088"/>
            <a:ext cx="3057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C95C"/>
                </a:solidFill>
                <a:latin typeface="Segoe UI"/>
              </a:rPr>
              <a:t>Наш ринок: сегменти 1–2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2176272"/>
            <a:ext cx="30571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3,5 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48472" y="2852928"/>
            <a:ext cx="3057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9C2DA"/>
                </a:solidFill>
                <a:latin typeface="Segoe UI"/>
              </a:rPr>
              <a:t>1,4 % коду за 16 місяців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48472" y="3310128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Сегмент 1 · розігрів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25425" y="33101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0,85 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8472" y="3730752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Сегмент 2 · під окріп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25425" y="37307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2,67 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48472" y="4151376"/>
            <a:ext cx="177695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D5DBEA"/>
                </a:solidFill>
                <a:latin typeface="Segoe UI"/>
              </a:rPr>
              <a:t>Ben's — одна партія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25425" y="41513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Segoe UI"/>
              </a:rPr>
              <a:t>676 кг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74152" y="4846320"/>
            <a:ext cx="3514313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93608" y="4956048"/>
            <a:ext cx="314855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ЧОМУ НЕ 182 Т З EUROSTAT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93608" y="5212080"/>
            <a:ext cx="314855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1C2235"/>
                </a:solidFill>
                <a:latin typeface="Segoe UI"/>
              </a:rPr>
              <a:t>182 т — експорт ЄС→Україна за тим самим кодом. Три чверті — заморожені суміші, тому як обсяг готового рису ця цифра некоректна. Рахуємо за описом кожної декларації.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вивантаження 28.09.2026, УКТ ЗЕД 1904901000, 01.2025–05.2026 (без 12–31.03.2025). Класифікація — за описом кожної декларації. Фактурна вартість USD без ПДВ і мита.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МИТНА БАЗА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2026 проти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Увесь код зріс на 36 % завдяки замороженим сумішам. Наші сегменти — ×3 без разової партії Ben's.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7543800" cy="2249424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1719072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ВЕСЬ КОД ПО МІСЯЦЯХ, ТОНН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301122"/>
            <a:ext cx="332949" cy="219317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269853"/>
            <a:ext cx="332949" cy="31269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Січ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0501" y="3433581"/>
            <a:ext cx="332949" cy="86858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20501" y="3402312"/>
            <a:ext cx="332949" cy="31269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0501" y="3383211"/>
            <a:ext cx="332949" cy="19101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20501" y="3362828"/>
            <a:ext cx="332949" cy="2038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20501" y="3351488"/>
            <a:ext cx="332949" cy="11339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8205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Лют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26602" y="3479182"/>
            <a:ext cx="332949" cy="41257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26602" y="3440964"/>
            <a:ext cx="332949" cy="38217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26602" y="3431727"/>
            <a:ext cx="332949" cy="9236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4306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Бер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32703" y="3492645"/>
            <a:ext cx="332949" cy="27794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32703" y="3410998"/>
            <a:ext cx="332949" cy="81646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2703" y="3292369"/>
            <a:ext cx="332949" cy="118629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50407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Кві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38804" y="3456562"/>
            <a:ext cx="332949" cy="63877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38804" y="3371441"/>
            <a:ext cx="332949" cy="85121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38804" y="3349877"/>
            <a:ext cx="332949" cy="21563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56508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Тра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44905" y="3437924"/>
            <a:ext cx="332949" cy="82515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44905" y="3368437"/>
            <a:ext cx="332949" cy="69486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44905" y="3353663"/>
            <a:ext cx="332949" cy="1477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609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Чер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51007" y="3418381"/>
            <a:ext cx="332949" cy="102058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51007" y="3286356"/>
            <a:ext cx="332949" cy="132024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351007" y="3271723"/>
            <a:ext cx="332949" cy="14633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68711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Лип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57108" y="3440095"/>
            <a:ext cx="332949" cy="80344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57108" y="3419249"/>
            <a:ext cx="332949" cy="20846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757108" y="3413966"/>
            <a:ext cx="332949" cy="5283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57108" y="3398331"/>
            <a:ext cx="332949" cy="1563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74812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Сер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3209" y="2688951"/>
            <a:ext cx="332949" cy="831488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63209" y="2652470"/>
            <a:ext cx="332949" cy="36480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63209" y="2640630"/>
            <a:ext cx="332949" cy="11840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35193" y="2439462"/>
            <a:ext cx="5889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29,2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80913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Вер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69310" y="2358708"/>
            <a:ext cx="332949" cy="1161731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69310" y="2263164"/>
            <a:ext cx="332949" cy="95544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69310" y="2258568"/>
            <a:ext cx="332949" cy="4596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41294" y="2057400"/>
            <a:ext cx="5889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41,8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7014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Жов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75411" y="2726807"/>
            <a:ext cx="332949" cy="793632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75411" y="2713279"/>
            <a:ext cx="332949" cy="1352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47395" y="2512111"/>
            <a:ext cx="5889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26,9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93115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Лис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81512" y="2659862"/>
            <a:ext cx="332949" cy="860577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81512" y="2609986"/>
            <a:ext cx="332949" cy="49876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381512" y="2400748"/>
            <a:ext cx="332949" cy="20923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81512" y="2385005"/>
            <a:ext cx="332949" cy="1574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53496" y="2183837"/>
            <a:ext cx="5889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37,6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99216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Гру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787614" y="3450953"/>
            <a:ext cx="332949" cy="69486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05318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Січ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93715" y="2758257"/>
            <a:ext cx="332949" cy="762182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93715" y="2743331"/>
            <a:ext cx="332949" cy="14925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065699" y="2542163"/>
            <a:ext cx="5889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25,8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11419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Лют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99816" y="2816886"/>
            <a:ext cx="332949" cy="703553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599816" y="2759560"/>
            <a:ext cx="332949" cy="57326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599816" y="2626882"/>
            <a:ext cx="332949" cy="13267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71800" y="2425714"/>
            <a:ext cx="58898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29,6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17520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Бер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05917" y="3438793"/>
            <a:ext cx="332949" cy="81646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005917" y="3430907"/>
            <a:ext cx="332949" cy="7885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005917" y="3393124"/>
            <a:ext cx="332949" cy="3778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923621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Кві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12018" y="3495115"/>
            <a:ext cx="332949" cy="25324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412018" y="3403045"/>
            <a:ext cx="332949" cy="92069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12018" y="3379700"/>
            <a:ext cx="332949" cy="23345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329722" y="355701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Тра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77824" y="3739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51038" y="3739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C2235"/>
                </a:solidFill>
                <a:latin typeface="Segoe UI"/>
              </a:rPr>
              <a:t>2026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849624" y="176479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014215" y="173736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Заморожені суміші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197449" y="176479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62041" y="173736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Снеки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864961" y="176479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029553" y="173736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Інше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475780" y="1764792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40372" y="173736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Наші сегменти 1–2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03504" y="3986784"/>
            <a:ext cx="7543800" cy="2359152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" y="4059936"/>
            <a:ext cx="6858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СЕГМЕНТИ 1–2 ПО МІСЯЦЯХ, КГ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2103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Січ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320501" y="5116452"/>
            <a:ext cx="332949" cy="598547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320501" y="4783454"/>
            <a:ext cx="332949" cy="33299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46765" y="4591430"/>
            <a:ext cx="68042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1 052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238205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Лют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44306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Бер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50407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Кві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538804" y="5692682"/>
            <a:ext cx="332949" cy="22317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538804" y="5669434"/>
            <a:ext cx="332949" cy="23247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56508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Тра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862609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Чер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68711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Лип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757108" y="5255887"/>
            <a:ext cx="332949" cy="4591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757108" y="5247030"/>
            <a:ext cx="332949" cy="8856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83372" y="5055006"/>
            <a:ext cx="68042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528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674812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Сер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080913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Вер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487014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Жов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975411" y="5664740"/>
            <a:ext cx="332949" cy="50259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893115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Лис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381512" y="5252698"/>
            <a:ext cx="332949" cy="462301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207776" y="5060674"/>
            <a:ext cx="68042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522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99216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Гру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705318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Січ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193715" y="5703841"/>
            <a:ext cx="332949" cy="1115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111419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Лют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517520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Бер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005917" y="4605476"/>
            <a:ext cx="332949" cy="110952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005917" y="4572000"/>
            <a:ext cx="332949" cy="3347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32181" y="4379976"/>
            <a:ext cx="68042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1 291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923621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Кві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329722" y="5751576"/>
            <a:ext cx="49754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Тра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77824" y="599846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42415" y="597103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(Mars)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084831" y="599846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249424" y="597103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Китай · під окріп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634739" y="599846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799331" y="597103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CJ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155948" y="599846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320540" y="5971032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Clearspring, Haldiram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348472" y="1645920"/>
            <a:ext cx="3239993" cy="1097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ounded Rectangle 137"/>
          <p:cNvSpPr/>
          <p:nvPr/>
        </p:nvSpPr>
        <p:spPr>
          <a:xfrm>
            <a:off x="8348472" y="1645920"/>
            <a:ext cx="82296" cy="109728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586216" y="1737360"/>
            <a:ext cx="232559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1" i="0">
                <a:solidFill>
                  <a:srgbClr val="717890"/>
                </a:solidFill>
                <a:latin typeface="Segoe UI"/>
              </a:rPr>
              <a:t>ВЕСЬ КОД · СІЧ, ЛЮТ, КВІ, ТРА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86216" y="1947672"/>
            <a:ext cx="21427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303A5D"/>
                </a:solidFill>
                <a:latin typeface="Segoe UI"/>
              </a:rPr>
              <a:t>27,2 → 37,0 т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582625" y="194767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5B6B8C"/>
                </a:solidFill>
                <a:latin typeface="Segoe UI"/>
              </a:rPr>
              <a:t>+36 %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586216" y="2377440"/>
            <a:ext cx="287423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$ за кг: 4,67 → 3,73 (−20 %)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348472" y="2848356"/>
            <a:ext cx="3239993" cy="1097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8348472" y="2848356"/>
            <a:ext cx="82296" cy="10972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586216" y="2939796"/>
            <a:ext cx="232559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1" i="0">
                <a:solidFill>
                  <a:srgbClr val="717890"/>
                </a:solidFill>
                <a:latin typeface="Segoe UI"/>
              </a:rPr>
              <a:t>ЗАМОРОЖЕНІ СУМІШІ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86216" y="3150108"/>
            <a:ext cx="21427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303A5D"/>
                </a:solidFill>
                <a:latin typeface="Segoe UI"/>
              </a:rPr>
              <a:t>13,2 → 26,1 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582625" y="3150108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C94F7C"/>
                </a:solidFill>
                <a:latin typeface="Segoe UI"/>
              </a:rPr>
              <a:t>×2,0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586216" y="3579876"/>
            <a:ext cx="287423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АТБ-маркет і «Рудь» — драйвер росту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8348472" y="4050791"/>
            <a:ext cx="3239993" cy="1097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8348472" y="4050791"/>
            <a:ext cx="82296" cy="109728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586216" y="4142231"/>
            <a:ext cx="232559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1" i="0">
                <a:solidFill>
                  <a:srgbClr val="717890"/>
                </a:solidFill>
                <a:latin typeface="Segoe UI"/>
              </a:rPr>
              <a:t>НАШІ СЕГМЕНТИ 1–2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86216" y="4352544"/>
            <a:ext cx="21427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303A5D"/>
                </a:solidFill>
                <a:latin typeface="Segoe UI"/>
              </a:rPr>
              <a:t>1,11 → 1,30 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582625" y="4352544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F9A50B"/>
                </a:solidFill>
                <a:latin typeface="Segoe UI"/>
              </a:rPr>
              <a:t>+17 %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586216" y="4782312"/>
            <a:ext cx="287423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Без разової партії Ben's (лют. 2025): 0,43 → 1,30 т, ×3,0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348472" y="5253228"/>
            <a:ext cx="3239993" cy="1097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8348472" y="5253228"/>
            <a:ext cx="82296" cy="10972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86216" y="5344668"/>
            <a:ext cx="232559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1" i="0">
                <a:solidFill>
                  <a:srgbClr val="717890"/>
                </a:solidFill>
                <a:latin typeface="Segoe UI"/>
              </a:rPr>
              <a:t>ІНСТАНТ-ЛОКШИНА · 1902301000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86216" y="5554980"/>
            <a:ext cx="214271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303A5D"/>
                </a:solidFill>
                <a:latin typeface="Segoe UI"/>
              </a:rPr>
              <a:t>240,6 → 457,9 т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582625" y="55549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E9EA6"/>
                </a:solidFill>
                <a:latin typeface="Segoe UI"/>
              </a:rPr>
              <a:t>+90 %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586216" y="5984748"/>
            <a:ext cx="287423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717890"/>
                </a:solidFill>
                <a:latin typeface="Segoe UI"/>
              </a:rPr>
              <a:t>Суміжна категорія: масштаб, на який може вирости рис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 (codexmb), 28.09.2026. Порівняння — однакові місяці 2025 і 2026 (січень, лютий, квітень, травень): березня 2025 у вивантаженні неповний. Сегменти 1–2 — готовий рис для розігріву й рис під окріп.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МИТНА БАЗА · ІМПОРТЕРИ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Хто завозить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П'ять основних імпортерів сегментів 1–2, і жоден не возить регулярно.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45920"/>
            <a:ext cx="2423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1645920"/>
            <a:ext cx="2697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ЩО ЗАВОЗИТЬ · ВИРОБНИК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16752" y="1645920"/>
            <a:ext cx="10058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4032" y="1645920"/>
            <a:ext cx="10058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КГ ЗА 16 МІС.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1" y="164592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$ ЗА КГ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9991" y="1645920"/>
            <a:ext cx="24963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ПЕРІОД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1920240"/>
            <a:ext cx="10954512" cy="45720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02996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Фоззі Коммерц (Fozzy Group)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2029968"/>
            <a:ext cx="2606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Ben's Original · Mars Austria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20299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ЄС / Британія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20299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676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1" y="2029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C2235"/>
                </a:solidFill>
                <a:latin typeface="Segoe UI"/>
              </a:rPr>
              <a:t>$6.28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1" y="202996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лют. 2025 · 1 партія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2395728"/>
            <a:ext cx="109545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50545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Вендінг Кінгз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27832" y="2505456"/>
            <a:ext cx="2606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Рис у чаші 144/174 г (тип Henan)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16752" y="25054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25054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2 639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1" y="25054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C2235"/>
                </a:solidFill>
                <a:latin typeface="Segoe UI"/>
              </a:rPr>
              <a:t>$2.79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79991" y="2505456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лют. 2025 – кві. 2026 · 4 партії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" y="2871216"/>
            <a:ext cx="10954512" cy="45720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298094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Відус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7832" y="2980944"/>
            <a:ext cx="2606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Hetbahn · CJ CheilJedang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16752" y="298094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98094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1" y="29809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C2235"/>
                </a:solidFill>
                <a:latin typeface="Segoe UI"/>
              </a:rPr>
              <a:t>$3.69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9991" y="2980944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тра. 2025 – кві. 2026 · 3 партії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" y="3346704"/>
            <a:ext cx="10954512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345643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Бюро Він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27832" y="3456432"/>
            <a:ext cx="2606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Clearspring · органічний рис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16752" y="34564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ЄС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4032" y="34564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1" y="34564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C2235"/>
                </a:solidFill>
                <a:latin typeface="Segoe UI"/>
              </a:rPr>
              <a:t>$9.71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9991" y="3456432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січ. – лис. 2025 · 4 партії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3504" y="3822191"/>
            <a:ext cx="10954512" cy="457200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" y="39319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303A5D"/>
                </a:solidFill>
                <a:latin typeface="Segoe UI"/>
              </a:rPr>
              <a:t>Тадж Махал Інтернешнл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27832" y="3931920"/>
            <a:ext cx="2606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Haldiram · RTE Biryani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39319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Індія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4032" y="39319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11311" y="3931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C2235"/>
                </a:solidFill>
                <a:latin typeface="Segoe UI"/>
              </a:rPr>
              <a:t>$2.79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79991" y="3931920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2235"/>
                </a:solidFill>
                <a:latin typeface="Segoe UI"/>
              </a:rPr>
              <a:t>лис. 2025 · 1 партія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3504" y="4407407"/>
            <a:ext cx="10954512" cy="1975104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4498847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ЦІНА ЗА КГ: МИТНА ВАРТІСТЬ КОНКУРЕНТІВ ПРОТИ НАШОГО FOB, $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69264" y="5113891"/>
            <a:ext cx="763108" cy="692548"/>
          </a:xfrm>
          <a:prstGeom prst="roundRect">
            <a:avLst>
              <a:gd name="adj" fmla="val 8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4876147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$9.71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915252" y="5358530"/>
            <a:ext cx="763108" cy="447909"/>
          </a:xfrm>
          <a:prstGeom prst="roundRect">
            <a:avLst>
              <a:gd name="adj" fmla="val 8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23812" y="5120786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$6.28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23812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Ben's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861240" y="5543257"/>
            <a:ext cx="763108" cy="263182"/>
          </a:xfrm>
          <a:prstGeom prst="roundRect">
            <a:avLst>
              <a:gd name="adj" fmla="val 8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69800" y="5305513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$3.69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69800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CJ Hetbahn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807229" y="5607448"/>
            <a:ext cx="763108" cy="198991"/>
          </a:xfrm>
          <a:prstGeom prst="roundRect">
            <a:avLst>
              <a:gd name="adj" fmla="val 8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715789" y="5369704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$2.79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15789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Китай · чаша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753217" y="5568696"/>
            <a:ext cx="763108" cy="237744"/>
          </a:xfrm>
          <a:prstGeom prst="roundRect">
            <a:avLst>
              <a:gd name="adj" fmla="val 8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61777" y="5330952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$3.33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61777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BSCM
стакан 150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99205" y="5582009"/>
            <a:ext cx="763108" cy="224430"/>
          </a:xfrm>
          <a:prstGeom prst="roundRect">
            <a:avLst>
              <a:gd name="adj" fmla="val 8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07765" y="5344265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$3.15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07765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BSCM
пауч 150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645194" y="5610301"/>
            <a:ext cx="763108" cy="196138"/>
          </a:xfrm>
          <a:prstGeom prst="roundRect">
            <a:avLst>
              <a:gd name="adj" fmla="val 8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53754" y="5372557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$2.75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53754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BSCM
пауч 200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591182" y="5633184"/>
            <a:ext cx="763108" cy="173255"/>
          </a:xfrm>
          <a:prstGeom prst="roundRect">
            <a:avLst>
              <a:gd name="adj" fmla="val 8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499742" y="5395440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$2.43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9742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BSCM
пауч 240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37170" y="5616149"/>
            <a:ext cx="763108" cy="190290"/>
          </a:xfrm>
          <a:prstGeom prst="roundRect">
            <a:avLst>
              <a:gd name="adj" fmla="val 8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45730" y="5378405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$2.67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45730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CM Premium
250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83159" y="5612508"/>
            <a:ext cx="763108" cy="193931"/>
          </a:xfrm>
          <a:prstGeom prst="roundRect">
            <a:avLst>
              <a:gd name="adj" fmla="val 8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391719" y="5374764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$2.72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91719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ONE'S
білий 210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429147" y="5364949"/>
            <a:ext cx="763108" cy="441490"/>
          </a:xfrm>
          <a:prstGeom prst="roundRect">
            <a:avLst>
              <a:gd name="adj" fmla="val 8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337707" y="5127205"/>
            <a:ext cx="9459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303A5D"/>
                </a:solidFill>
                <a:latin typeface="Segoe UI"/>
              </a:rPr>
              <a:t>$6.19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37707" y="5852159"/>
            <a:ext cx="9459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ONE'S fried
200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918704" y="4526279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01583" y="4498847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митна декларація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656064" y="4526279"/>
            <a:ext cx="128016" cy="128016"/>
          </a:xfrm>
          <a:prstGeom prst="roundRect">
            <a:avLst>
              <a:gd name="adj" fmla="val 3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38944" y="4498847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наш FOB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Митна база: фактурна вартість USD ÷ вага нетто, 01.2025–05.2026; ще «Азіяфудс» — 30 кг тайського рису (лют. 2025). Наш FOB — комерційні пропозиції BSCM, CM Premium, One's (для ONE'S білий і fried — оцінка із собівартості) ÷ вага упаковки. Рис у чаші (Китай) — сухий продукт під окріп.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СЕГМЕНТАЦІЯ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Сегментація за упаковкою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Чотири формати, 84 позицій: спершу упаковка, далі вага, ціна й бренди.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2628900" cy="3310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64208"/>
            <a:ext cx="2628900" cy="38404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664208"/>
            <a:ext cx="23545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139696"/>
            <a:ext cx="2409444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691" y="2176272"/>
            <a:ext cx="1006525" cy="1408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9808" y="364845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4810A"/>
                </a:solidFill>
                <a:latin typeface="Segoe UI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3767328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23 % ринку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1480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7" y="408736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220–400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891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7" y="43616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6634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7" y="4636007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864608"/>
            <a:ext cx="23545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8708" y="1645920"/>
            <a:ext cx="2628900" cy="3310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78708" y="1664208"/>
            <a:ext cx="2628900" cy="38404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5012" y="1664208"/>
            <a:ext cx="23545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88436" y="2139696"/>
            <a:ext cx="2409444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1794" y="2176272"/>
            <a:ext cx="1602726" cy="14081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525012" y="364845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E9EA6"/>
                </a:solidFill>
                <a:latin typeface="Segoe UI"/>
              </a:rP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19956" y="3767328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27 % ринку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5012" y="411480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9412" y="408736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84–320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5012" y="43891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9412" y="43616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5012" y="46634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9412" y="4636007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5012" y="4864608"/>
            <a:ext cx="23545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53912" y="1645920"/>
            <a:ext cx="2628900" cy="3310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153912" y="1664208"/>
            <a:ext cx="2628900" cy="384048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0216" y="1664208"/>
            <a:ext cx="23545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ДОЙПАК · ПЛОСКИЙ ПАКЕТ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2139696"/>
            <a:ext cx="2409444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h_curr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570" y="2176272"/>
            <a:ext cx="1541582" cy="140817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00216" y="364845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E4B94"/>
                </a:solidFill>
                <a:latin typeface="Segoe UI"/>
              </a:rPr>
              <a:t>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3767328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36 % ринку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0216" y="411480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4616" y="408736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80–250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3891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14616" y="43616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315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46634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14616" y="4636007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0216" y="4864608"/>
            <a:ext cx="23545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29116" y="1645920"/>
            <a:ext cx="2628900" cy="3310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29116" y="1664208"/>
            <a:ext cx="2628900" cy="384048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75420" y="1664208"/>
            <a:ext cx="23545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038844" y="2139696"/>
            <a:ext cx="2409444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0213" y="2176272"/>
            <a:ext cx="1426704" cy="140817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075420" y="3648456"/>
            <a:ext cx="822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94F7C"/>
                </a:solidFill>
                <a:latin typeface="Segoe UI"/>
              </a:rPr>
              <a:t>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70364" y="3767328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717890"/>
                </a:solidFill>
                <a:latin typeface="Segoe UI"/>
              </a:rPr>
              <a:t>позицій · 14 % ринку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75420" y="411480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89820" y="408736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165–440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75420" y="438912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ЦІНИ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89820" y="4361688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708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75420" y="466344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89820" y="4636007"/>
            <a:ext cx="14401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75420" y="4864608"/>
            <a:ext cx="23545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" y="508406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ФОРМАТ × СПОСІБ ПРИГОТУВАННЯ, ПОЗИЦІЙ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3504" y="53583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0824" y="535838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 · Розігрів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9544" y="535838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 · Під окріп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8264" y="535838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3 · Саморозігрів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86983" y="535838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4 · Сублімат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55869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4810A"/>
                </a:solidFill>
                <a:latin typeface="Segoe UI"/>
              </a:rPr>
              <a:t>Пауч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30552" y="5596127"/>
            <a:ext cx="969264" cy="164592"/>
          </a:xfrm>
          <a:prstGeom prst="roundRect">
            <a:avLst>
              <a:gd name="adj" fmla="val 30000"/>
            </a:avLst>
          </a:prstGeom>
          <a:solidFill>
            <a:srgbClr val="6169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20824" y="5591555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09544" y="5591555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98264" y="5591555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86983" y="5591555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577443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130552" y="5783579"/>
            <a:ext cx="969264" cy="164592"/>
          </a:xfrm>
          <a:prstGeom prst="roundRect">
            <a:avLst>
              <a:gd name="adj" fmla="val 30000"/>
            </a:avLst>
          </a:prstGeom>
          <a:solidFill>
            <a:srgbClr val="8E9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20824" y="5779007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319272" y="5783579"/>
            <a:ext cx="969264" cy="164592"/>
          </a:xfrm>
          <a:prstGeom prst="roundRect">
            <a:avLst>
              <a:gd name="adj" fmla="val 30000"/>
            </a:avLst>
          </a:prstGeom>
          <a:solidFill>
            <a:srgbClr val="939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9544" y="5779007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07992" y="5783579"/>
            <a:ext cx="969264" cy="164592"/>
          </a:xfrm>
          <a:prstGeom prst="roundRect">
            <a:avLst>
              <a:gd name="adj" fmla="val 30000"/>
            </a:avLst>
          </a:prstGeom>
          <a:solidFill>
            <a:srgbClr val="C0C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398264" y="5779007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86983" y="5779007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596188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E4B94"/>
                </a:solidFill>
                <a:latin typeface="Segoe UI"/>
              </a:rPr>
              <a:t>Дойпак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20824" y="5966459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319272" y="5971031"/>
            <a:ext cx="969264" cy="164592"/>
          </a:xfrm>
          <a:prstGeom prst="roundRect">
            <a:avLst>
              <a:gd name="adj" fmla="val 30000"/>
            </a:avLst>
          </a:prstGeom>
          <a:solidFill>
            <a:srgbClr val="C0C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209544" y="5966459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398264" y="5966459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696712" y="5971031"/>
            <a:ext cx="969264" cy="164592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586983" y="5966459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3504" y="614934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020824" y="6153912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09544" y="6153912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507992" y="6158483"/>
            <a:ext cx="969264" cy="164592"/>
          </a:xfrm>
          <a:prstGeom prst="roundRect">
            <a:avLst>
              <a:gd name="adj" fmla="val 30000"/>
            </a:avLst>
          </a:prstGeom>
          <a:solidFill>
            <a:srgbClr val="888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398264" y="6153912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586983" y="6153912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004304" y="5065776"/>
            <a:ext cx="4553712" cy="12984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7114032" y="5138927"/>
            <a:ext cx="868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ch_hapay_ric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1756" y="5166359"/>
            <a:ext cx="713231" cy="1042415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119872" y="5138927"/>
            <a:ext cx="33649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СУМІЖНА ПОЛИЦЯ · БЛЯШАНКА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19872" y="5394959"/>
            <a:ext cx="33649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250–350 г · 63–160 грн. Консерва готова до вживання, але не для мікрохвильовки. У 84 позиції не входить — це орієнтир ціни мережевої полиці.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Формат визначено за фактичною упаковкою на фото картки; способи приготування: 1 — розігрів у НВЧ/воді, 2 — сухий рис під окріп, 3 — саморозігрів, 4 — сублімація. Qiaoshanmei — плоский пакет під окріп, віднесено до дойпаку.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1 З 4 · ПАУЧ · РЕТОРТ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Від порційних 220 г до реторту 400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7007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2030" y="1883664"/>
            <a:ext cx="1163386" cy="16276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639312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794760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19 · 5  (23 % ринку)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07822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3367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220–400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51713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7258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109 грн · 45–446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95604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11149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НВЧ 60–90 с або гаряча вода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39496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550408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Сільпо, MAUDAU, Edison Lee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І БРЕНДИ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2544" y="1901952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43983" y="1975104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7502" y="1993392"/>
            <a:ext cx="425027" cy="61493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53328" y="211797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220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42048" y="1993392"/>
            <a:ext cx="1325880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2792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2267712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Ben's Original ×7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2154555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90–179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52544" y="2772918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43983" y="2846070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2076" y="2864358"/>
            <a:ext cx="435879" cy="614934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5010912" y="2846070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learspr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2887565"/>
            <a:ext cx="475488" cy="568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053328" y="298894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240–250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42048" y="2864358"/>
            <a:ext cx="1136468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378516" y="2864358"/>
            <a:ext cx="189411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22792" y="283692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42048" y="3138678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Ben's Original ×6 · Clearspring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05288" y="302552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45–446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2544" y="3643884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443983" y="3717036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a_portion_pa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3821904"/>
            <a:ext cx="475488" cy="441773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5010912" y="3717036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0a3d4c5c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3742296"/>
            <a:ext cx="475488" cy="60098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053328" y="3859911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350 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42048" y="3735324"/>
            <a:ext cx="189411" cy="21945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31459" y="3735324"/>
            <a:ext cx="189411" cy="21945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22792" y="37078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42048" y="4009644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Portion · Маркел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05288" y="3896487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94–109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52544" y="4514850"/>
            <a:ext cx="7235921" cy="79781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443983" y="4588002"/>
            <a:ext cx="512064" cy="6515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2272" y="4638814"/>
            <a:ext cx="475488" cy="54988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053328" y="4730877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400 г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42048" y="4606290"/>
            <a:ext cx="568234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2792" y="457885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42048" y="4880610"/>
            <a:ext cx="2926080" cy="4137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Adventure Menu ×3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05288" y="4767453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4810A"/>
                </a:solidFill>
                <a:latin typeface="Segoe UI"/>
              </a:rPr>
              <a:t>315–404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220 г — найпоширеніша вага пауча (7 позицій), і вся вона — Ben's Original. Решта — поодинокі: Clearspring 250 г (252–446 грн), Portion і Маркел 350 г, Adventure Menu 400 г. У смугах 150–199 і 300 г пауча немає взагалі.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2 З 4 · ЧАША · СТАКАН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Найширший діапазон ваги: від 84 до 320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7007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472" y="1883664"/>
            <a:ext cx="1852502" cy="16276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639312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794760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23 · 5  (27 % ринку)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07822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3367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84–320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51713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7258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229 грн · 83–931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95604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11149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НВЧ 60–90 с · окріп 5–10 хв · саморозігрів 15 хв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54126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69671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DCM, Pulsar, Апетіт.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І БРЕНДИ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2544" y="1901952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43983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51b547b7d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41123"/>
            <a:ext cx="345277" cy="34527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53328" y="203088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84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42048" y="1993392"/>
            <a:ext cx="331470" cy="21945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2792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2267712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Gallina Blanca ×2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206745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229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52544" y="2598724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43983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749574"/>
            <a:ext cx="345277" cy="3219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053328" y="272765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144–174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42048" y="2690164"/>
            <a:ext cx="1325880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2792" y="26627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42048" y="2964484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Henan ×8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05288" y="276423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83–156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52544" y="3295497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443983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3470720"/>
            <a:ext cx="345277" cy="2731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4880701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bibigo_bow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8989" y="3433880"/>
            <a:ext cx="345277" cy="34685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053328" y="342442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210–247 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42048" y="3386937"/>
            <a:ext cx="331470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573518" y="3386937"/>
            <a:ext cx="165735" cy="21945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22792" y="335950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42048" y="3661257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Ottogi ×2 · Bibigo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05288" y="34610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135–320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2544" y="3992270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443983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62272" y="4154799"/>
            <a:ext cx="345277" cy="298563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4880701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98989" y="4131442"/>
            <a:ext cx="345277" cy="345277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053328" y="4121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269–280 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42048" y="4083710"/>
            <a:ext cx="497204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39252" y="4083710"/>
            <a:ext cx="331470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2792" y="405627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42048" y="4358030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Ottogi ×3 · Mo Xiao Xian ×2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05288" y="4157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252–931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52544" y="4689043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443983" y="4762195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2272" y="4850048"/>
            <a:ext cx="345277" cy="301609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6053328" y="4817973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310–320 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42048" y="4780483"/>
            <a:ext cx="828675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2792" y="4753051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42048" y="5054803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Ottogi ×5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05288" y="485454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252–356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Чаша — єдиний формат, представлений у всіх вагових смугах від 84 до 320 г. Найдешевша — Henan 144 г (83 грн), найдорожча готова — Ottogi 320 г (356 грн). Наш стакан 150 г стає між Henan (144–174 г) і Bibigo (210 г).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3 З 4 · ДОЙПАК · ПЛОСКИЙ ПАКЕТ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Найбільший формат за кількістю — але туристичний.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7007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h_cur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809" y="1883664"/>
            <a:ext cx="1781828" cy="16276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639312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794760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30 · 11  (36 % ринку)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07822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3367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80–250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51713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7258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315 грн · 55–889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95604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111496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Окріп 8–10 хв (сублімат і сухий рис)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394960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550408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Highlander, ALANTUR, ВсеОпт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І БРЕНДИ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2544" y="1901952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43983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067527"/>
            <a:ext cx="345277" cy="29247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4880701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8989" y="2007082"/>
            <a:ext cx="345277" cy="41336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317418" y="1975104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5706" y="2020042"/>
            <a:ext cx="345277" cy="3874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053328" y="203088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80–90 г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42048" y="1993392"/>
            <a:ext cx="482138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24186" y="1993392"/>
            <a:ext cx="361603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5789" y="1993392"/>
            <a:ext cx="241069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22792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42048" y="2267712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James Cook ×4 · Харчі ×3 · Їжа в Похід ×2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05288" y="206745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55–156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52544" y="2598724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43983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2696311"/>
            <a:ext cx="345277" cy="428446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4880701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8989" y="2720576"/>
            <a:ext cx="345277" cy="379916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5317418" y="2671876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5706" y="2769377"/>
            <a:ext cx="345277" cy="28231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053328" y="2727655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100–125 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242048" y="2690164"/>
            <a:ext cx="482138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24186" y="2690164"/>
            <a:ext cx="241069" cy="219456"/>
          </a:xfrm>
          <a:prstGeom prst="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65255" y="2690164"/>
            <a:ext cx="241069" cy="21945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06324" y="2690164"/>
            <a:ext cx="120534" cy="219456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6858" y="2690164"/>
            <a:ext cx="120534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47393" y="2690164"/>
            <a:ext cx="120534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22792" y="26627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42048" y="2964484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Travellunch ×4 · Adventure Menu ×2 · SubliMate ×2 · Mountain House · Харчі · !FEST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05288" y="2764231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133–699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52544" y="3295497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443983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2272" y="3434669"/>
            <a:ext cx="345277" cy="345277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880701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8989" y="3412946"/>
            <a:ext cx="345277" cy="388722"/>
          </a:xfrm>
          <a:prstGeom prst="rect">
            <a:avLst/>
          </a:prstGeom>
        </p:spPr>
      </p:pic>
      <p:sp>
        <p:nvSpPr>
          <p:cNvPr id="64" name="Rounded Rectangle 63"/>
          <p:cNvSpPr/>
          <p:nvPr/>
        </p:nvSpPr>
        <p:spPr>
          <a:xfrm>
            <a:off x="5317418" y="3368649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5706" y="3392300"/>
            <a:ext cx="345277" cy="430015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53328" y="342442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133–146 г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42048" y="3386937"/>
            <a:ext cx="241069" cy="21945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83117" y="3386937"/>
            <a:ext cx="120534" cy="219456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603651" y="3386937"/>
            <a:ext cx="120534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724186" y="3386937"/>
            <a:ext cx="120534" cy="21945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2792" y="335950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42048" y="3661257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Qiaoshanmei ×2 · Mountain House · Adventure Food · SubliMate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05288" y="34610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309–699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352544" y="3992270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443983" y="4065422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mage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62272" y="4089072"/>
            <a:ext cx="345277" cy="430015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6053328" y="4121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250 г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42048" y="4083710"/>
            <a:ext cx="361603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622792" y="405627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42048" y="4358030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Travellunch ×3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05288" y="415777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702–889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52544" y="4689043"/>
            <a:ext cx="7235921" cy="6236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4443983" y="4762195"/>
            <a:ext cx="381853" cy="4773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2272" y="4786630"/>
            <a:ext cx="345277" cy="428446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053328" y="4817973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маса н/д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242048" y="4780483"/>
            <a:ext cx="241069" cy="219456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622792" y="4753051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42048" y="5054803"/>
            <a:ext cx="2926080" cy="239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Trek'n Eat ×2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05288" y="4854549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E4B94"/>
                </a:solidFill>
                <a:latin typeface="Segoe UI"/>
              </a:rPr>
              <a:t>269–715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352544" y="5422392"/>
            <a:ext cx="7235921" cy="923543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352544" y="5422392"/>
            <a:ext cx="82296" cy="923543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663440" y="5605272"/>
            <a:ext cx="6687281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30 позицій, але 28 із них — сублімат для походів: вага 80–146 г, ціни 55–889 грн. Це туристичний канал, а не мережева полиця: без outdoor-магазинів частка дойпаку падає з 36 % до 4 %.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4 З 4 · КОРОБКА З НАГРІВАЧЕМ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Найдорожчий формат: без техніки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3520440" cy="47000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1645920"/>
            <a:ext cx="3520440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847088"/>
            <a:ext cx="3246120" cy="17007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hd_tomato_beef27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9199" y="1883664"/>
            <a:ext cx="1649048" cy="16276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" y="3639312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ПОЗИЦІЙ · БРЕНДІВ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794760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12 · 3  (14 % ринку)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07822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3367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165–440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517136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МЕДІАНА · ДІАПАЗОН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72584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708 грн · 380–1 190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956048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ПРИГОТУВАННЯ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11149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Хімічний нагрівач, 15 хв, без техніки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5541264"/>
            <a:ext cx="3154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ПРОДАВЦІ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5696712"/>
            <a:ext cx="3154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1" i="0">
                <a:solidFill>
                  <a:srgbClr val="303A5D"/>
                </a:solidFill>
                <a:latin typeface="Segoe UI"/>
              </a:rPr>
              <a:t>Daruy, Скарби Азії, Sweet Svitt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1664208"/>
            <a:ext cx="1627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ФОТО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166420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ГРАМАЖ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1664208"/>
            <a:ext cx="3063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І БРЕНДИ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05288" y="166420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2544" y="1901952"/>
            <a:ext cx="7235921" cy="1024127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43983" y="1975104"/>
            <a:ext cx="512064" cy="8778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2171274"/>
            <a:ext cx="475488" cy="48548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53328" y="223113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165–187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42048" y="1993392"/>
            <a:ext cx="1325880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2792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2267712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Haidilao ×6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226771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380–680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52544" y="2999232"/>
            <a:ext cx="7235921" cy="1024127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43983" y="3072384"/>
            <a:ext cx="512064" cy="8778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3273552"/>
            <a:ext cx="475488" cy="47548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053328" y="332841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272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42048" y="3090672"/>
            <a:ext cx="662940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2792" y="3063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42048" y="3364992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Haidilao ×3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05288" y="336499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770–799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52544" y="4096512"/>
            <a:ext cx="7235921" cy="1024127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443983" y="4169664"/>
            <a:ext cx="463296" cy="8778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2272" y="4395216"/>
            <a:ext cx="426720" cy="42672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4962143" y="4169664"/>
            <a:ext cx="463296" cy="8778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0432" y="4395216"/>
            <a:ext cx="426720" cy="426720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5480303" y="4169664"/>
            <a:ext cx="463296" cy="8778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98592" y="4395216"/>
            <a:ext cx="426720" cy="4267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053328" y="44256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360–440 г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42048" y="4187952"/>
            <a:ext cx="220980" cy="2194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63028" y="4187952"/>
            <a:ext cx="220980" cy="21945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4008" y="4187952"/>
            <a:ext cx="220980" cy="219456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22792" y="4160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42048" y="4462272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1C2235"/>
                </a:solidFill>
                <a:latin typeface="Segoe UI"/>
              </a:rPr>
              <a:t>Haidilao · Zihaiguo · Rongcheng Haoji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05288" y="44622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735–1 190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52544" y="5230368"/>
            <a:ext cx="7235921" cy="1115567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52544" y="5230368"/>
            <a:ext cx="82296" cy="1115567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63440" y="5413248"/>
            <a:ext cx="668728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D5DBEA"/>
                </a:solidFill>
                <a:latin typeface="Segoe UI"/>
              </a:rPr>
              <a:t>12 позицій і лише три бренди: Haidilao дає 10 із 12. Нагрівач у коробці замінює мікрохвильовку, але медіана 708 грн — у шість з половиною разів вища за пауч (109 грн).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продавців; грамаж — вага готової страви (для сухого рису й сублімату — вага продукту). Медіана — за мінімальною ціною позиції. Ціни за одну упаковку, без опту.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Формат × вага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Скільки позицій у кожній вазі. Помаранчеві мітки — наші формати.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80–99 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73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100–149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119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150–199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664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200–249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210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250–299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7555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300–349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010" y="1719072"/>
            <a:ext cx="13354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303A5D"/>
                </a:solidFill>
                <a:latin typeface="Segoe UI"/>
              </a:rPr>
              <a:t>350+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213" y="2029968"/>
            <a:ext cx="2725774" cy="3273552"/>
          </a:xfrm>
          <a:prstGeom prst="roundRect">
            <a:avLst>
              <a:gd name="adj" fmla="val 3000"/>
            </a:avLst>
          </a:prstGeom>
          <a:noFill/>
          <a:ln w="31750">
            <a:solidFill>
              <a:srgbClr val="F9A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23113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C4810A"/>
                </a:solidFill>
                <a:latin typeface="Segoe UI"/>
              </a:rPr>
              <a:t>Пауч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523744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реторт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7685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028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231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573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4776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119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9A50B"/>
                </a:solidFill>
                <a:latin typeface="Segoe UI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13157" y="2587751"/>
            <a:ext cx="73152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3157" y="2587751"/>
            <a:ext cx="7315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150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322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DCB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4664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6645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10653" y="2587751"/>
            <a:ext cx="1207439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0653" y="2587751"/>
            <a:ext cx="1207439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200 · BSCM 240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1867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2C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210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2100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5487" y="2587751"/>
            <a:ext cx="86868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15487" y="2587751"/>
            <a:ext cx="8686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CM Premium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54131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17555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89586" y="2130551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5C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53010" y="2139696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53010" y="2432303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301752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" y="3310127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стакан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7685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FE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4028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4028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1231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3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7573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7573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4776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1119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1119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10287" y="3374135"/>
            <a:ext cx="937259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10287" y="3374135"/>
            <a:ext cx="937259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стакан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8322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B3DE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4664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664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77162" y="3374135"/>
            <a:ext cx="107442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7162" y="3374135"/>
            <a:ext cx="107442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ONE'S 200/210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61867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8210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82100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815487" y="3374135"/>
            <a:ext cx="868680" cy="2103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15487" y="3374135"/>
            <a:ext cx="8686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30" b="1" i="0">
                <a:solidFill>
                  <a:srgbClr val="303A5D"/>
                </a:solidFill>
                <a:latin typeface="Segoe UI"/>
              </a:rPr>
              <a:t>BSCM 2×125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954131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CD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917555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17555" y="3218687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289586" y="2916935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53010" y="2926079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3504" y="3803903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5E4B94"/>
                </a:solidFill>
                <a:latin typeface="Segoe UI"/>
              </a:rPr>
              <a:t>Дойпак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" y="4096511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плоский пакет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27685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978B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4028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40280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61231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7573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75735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  <a:latin typeface="Segoe UI"/>
              </a:rPr>
              <a:t>позицій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94776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91119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8322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24664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1867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C9C2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58210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82100" y="4005072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954131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17555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289586" y="3703320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53010" y="3712463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3504" y="459028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3504" y="488289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17890"/>
                </a:solidFill>
                <a:latin typeface="Segoe UI"/>
              </a:rPr>
              <a:t>з нагрівачем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27685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24028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61231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57573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4776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4A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1119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1119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8322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4664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61867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C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8210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8210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954131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917555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A9B0C4"/>
                </a:solidFill>
                <a:latin typeface="Segoe UI"/>
              </a:rPr>
              <a:t>—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289586" y="4489704"/>
            <a:ext cx="1262303" cy="713232"/>
          </a:xfrm>
          <a:prstGeom prst="roundRect">
            <a:avLst>
              <a:gd name="adj" fmla="val 8000"/>
            </a:avLst>
          </a:prstGeom>
          <a:solidFill>
            <a:srgbClr val="EC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253010" y="4498848"/>
            <a:ext cx="13354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53010" y="4791456"/>
            <a:ext cx="13354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46645" y="1847088"/>
            <a:ext cx="2670910" cy="9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" b="0" i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3504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03504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22960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ПОРЦІЙНЕ ВІКНО 200–299 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2960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28 позицій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Пауч і чаша: одна порція на людину. Тут стоять BSCM 200/240, CM Premium, ONE'S і подвійний стакан.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313925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313925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533381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33381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дойпак 100–149 г — 16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33381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Це сухий сублімат для походів, інший привід і канал. Наші формати з ним не перетинаються.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024347" y="5449824"/>
            <a:ext cx="3564117" cy="8961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8024347" y="5449824"/>
            <a:ext cx="73152" cy="89611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243803" y="5541264"/>
            <a:ext cx="319835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ВІЛЬНІ КЛІТИНКИ ДЛЯ НАС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43803" y="5742432"/>
            <a:ext cx="319835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03A5D"/>
                </a:solidFill>
                <a:latin typeface="Segoe UI"/>
              </a:rPr>
              <a:t>пауч 150–199 г — 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43803" y="6053328"/>
            <a:ext cx="319835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30" b="0" i="0">
                <a:solidFill>
                  <a:srgbClr val="1C2235"/>
                </a:solidFill>
                <a:latin typeface="Segoe UI"/>
              </a:rPr>
              <a:t>Жодного пауча 150–199 г. BSCM пауч 150 г заходить без прямого конкурента; найближчий — Ben's 220 г.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Вага — готової страви; для сухого рису й сублімату — вага продукту. Позиції без вказаної маси (Trek'n Eat ×2) не враховано. Наші формати — за комерційними пропозиціями BSCM, CM Premium, One's.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Топ поєднань формат + вага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Які упаковки ринок обирає найчастіше — і де стоять наші ваги.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45920"/>
            <a:ext cx="7726679" cy="4700016"/>
          </a:xfrm>
          <a:prstGeom prst="roundRect">
            <a:avLst>
              <a:gd name="adj" fmla="val 3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73736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17890"/>
                </a:solidFill>
                <a:latin typeface="Segoe UI"/>
              </a:rPr>
              <a:t>ТОП-13 ПОЄДНАНЬ «ФОРМАТ + ГРАМАЖ», 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09397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220 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2304" y="2103120"/>
            <a:ext cx="1920240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5696" y="207568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10312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129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4184" y="211226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41858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250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32304" y="2427732"/>
            <a:ext cx="1645919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51376" y="24003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242773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44184" y="243687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Ben's Original · Clearspring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274320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Чаша 174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2304" y="2752344"/>
            <a:ext cx="1371600" cy="22860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77056" y="27249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275234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148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4184" y="276148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Henan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067812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85 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32304" y="3076956"/>
            <a:ext cx="1371600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77056" y="304952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1144" y="307695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120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44184" y="308610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Харчі · Їжа в Похід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3924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110 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32304" y="3401568"/>
            <a:ext cx="1097280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02736" y="3374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81144" y="340156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378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44184" y="34107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Mountain House · Adventure Menu · SubliMate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371703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125 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32304" y="3726180"/>
            <a:ext cx="1097280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02736" y="369874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1144" y="372618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515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44184" y="373532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Travellunch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404164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Чаша 144 г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432304" y="4050792"/>
            <a:ext cx="822959" cy="228600"/>
          </a:xfrm>
          <a:prstGeom prst="roundRect">
            <a:avLst>
              <a:gd name="adj" fmla="val 2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28416" y="402336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81144" y="40507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4184" y="405993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Henan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43662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90 г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32304" y="4375404"/>
            <a:ext cx="822959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28416" y="43479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1144" y="437540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133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4184" y="438454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James Cook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4690872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146 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32304" y="4700016"/>
            <a:ext cx="822959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28416" y="46725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81144" y="470001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501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44184" y="470916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Qiaoshanmei · Adventure Food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50154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Дойпак 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432304" y="5024628"/>
            <a:ext cx="822959" cy="228600"/>
          </a:xfrm>
          <a:prstGeom prst="roundRect">
            <a:avLst>
              <a:gd name="adj" fmla="val 25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28416" y="49971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81144" y="502462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811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44184" y="503377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Travellunch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340096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Коробка 187 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432304" y="5349240"/>
            <a:ext cx="822959" cy="228600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28416" y="532180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81144" y="5349240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665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44184" y="5358384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Haidilao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566470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Коробка 272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432304" y="5673852"/>
            <a:ext cx="822959" cy="228600"/>
          </a:xfrm>
          <a:prstGeom prst="roundRect">
            <a:avLst>
              <a:gd name="adj" fmla="val 2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328416" y="56464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81144" y="567385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799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44184" y="5682996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Haidilao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" y="598932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Пауч 400 г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2304" y="5998464"/>
            <a:ext cx="822959" cy="228600"/>
          </a:xfrm>
          <a:prstGeom prst="roundRect">
            <a:avLst>
              <a:gd name="adj" fmla="val 25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28416" y="597103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81144" y="5998464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C2235"/>
                </a:solidFill>
                <a:latin typeface="Segoe UI"/>
              </a:rPr>
              <a:t>медіана 356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44184" y="600760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717890"/>
                </a:solidFill>
                <a:latin typeface="Segoe UI"/>
              </a:rPr>
              <a:t>Adventure Menu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31352" y="1645920"/>
            <a:ext cx="3057113" cy="2139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14232" y="1737360"/>
            <a:ext cx="27827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17890"/>
                </a:solidFill>
                <a:latin typeface="Segoe UI"/>
              </a:rPr>
              <a:t>ЧАСТКА ФОРМАТУ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14232" y="2011680"/>
            <a:ext cx="27827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C2235"/>
                </a:solidFill>
                <a:latin typeface="Segoe UI"/>
              </a:rPr>
              <a:t>Усі 84 позиції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714232" y="2249424"/>
            <a:ext cx="961197" cy="329184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14232" y="2249424"/>
            <a:ext cx="96119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36 %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75429" y="2249424"/>
            <a:ext cx="736918" cy="3291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75429" y="2249424"/>
            <a:ext cx="7369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27 %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412347" y="2249424"/>
            <a:ext cx="608758" cy="329184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12347" y="2249424"/>
            <a:ext cx="60875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021106" y="2249424"/>
            <a:ext cx="384479" cy="3291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021106" y="2249424"/>
            <a:ext cx="38447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14 %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714232" y="2852928"/>
            <a:ext cx="278279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C2235"/>
                </a:solidFill>
                <a:latin typeface="Segoe UI"/>
              </a:rPr>
              <a:t>Лише масовий канал · 46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714232" y="3090672"/>
            <a:ext cx="1345676" cy="3291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714232" y="3090672"/>
            <a:ext cx="134567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50 %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059908" y="3090672"/>
            <a:ext cx="1111646" cy="329184"/>
          </a:xfrm>
          <a:prstGeom prst="rect">
            <a:avLst/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59908" y="3090672"/>
            <a:ext cx="111164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41 %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171554" y="3090672"/>
            <a:ext cx="117015" cy="3291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288570" y="3090672"/>
            <a:ext cx="117015" cy="329184"/>
          </a:xfrm>
          <a:prstGeom prst="rect">
            <a:avLst/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31352" y="3913632"/>
            <a:ext cx="3057113" cy="2432304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531352" y="3913632"/>
            <a:ext cx="82296" cy="24323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87384" y="4023360"/>
            <a:ext cx="269135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C95C"/>
                </a:solidFill>
                <a:latin typeface="Segoe UI"/>
              </a:rPr>
              <a:t>НАШІ ВАГИ НА ЦІЙ КАРТІ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787384" y="4370832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150 г · BSCM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45465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787384" y="4681728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200 г · BSCM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45465" y="468172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787384" y="4992624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240 г · BSCM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445465" y="499262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1 в цій вазі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787384" y="5303520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Пауч 250 г · CM Premium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445465" y="5303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6 в цій вазі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787384" y="5614416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Стакан 150 г · BSCM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445465" y="56144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FC95C"/>
                </a:solidFill>
                <a:latin typeface="Segoe UI"/>
              </a:rPr>
              <a:t>0 конкурентів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87384" y="5925312"/>
            <a:ext cx="16855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Лоток 210 г · ONE'S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45465" y="59253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D5DBEA"/>
                </a:solidFill>
                <a:latin typeface="Segoe UI"/>
              </a:rPr>
              <a:t>1 в цій вазі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Позиції — за картками продавців (84 SKU). Медіани — за даними колоди. Масовий канал — без туристичних і військових магазинів. «Конкурентів» — позицій того самого формату з точно такою вагою.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сегменти 1–2 і наші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Готовий рис, рис під окріп і наші бренди на одній шкалі.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8875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3115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8590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2830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28306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2546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68021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02261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07736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41976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67031" y="1645920"/>
            <a:ext cx="1673615" cy="4315968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67031" y="6199631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5980175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ГРН ЗА ОДНУ УПАКОВКУ · ТОЧКА — МЕДІАНА БРЕНДУ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1655064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1950485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92424" y="196877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5384" y="1968773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67031" y="2014493"/>
            <a:ext cx="1661218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15175" y="195962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37978" y="195962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45–179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221214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2424" y="223043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5384" y="2230432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74492" y="2276152"/>
            <a:ext cx="36576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77161" y="222128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09014" y="22212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94–96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2473803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92424" y="2492091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15384" y="2492091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60449" y="2537811"/>
            <a:ext cx="36576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50721" y="24829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0177" y="248294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2735462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92424" y="275375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753750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82775" y="2799470"/>
            <a:ext cx="669446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607770" y="274460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61950" y="274460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135–189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2997121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92424" y="3015409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15384" y="3015409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498519" y="3061129"/>
            <a:ext cx="1624027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760706" y="300626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32274" y="300626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225–356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32587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92424" y="327706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15384" y="327706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33242" y="3322788"/>
            <a:ext cx="2405047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926038" y="326792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48018" y="32679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252–446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352044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Menu · пауч 400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92424" y="353872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15384" y="353872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614263" y="3584448"/>
            <a:ext cx="1103346" cy="109728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764875" y="352958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27338" y="352958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315–404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03504" y="3797573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1520" y="3797573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4092995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92424" y="411128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15384" y="4111283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738123" y="4157003"/>
            <a:ext cx="904992" cy="10972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35033" y="410213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52844" y="410213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83–156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435465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92424" y="437294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15384" y="4372942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548108" y="4418662"/>
            <a:ext cx="36576" cy="10972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7438380" y="436379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657836" y="436379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1520" y="4616313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92424" y="4634601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15384" y="4634601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920134" y="4680321"/>
            <a:ext cx="36576" cy="109728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0810406" y="462545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1029862" y="462545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501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3504" y="4893446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1520" y="489344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НАШІ БРЕНДИ · ПОЛИЦЯ ЗА ФІНМОДЕЛЛЮ (З ПДВ)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03504" y="5195198"/>
            <a:ext cx="10984961" cy="225083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31520" y="518886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BSCM Foods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92424" y="5207156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Таїланд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15384" y="5207156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24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57981" y="5252876"/>
            <a:ext cx="1822381" cy="10972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694551" y="519801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0091" y="519801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133–280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3504" y="5456857"/>
            <a:ext cx="10984961" cy="225083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1520" y="5450527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CM Premium · Chefrey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392424" y="5468815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Таїланд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5468815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915853" y="5514535"/>
            <a:ext cx="36576" cy="10972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806125" y="5459671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025581" y="5459671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178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03504" y="5718516"/>
            <a:ext cx="10984961" cy="225083"/>
          </a:xfrm>
          <a:prstGeom prst="roundRect">
            <a:avLst>
              <a:gd name="adj" fmla="val 20000"/>
            </a:avLst>
          </a:prstGeom>
          <a:solidFill>
            <a:srgbClr val="FF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31520" y="5712186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03A5D"/>
                </a:solidFill>
                <a:latin typeface="Segoe UI"/>
              </a:rPr>
              <a:t>ONE'S International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92424" y="573047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215384" y="573047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605924" y="5776194"/>
            <a:ext cx="2219090" cy="10972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8715287" y="572133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 w="25400">
            <a:solidFill>
              <a:srgbClr val="303A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934743" y="572133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153–332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 (конкуренти); наші бренди — полиця = собівартість × 3,5 (20' навалом, курс 45, бонус мережі 25 %, маржа 35 %). Смуга — від найдешевшої до найдорожчої позиції.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ОДНУ УПАКОВКУ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Ціна: сегменти 3–4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Саморозігрів і сублімація — інший привід і канал, з нами не конкурують.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98464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32704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2008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77072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66376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0615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5680" y="1645920"/>
            <a:ext cx="10972" cy="431596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19" y="5980175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41234" y="1645920"/>
            <a:ext cx="696224" cy="4315968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41234" y="6199631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5980175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ГРН ЗА ОДНУ УПАКОВКУ · ТОЧКА — МЕДІАНА БРЕНДУ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16550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1655064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195224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92424" y="197053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5384" y="1970532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68902" y="2016252"/>
            <a:ext cx="4177344" cy="10972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06338" y="196138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55975" y="19613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380–1 190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221742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92424" y="223570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15384" y="223570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10528" y="2281428"/>
            <a:ext cx="36576" cy="10972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400800" y="222656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0256" y="222656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931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2482596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92424" y="250088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15384" y="250088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99713" y="2546604"/>
            <a:ext cx="36576" cy="10972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389985" y="249174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09441" y="249174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2747772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92424" y="27660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766060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99713" y="2811780"/>
            <a:ext cx="36576" cy="10972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389985" y="275691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09441" y="275691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735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03504" y="3026664"/>
            <a:ext cx="10984961" cy="256032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3026664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332384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92424" y="334213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15384" y="3342132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92806" y="3387852"/>
            <a:ext cx="520878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85341" y="333298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23413" y="33329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55–156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358902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92424" y="360730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15384" y="360730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395069" y="3653027"/>
            <a:ext cx="36576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305970" y="3598163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40898" y="3598163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133–140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3854196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92424" y="387248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15384" y="3872483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79598" y="3918204"/>
            <a:ext cx="77358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311127" y="3863339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66684" y="3863339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130–145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4119372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92424" y="4137659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15384" y="4137659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137208" y="4183380"/>
            <a:ext cx="1227417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218297" y="4128515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74354" y="4128515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83–321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438454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92424" y="4402836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15384" y="4402836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04752" y="4448556"/>
            <a:ext cx="412577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193011" y="439369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27057" y="43936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290–370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1520" y="464972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Menu · дойпак 110 г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92424" y="466801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15384" y="4668012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658587" y="4713732"/>
            <a:ext cx="541507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832506" y="4658868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09823" y="46588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378–483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1520" y="491490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92424" y="493318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4933188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96451" y="4978908"/>
            <a:ext cx="2300118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136782" y="4924044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506297" y="492404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269–715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" y="5180076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92424" y="519836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15384" y="51983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246510" y="5244084"/>
            <a:ext cx="36576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136782" y="5189220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356238" y="518922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492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5445252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392424" y="546354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15384" y="5463540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127394" y="5509260"/>
            <a:ext cx="3166530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7255398" y="545439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03653" y="545439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275–889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1520" y="57104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92424" y="5728716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15384" y="5728716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314053" y="5774436"/>
            <a:ext cx="36576" cy="109728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8204325" y="571957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423781" y="571957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699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Роздрібна ціна за одну упаковку на сайтах продавців. Інший привід споживання і інший канал: туризм, армія, подарунок.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Де ми стоїмо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Ринкові якорі й наші позиції на одній шкалі. Помаранчеве — 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700784"/>
            <a:ext cx="10972" cy="453542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0520" y="62636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700784"/>
            <a:ext cx="10972" cy="453542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79" y="62636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1700784"/>
            <a:ext cx="10972" cy="453542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62636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700784"/>
            <a:ext cx="10972" cy="453542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0" y="62636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61320" y="1700784"/>
            <a:ext cx="10972" cy="4535424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5560" y="626364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05222" y="1700784"/>
            <a:ext cx="2036826" cy="4535424"/>
          </a:xfrm>
          <a:prstGeom prst="rect">
            <a:avLst/>
          </a:prstGeom>
          <a:solidFill>
            <a:srgbClr val="FF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05222" y="149961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9A50B"/>
                </a:solidFill>
                <a:latin typeface="Segoe UI"/>
              </a:rPr>
              <a:t>вікно мережевої полиці 45–180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1694688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Ben's Original · найдешевший 250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1736689"/>
            <a:ext cx="678941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96662" y="16946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45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1883664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Henan · найдешевша чаша 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1925665"/>
            <a:ext cx="1252270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69990" y="188366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83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2072640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Ben's Original · медіана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26280" y="2114641"/>
            <a:ext cx="1357884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75604" y="207264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" y="2261616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Маркел · реторт 350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6280" y="2303617"/>
            <a:ext cx="1433322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51042" y="226161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95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" y="2450592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Portion · реторт 350 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26280" y="2492593"/>
            <a:ext cx="1644548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2268" y="245059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" y="2639568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03A5D"/>
                </a:solidFill>
                <a:latin typeface="Segoe UI"/>
              </a:rPr>
              <a:t>ПАУЧ · медіана категорії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26280" y="2681569"/>
            <a:ext cx="1644548" cy="117165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2268" y="263956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" y="2828544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150 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26280" y="2870545"/>
            <a:ext cx="2006650" cy="117165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4370" y="282854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133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" y="3017520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BSCM стакан 150 г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26280" y="3059521"/>
            <a:ext cx="2097176" cy="117165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14896" y="301752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" y="3206496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Henan · медіана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26280" y="3248497"/>
            <a:ext cx="2112263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9983" y="320649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140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" y="3395472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200 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26280" y="3437473"/>
            <a:ext cx="2263140" cy="117165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80860" y="339547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" y="3584448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ONE'S лоток 210 г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26280" y="3626449"/>
            <a:ext cx="2308402" cy="117165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26122" y="35844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153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" y="3773424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BSCM пауч 240 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26280" y="3815425"/>
            <a:ext cx="2368753" cy="117165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86473" y="37734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157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" y="3962399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Bibigo · лоток 210 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26280" y="4004401"/>
            <a:ext cx="2444191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61911" y="3962399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162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504" y="4151376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CM Premium пауч 250 г органік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26280" y="4193377"/>
            <a:ext cx="2685592" cy="117165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03312" y="415137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178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3504" y="4340352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Ben's Original · найдорожчий 220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26280" y="4382353"/>
            <a:ext cx="2700680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8400" y="434035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179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3504" y="4529328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BSCM подвійний стакан 2×125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26280" y="4571329"/>
            <a:ext cx="3304184" cy="117165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21904" y="45293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219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3504" y="4718304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03A5D"/>
                </a:solidFill>
                <a:latin typeface="Segoe UI"/>
              </a:rPr>
              <a:t>ЧАША · медіана категорії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26280" y="4760305"/>
            <a:ext cx="3455060" cy="117165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72780" y="471830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3504" y="4907280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Ottogi · медіана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26280" y="4949281"/>
            <a:ext cx="3847337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65057" y="490728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255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" y="5096256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03A5D"/>
                </a:solidFill>
                <a:latin typeface="Segoe UI"/>
              </a:rPr>
              <a:t>ДОЙПАК · медіана категорії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26280" y="5138257"/>
            <a:ext cx="4752594" cy="117165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0314" y="509625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5285232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303A5D"/>
                </a:solidFill>
                <a:latin typeface="Segoe UI"/>
              </a:rPr>
              <a:t>НАШ · ONE'S fried rice 200 г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26280" y="5327233"/>
            <a:ext cx="5009083" cy="117165"/>
          </a:xfrm>
          <a:prstGeom prst="roundRect">
            <a:avLst>
              <a:gd name="adj" fmla="val 2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626803" y="528523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332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3504" y="5474208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Ottogi · найдорожчий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26280" y="5516209"/>
            <a:ext cx="5371185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988905" y="54742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356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3504" y="5663184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03A5D"/>
                </a:solidFill>
                <a:latin typeface="Segoe UI"/>
              </a:rPr>
              <a:t>КОРОБКА · медіана категорії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526280" y="5705185"/>
            <a:ext cx="6035040" cy="117165"/>
          </a:xfrm>
          <a:prstGeom prst="roundRect">
            <a:avLst>
              <a:gd name="adj" fmla="val 20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058400" y="5686897"/>
            <a:ext cx="64008" cy="1537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177272" y="5686897"/>
            <a:ext cx="64008" cy="1537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652760" y="56631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708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3504" y="5852160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Mo Xiao Xian · найдорожча чаша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26280" y="5894161"/>
            <a:ext cx="6035040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058400" y="5875873"/>
            <a:ext cx="64008" cy="1537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177272" y="5875873"/>
            <a:ext cx="64008" cy="1537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652760" y="58521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931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3504" y="6041136"/>
            <a:ext cx="378561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0">
                <a:solidFill>
                  <a:srgbClr val="1C2235"/>
                </a:solidFill>
                <a:latin typeface="Segoe UI"/>
              </a:rPr>
              <a:t>Haidilao · максимум ринку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526280" y="6083137"/>
            <a:ext cx="6035040" cy="117165"/>
          </a:xfrm>
          <a:prstGeom prst="roundRect">
            <a:avLst>
              <a:gd name="adj" fmla="val 20000"/>
            </a:avLst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058400" y="6064849"/>
            <a:ext cx="64008" cy="1537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177272" y="6064849"/>
            <a:ext cx="64008" cy="1537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652760" y="604113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03A5D"/>
                </a:solidFill>
                <a:latin typeface="Segoe UI"/>
              </a:rPr>
              <a:t>1 190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Ціни за одну упаковку на полиці. Наші позиції — полиця = собівартість × 3,5 (20' навалом, курс 45, бонус мережі 25 %, маржа 35 %, з ПДВ). Довгі стовпчики (понад 400 грн) скорочено; значення підписано.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Наша полиця й FOB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орієнтири.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28616" y="2121408"/>
            <a:ext cx="18288" cy="3977640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1792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303A5D"/>
                </a:solidFill>
                <a:latin typeface="Segoe UI"/>
              </a:rPr>
              <a:t>Ben's 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5392" y="2121408"/>
            <a:ext cx="18288" cy="397764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1576" y="197510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03A5D"/>
                </a:solidFill>
                <a:latin typeface="Segoe UI"/>
              </a:rPr>
              <a:t>пауч 109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2121408"/>
            <a:ext cx="18288" cy="3977640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04688" y="17922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303A5D"/>
                </a:solidFill>
                <a:latin typeface="Segoe UI"/>
              </a:rPr>
              <a:t>Bibigo 162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32752" y="2121408"/>
            <a:ext cx="18288" cy="3977640"/>
          </a:xfrm>
          <a:prstGeom prst="rect">
            <a:avLst/>
          </a:prstGeom>
          <a:solidFill>
            <a:srgbClr val="A9B0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8935" y="197510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303A5D"/>
                </a:solidFill>
                <a:latin typeface="Segoe UI"/>
              </a:rPr>
              <a:t>Ottogi −22 % · 199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2322576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2286000"/>
            <a:ext cx="2683255" cy="347472"/>
          </a:xfrm>
          <a:prstGeom prst="roundRect">
            <a:avLst>
              <a:gd name="adj" fmla="val 18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93384" y="2304288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139 грн</a:t>
            </a:r>
            <a:r>
              <a:rPr sz="1150" b="0" i="0">
                <a:solidFill>
                  <a:srgbClr val="717890"/>
                </a:solidFill>
                <a:latin typeface="Segoe UI"/>
              </a:rPr>
              <a:t>   FOB $0.500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2871216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BSCM пауч 150 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2834640"/>
            <a:ext cx="2567432" cy="347472"/>
          </a:xfrm>
          <a:prstGeom prst="roundRect">
            <a:avLst>
              <a:gd name="adj" fmla="val 18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77560" y="2852928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133 грн</a:t>
            </a:r>
            <a:r>
              <a:rPr sz="1150" b="0" i="0">
                <a:solidFill>
                  <a:srgbClr val="717890"/>
                </a:solidFill>
                <a:latin typeface="Segoe UI"/>
              </a:rPr>
              <a:t>   FOB $0.472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3419856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BSCM пауч 200 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3383280"/>
            <a:ext cx="2895599" cy="347472"/>
          </a:xfrm>
          <a:prstGeom prst="roundRect">
            <a:avLst>
              <a:gd name="adj" fmla="val 18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05728" y="3401568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150 грн</a:t>
            </a:r>
            <a:r>
              <a:rPr sz="1150" b="0" i="0">
                <a:solidFill>
                  <a:srgbClr val="717890"/>
                </a:solidFill>
                <a:latin typeface="Segoe UI"/>
              </a:rPr>
              <a:t>   FOB $0.550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3968496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BSCM пауч 240 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3931920"/>
            <a:ext cx="3030728" cy="347472"/>
          </a:xfrm>
          <a:prstGeom prst="roundRect">
            <a:avLst>
              <a:gd name="adj" fmla="val 18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0856" y="3950207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157 грн</a:t>
            </a:r>
            <a:r>
              <a:rPr sz="1150" b="0" i="0">
                <a:solidFill>
                  <a:srgbClr val="717890"/>
                </a:solidFill>
                <a:latin typeface="Segoe UI"/>
              </a:rPr>
              <a:t>   FOB $0.583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4517136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CM Premium 250 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4480560"/>
            <a:ext cx="3436111" cy="347472"/>
          </a:xfrm>
          <a:prstGeom prst="roundRect">
            <a:avLst>
              <a:gd name="adj" fmla="val 18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46240" y="4498848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178 грн</a:t>
            </a:r>
            <a:r>
              <a:rPr sz="1150" b="0" i="0">
                <a:solidFill>
                  <a:srgbClr val="717890"/>
                </a:solidFill>
                <a:latin typeface="Segoe UI"/>
              </a:rPr>
              <a:t>   FOB $0.667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5065776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ONE'S білий 210 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029200"/>
            <a:ext cx="2953512" cy="347472"/>
          </a:xfrm>
          <a:prstGeom prst="roundRect">
            <a:avLst>
              <a:gd name="adj" fmla="val 18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5047488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153 грн</a:t>
            </a:r>
            <a:r>
              <a:rPr sz="1150" b="0" i="0">
                <a:solidFill>
                  <a:srgbClr val="717890"/>
                </a:solidFill>
                <a:latin typeface="Segoe UI"/>
              </a:rPr>
              <a:t>   FOB $0.571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" y="5614416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303A5D"/>
                </a:solidFill>
                <a:latin typeface="Segoe UI"/>
              </a:rPr>
              <a:t>ONE'S fried 200 г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0" y="5577840"/>
            <a:ext cx="6408928" cy="347472"/>
          </a:xfrm>
          <a:prstGeom prst="roundRect">
            <a:avLst>
              <a:gd name="adj" fmla="val 18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19055" y="5596127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03A5D"/>
                </a:solidFill>
                <a:latin typeface="Segoe UI"/>
              </a:rPr>
              <a:t>332 грн</a:t>
            </a:r>
            <a:r>
              <a:rPr sz="1150" b="0" i="0">
                <a:solidFill>
                  <a:srgbClr val="717890"/>
                </a:solidFill>
                <a:latin typeface="Segoe UI"/>
              </a:rPr>
              <a:t>   FOB $1.238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61264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5039" y="61264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100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95440" y="61264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25839" y="6126480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717890"/>
                </a:solidFill>
                <a:latin typeface="Segoe UI"/>
              </a:rPr>
              <a:t>300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6327648"/>
            <a:ext cx="7589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ПОЛИЦЯ ЗА ПОТОЧНОЇ МОДЕЛІ, ГРН · 20' FCL НАВАЛОМ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Фінмодель: курс 45 грн/$, бонус мережі 25 %, цільова маржа 35 %, націнка мережі ×1,4 (ціна партнеру з ПДВ). FOB — комерційні пропозиції; для ONE'S оцінка із собівартості. Перевірено поштучно.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Наша ціна на полиці: усі формати й смаки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32 позиції трьох брендів. Ціна партнеру й роздрібна полиця — з ПДВ, за одну упаковку.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682496"/>
            <a:ext cx="2505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СМАК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682496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1682496"/>
            <a:ext cx="1005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ПАРТНЕРУ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682496"/>
            <a:ext cx="987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1920240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1920240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240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1920240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19456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220370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20370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220370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20370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157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239389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39389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9389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239389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179 грн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257495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58409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258409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258409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258409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179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277428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277428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240 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277428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64608" y="277428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202 грн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" y="3028492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028492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200 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73552" y="3028492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504" y="3302812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311956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3311956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67328" y="3311956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64608" y="3311956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150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" y="35021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35021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7328" y="35021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4608" y="35021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3683203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4944" y="369234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369234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67328" y="369234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64608" y="369234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" y="388254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388254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7328" y="388254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64608" y="388254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185 грн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504" y="4136745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" y="4136745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150 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73552" y="4136745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411065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4944" y="442020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0" y="442020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67328" y="442020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64608" y="442020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133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4944" y="461040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Mexican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0" y="461040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67328" y="461040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64608" y="461040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155 грн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3504" y="479145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4944" y="480060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Japanese Style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480060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67328" y="480060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64608" y="480060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155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" y="4990795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Hot &amp; Spicy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00400" y="4990795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67328" y="4990795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64608" y="4990795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C4810A"/>
                </a:solidFill>
                <a:latin typeface="Segoe UI"/>
              </a:rPr>
              <a:t>169 грн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3504" y="5244998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5244998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ПАУЧ · РЕТОРТ 250 г, ОРГАНІК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73552" y="5244998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CM Premium · Chefrey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3504" y="551931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94944" y="552846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Garlic Fried Rice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0" y="552846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67328" y="552846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64608" y="552846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" y="571865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Cilantro Lime Rice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00400" y="571865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67328" y="571865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64608" y="571865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03504" y="589970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4944" y="59088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Turmeric Basmati + Cumin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00400" y="59088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67328" y="59088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64608" y="59088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4944" y="6099048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Rice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00400" y="6099048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767328" y="6099048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64608" y="6099048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37A169"/>
                </a:solidFill>
                <a:latin typeface="Segoe UI"/>
              </a:rPr>
              <a:t>178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09359" y="1682496"/>
            <a:ext cx="25054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СМАК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814816" y="1682496"/>
            <a:ext cx="4754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81744" y="1682496"/>
            <a:ext cx="100583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ПАРТНЕРУ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79024" y="1682496"/>
            <a:ext cx="987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1920240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27648" y="1920240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СТАКАН 150 г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87967" y="1920240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217920" y="219456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309359" y="220370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Jasmine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14816" y="220370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81744" y="220370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79024" y="220370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09359" y="239389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Brown Jasmine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814816" y="239389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81744" y="239389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99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479024" y="239389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217920" y="257495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309359" y="258409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Thai Red Jasmine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14816" y="258409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381744" y="258409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79024" y="258409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309359" y="2774289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Rice Berry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814816" y="2774289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81744" y="2774289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479024" y="2774289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217920" y="2955340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09359" y="2964484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Jasmine + Red Quinoa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14816" y="2964484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150 г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81744" y="2964484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479024" y="2964484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150 грн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217920" y="3218688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327648" y="3218688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ПОДВІЙНИЙ СТАКАН 2×125 г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887967" y="3218688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BSCM Foods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217920" y="349300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309359" y="350215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· з олією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814816" y="350215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381744" y="350215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479024" y="350215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59" y="369234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Pathum · з олією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14816" y="369234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81744" y="369234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479024" y="369234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233 грн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17920" y="387339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309359" y="388254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Jasmine · з олією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814816" y="388254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381744" y="388254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79024" y="388254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9359" y="4072737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Brown Rice · з олією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814816" y="4072737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381744" y="4072737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479024" y="4072737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0" y="4253788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59" y="4262932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Basmati* · з олією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814816" y="4262932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81744" y="4262932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479024" y="4262932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280 грн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09359" y="4453128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Long Grain · з олією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814816" y="4453128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381744" y="4453128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479024" y="4453128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219 грн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217920" y="4634179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09359" y="4643323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Jasmine · без олії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814816" y="4643323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381744" y="4643323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183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479024" y="4643323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1E9EA6"/>
                </a:solidFill>
                <a:latin typeface="Segoe UI"/>
              </a:rPr>
              <a:t>256 грн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217920" y="4897526"/>
            <a:ext cx="5340096" cy="246888"/>
          </a:xfrm>
          <a:prstGeom prst="roundRect">
            <a:avLst>
              <a:gd name="adj" fmla="val 3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327648" y="4897526"/>
            <a:ext cx="3204057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Segoe UI"/>
              </a:rPr>
              <a:t>ЛОТОК 200–210 г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887967" y="4897526"/>
            <a:ext cx="25603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Segoe UI"/>
              </a:rPr>
              <a:t>ONE'S International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217920" y="517184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09359" y="518099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Cooked White Rice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814816" y="518099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210 г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81744" y="518099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109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479024" y="518099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153 грн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309359" y="5371185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Kimchi Fried Rice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14816" y="5371185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381744" y="5371185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479024" y="5371185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217920" y="5552236"/>
            <a:ext cx="5340096" cy="190195"/>
          </a:xfrm>
          <a:prstGeom prst="roundRect">
            <a:avLst>
              <a:gd name="adj" fmla="val 2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6309359" y="5561380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Vegetable Fried Rice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814816" y="5561380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381744" y="5561380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0479024" y="5561380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309359" y="5751576"/>
            <a:ext cx="2487168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C2235"/>
                </a:solidFill>
                <a:latin typeface="Segoe UI"/>
              </a:rPr>
              <a:t>Japchae Fried Rice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814816" y="5751576"/>
            <a:ext cx="457200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200 г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381744" y="5751576"/>
            <a:ext cx="987552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1C2235"/>
                </a:solidFill>
                <a:latin typeface="Segoe UI"/>
              </a:rPr>
              <a:t>237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479024" y="5751576"/>
            <a:ext cx="969264" cy="171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5E4B94"/>
                </a:solidFill>
                <a:latin typeface="Segoe UI"/>
              </a:rPr>
              <a:t>332 грн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Фінмодель покупця (20' FCL навалом): курс 45 грн/$, бонус мережі 25 %, маржа 35 %. Ціна партнеру = собівартість ÷ 0,4, полиця = ціна партнеру × 1,4. Варіанти змішаного контейнера (Bags+Cups) не показано. Basmati* — за комерційною пропозицією.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ДОДАТОК · КАТАЛОГ · ПАУЧ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Ben's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13 позицій, 220–250 г — єдиний бренд на мережевій полиці.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6479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313" y="1801368"/>
            <a:ext cx="609259" cy="859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70078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6479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390" y="1801368"/>
            <a:ext cx="614315" cy="8595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70078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6479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5524" y="1801368"/>
            <a:ext cx="609259" cy="859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70078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6479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6130" y="1801368"/>
            <a:ext cx="609259" cy="859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70078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6479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50415" y="1801368"/>
            <a:ext cx="621899" cy="8595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70078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6479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44925" y="1801368"/>
            <a:ext cx="594091" cy="8595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70078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6479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2891" y="1801368"/>
            <a:ext cx="619371" cy="85953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276148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314553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332841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100–144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362102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407822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67512" y="414223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1785" y="4178808"/>
            <a:ext cx="614315" cy="85953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04088" y="513892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" y="552297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4088" y="570585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" y="599846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84109" y="407822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8117" y="414223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390" y="4178808"/>
            <a:ext cx="614315" cy="859536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284693" y="513892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4693" y="552297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4693" y="570585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144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599846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64715" y="407822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28723" y="414223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13220" y="4178808"/>
            <a:ext cx="573866" cy="85953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3865299" y="513892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65299" y="552297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65299" y="570585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65299" y="599846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45321" y="407822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5409329" y="414223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6130" y="4178808"/>
            <a:ext cx="609259" cy="85953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5445905" y="513892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45905" y="552297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45905" y="570585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179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45905" y="599846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925926" y="407822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6989934" y="414223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50415" y="4178808"/>
            <a:ext cx="621899" cy="859536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026510" y="513892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26510" y="552297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26510" y="570585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26510" y="599846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506532" y="4078224"/>
            <a:ext cx="1470877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8570540" y="4142232"/>
            <a:ext cx="1342861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44925" y="4178808"/>
            <a:ext cx="594091" cy="85953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8607116" y="5138928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07116" y="5522976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BEN'S ORIGINAL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07116" y="5705856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139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07116" y="5998464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підпису: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ДОДАТОК · КАТАЛОГ · ПАУЧ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Пауч: інші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Органіка, український реторт і туристичний Adventure Menu.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3431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64792"/>
            <a:ext cx="1606296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004422"/>
            <a:ext cx="1514856" cy="17518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4059935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443983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4626864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376–404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919471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700784"/>
            <a:ext cx="173431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64792"/>
            <a:ext cx="1606296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272" y="1998423"/>
            <a:ext cx="1514856" cy="176387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4059935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4443983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4626864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315–356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4919471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700784"/>
            <a:ext cx="173431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64792"/>
            <a:ext cx="1606296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1312" y="1967148"/>
            <a:ext cx="1514856" cy="18264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4059935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4443983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4626864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336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4919471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700784"/>
            <a:ext cx="173431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64792"/>
            <a:ext cx="1606296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learspr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5352" y="1974739"/>
            <a:ext cx="1514855" cy="18112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4059935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4443983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CLEARSPRING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4626864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252–446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4919471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700784"/>
            <a:ext cx="173431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64792"/>
            <a:ext cx="1606296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ua_portion_pa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9391" y="2176637"/>
            <a:ext cx="1514855" cy="140744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4059935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4443983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PORTION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4626864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4919471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700784"/>
            <a:ext cx="173431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64792"/>
            <a:ext cx="1606296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0a3d4c5c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3431" y="1923016"/>
            <a:ext cx="1514856" cy="191468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4059935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4443983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МАРКЕЛ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4626864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94–96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4919471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5394959"/>
            <a:ext cx="10954512" cy="896112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03504" y="5394959"/>
            <a:ext cx="82296" cy="896112"/>
          </a:xfrm>
          <a:prstGeom prst="roundRect">
            <a:avLst>
              <a:gd name="adj" fmla="val 50000"/>
            </a:avLst>
          </a:prstGeom>
          <a:solidFill>
            <a:srgbClr val="C481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577840"/>
            <a:ext cx="10405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5DBEA"/>
                </a:solidFill>
                <a:latin typeface="Segoe UI"/>
              </a:rPr>
              <a:t>У пауча поза Ben's — лише шість позицій у трьох вагах: 250, 350 і 400 г. Пауч 150–199 г і 300 г не представлений.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підпису: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ДОДАТОК · КАТАЛОГ · ЧАША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Чаша: готовий рис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Ottogi і Bibigo — розігрів у мікрохвильовці 60–90 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669" y="1801368"/>
            <a:ext cx="983980" cy="859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9247" y="1801368"/>
            <a:ext cx="970904" cy="8595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6749" y="1801368"/>
            <a:ext cx="983980" cy="859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012" y="1801368"/>
            <a:ext cx="859536" cy="859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255–260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9809" y="1801368"/>
            <a:ext cx="994021" cy="8595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255–289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7658" y="1801368"/>
            <a:ext cx="1086402" cy="8595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225–320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207" y="4178808"/>
            <a:ext cx="970904" cy="85953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252–334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17689" y="4178808"/>
            <a:ext cx="994021" cy="85953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334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8972" y="4178808"/>
            <a:ext cx="859536" cy="859536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356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769" y="4178808"/>
            <a:ext cx="994021" cy="85953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OTTOGI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255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bibigo_bowl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9005" y="4178808"/>
            <a:ext cx="855629" cy="85953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4810A"/>
                </a:solidFill>
                <a:latin typeface="Segoe UI"/>
              </a:rPr>
              <a:t>BIBIGO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135–189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підпису: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ДОДАТОК · КАТАЛОГ · ЧАША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Чаша: під окріп і саморозігрів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Henan, Gallina Blanca — окріп 5–10 хв; Mo Xiao Xian — нагрівач.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710" y="1801368"/>
            <a:ext cx="921899" cy="859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129–156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0907" y="1801368"/>
            <a:ext cx="907584" cy="8595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140–156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36" y="1801368"/>
            <a:ext cx="899206" cy="859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118–156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9186" y="1801368"/>
            <a:ext cx="867187" cy="859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118–156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5870" y="1801368"/>
            <a:ext cx="921899" cy="8595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112–150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9868" y="1801368"/>
            <a:ext cx="901982" cy="8595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056" y="4178808"/>
            <a:ext cx="899206" cy="85953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135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5501" y="4178808"/>
            <a:ext cx="1178396" cy="85953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HENAN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152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8972" y="4178808"/>
            <a:ext cx="859536" cy="859536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MO XIAO XIAN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931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73012" y="4178808"/>
            <a:ext cx="859536" cy="85953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MO XIAO XIAN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931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51b547b7d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7051" y="4178808"/>
            <a:ext cx="859536" cy="85953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GALLINA BLANCA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823703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88771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47975023c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61091" y="4178808"/>
            <a:ext cx="859536" cy="859536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9924287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24287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GALLINA BLANCA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924287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229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24287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підпису: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ДОДАТОК · КАТАЛОГ · КОРОБКА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Haidilao, Zihaiguo, Rongcheng Haoji — без техніки й окропу, 15 хв.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40" y="1801368"/>
            <a:ext cx="841839" cy="859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380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4932" y="1801368"/>
            <a:ext cx="859536" cy="8595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770–799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972" y="1801368"/>
            <a:ext cx="859536" cy="859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799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597" y="1801368"/>
            <a:ext cx="872364" cy="859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7051" y="1801368"/>
            <a:ext cx="859536" cy="8595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680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940" y="1801368"/>
            <a:ext cx="841839" cy="8595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650–680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892" y="4178808"/>
            <a:ext cx="859536" cy="85953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65096" y="4178808"/>
            <a:ext cx="899206" cy="85953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650–660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2557" y="4178808"/>
            <a:ext cx="872364" cy="859536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650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3012" y="4178808"/>
            <a:ext cx="859536" cy="85953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HAIDILAO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1 190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7051" y="4178808"/>
            <a:ext cx="859536" cy="85953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ZIHAIGUO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823703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88771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61091" y="4178808"/>
            <a:ext cx="859536" cy="859536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9924287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24287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C94F7C"/>
                </a:solidFill>
                <a:latin typeface="Segoe UI"/>
              </a:rPr>
              <a:t>RONGCHENG HAOJI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924287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735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24287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підпису: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ДОДАТОК · КАТАЛОГ · ДОЙПАК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імпортний сублімат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Travellunch, Trek'n Eat, Mountain House, Adventure Food.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317" y="1801368"/>
            <a:ext cx="692684" cy="859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275–515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9621" y="1801368"/>
            <a:ext cx="690156" cy="8595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295–515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773" y="1801368"/>
            <a:ext cx="669932" cy="859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567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8853" y="1801368"/>
            <a:ext cx="707853" cy="859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515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1741" y="1801368"/>
            <a:ext cx="690156" cy="8595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702–811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5893" y="1801368"/>
            <a:ext cx="669932" cy="8595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811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5693" y="4178808"/>
            <a:ext cx="669932" cy="85953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TRAVELLUNCH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889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8357" y="4178808"/>
            <a:ext cx="692684" cy="85953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TREK'N EAT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269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661" y="4178808"/>
            <a:ext cx="690156" cy="859536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TREK'N EAT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715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813" y="4178808"/>
            <a:ext cx="669932" cy="85953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MOUNTAIN HOUSE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699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65084" y="4178808"/>
            <a:ext cx="763470" cy="85953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MOUNTAIN HOUSE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699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823703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988771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5781" y="4178808"/>
            <a:ext cx="690156" cy="859536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9924287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24287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FOOD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924287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492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24287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підпису: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ДОДАТОК · КАТАЛОГ · ДОЙПАК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Adventure Menu, SubliMate, Qiaoshanmei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Сублімат 110–140 г і китайський рис у плоскому пакеті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470877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64792"/>
            <a:ext cx="1342861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254649"/>
            <a:ext cx="1251421" cy="12514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4059935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443983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4626864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919471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84109" y="1700784"/>
            <a:ext cx="1470877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248117" y="1764792"/>
            <a:ext cx="1342861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3837" y="2254649"/>
            <a:ext cx="1251421" cy="125142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284693" y="4059935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4693" y="4443983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E9EA6"/>
                </a:solidFill>
                <a:latin typeface="Segoe UI"/>
              </a:rPr>
              <a:t>QIAOSHANMEI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4693" y="4626864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501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4919471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64715" y="1700784"/>
            <a:ext cx="1470877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28723" y="1764792"/>
            <a:ext cx="1342861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4443" y="2191875"/>
            <a:ext cx="1251421" cy="13769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865299" y="4059935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5299" y="4443983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5299" y="4626864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378–483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5299" y="4919471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45321" y="1700784"/>
            <a:ext cx="1470877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09329" y="1764792"/>
            <a:ext cx="1342861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049" y="2194096"/>
            <a:ext cx="1251421" cy="1372527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445905" y="4059935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5905" y="4443983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ADVENTURE MENU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5905" y="4626864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390–483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5905" y="4919471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25926" y="1700784"/>
            <a:ext cx="1470877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89934" y="1764792"/>
            <a:ext cx="1342861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35654" y="2156748"/>
            <a:ext cx="1251421" cy="144722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26510" y="4059935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6510" y="4443983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6510" y="4626864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309–310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26510" y="4919471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06532" y="1700784"/>
            <a:ext cx="1470877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0540" y="1764792"/>
            <a:ext cx="1342861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16260" y="2368749"/>
            <a:ext cx="1251421" cy="102322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07116" y="4059935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7116" y="4443983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7116" y="4626864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290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07116" y="4919471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7138" y="1700784"/>
            <a:ext cx="1470877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151146" y="1764792"/>
            <a:ext cx="1342861" cy="2231136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6866" y="2125956"/>
            <a:ext cx="1251421" cy="150880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0187722" y="4059935"/>
            <a:ext cx="126970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7722" y="4443983"/>
            <a:ext cx="126970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SUBLIMATE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722" y="4626864"/>
            <a:ext cx="12697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370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7722" y="4919471"/>
            <a:ext cx="126970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" y="5394959"/>
            <a:ext cx="10954512" cy="896112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03504" y="5394959"/>
            <a:ext cx="82296" cy="896112"/>
          </a:xfrm>
          <a:prstGeom prst="roundRect">
            <a:avLst>
              <a:gd name="adj" fmla="val 50000"/>
            </a:avLst>
          </a:prstGeom>
          <a:solidFill>
            <a:srgbClr val="5E4B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577840"/>
            <a:ext cx="10405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D5DBEA"/>
                </a:solidFill>
                <a:latin typeface="Segoe UI"/>
              </a:rPr>
              <a:t>Adventure Menu — єдиний бренд із двома форматами: готова страва в пауці 400 г і сублімат у дойпаку 110 г. Qiaoshanmei — не сублімат, а сухий рис під окріп.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підпису: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C95C"/>
                </a:solidFill>
                <a:latin typeface="Segoe UI"/>
              </a:rPr>
              <a:t>ДОДАТОК · КАТАЛОГ · ДОЙПАК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Дойпак: український сублімат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435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717890"/>
                </a:solidFill>
                <a:latin typeface="Segoe UI"/>
              </a:rPr>
              <a:t>James Cook, Харчі, Їжа в Похід, !FEST — вага 80–100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294" y="1801368"/>
            <a:ext cx="1014730" cy="859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83–138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4754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51155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335" y="1801368"/>
            <a:ext cx="1014730" cy="8595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4812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812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12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133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812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158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559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7826" y="1801368"/>
            <a:ext cx="1021826" cy="8595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9216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9216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216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216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562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2118" y="1801368"/>
            <a:ext cx="961323" cy="859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36208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JAMES COOK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55–81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6208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9664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4367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3820" y="1801368"/>
            <a:ext cx="765998" cy="8595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08024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8024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ЇЖА В ПОХІД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024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145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8024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23703" y="170078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887712" y="176479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4068" y="1801368"/>
            <a:ext cx="773582" cy="8595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924287" y="276148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4287" y="314553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ЇЖА В ПОХІД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4287" y="332841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130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24287" y="362102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6751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1677" y="4178808"/>
            <a:ext cx="717965" cy="85953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0408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4754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51155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335" y="4178808"/>
            <a:ext cx="1014730" cy="85953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54812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812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4812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4812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9158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5559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375" y="4178808"/>
            <a:ext cx="1014730" cy="859536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439216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9216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9216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83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9216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3562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1866" y="4178808"/>
            <a:ext cx="1021826" cy="85953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236208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36208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ХАРЧІ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321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6208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79664" y="4078224"/>
            <a:ext cx="1734312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043672" y="4142232"/>
            <a:ext cx="1606296" cy="9326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158" y="4178808"/>
            <a:ext cx="961323" cy="859536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080247" y="5138928"/>
            <a:ext cx="15331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80247" y="5522976"/>
            <a:ext cx="1533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E4B94"/>
                </a:solidFill>
                <a:latin typeface="Segoe UI"/>
              </a:rPr>
              <a:t>!FEST · </a:t>
            </a:r>
            <a:r>
              <a:rPr sz="80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80247" y="5705856"/>
            <a:ext cx="1533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133–140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80247" y="5998464"/>
            <a:ext cx="15331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3504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Фото, вага й ціна — з карток продавців; ціна за одну упаковку (від–до серед продавців). Колір підпису: золотий — розігрів, бірюзовий — під окріп, рожевий — саморозігрів, фіолетовий — сублімат.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</TotalTime>
  <Words>2952</Words>
  <Application>Microsoft Office PowerPoint</Application>
  <PresentationFormat>Широкий екран</PresentationFormat>
  <Paragraphs>836</Paragraphs>
  <Slides>23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6</vt:i4>
      </vt:variant>
      <vt:variant>
        <vt:lpstr>Тема</vt:lpstr>
      </vt:variant>
      <vt:variant>
        <vt:i4>11</vt:i4>
      </vt:variant>
      <vt:variant>
        <vt:lpstr>Заголовки слайдів</vt:lpstr>
      </vt:variant>
      <vt:variant>
        <vt:i4>23</vt:i4>
      </vt:variant>
    </vt:vector>
  </HeadingPairs>
  <TitlesOfParts>
    <vt:vector size="40" baseType="lpstr">
      <vt:lpstr>Arial</vt:lpstr>
      <vt:lpstr>Calibri</vt:lpstr>
      <vt:lpstr>Segoe UI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Чаплигін lлля</cp:lastModifiedBy>
  <cp:revision>9</cp:revision>
  <dcterms:created xsi:type="dcterms:W3CDTF">2013-01-27T09:14:16Z</dcterms:created>
  <dcterms:modified xsi:type="dcterms:W3CDTF">2026-10-06T08:49:21Z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