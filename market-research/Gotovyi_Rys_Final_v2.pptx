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</p:sldMasterIdLst>
  <p:sldIdLst>
    <p:sldId id="286" r:id="rId12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2000" cy="6858000"/>
  <p:notesSz cx="7559675" cy="10691813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" Target="slides/slide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Relationship Id="rId50" Type="http://schemas.openxmlformats.org/officeDocument/2006/relationships/slide" Target="slides/slide35.xml"/><Relationship Id="rId51" Type="http://schemas.openxmlformats.org/officeDocument/2006/relationships/slide" Target="slides/slide36.xml"/><Relationship Id="rId52" Type="http://schemas.openxmlformats.org/officeDocument/2006/relationships/slide" Target="slides/slide37.xml"/><Relationship Id="rId53" Type="http://schemas.openxmlformats.org/officeDocument/2006/relationships/slide" Target="slides/slide38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50.xml"/><Relationship Id="rId66" Type="http://schemas.openxmlformats.org/officeDocument/2006/relationships/slide" Target="slides/slide51.xml"/><Relationship Id="rId67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6049C9C-26D1-4BF7-95C2-7ABB3BE0045C}" type="slidenum">
              <a:t>‹№›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51877D8-6C42-493E-8137-7AA72E3A88C7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12FBAA39-EC53-4CF0-B60E-14DE506C665D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D6FE0B3-4447-4A7D-B583-5EE32AB8B828}" type="slidenum">
              <a:t>‹№›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15602CAE-D726-43B9-920E-EA5939FE8FE7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D538AA35-9490-4648-8368-19B3123CAD3A}" type="slidenum">
              <a:t>‹№›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AB01A933-A588-48C4-BB5D-0E2F439E6893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926C7FD-F93C-4D5B-BE9B-12BDB056F4FC}" type="slidenum">
              <a:t>‹№›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64FE91E-1351-4F9F-8CF5-0B7F6789C7CF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82F14AF9-FC9F-4855-811B-1BDAF89C796A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lstStyle/>
          <a:p>
            <a:fld id="{208C1557-350F-440A-AEDD-9DFC903CA691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heme" Target="../theme/theme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BBF6D8D-7452-4BBD-B80A-CCF3520CA285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5393B8F-BA6B-4E36-8247-E9C295277C1B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3806D57-E2E7-4FCC-8AB1-E1592A1A5373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A6F79F3-08D0-4626-8438-E303BB1E74CA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000" b="1" strike="noStrike" cap="all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4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F701CCC-9DC2-4749-8F63-A885FB3A76DD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010AE7C-BC5C-431D-A7BD-9638F5612940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E8B0B25-FF38-4398-BF0F-2F66D13BE1AC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751B68A-7401-4164-B7B7-66C50FF87152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605F44-7B5C-4EC4-9071-29658010D3A1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C384E6A-BA14-4EB6-BCD8-4BF7C0D4A84E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141A942-13C1-4351-B248-8F6A5E969205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6.jpg"/><Relationship Id="rId5" Type="http://schemas.openxmlformats.org/officeDocument/2006/relationships/image" Target="../media/image70.jpg"/><Relationship Id="rId6" Type="http://schemas.openxmlformats.org/officeDocument/2006/relationships/image" Target="../media/image7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17.jpeg"/><Relationship Id="rId5" Type="http://schemas.openxmlformats.org/officeDocument/2006/relationships/image" Target="../media/image12.jpeg"/><Relationship Id="rId6" Type="http://schemas.openxmlformats.org/officeDocument/2006/relationships/image" Target="../media/image72.jpg"/><Relationship Id="rId7" Type="http://schemas.openxmlformats.org/officeDocument/2006/relationships/image" Target="../media/image73.jpg"/><Relationship Id="rId8" Type="http://schemas.openxmlformats.org/officeDocument/2006/relationships/image" Target="../media/image74.jpg"/><Relationship Id="rId9" Type="http://schemas.openxmlformats.org/officeDocument/2006/relationships/image" Target="../media/image75.jpg"/><Relationship Id="rId10" Type="http://schemas.openxmlformats.org/officeDocument/2006/relationships/image" Target="../media/image76.jpg"/><Relationship Id="rId11" Type="http://schemas.openxmlformats.org/officeDocument/2006/relationships/image" Target="../media/image54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2.jpeg"/><Relationship Id="rId4" Type="http://schemas.openxmlformats.org/officeDocument/2006/relationships/image" Target="../media/image13.jpeg"/><Relationship Id="rId5" Type="http://schemas.openxmlformats.org/officeDocument/2006/relationships/image" Target="../media/image14.jpeg"/><Relationship Id="rId6" Type="http://schemas.openxmlformats.org/officeDocument/2006/relationships/image" Target="../media/image15.jpeg"/><Relationship Id="rId7" Type="http://schemas.openxmlformats.org/officeDocument/2006/relationships/image" Target="../media/image16.jpeg"/><Relationship Id="rId8" Type="http://schemas.openxmlformats.org/officeDocument/2006/relationships/image" Target="../media/image17.jpeg"/><Relationship Id="rId9" Type="http://schemas.openxmlformats.org/officeDocument/2006/relationships/image" Target="../media/image18.jpeg"/><Relationship Id="rId10" Type="http://schemas.openxmlformats.org/officeDocument/2006/relationships/image" Target="../media/image19.jpeg"/><Relationship Id="rId11" Type="http://schemas.openxmlformats.org/officeDocument/2006/relationships/image" Target="../media/image20.jpe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77.jpg"/><Relationship Id="rId4" Type="http://schemas.openxmlformats.org/officeDocument/2006/relationships/image" Target="../media/image75.jpg"/><Relationship Id="rId5" Type="http://schemas.openxmlformats.org/officeDocument/2006/relationships/image" Target="../media/image78.jpg"/><Relationship Id="rId6" Type="http://schemas.openxmlformats.org/officeDocument/2006/relationships/image" Target="../media/image74.jpg"/><Relationship Id="rId7" Type="http://schemas.openxmlformats.org/officeDocument/2006/relationships/image" Target="../media/image79.jpg"/><Relationship Id="rId8" Type="http://schemas.openxmlformats.org/officeDocument/2006/relationships/image" Target="../media/image80.jpg"/><Relationship Id="rId9" Type="http://schemas.openxmlformats.org/officeDocument/2006/relationships/image" Target="../media/image76.jpg"/><Relationship Id="rId10" Type="http://schemas.openxmlformats.org/officeDocument/2006/relationships/image" Target="../media/image81.jpg"/><Relationship Id="rId11" Type="http://schemas.openxmlformats.org/officeDocument/2006/relationships/image" Target="../media/image82.jpg"/><Relationship Id="rId12" Type="http://schemas.openxmlformats.org/officeDocument/2006/relationships/image" Target="../media/image83.jpg"/><Relationship Id="rId13" Type="http://schemas.openxmlformats.org/officeDocument/2006/relationships/image" Target="../media/image84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54.jpeg"/><Relationship Id="rId4" Type="http://schemas.openxmlformats.org/officeDocument/2006/relationships/image" Target="../media/image55.jpeg"/><Relationship Id="rId5" Type="http://schemas.openxmlformats.org/officeDocument/2006/relationships/image" Target="../media/image56.jpeg"/><Relationship Id="rId6" Type="http://schemas.openxmlformats.org/officeDocument/2006/relationships/image" Target="../media/image73.jpg"/><Relationship Id="rId7" Type="http://schemas.openxmlformats.org/officeDocument/2006/relationships/image" Target="../media/image72.jpg"/><Relationship Id="rId8" Type="http://schemas.openxmlformats.org/officeDocument/2006/relationships/image" Target="../media/image85.jpg"/><Relationship Id="rId9" Type="http://schemas.openxmlformats.org/officeDocument/2006/relationships/image" Target="../media/image86.jpg"/><Relationship Id="rId10" Type="http://schemas.openxmlformats.org/officeDocument/2006/relationships/image" Target="../media/image87.jpg"/><Relationship Id="rId11" Type="http://schemas.openxmlformats.org/officeDocument/2006/relationships/image" Target="../media/image88.jpg"/><Relationship Id="rId12" Type="http://schemas.openxmlformats.org/officeDocument/2006/relationships/image" Target="../media/image8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6.jpg"/><Relationship Id="rId4" Type="http://schemas.openxmlformats.org/officeDocument/2006/relationships/image" Target="../media/image90.jpg"/><Relationship Id="rId5" Type="http://schemas.openxmlformats.org/officeDocument/2006/relationships/image" Target="../media/image28.jpeg"/><Relationship Id="rId6" Type="http://schemas.openxmlformats.org/officeDocument/2006/relationships/image" Target="../media/image26.jpeg"/><Relationship Id="rId7" Type="http://schemas.openxmlformats.org/officeDocument/2006/relationships/image" Target="../media/image91.jpg"/><Relationship Id="rId8" Type="http://schemas.openxmlformats.org/officeDocument/2006/relationships/image" Target="../media/image25.jpeg"/><Relationship Id="rId9" Type="http://schemas.openxmlformats.org/officeDocument/2006/relationships/image" Target="../media/image40.jpeg"/><Relationship Id="rId10" Type="http://schemas.openxmlformats.org/officeDocument/2006/relationships/image" Target="../media/image21.jpe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1.jpeg"/><Relationship Id="rId4" Type="http://schemas.openxmlformats.org/officeDocument/2006/relationships/image" Target="../media/image22.jpeg"/><Relationship Id="rId5" Type="http://schemas.openxmlformats.org/officeDocument/2006/relationships/image" Target="../media/image23.jpeg"/><Relationship Id="rId6" Type="http://schemas.openxmlformats.org/officeDocument/2006/relationships/image" Target="../media/image24.jpeg"/><Relationship Id="rId7" Type="http://schemas.openxmlformats.org/officeDocument/2006/relationships/image" Target="../media/image25.jpeg"/><Relationship Id="rId8" Type="http://schemas.openxmlformats.org/officeDocument/2006/relationships/image" Target="../media/image26.jpeg"/><Relationship Id="rId9" Type="http://schemas.openxmlformats.org/officeDocument/2006/relationships/image" Target="../media/image27.jpeg"/><Relationship Id="rId10" Type="http://schemas.openxmlformats.org/officeDocument/2006/relationships/image" Target="../media/image9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8.jpeg"/><Relationship Id="rId4" Type="http://schemas.openxmlformats.org/officeDocument/2006/relationships/image" Target="../media/image29.jpeg"/><Relationship Id="rId5" Type="http://schemas.openxmlformats.org/officeDocument/2006/relationships/image" Target="../media/image30.jpeg"/><Relationship Id="rId6" Type="http://schemas.openxmlformats.org/officeDocument/2006/relationships/image" Target="../media/image31.jpeg"/><Relationship Id="rId7" Type="http://schemas.openxmlformats.org/officeDocument/2006/relationships/image" Target="../media/image32.jpeg"/><Relationship Id="rId8" Type="http://schemas.openxmlformats.org/officeDocument/2006/relationships/image" Target="../media/image33.jpeg"/><Relationship Id="rId9" Type="http://schemas.openxmlformats.org/officeDocument/2006/relationships/image" Target="../media/image40.jpeg"/><Relationship Id="rId10" Type="http://schemas.openxmlformats.org/officeDocument/2006/relationships/image" Target="../media/image41.jpeg"/><Relationship Id="rId11" Type="http://schemas.openxmlformats.org/officeDocument/2006/relationships/image" Target="../media/image90.jpg"/><Relationship Id="rId12" Type="http://schemas.openxmlformats.org/officeDocument/2006/relationships/image" Target="../media/image92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70.jpg"/><Relationship Id="rId4" Type="http://schemas.openxmlformats.org/officeDocument/2006/relationships/image" Target="../media/image66.jpeg"/><Relationship Id="rId5" Type="http://schemas.openxmlformats.org/officeDocument/2006/relationships/image" Target="../media/image60.jpeg"/><Relationship Id="rId6" Type="http://schemas.openxmlformats.org/officeDocument/2006/relationships/image" Target="../media/image64.jpeg"/><Relationship Id="rId7" Type="http://schemas.openxmlformats.org/officeDocument/2006/relationships/image" Target="../media/image46.jpeg"/><Relationship Id="rId8" Type="http://schemas.openxmlformats.org/officeDocument/2006/relationships/image" Target="../media/image57.jpeg"/><Relationship Id="rId9" Type="http://schemas.openxmlformats.org/officeDocument/2006/relationships/image" Target="../media/image59.jpeg"/><Relationship Id="rId10" Type="http://schemas.openxmlformats.org/officeDocument/2006/relationships/image" Target="../media/image44.jpeg"/><Relationship Id="rId11" Type="http://schemas.openxmlformats.org/officeDocument/2006/relationships/image" Target="../media/image50.jpeg"/><Relationship Id="rId12" Type="http://schemas.openxmlformats.org/officeDocument/2006/relationships/image" Target="../media/image53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6.jpeg"/><Relationship Id="rId4" Type="http://schemas.openxmlformats.org/officeDocument/2006/relationships/image" Target="../media/image47.jpeg"/><Relationship Id="rId5" Type="http://schemas.openxmlformats.org/officeDocument/2006/relationships/image" Target="../media/image48.jpeg"/><Relationship Id="rId6" Type="http://schemas.openxmlformats.org/officeDocument/2006/relationships/image" Target="../media/image49.jpeg"/><Relationship Id="rId7" Type="http://schemas.openxmlformats.org/officeDocument/2006/relationships/image" Target="../media/image50.jpeg"/><Relationship Id="rId8" Type="http://schemas.openxmlformats.org/officeDocument/2006/relationships/image" Target="../media/image51.jpeg"/><Relationship Id="rId9" Type="http://schemas.openxmlformats.org/officeDocument/2006/relationships/image" Target="../media/image52.jpeg"/><Relationship Id="rId10" Type="http://schemas.openxmlformats.org/officeDocument/2006/relationships/image" Target="../media/image53.jpeg"/><Relationship Id="rId11" Type="http://schemas.openxmlformats.org/officeDocument/2006/relationships/image" Target="../media/image93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4.jpeg"/><Relationship Id="rId4" Type="http://schemas.openxmlformats.org/officeDocument/2006/relationships/image" Target="../media/image45.jpeg"/><Relationship Id="rId5" Type="http://schemas.openxmlformats.org/officeDocument/2006/relationships/image" Target="../media/image57.jpeg"/><Relationship Id="rId6" Type="http://schemas.openxmlformats.org/officeDocument/2006/relationships/image" Target="../media/image58.jpeg"/><Relationship Id="rId7" Type="http://schemas.openxmlformats.org/officeDocument/2006/relationships/image" Target="../media/image54.jpeg"/><Relationship Id="rId8" Type="http://schemas.openxmlformats.org/officeDocument/2006/relationships/image" Target="../media/image59.jpeg"/><Relationship Id="rId9" Type="http://schemas.openxmlformats.org/officeDocument/2006/relationships/image" Target="../media/image56.jpeg"/><Relationship Id="rId10" Type="http://schemas.openxmlformats.org/officeDocument/2006/relationships/image" Target="../media/image94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60.jpeg"/><Relationship Id="rId4" Type="http://schemas.openxmlformats.org/officeDocument/2006/relationships/image" Target="../media/image61.jpeg"/><Relationship Id="rId5" Type="http://schemas.openxmlformats.org/officeDocument/2006/relationships/image" Target="../media/image62.jpeg"/><Relationship Id="rId6" Type="http://schemas.openxmlformats.org/officeDocument/2006/relationships/image" Target="../media/image63.jpeg"/><Relationship Id="rId7" Type="http://schemas.openxmlformats.org/officeDocument/2006/relationships/image" Target="../media/image64.jpeg"/><Relationship Id="rId8" Type="http://schemas.openxmlformats.org/officeDocument/2006/relationships/image" Target="../media/image65.jpeg"/><Relationship Id="rId9" Type="http://schemas.openxmlformats.org/officeDocument/2006/relationships/image" Target="../media/image66.jpeg"/><Relationship Id="rId10" Type="http://schemas.openxmlformats.org/officeDocument/2006/relationships/image" Target="../media/image95.jpg"/><Relationship Id="rId11" Type="http://schemas.openxmlformats.org/officeDocument/2006/relationships/image" Target="../media/image96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71.jpg"/><Relationship Id="rId4" Type="http://schemas.openxmlformats.org/officeDocument/2006/relationships/image" Target="../media/image34.jpeg"/><Relationship Id="rId5" Type="http://schemas.openxmlformats.org/officeDocument/2006/relationships/image" Target="../media/image35.jpeg"/><Relationship Id="rId6" Type="http://schemas.openxmlformats.org/officeDocument/2006/relationships/image" Target="../media/image38.jpeg"/><Relationship Id="rId7" Type="http://schemas.openxmlformats.org/officeDocument/2006/relationships/image" Target="../media/image42.jpeg"/><Relationship Id="rId8" Type="http://schemas.openxmlformats.org/officeDocument/2006/relationships/image" Target="../media/image43.jpeg"/><Relationship Id="rId9" Type="http://schemas.openxmlformats.org/officeDocument/2006/relationships/image" Target="../media/image97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4.jpeg"/><Relationship Id="rId4" Type="http://schemas.openxmlformats.org/officeDocument/2006/relationships/image" Target="../media/image35.jpeg"/><Relationship Id="rId5" Type="http://schemas.openxmlformats.org/officeDocument/2006/relationships/image" Target="../media/image36.jpeg"/><Relationship Id="rId6" Type="http://schemas.openxmlformats.org/officeDocument/2006/relationships/image" Target="../media/image37.jpeg"/><Relationship Id="rId7" Type="http://schemas.openxmlformats.org/officeDocument/2006/relationships/image" Target="../media/image38.jpeg"/><Relationship Id="rId8" Type="http://schemas.openxmlformats.org/officeDocument/2006/relationships/image" Target="../media/image39.jpeg"/><Relationship Id="rId9" Type="http://schemas.openxmlformats.org/officeDocument/2006/relationships/image" Target="../media/image42.jpeg"/><Relationship Id="rId10" Type="http://schemas.openxmlformats.org/officeDocument/2006/relationships/image" Target="../media/image43.jpeg"/><Relationship Id="rId11" Type="http://schemas.openxmlformats.org/officeDocument/2006/relationships/image" Target="../media/image98.jpg"/><Relationship Id="rId12" Type="http://schemas.openxmlformats.org/officeDocument/2006/relationships/image" Target="../media/image97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hn_scallop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094494"/>
            <a:ext cx="1856232" cy="176121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5260" y="3328416"/>
            <a:ext cx="1664208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345065"/>
            <a:ext cx="1856232" cy="163090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11680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340864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5E4B94"/>
                </a:solidFill>
                <a:latin typeface="Segoe UI"/>
              </a:rPr>
              <a:t>105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182112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29 брендів · 4 формати · 64 продавців. Кожна позиція має фото й ціну в каталозі.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9872" y="1700784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09872" y="1700784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4192" y="2011680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НА ПОЛИЦІ МЕРЕЖ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4192" y="2340864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E9EA6"/>
                </a:solidFill>
                <a:latin typeface="Segoe UI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4192" y="3182112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SKU на всю країну, 11 з них — Ben's Original у «Сільпо». Ритейл-аудит 9 мереж.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6240" y="1700784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16240" y="1700784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560" y="2011680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ІМПОРТ ЗА МИТНИЦЕЮ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560" y="2340864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9A50B"/>
                </a:solidFill>
                <a:latin typeface="Segoe UI"/>
              </a:rPr>
              <a:t>3,5 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182112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Сегменти 1–2 за січ. 2025 – трав. 2026 — лише 1,4 % коду 1904901000. Решта — заморожені суміші й снеки.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" y="4114800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03504" y="4114800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425696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2026 ПРОТИ 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4754880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37A169"/>
                </a:solidFill>
                <a:latin typeface="Segoe UI"/>
              </a:rPr>
              <a:t>×2,0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5596128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Наші сегменти без разової партії Ben's: 128 → 261 кг на місяць.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09872" y="4114800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09872" y="4114800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84192" y="4425696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РОЗРИВ ЦІН ФОРМАТІВ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4192" y="4754880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94F7C"/>
                </a:solidFill>
                <a:latin typeface="Segoe UI"/>
              </a:rPr>
              <a:t>×6,2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4192" y="5596128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Медіана коробки з нагрівачем 735 грн проти 118 грн у пауча.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16240" y="4114800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16240" y="4114800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0560" y="4425696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ВХІД У КАТЕГОРІЮ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90560" y="4754880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4810A"/>
                </a:solidFill>
                <a:latin typeface="Segoe UI"/>
              </a:rPr>
              <a:t>118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90560" y="5596128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Медіана пауча — найдешевшого формату: 34 позицій, вага 220–400 г.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Джерела: картки продавців 23–28.09.2026 і 06.10.2026 (105 позицій); митна база codexmb, вивантаження 28.09.2026, січень 2025 – травень 2026; ритейл-аудит 9 мереж, 28.09.2026.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ОБСЯГ РИНКУ · МИТНА 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Скільки готового рису ввозять в Україну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Код 1904901000, січень 2025 – травень 2026: 250 т, з них готовий рис для розігріву — лише 0,85 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7269480" cy="4626864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82880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З ЧОГО СКЛАДАЄТЬСЯ КОД, ТОНН ЗА ПЕРІОД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3969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C2235"/>
                </a:solidFill>
                <a:latin typeface="Segoe UI"/>
              </a:rPr>
              <a:t>Заморожені суміші рис + овочі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139696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193,7 т · 77,4 %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2395728"/>
            <a:ext cx="676656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9536" y="2395728"/>
            <a:ext cx="6766559" cy="146304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2569463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Oerlemans, «Рудь», АТБ-маркет: гавайська суміш, паелья — у морозилку, не готова страва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273862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C2235"/>
                </a:solidFill>
                <a:latin typeface="Segoe UI"/>
              </a:rPr>
              <a:t>Рисові чіпси й снеки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464" y="2738628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32,4 т · 12,9 %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" y="2994660"/>
            <a:ext cx="676656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9536" y="2994660"/>
            <a:ext cx="1130116" cy="146304"/>
          </a:xfrm>
          <a:prstGeom prst="roundRect">
            <a:avLst>
              <a:gd name="adj" fmla="val 5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16839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Ficosota «Livity»: солоний снек, не страва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333756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C2235"/>
                </a:solidFill>
                <a:latin typeface="Segoe UI"/>
              </a:rPr>
              <a:t>Долма в банці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98464" y="3337560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10,8 т · 4,3 %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6" y="3593592"/>
            <a:ext cx="676656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9536" y="3593592"/>
            <a:ext cx="377234" cy="14630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767328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Виноградне листя з рисом, Болгарія: інший формат і привід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393649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C2235"/>
                </a:solidFill>
                <a:latin typeface="Segoe UI"/>
              </a:rPr>
              <a:t>Різото «довести до готовності»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3936492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7,41 т · 3,0 %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9536" y="4192524"/>
            <a:ext cx="676656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59536" y="4192524"/>
            <a:ext cx="258830" cy="146304"/>
          </a:xfrm>
          <a:prstGeom prst="roundRect">
            <a:avLst>
              <a:gd name="adj" fmla="val 5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4366260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Riso Gallo, Casa Rinaldi, Trevijano: рис сирий, варити 15–18 хв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" y="453542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C2235"/>
                </a:solidFill>
                <a:latin typeface="Segoe UI"/>
              </a:rPr>
              <a:t>Інше: топінги, сирий рис, спорт-каша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98464" y="4535424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2,47 т · 1,0 %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536" y="4791456"/>
            <a:ext cx="676656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9536" y="4791456"/>
            <a:ext cx="86325" cy="146304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4965192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Посипки, промисловий рис, GymBeam, ттокпоккі, сублімат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" y="513435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C2235"/>
                </a:solidFill>
                <a:latin typeface="Segoe UI"/>
              </a:rPr>
              <a:t>Сегмент 2 · рис під окріп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98464" y="5134356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2,67 т · 1,1 %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9536" y="5390388"/>
            <a:ext cx="676656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59536" y="5390388"/>
            <a:ext cx="93232" cy="14630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" y="5564124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Китайський рис у чаші 144/174 г (відповідає лінійці Henan)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" y="573328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C2235"/>
                </a:solidFill>
                <a:latin typeface="Segoe UI"/>
              </a:rPr>
              <a:t>Сегмент 1 · готовий рис для розігріву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98464" y="5733288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0,85 т · 0,3 %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9536" y="5989320"/>
            <a:ext cx="676656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59536" y="5989320"/>
            <a:ext cx="54864" cy="1463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" y="616305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Ben's (Mars), CJ Hetbahn, Clearspring, Haldiram RTE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74152" y="1700784"/>
            <a:ext cx="3514313" cy="3017520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074152" y="1700784"/>
            <a:ext cx="82296" cy="301752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48472" y="1847088"/>
            <a:ext cx="3057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C95C"/>
                </a:solidFill>
                <a:latin typeface="Segoe UI"/>
              </a:rPr>
              <a:t>Наш ринок: сегменти 1–2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2" y="2176272"/>
            <a:ext cx="30571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3,5 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48472" y="2852928"/>
            <a:ext cx="3057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9C2DA"/>
                </a:solidFill>
                <a:latin typeface="Segoe UI"/>
              </a:rPr>
              <a:t>1,4 % коду за весь період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48472" y="3310128"/>
            <a:ext cx="17769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D5DBEA"/>
                </a:solidFill>
                <a:latin typeface="Segoe UI"/>
              </a:rPr>
              <a:t>Сегмент 1 · розігрів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25425" y="33101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Segoe UI"/>
              </a:rPr>
              <a:t>0,85 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48472" y="3730752"/>
            <a:ext cx="17769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D5DBEA"/>
                </a:solidFill>
                <a:latin typeface="Segoe UI"/>
              </a:rPr>
              <a:t>Сегмент 2 · під окріп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25425" y="373075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Segoe UI"/>
              </a:rPr>
              <a:t>2,67 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48472" y="4151376"/>
            <a:ext cx="17769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D5DBEA"/>
                </a:solidFill>
                <a:latin typeface="Segoe UI"/>
              </a:rPr>
              <a:t>Ben's — одна партія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25425" y="41513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Segoe UI"/>
              </a:rPr>
              <a:t>676 кг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74152" y="4846320"/>
            <a:ext cx="3514313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93608" y="4956048"/>
            <a:ext cx="314855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C94F7C"/>
                </a:solidFill>
                <a:latin typeface="Segoe UI"/>
              </a:rPr>
              <a:t>ПЕРІОД І МЕТОД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93608" y="5212080"/>
            <a:ext cx="314855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C2235"/>
                </a:solidFill>
                <a:latin typeface="Segoe UI"/>
              </a:rPr>
              <a:t>17 місяців: січень 2025 – травень 2026. У вивантаженні немає 12–31 березня 2025. Кожну декларацію віднесено до типу продукту за її описом. Показано вагу нетто, а не вартість.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Митна база (codexmb), вивантаження 28.09.2026, УКТ ЗЕД 1904901000, січень 2025 – травень 2026 (у базі немає 12–31 березня 2025). Класифікація — за описом кожної декларації. Вага нетто. Фактурна вартість USD без ПДВ і мита.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МИТНА БАЗА · 2025 І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Який рис ввозять і скільки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Середнє на місяць: 2025 — 12 місяців, 2026 — січень–травень. Так порівняння чесне.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6720840" cy="4700016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755648"/>
            <a:ext cx="6263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ЩО ВВОЗЯТЬ МАСОВО · ТОНН НА МІСЯЦЬ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43984" y="1801368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2584" y="1773936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07024" y="1801368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35624" y="1773936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2026 · січ–трав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21579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Заморожені суміші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9816" y="2185415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рис + овочі, у морозилку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9536" y="2468879"/>
            <a:ext cx="4846320" cy="219456"/>
          </a:xfrm>
          <a:prstGeom prst="roundRect">
            <a:avLst>
              <a:gd name="adj" fmla="val 25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97296" y="2459736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12,0 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" y="2743199"/>
            <a:ext cx="3985513" cy="219456"/>
          </a:xfrm>
          <a:prstGeom prst="roundRect">
            <a:avLst>
              <a:gd name="adj" fmla="val 2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6489" y="2734056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9,9 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298094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Рисові чіпси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99816" y="3008375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снек, не страва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6" y="3291839"/>
            <a:ext cx="752049" cy="219456"/>
          </a:xfrm>
          <a:prstGeom prst="roundRect">
            <a:avLst>
              <a:gd name="adj" fmla="val 25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03025" y="3282696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1,9 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9536" y="3566159"/>
            <a:ext cx="803298" cy="219456"/>
          </a:xfrm>
          <a:prstGeom prst="roundRect">
            <a:avLst>
              <a:gd name="adj" fmla="val 2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54274" y="3557015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2,0 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380390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Долма в банці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99816" y="3831336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листя з рисом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9536" y="4114800"/>
            <a:ext cx="241840" cy="219456"/>
          </a:xfrm>
          <a:prstGeom prst="roundRect">
            <a:avLst>
              <a:gd name="adj" fmla="val 25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2816" y="4105656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0,60 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9536" y="4389120"/>
            <a:ext cx="290209" cy="219456"/>
          </a:xfrm>
          <a:prstGeom prst="roundRect">
            <a:avLst>
              <a:gd name="adj" fmla="val 2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41185" y="4379976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0,72 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462686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Різото-набори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9816" y="4654296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сирий рис, варити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" y="4937760"/>
            <a:ext cx="191851" cy="219456"/>
          </a:xfrm>
          <a:prstGeom prst="roundRect">
            <a:avLst>
              <a:gd name="adj" fmla="val 25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2827" y="4928616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0,48 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" y="5212080"/>
            <a:ext cx="136915" cy="219456"/>
          </a:xfrm>
          <a:prstGeom prst="roundRect">
            <a:avLst>
              <a:gd name="adj" fmla="val 2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7891" y="5202936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0,34 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" y="544982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Інше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99816" y="5477256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топінги, сирий рис, каша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9536" y="5760720"/>
            <a:ext cx="60911" cy="219456"/>
          </a:xfrm>
          <a:prstGeom prst="roundRect">
            <a:avLst>
              <a:gd name="adj" fmla="val 25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1887" y="5751576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0,15 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9536" y="6035040"/>
            <a:ext cx="53043" cy="219456"/>
          </a:xfrm>
          <a:prstGeom prst="roundRect">
            <a:avLst>
              <a:gd name="adj" fmla="val 2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4019" y="6025896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0,13 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525512" y="1645920"/>
            <a:ext cx="4062953" cy="29809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63256" y="1755648"/>
            <a:ext cx="369719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НАШІ СЕГМЕНТИ · КГ НА МІСЯЦЬ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63256" y="2139696"/>
            <a:ext cx="369719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Сегмент 1 · готовий рис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386584"/>
            <a:ext cx="369719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розігрів у НВЧ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763256" y="2670048"/>
            <a:ext cx="616096" cy="219456"/>
          </a:xfrm>
          <a:prstGeom prst="roundRect">
            <a:avLst>
              <a:gd name="adj" fmla="val 25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70792" y="266090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66 кг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63256" y="2944368"/>
            <a:ext cx="93558" cy="219456"/>
          </a:xfrm>
          <a:prstGeom prst="roundRect">
            <a:avLst>
              <a:gd name="adj" fmla="val 2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948254" y="293522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10 кг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63256" y="3401568"/>
            <a:ext cx="369719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Сегмент 2 · під окріп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63256" y="3648456"/>
            <a:ext cx="369719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Henan-тип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763256" y="3931920"/>
            <a:ext cx="1095536" cy="219456"/>
          </a:xfrm>
          <a:prstGeom prst="roundRect">
            <a:avLst>
              <a:gd name="adj" fmla="val 25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950232" y="392277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118 кг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63256" y="4206240"/>
            <a:ext cx="2325593" cy="219456"/>
          </a:xfrm>
          <a:prstGeom prst="roundRect">
            <a:avLst>
              <a:gd name="adj" fmla="val 2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180289" y="419709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251 кг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525512" y="4736592"/>
            <a:ext cx="4062953" cy="1609344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525512" y="4736592"/>
            <a:ext cx="82296" cy="16093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36408" y="4919472"/>
            <a:ext cx="351431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D5DBEA"/>
                </a:solidFill>
                <a:latin typeface="Segoe UI"/>
              </a:rPr>
              <a:t>Сегменти 1–2: 2,21 т у 2025 (з них 0,68 т — одна партія Ben's) і 1,30 т за п'ять місяців 2026. Без Ben's на місяць: 128 кг → 261 кг, ×2,0.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Митна база (codexmb), вивантаження 28.09.2026, УКТ ЗЕД 1904901000, січень 2025 – травень 2026 (у базі немає 12–31 березня 2025). Класифікація — за описом кожної декларації. Вага нетто. Заморожені суміші в 2025 мали великі разові партії, тому середнє на місяць у 2026 нижче; тренд — за місяцями нестабільний.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МИТНА БАЗА · ІМПОРТЕРИ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Хто завозить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Топ-10 імпортерів коду за вагою, січ. 2025 – трав. 2026. Усього в базі 20 імпортерів.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1645920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1645920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71216" y="164592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ЩО ЗАВОЗИТЬ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2936" y="164592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1344" y="16459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717890"/>
                </a:solidFill>
                <a:latin typeface="Segoe UI"/>
              </a:rPr>
              <a:t>ТОНН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78624" y="1645920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" y="1883664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198424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197510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АТБ-маркет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1216" y="192024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Заморожені суміші рис + овочі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71216" y="209397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Oerlemans Foods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2936" y="199339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Польща · ЄС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97510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123,9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60336" y="2002536"/>
            <a:ext cx="731520" cy="173736"/>
          </a:xfrm>
          <a:prstGeom prst="roundRect">
            <a:avLst>
              <a:gd name="adj" fmla="val 4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55864" y="199339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49,5 %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" y="2318004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241858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" y="240944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ТФ «Рудь»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71216" y="235458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Заморожені суміші рис + овочі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71216" y="252831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Oerlemans Foods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2936" y="24277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240944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57,5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60336" y="2436876"/>
            <a:ext cx="339194" cy="173736"/>
          </a:xfrm>
          <a:prstGeom prst="roundRect">
            <a:avLst>
              <a:gd name="adj" fmla="val 4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63538" y="242773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23,0 %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3504" y="2752344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" y="285292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" y="284378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Фоззі Коммерц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71216" y="278892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Долма, різото, Ben's 676 кг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71216" y="296265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Palirria, Mars Austria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02936" y="286207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Греція · ЄС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0216" y="284378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16,9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60336" y="2871216"/>
            <a:ext cx="99497" cy="17373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23841" y="286207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6,7 %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3504" y="3186684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28726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" y="327812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Метро Кеш енд Кері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71216" y="322326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Рисові чіпси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71216" y="339699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Ficosota Food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02936" y="329641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ЄС (Болгарія)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327812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16,0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260336" y="3305556"/>
            <a:ext cx="94192" cy="173736"/>
          </a:xfrm>
          <a:prstGeom prst="roundRect">
            <a:avLst>
              <a:gd name="adj" fmla="val 4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18536" y="329641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6,4 %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3621024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4944" y="372160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8136" y="371246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Фудком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71216" y="365760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Рисові чіпси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71216" y="383133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Ficosota Food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02936" y="37307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ЄС (Болгарія)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0216" y="371246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7,5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260336" y="3739896"/>
            <a:ext cx="44545" cy="173736"/>
          </a:xfrm>
          <a:prstGeom prst="roundRect">
            <a:avLst>
              <a:gd name="adj" fmla="val 4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68889" y="37307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3,0 %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03504" y="4055364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944" y="415594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8136" y="414680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Таврія-В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71216" y="409194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Рисові чіпси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71216" y="426567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Ficosota Food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02936" y="416509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ЄС (Болгарія)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00216" y="414680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6,1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260336" y="4174236"/>
            <a:ext cx="36576" cy="173736"/>
          </a:xfrm>
          <a:prstGeom prst="roundRect">
            <a:avLst>
              <a:gd name="adj" fmla="val 4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60920" y="416509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2,4 %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" y="4489704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94944" y="459028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88136" y="458114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Вічунай Україна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71216" y="452628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Заморожені суміші рис + овочі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71216" y="470001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Oerlemans, Bonduelle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02936" y="45994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58114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5,8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260336" y="4608576"/>
            <a:ext cx="36576" cy="173736"/>
          </a:xfrm>
          <a:prstGeom prst="roundRect">
            <a:avLst>
              <a:gd name="adj" fmla="val 4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60920" y="459943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2,3 %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3504" y="4924044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94944" y="502462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8136" y="5015483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АТ «Рудь»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71216" y="496062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Заморожені суміші рис + овочі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871216" y="513435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Oerlemans Foods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02936" y="503377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300216" y="5015483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5,2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60336" y="5042916"/>
            <a:ext cx="36576" cy="173736"/>
          </a:xfrm>
          <a:prstGeom prst="roundRect">
            <a:avLst>
              <a:gd name="adj" fmla="val 4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60920" y="503377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2,1 %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03504" y="5358383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4944" y="5458968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88136" y="5449823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Копійка Центр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871216" y="5394959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Рисові чіпси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71216" y="556869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Ficosota Food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02936" y="546811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ЄС (Болгарія)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449823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2,9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77255"/>
            <a:ext cx="36576" cy="173736"/>
          </a:xfrm>
          <a:prstGeom prst="roundRect">
            <a:avLst>
              <a:gd name="adj" fmla="val 4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60920" y="546811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1,2 %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03504" y="5792723"/>
            <a:ext cx="7726679" cy="3977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4944" y="5893307"/>
            <a:ext cx="365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8136" y="5884163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Вендінг Кінгз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71216" y="5829299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Рис у чаші під окріп (сегм. 2)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71216" y="600303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17890"/>
                </a:solidFill>
                <a:latin typeface="Segoe UI"/>
              </a:rPr>
              <a:t>не вказано в описі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202936" y="5902451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00216" y="5884163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2,6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260336" y="5911595"/>
            <a:ext cx="36576" cy="173736"/>
          </a:xfrm>
          <a:prstGeom prst="roundRect">
            <a:avLst>
              <a:gd name="adj" fmla="val 4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360920" y="5902451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17890"/>
                </a:solidFill>
                <a:latin typeface="Segoe UI"/>
              </a:rPr>
              <a:t>1,1 %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4944" y="6263639"/>
            <a:ext cx="77266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Топ-10 — 97,6 % ваги коду; ще 10 імпортерів — 5,9 т.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8531352" y="1645920"/>
            <a:ext cx="3057113" cy="4700016"/>
          </a:xfrm>
          <a:prstGeom prst="roundRect">
            <a:avLst>
              <a:gd name="adj" fmla="val 4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8531352" y="1645920"/>
            <a:ext cx="82296" cy="470001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805672" y="1773936"/>
            <a:ext cx="25999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C95C"/>
                </a:solidFill>
                <a:latin typeface="Segoe UI"/>
              </a:rPr>
              <a:t>Наші сегменти 1–2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805672" y="2084831"/>
            <a:ext cx="25999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B9C2DA"/>
                </a:solidFill>
                <a:latin typeface="Segoe UI"/>
              </a:rPr>
              <a:t>імпортери, кг за період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805672" y="2468880"/>
            <a:ext cx="16855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Вендінг Кінгз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491185" y="246888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C95C"/>
                </a:solidFill>
                <a:latin typeface="Segoe UI"/>
              </a:rPr>
              <a:t>2 639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805672" y="2697480"/>
            <a:ext cx="259991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9C2DA"/>
                </a:solidFill>
                <a:latin typeface="Segoe UI"/>
              </a:rPr>
              <a:t>Китай · під окріп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805672" y="2926080"/>
            <a:ext cx="2508473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805672" y="3108960"/>
            <a:ext cx="16855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Фоззі Коммерц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491185" y="310896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C95C"/>
                </a:solidFill>
                <a:latin typeface="Segoe UI"/>
              </a:rPr>
              <a:t>676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805672" y="3337560"/>
            <a:ext cx="259991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9C2DA"/>
                </a:solidFill>
                <a:latin typeface="Segoe UI"/>
              </a:rPr>
              <a:t>Ben's Original · одна партія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805672" y="3566160"/>
            <a:ext cx="642564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805672" y="3749040"/>
            <a:ext cx="16855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Відус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91185" y="374904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C95C"/>
                </a:solidFill>
                <a:latin typeface="Segoe UI"/>
              </a:rPr>
              <a:t>76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805672" y="3977640"/>
            <a:ext cx="259991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9C2DA"/>
                </a:solidFill>
                <a:latin typeface="Segoe UI"/>
              </a:rPr>
              <a:t>Hetbahn · CJ, Корея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805672" y="4206240"/>
            <a:ext cx="7224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805672" y="4389120"/>
            <a:ext cx="16855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Бюро Він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491185" y="438912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C95C"/>
                </a:solidFill>
                <a:latin typeface="Segoe UI"/>
              </a:rPr>
              <a:t>63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05672" y="4617720"/>
            <a:ext cx="259991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9C2DA"/>
                </a:solidFill>
                <a:latin typeface="Segoe UI"/>
              </a:rPr>
              <a:t>Clearspring · ЄС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8805672" y="4846320"/>
            <a:ext cx="59883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805672" y="5029200"/>
            <a:ext cx="16855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Тадж Махал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491185" y="502920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C95C"/>
                </a:solidFill>
                <a:latin typeface="Segoe UI"/>
              </a:rPr>
              <a:t>33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05672" y="5257800"/>
            <a:ext cx="259991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9C2DA"/>
                </a:solidFill>
                <a:latin typeface="Segoe UI"/>
              </a:rPr>
              <a:t>Haldiram · Індія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805672" y="5486400"/>
            <a:ext cx="4572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805672" y="5669280"/>
            <a:ext cx="16855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Азіяфудс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491185" y="566928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C95C"/>
                </a:solidFill>
                <a:latin typeface="Segoe UI"/>
              </a:rPr>
              <a:t>30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805672" y="5897880"/>
            <a:ext cx="259991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9C2DA"/>
                </a:solidFill>
                <a:latin typeface="Segoe UI"/>
              </a:rPr>
              <a:t>рис, Таїланд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8805672" y="6126480"/>
            <a:ext cx="4572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805672" y="6327648"/>
            <a:ext cx="259991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Жоден не возить регулярно: 1–4 партії за 17 місяців.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Митна база (codexmb), вивантаження 28.09.2026, УКТ ЗЕД 1904901000, січень 2025 – травень 2026 (у базі немає 12–31 березня 2025). Класифікація — за описом кожної декларації. Вага нетто. Частка — від ваги коду. Імпортер «Рудь» представлений двома юрособами (ТОВ і АТ).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СЕГМЕНТАЦІЯ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Сегментація за упаковкою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Чотири формати, 105 позицій: спершу упаковка, далі вага, ціна й бренди.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2628900" cy="30723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64208"/>
            <a:ext cx="2628900" cy="365760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664208"/>
            <a:ext cx="23545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103120"/>
            <a:ext cx="2409444" cy="128016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6585" y="2139696"/>
            <a:ext cx="862736" cy="12070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9808" y="3401568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4810A"/>
                </a:solidFill>
                <a:latin typeface="Segoe UI"/>
              </a:rPr>
              <a:t>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3520440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позицій · 32 %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904487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7" y="3877056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220–400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16052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7" y="413308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118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41655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7" y="4389120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78708" y="1645920"/>
            <a:ext cx="2628900" cy="30723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78708" y="1664208"/>
            <a:ext cx="2628900" cy="365760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25012" y="1664208"/>
            <a:ext cx="23545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88436" y="2103120"/>
            <a:ext cx="2409444" cy="128016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6275" y="2139696"/>
            <a:ext cx="1373765" cy="120700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525012" y="3401568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E9EA6"/>
                </a:solidFill>
                <a:latin typeface="Segoe UI"/>
              </a:rPr>
              <a:t>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19956" y="3520440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позицій · 22 %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5012" y="3904487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9412" y="3877056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84–320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5012" y="416052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9412" y="413308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229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5012" y="441655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9412" y="4389120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3912" y="1645920"/>
            <a:ext cx="2628900" cy="30723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53912" y="1664208"/>
            <a:ext cx="2628900" cy="365760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0216" y="1664208"/>
            <a:ext cx="23545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ДОЙПАК · ПЛОСКИЙ ПАКЕТ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2103120"/>
            <a:ext cx="2409444" cy="128016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mh_curry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7683" y="2139696"/>
            <a:ext cx="1321356" cy="120700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300216" y="3401568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E4B94"/>
                </a:solidFill>
                <a:latin typeface="Segoe UI"/>
              </a:rPr>
              <a:t>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60" y="3520440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позицій · 32 %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0216" y="3904487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14616" y="3877056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80–250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0216" y="416052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14616" y="413308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315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0216" y="441655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14616" y="4389120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9116" y="1645920"/>
            <a:ext cx="2628900" cy="30723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929116" y="1664208"/>
            <a:ext cx="2628900" cy="365760"/>
          </a:xfrm>
          <a:prstGeom prst="roundRect">
            <a:avLst>
              <a:gd name="adj" fmla="val 3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75420" y="1664208"/>
            <a:ext cx="23545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38844" y="2103120"/>
            <a:ext cx="2409444" cy="128016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hd_tomato_beef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2121" y="2139696"/>
            <a:ext cx="1222889" cy="120700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075420" y="3401568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94F7C"/>
                </a:solidFill>
                <a:latin typeface="Segoe UI"/>
              </a:rPr>
              <a:t>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70364" y="3520440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позицій · 13 %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75420" y="3904487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89820" y="3877056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165–440 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75420" y="416052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89820" y="413308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735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75420" y="441655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89820" y="4389120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484632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ФОРМАТ × СПОСІБ ПРИГОТУВАННЯ · ПОЗИЦІЙ І МЕДІАНА ЦІНИ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" y="512064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303A5D"/>
                </a:solidFill>
                <a:latin typeface="Segoe UI"/>
              </a:rPr>
              <a:t/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40864" y="5120640"/>
            <a:ext cx="23042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1 · Розігрів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45152" y="5120640"/>
            <a:ext cx="23042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2 · Під окріп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5120640"/>
            <a:ext cx="23042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3 · Саморозігрів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53728" y="5120640"/>
            <a:ext cx="23042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4 · Сублімат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3504" y="5367527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4810A"/>
                </a:solidFill>
                <a:latin typeface="Segoe UI"/>
              </a:rPr>
              <a:t>Пауч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432304" y="5358383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340864" y="536752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34 · 118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45152" y="536752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49440" y="536752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53728" y="536752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3504" y="561898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432304" y="5609844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999D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40864" y="5618988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303A5D"/>
                </a:solidFill>
                <a:latin typeface="Segoe UI"/>
              </a:rPr>
              <a:t>11 · 255 грн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736592" y="5609844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9DA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45152" y="5618988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303A5D"/>
                </a:solidFill>
                <a:latin typeface="Segoe UI"/>
              </a:rPr>
              <a:t>10 · 132 грн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040879" y="5609844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C2C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949440" y="5618988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303A5D"/>
                </a:solidFill>
                <a:latin typeface="Segoe UI"/>
              </a:rPr>
              <a:t>2 · 931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53728" y="5618988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3504" y="5870447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5E4B94"/>
                </a:solidFill>
                <a:latin typeface="Segoe UI"/>
              </a:rPr>
              <a:t>Дойпак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40864" y="587044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736592" y="5861303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BDC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645152" y="587044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303A5D"/>
                </a:solidFill>
                <a:latin typeface="Segoe UI"/>
              </a:rPr>
              <a:t>3 · 501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0" y="587044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345167" y="5861303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3D4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53728" y="587044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31 · 295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03504" y="6121907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40864" y="612190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645152" y="612190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040879" y="6112764"/>
            <a:ext cx="2121408" cy="224028"/>
          </a:xfrm>
          <a:prstGeom prst="roundRect">
            <a:avLst>
              <a:gd name="adj" fmla="val 30000"/>
            </a:avLst>
          </a:prstGeom>
          <a:solidFill>
            <a:srgbClr val="8B9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949440" y="612190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14 · 735 грн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53728" y="6121907"/>
            <a:ext cx="23042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Формат визначено за фактичною упаковкою на фото картки; способи приготування: 1 — розігрів у НВЧ/воді, 2 — сухий рис під окріп, 3 — саморозігрів, 4 — сублімація. Медіана — за мінімальною ціною позиції. Qiaoshanmei — плоский пакет під окріп, віднесено до дойпаку.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1 З 4 · ПАУЧ · РЕТОРТ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Від порційних 220 г до реторту 400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520440" cy="47000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45920"/>
            <a:ext cx="3520440" cy="91440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847088"/>
            <a:ext cx="3246120" cy="148132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0461" y="1883664"/>
            <a:ext cx="1006525" cy="1408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" y="343814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ПОЗИЦІЙ · БРЕНДІВ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593591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34 · 10  (32 % асортименту)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87705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03250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220–400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31596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· ДІАПАЗОН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47141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118 грн · 45–449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754880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ПРИГОТУВАННЯ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910328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НВЧ 60–90 с або гаряча вода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5193792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ПОХОДЖЕННЯ БРЕНДІВ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349240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Україна 6 · ЄС 3 · США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63270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ПРОДАВЦІ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788152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Сільпо, СУХПАЙ, UPcompany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1664208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166420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1664208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І БРЕНДИ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166420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1901952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43983" y="1975104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7502" y="1993392"/>
            <a:ext cx="425027" cy="61493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53328" y="21179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220 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42048" y="1993392"/>
            <a:ext cx="713935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22792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42048" y="2267712"/>
            <a:ext cx="2926080" cy="4137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Ben's Original ×7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05288" y="2154555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4810A"/>
                </a:solidFill>
                <a:latin typeface="Segoe UI"/>
              </a:rPr>
              <a:t>90–210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52544" y="2772918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443983" y="2846070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272" y="2870819"/>
            <a:ext cx="426720" cy="602011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4962143" y="2846070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oc_jasmin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0432" y="2958465"/>
            <a:ext cx="426720" cy="42672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5480303" y="2846070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clearspring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8592" y="2916720"/>
            <a:ext cx="426720" cy="51020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053328" y="2988945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240–250 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42048" y="2864358"/>
            <a:ext cx="611944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53992" y="2864358"/>
            <a:ext cx="611944" cy="21945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465937" y="2864358"/>
            <a:ext cx="101990" cy="219456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83692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048" y="3138678"/>
            <a:ext cx="2926080" cy="4137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Ben's Original ×6 · Seeds of Change ×6 · Clearspring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05288" y="3025521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4810A"/>
                </a:solidFill>
                <a:latin typeface="Segoe UI"/>
              </a:rPr>
              <a:t>45–449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52544" y="3643884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443983" y="3717036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ua_pak_por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62272" y="3900551"/>
            <a:ext cx="426720" cy="284480"/>
          </a:xfrm>
          <a:prstGeom prst="rect">
            <a:avLst/>
          </a:prstGeom>
        </p:spPr>
      </p:pic>
      <p:sp>
        <p:nvSpPr>
          <p:cNvPr id="55" name="Rounded Rectangle 54"/>
          <p:cNvSpPr/>
          <p:nvPr/>
        </p:nvSpPr>
        <p:spPr>
          <a:xfrm>
            <a:off x="4962143" y="3717036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ua_markel_soy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80432" y="3773879"/>
            <a:ext cx="426720" cy="537822"/>
          </a:xfrm>
          <a:prstGeom prst="rect">
            <a:avLst/>
          </a:prstGeom>
        </p:spPr>
      </p:pic>
      <p:sp>
        <p:nvSpPr>
          <p:cNvPr id="57" name="Rounded Rectangle 56"/>
          <p:cNvSpPr/>
          <p:nvPr/>
        </p:nvSpPr>
        <p:spPr>
          <a:xfrm>
            <a:off x="5480303" y="3717036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ua_veres_pork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11289" y="3735324"/>
            <a:ext cx="401325" cy="614934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6053328" y="3859911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350 г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242048" y="3735324"/>
            <a:ext cx="305972" cy="21945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548020" y="3735324"/>
            <a:ext cx="203981" cy="219456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52001" y="3735324"/>
            <a:ext cx="203981" cy="219456"/>
          </a:xfrm>
          <a:prstGeom prst="rect">
            <a:avLst/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955983" y="3735324"/>
            <a:ext cx="203981" cy="219456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159964" y="3735324"/>
            <a:ext cx="101990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261955" y="3735324"/>
            <a:ext cx="101990" cy="21945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22792" y="37078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42048" y="4009644"/>
            <a:ext cx="2926080" cy="4137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МАКРО ×3 · Маркел ×2 · Верес ×2 · Ходорівський ×2 · Portion · М'ясниця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05288" y="3896487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4810A"/>
                </a:solidFill>
                <a:latin typeface="Segoe UI"/>
              </a:rPr>
              <a:t>71–199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352544" y="4514850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443983" y="4588002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jpe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62272" y="4638814"/>
            <a:ext cx="475488" cy="54988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053328" y="4730877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400 г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242048" y="4606290"/>
            <a:ext cx="305972" cy="219456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622792" y="457885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42048" y="4880610"/>
            <a:ext cx="2926080" cy="4137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Adventure Menu ×3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05288" y="4767453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4810A"/>
                </a:solidFill>
                <a:latin typeface="Segoe UI"/>
              </a:rPr>
              <a:t>315–404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52544" y="5422392"/>
            <a:ext cx="7235921" cy="923543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352544" y="5422392"/>
            <a:ext cx="82296" cy="923543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663440" y="5605272"/>
            <a:ext cx="6687281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5DBEA"/>
                </a:solidFill>
                <a:latin typeface="Segoe UI"/>
              </a:rPr>
              <a:t>Пауч — найдешевший формат: від 45 грн. 350 г — український реторт: 11 позицій, 6 брендів, медіана 101 грн. 220–250 г — Ben's Original. 240 г — органіка Seeds of Change (208–449 грн, перепродаж iHerb). Вагових смуг 150–199 і 300 г немає.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продавців; грамаж — вага готової страви (для сухого рису й сублімату — вага продукту). Медіана — за мінімальною ціною позиції. Ціни за одну упаковку, без опту.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ПАУЧ · КАТАЛОГ 1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Пауч: Ben's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13 позицій, 220–250 г — єдиний бренд готового гарніру на мережевій полиці.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868" y="1746504"/>
            <a:ext cx="648148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84109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48117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2785" y="1746504"/>
            <a:ext cx="653527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84693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4693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4693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64715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28723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6080" y="1746504"/>
            <a:ext cx="648148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65299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299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5299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65299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45321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09329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6685" y="1746504"/>
            <a:ext cx="648148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445905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5905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5905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5905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25926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89934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0568" y="1746504"/>
            <a:ext cx="661595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26510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6510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6510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26510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6532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0540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25965" y="1746504"/>
            <a:ext cx="632011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07116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7116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7116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07116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87138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151146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93124" y="1746504"/>
            <a:ext cx="658905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187722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7722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7722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100–210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87722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MAUDAU · Сільпо · Товари з Іспанії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67512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2179" y="4178808"/>
            <a:ext cx="653527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04088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4088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109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84109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8117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2785" y="4178808"/>
            <a:ext cx="653527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2284693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4693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4693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144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64715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828723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94906" y="4178808"/>
            <a:ext cx="610496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3865299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Для боулів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65299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65299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149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65299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45321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409329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6685" y="4178808"/>
            <a:ext cx="648148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5445905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5905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45905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179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45905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25926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989934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0568" y="4178808"/>
            <a:ext cx="661595" cy="9144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026510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Bio Basmati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6510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26510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139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26510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506532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8570540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25965" y="4178808"/>
            <a:ext cx="632011" cy="9144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8607116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07116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07116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139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7116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ПАУЧ · КАТАЛОГ 2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Пауч: український реторт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11 позицій, 350 г: каша чи плов із м'ясом, не гарнір. 71–199 грн, готовий після розігріву.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a_portion_p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568" y="1746504"/>
            <a:ext cx="984183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рисова з куркою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PORTION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71–109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portion.com.ua · Rozetka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4754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1155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a_markel_so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1947" y="1746504"/>
            <a:ext cx="725504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4812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812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МАРКЕЛ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812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80–96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СУХПАЙ · UPcompany · Мартел-shop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158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559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a_myasnytsi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0346" y="1746504"/>
            <a:ext cx="756786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9216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зі свининою, горошком, кукурудзою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216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М'ЯСНИЦЯ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216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88–89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216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Belorfoods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3562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963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ua_pak_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6980" y="1746504"/>
            <a:ext cx="1371600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зі свининою та овочами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МАКРО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96–135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UPcompany · СУХПАЙ · Ліхтар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966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367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ua_makro_chick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5645" y="1746504"/>
            <a:ext cx="742348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08024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 курятиною та овочами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024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МАКРО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024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101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024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СУХПАЙ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23703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8771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ua_pak_beef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42545" y="1746504"/>
            <a:ext cx="696628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2428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яловичиною та солодким перцем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428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МАКРО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428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104–107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2428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UPcompany · СУХПАЙ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6751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ua_veres_por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2276" y="4178808"/>
            <a:ext cx="596766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0408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зі свининою, горошком, кукурудзою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ВЕРЕС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МореПродуктів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4754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51155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ua_veres_chicken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10438" y="4178808"/>
            <a:ext cx="808522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54812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 м'ясом курки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812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ВЕРЕС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4812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108–135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4812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Козуб · Смачна адреса · Продукт-Shop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158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5559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ua_khodoriv_35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15840" y="4178808"/>
            <a:ext cx="685800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39216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зі свининою та овочами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9216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ХОДОРІВСЬКИЙ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216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105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9216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Молочний склад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3562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ua_khodoriv_pork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1004" y="4178808"/>
            <a:ext cx="743551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23620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Каша зі свининою, горошком, кукурудзою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3620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ХОДОРІВСЬКИЙ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140–199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620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Foodi Shop · Food Shop · МореПродуктів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7966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04367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a_markel_eat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92490" y="4178808"/>
            <a:ext cx="708660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080247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із рослинним фаршем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80247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МАРКЕЛ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80247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127–144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80247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ПАУЧ · КАТАЛОГ 3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Пауч: органіка й імпорт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Seeds of Change — органіка США, лише через перепродавців iHerb на Prom; Clearspring — ЄС; Adventure Menu — 400 г для походів.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9720" y="1746504"/>
            <a:ext cx="790687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376–404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16352" y="1645920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80360" y="1709928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5257" y="1746504"/>
            <a:ext cx="785308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916936" y="2761488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6936" y="3145536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16936" y="3328416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315–356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16936" y="3621024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0" y="1645920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93208" y="1709928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1552" y="1746504"/>
            <a:ext cx="758414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129784" y="2761488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9784" y="3145536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9784" y="3328416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336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4" y="3621024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42048" y="1645920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06056" y="1709928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clearsprin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1222" y="1746504"/>
            <a:ext cx="764770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342631" y="2761488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Brown &amp; Wild Rice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42631" y="3145536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CLEARSPRING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42631" y="3328416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252–446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42631" y="3621024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54896" y="1645920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18904" y="1709928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oc_jasmin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9255" y="1746504"/>
            <a:ext cx="914400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55480" y="2761488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Organic Jasmine Rice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55480" y="3145536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4810A"/>
                </a:solidFill>
                <a:latin typeface="Segoe UI"/>
              </a:rPr>
              <a:t>SEEDS OF CHANGE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5480" y="3328416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225–449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621024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FRESH · VITADOBI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3504" y="4078224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67512" y="4142232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oc_brownwild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7863" y="4178808"/>
            <a:ext cx="914400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04088" y="5193792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Brown &amp; Wild Rice, томат і часник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" y="5577840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4810A"/>
                </a:solidFill>
                <a:latin typeface="Segoe UI"/>
              </a:rPr>
              <a:t>SEEDS OF CHANGE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" y="5760720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300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088" y="6053327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FRESH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16352" y="4078224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880360" y="4142232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soc_cilantro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10712" y="4178808"/>
            <a:ext cx="914400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916936" y="5193792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Brown Jasmine, кінза й лайм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16936" y="5577840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4810A"/>
                </a:solidFill>
                <a:latin typeface="Segoe UI"/>
              </a:rPr>
              <a:t>SEEDS OF CHANGE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16936" y="5760720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259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16936" y="6053327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FRESH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29200" y="4078224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93208" y="4142232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soc_brownbasmati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178808"/>
            <a:ext cx="914400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129784" y="5193792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Brown Basmati Rice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29784" y="5577840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4810A"/>
                </a:solidFill>
                <a:latin typeface="Segoe UI"/>
              </a:rPr>
              <a:t>SEEDS OF CHANGE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29784" y="5760720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208–287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9784" y="6053327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Карман · BIOLIFE · ТАБЛЕТКА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42048" y="4078224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306056" y="4142232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oc_quinoagarlic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36407" y="4178808"/>
            <a:ext cx="914400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42631" y="5193792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Quinoa &amp; Brown Rice з часником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42631" y="5577840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4810A"/>
                </a:solidFill>
                <a:latin typeface="Segoe UI"/>
              </a:rPr>
              <a:t>SEEDS OF CHANGE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42631" y="5760720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210–400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42631" y="6053327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Zdorovo · FAIR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454896" y="4078224"/>
            <a:ext cx="2103120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518904" y="4142232"/>
            <a:ext cx="1975103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soc_spanish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49255" y="4178808"/>
            <a:ext cx="914400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555480" y="5193792"/>
            <a:ext cx="190195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Spanish Style з кіноа та перцем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55480" y="5577840"/>
            <a:ext cx="19019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4810A"/>
                </a:solidFill>
                <a:latin typeface="Segoe UI"/>
              </a:rPr>
              <a:t>SEEDS OF CHANGE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5760720"/>
            <a:ext cx="19019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407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55480" y="6053327"/>
            <a:ext cx="19019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BIOLIFE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2 З 4 · ЧАША · СТАКАН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Найширший діапазон ваги: від 84 до 320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520440" cy="47000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45920"/>
            <a:ext cx="3520440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847088"/>
            <a:ext cx="3246120" cy="148132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360" y="1883664"/>
            <a:ext cx="1602726" cy="1408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" y="343814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ПОЗИЦІЙ · БРЕНДІВ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593591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23 · 5  (22 % асортименту)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87705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03250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84–320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31596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· ДІАПАЗОН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47141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229 грн · 83–931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754880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ПРИГОТУВАННЯ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91032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НВЧ 60–90 с · окріп 5–10 хв · саморозігрів 15 хв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534009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ПОХОДЖЕННЯ БРЕНДІВ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49554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Корея 2 · Китай 2 · ЄС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77900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ПРОДАВЦІ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93445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DCM, Pulsar, Апетіт.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1664208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166420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1664208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І БРЕНДИ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166420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1901952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43983" y="1975104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51b547b7d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2041123"/>
            <a:ext cx="345277" cy="345277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53328" y="203088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84 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42048" y="1993392"/>
            <a:ext cx="331470" cy="21945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22792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42048" y="2267712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Gallina Blanca ×2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05288" y="206745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229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52544" y="2598724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443983" y="2671876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272" y="2749574"/>
            <a:ext cx="345277" cy="3219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053328" y="2727655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144–174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42048" y="2690164"/>
            <a:ext cx="1325880" cy="21945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22792" y="26627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42048" y="2964484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Henan ×8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05288" y="2764231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83–156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52544" y="3295497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443983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3470720"/>
            <a:ext cx="345277" cy="273175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4880701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bibigo_bow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8989" y="3433880"/>
            <a:ext cx="345277" cy="346854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6053328" y="3424428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210–247 г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42048" y="3386937"/>
            <a:ext cx="331470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73518" y="3386937"/>
            <a:ext cx="165735" cy="219456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22792" y="3359505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42048" y="3661257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Ottogi ×2 · Bibigo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05288" y="346100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135–320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352544" y="3992270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443983" y="4065422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62272" y="4154799"/>
            <a:ext cx="345277" cy="298563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4880701" y="4065422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98989" y="4131442"/>
            <a:ext cx="345277" cy="34527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053328" y="41212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269–280 г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42048" y="4083710"/>
            <a:ext cx="497204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39252" y="4083710"/>
            <a:ext cx="331470" cy="219456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22792" y="405627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42048" y="4358030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Ottogi ×3 · Mo Xiao Xian ×2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05288" y="415777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252–931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52544" y="4689043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443983" y="4762195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62272" y="4850048"/>
            <a:ext cx="345277" cy="301609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6053328" y="4817973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310–320 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42048" y="4780483"/>
            <a:ext cx="828675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622792" y="4753051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42048" y="5054803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Ottogi ×5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05288" y="4854549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252–356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352544" y="5422392"/>
            <a:ext cx="7235921" cy="923543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352544" y="5422392"/>
            <a:ext cx="82296" cy="923543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63440" y="5605272"/>
            <a:ext cx="6687281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5DBEA"/>
                </a:solidFill>
                <a:latin typeface="Segoe UI"/>
              </a:rPr>
              <a:t>Чаша — єдиний формат у всіх вагових смугах від 84 до 320 г. Найдешевша — Henan 144 г (83 грн), найдорожча готова — Ottogi 320 г (356 грн). Наш стакан 150 г стає між Henan (144–174 г) і Bibigo (210 г).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продавців; грамаж — вага готової страви (для сухого рису й сублімату — вага продукту). Медіана — за мінімальною ціною позиції. Ціни за одну упаковку, без опту.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ЧАША · КАТАЛОГ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Чаша: готовий рис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Ottogi і Bibigo — розігрів у мікрохвильовці 60–90 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266" y="1746504"/>
            <a:ext cx="1046787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252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4754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1155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8261" y="1746504"/>
            <a:ext cx="1032877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4812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812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315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812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255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158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559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346" y="1746504"/>
            <a:ext cx="1046787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9216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216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216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252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216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3562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963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5580" y="1746504"/>
            <a:ext cx="914400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255–260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966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367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085" y="1746504"/>
            <a:ext cx="1057469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08024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024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280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024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255–289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024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23703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8771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12986" y="1746504"/>
            <a:ext cx="1155747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2428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428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428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225–320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2428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6751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221" y="4178808"/>
            <a:ext cx="1032877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0408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252–334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4754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51155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85965" y="4178808"/>
            <a:ext cx="1057469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54812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812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4812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334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4812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158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5559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1540" y="4178808"/>
            <a:ext cx="914400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39216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9216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216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356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9216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3562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4045" y="4178808"/>
            <a:ext cx="1057469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23620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3620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217,5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620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7966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04367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bibigo_bowl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91698" y="4178808"/>
            <a:ext cx="910243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080247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80247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BIBIGO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80247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135–189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80247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ЧАША · КАТАЛОГ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Чаша: під окріп і саморозігрів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Henan, Gallina Blanca — окріп 5–10 хв; Mo Xiao Xian — нагрівач.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287" y="1746504"/>
            <a:ext cx="980744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129–156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4754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1155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1942" y="1746504"/>
            <a:ext cx="965515" cy="9143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4812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812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812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140–156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158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559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438" y="1746504"/>
            <a:ext cx="956603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9216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216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216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118–156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216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3562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963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1509" y="1746504"/>
            <a:ext cx="922540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118–156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9664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367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6447" y="1746504"/>
            <a:ext cx="980744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08024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024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024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112–150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024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23703" y="1645920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87712" y="1709928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11082" y="1746504"/>
            <a:ext cx="959555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2428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Гостра курка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428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428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83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2428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6751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358" y="4178808"/>
            <a:ext cx="956603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0408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135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4754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51155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87893" y="4178808"/>
            <a:ext cx="1253612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54812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812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4812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152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4812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158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5559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1540" y="4178808"/>
            <a:ext cx="914400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39216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9216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MO XIAO XIAN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216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931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9216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3562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45580" y="4178808"/>
            <a:ext cx="914400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236208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36208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MO XIAO XIAN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931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6208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79664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04367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51b547b7d3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89619" y="4178808"/>
            <a:ext cx="914400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080247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80247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GALLINA BLANCA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80247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229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80247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823703" y="4078224"/>
            <a:ext cx="173431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887712" y="4142232"/>
            <a:ext cx="160629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47975023c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33659" y="4178808"/>
            <a:ext cx="914400" cy="9144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9924287" y="5193792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24287" y="5577840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GALLINA BLANCA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924287" y="5760720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229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24287" y="6053327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3 З 4 · ДОЙПАК · ПЛОСКИЙ ПАКЕТ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Стільки ж позицій, скільки в пауча, — але це туризм.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520440" cy="47000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45920"/>
            <a:ext cx="3520440" cy="91440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847088"/>
            <a:ext cx="3246120" cy="148132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h_cur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2932" y="1883664"/>
            <a:ext cx="1541582" cy="1408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" y="343814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ПОЗИЦІЙ · БРЕНДІВ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593591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34 · 11  (32 % асортименту)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87705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03250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80–250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31596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· ДІАПАЗОН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47141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315 грн · 55–889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754880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ПРИГОТУВАННЯ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910328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Окріп 8–10 хв (сублімат і сухий рис)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5193792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ПОХОДЖЕННЯ БРЕНДІВ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349240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Україна 5 · ЄС 4 · Китай 1 · США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63270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ПРОДАВЦІ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788152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Highlander, ALANTUR, ВсеОпт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1664208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166420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1664208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І БРЕНДИ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166420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1901952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43983" y="1975104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2007082"/>
            <a:ext cx="345277" cy="41336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4880701" y="1975104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8989" y="2067527"/>
            <a:ext cx="345277" cy="292470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5317418" y="1975104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5706" y="2020042"/>
            <a:ext cx="345277" cy="38744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53328" y="203088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80–90 г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42048" y="1993392"/>
            <a:ext cx="602672" cy="21945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844720" y="1993392"/>
            <a:ext cx="482138" cy="219456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326858" y="1993392"/>
            <a:ext cx="241069" cy="21945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22792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42048" y="2267712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Харчі ×5 · James Cook ×4 · Їжа в Похід ×2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05288" y="206745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55–217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52544" y="2598724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443983" y="2671876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2272" y="2696311"/>
            <a:ext cx="345277" cy="428446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4880701" y="2671876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98989" y="2720576"/>
            <a:ext cx="345277" cy="379916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5317418" y="2671876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5706" y="2769377"/>
            <a:ext cx="345277" cy="28231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6053328" y="2727655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100–125 г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42048" y="2690164"/>
            <a:ext cx="482138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24186" y="2690164"/>
            <a:ext cx="241069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65255" y="2690164"/>
            <a:ext cx="241069" cy="219456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206324" y="2690164"/>
            <a:ext cx="120534" cy="219456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26858" y="2690164"/>
            <a:ext cx="120534" cy="21945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447393" y="2690164"/>
            <a:ext cx="120534" cy="219456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22792" y="26627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42048" y="2964484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Travellunch ×4 · Adventure Menu ×2 · SubliMate ×2 · Mountain House · Харчі · !FEST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05288" y="2764231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133–699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352544" y="3295497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443983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62272" y="3434669"/>
            <a:ext cx="345277" cy="345277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4880701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jpe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98989" y="3392300"/>
            <a:ext cx="345277" cy="430015"/>
          </a:xfrm>
          <a:prstGeom prst="rect">
            <a:avLst/>
          </a:prstGeom>
        </p:spPr>
      </p:pic>
      <p:sp>
        <p:nvSpPr>
          <p:cNvPr id="66" name="Rounded Rectangle 65"/>
          <p:cNvSpPr/>
          <p:nvPr/>
        </p:nvSpPr>
        <p:spPr>
          <a:xfrm>
            <a:off x="5317418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image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5706" y="3412946"/>
            <a:ext cx="345277" cy="38872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6053328" y="3424428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133–146 г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42048" y="3386937"/>
            <a:ext cx="361603" cy="21945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03651" y="3386937"/>
            <a:ext cx="241069" cy="219456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844720" y="3386937"/>
            <a:ext cx="120534" cy="219456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965255" y="3386937"/>
            <a:ext cx="120534" cy="219456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622792" y="3359505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42048" y="3661257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Qiaoshanmei ×3 · Adventure Food ×2 · Mountain House · SubliMate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05288" y="346100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309–699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352544" y="3992270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443983" y="4065422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image.jpe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62272" y="4089072"/>
            <a:ext cx="345277" cy="430015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6053328" y="41212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250 г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242048" y="4083710"/>
            <a:ext cx="361603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622792" y="405627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42048" y="4358030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Travellunch ×3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305288" y="415777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415–889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352544" y="4689043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4443983" y="4762195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2272" y="4786630"/>
            <a:ext cx="345277" cy="428446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6053328" y="4817973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маса н/д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242048" y="4780483"/>
            <a:ext cx="241069" cy="219456"/>
          </a:xfrm>
          <a:prstGeom prst="rect">
            <a:avLst/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622792" y="4753051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242048" y="5054803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Trek'n Eat ×2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05288" y="4854549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269–715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52544" y="5422392"/>
            <a:ext cx="7235921" cy="923543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4352544" y="5422392"/>
            <a:ext cx="82296" cy="923543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63440" y="5605272"/>
            <a:ext cx="6687281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5DBEA"/>
                </a:solidFill>
                <a:latin typeface="Segoe UI"/>
              </a:rPr>
              <a:t>34 позицій, але 31 із них — сублімат для походів: вага 80–250 г, ціни 55–889 грн. Це туристичний канал, а не мережева полиця: без туристичних магазинів частка дойпаку падає з 32 % до 5 %.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продавців; грамаж — вага готової страви (для сухого рису й сублімату — вага продукту). Медіана — за мінімальною ціною позиції. Ціни за одну упаковку, без опту.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ДОЙПАК · КАТАЛОГ 1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Дойпак: імпортний сублімат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Travellunch, Trek'n Eat, Mountain House, Adventure Food.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493" y="1746504"/>
            <a:ext cx="736898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275–515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84109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48117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2443" y="1746504"/>
            <a:ext cx="734209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84693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4693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4693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295–515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64715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28723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3807" y="1746504"/>
            <a:ext cx="712694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65299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299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5299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567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65299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45321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09329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4242" y="1746504"/>
            <a:ext cx="753035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445905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5905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5905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515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5905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25926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89934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4261" y="1746504"/>
            <a:ext cx="734209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26510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6510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6510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415–811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26510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Freeride · Highlander · ForCamp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6532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0540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85624" y="1746504"/>
            <a:ext cx="712694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07116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7116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7116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811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07116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87138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151146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66230" y="1746504"/>
            <a:ext cx="712694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187722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7722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7722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889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87722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67512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493" y="4178808"/>
            <a:ext cx="736898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04088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Риба з рисом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4088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TREK'N EAT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269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84109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8117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2443" y="4178808"/>
            <a:ext cx="734209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2284693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4693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TREK'N EAT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4693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715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64715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828723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3807" y="4178808"/>
            <a:ext cx="712694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3865299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65299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MOUNTAIN HOUSE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65299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699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65299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45321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409329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4658" y="4178808"/>
            <a:ext cx="812202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5445905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Chicken Fried Rice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5905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MOUNTAIN HOUSE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133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45905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45905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25926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989934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4261" y="4178808"/>
            <a:ext cx="734209" cy="9144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026510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6510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ADVENTURE FOOD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26510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492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26510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506532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8570540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af_cashew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84771" y="4178808"/>
            <a:ext cx="914400" cy="9144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8607116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Nasi Cashew: індонезійський рис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07116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ADVENTURE FOOD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07116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492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7116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UA-market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ДОЙПАК · КАТАЛОГ 2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Дойпак: Adventure Menu, SubliMate, Qiaoshanmei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Adventure Menu — єдиний бренд у двох форматах (пауч 400 г і сублімат 110 г). Qiaoshanmei — сухий рис під окріп, не сублімат.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470" y="1746504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QIAOSHANMEI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501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9564" y="1645920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33572" y="1709928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530" y="1746504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470148" y="2761488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0148" y="3145536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QIAOSHANMEI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0148" y="3328416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501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0148" y="3621024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35624" y="1645920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99632" y="1709928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275" y="1746504"/>
            <a:ext cx="831028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236208" y="2761488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3145536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3328416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378–483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3621024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01684" y="1645920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65692" y="1709928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2991" y="1746504"/>
            <a:ext cx="833717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002268" y="2761488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2268" y="3145536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2268" y="3328416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390–483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2268" y="3621024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3504" y="4078224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67512" y="4142232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6326" y="4178808"/>
            <a:ext cx="790687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4088" y="5193792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" y="5577840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SUBLIMATE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" y="5760720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309–310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" y="6053327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69564" y="4078224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433572" y="4142232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38564" y="4178808"/>
            <a:ext cx="1118330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470148" y="5193792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70148" y="5577840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SUBLIMATE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0148" y="5760720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290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0148" y="6053327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35624" y="4078224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199632" y="4142232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4582" y="4178808"/>
            <a:ext cx="758414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6236208" y="5193792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36208" y="5577840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SUBLIMATE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36208" y="5760720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370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6053327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01684" y="4078224"/>
            <a:ext cx="2656332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965692" y="4142232"/>
            <a:ext cx="2528316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qs_chicken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2650" y="4178808"/>
            <a:ext cx="914400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002268" y="5193792"/>
            <a:ext cx="24551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із зеленим перцем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2268" y="5577840"/>
            <a:ext cx="24551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QIAOSHANMEI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02268" y="5760720"/>
            <a:ext cx="24551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501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02268" y="6053327"/>
            <a:ext cx="24551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ДОЙПАК · КАТАЛОГ 3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Дойпак: український сублімат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James Cook, Харчі, Їжа в Похід, !FEST — вага 80–100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92" y="1746504"/>
            <a:ext cx="10795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JAMES COOK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83–138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84109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48117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9798" y="1746504"/>
            <a:ext cx="10795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84693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4693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JAMES COOK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4693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73–133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ВсеОпт · Highlander · Activity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64715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28723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6629" y="1746504"/>
            <a:ext cx="1087048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65299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299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JAMES COOK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5299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156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65299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45321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09329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9417" y="1746504"/>
            <a:ext cx="1022684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445905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5905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JAMES COOK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5905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55–81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5905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25926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89934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3919" y="1746504"/>
            <a:ext cx="814891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26510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6510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ЇЖА В ПОХІД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6510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145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26510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6532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0540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30491" y="1746504"/>
            <a:ext cx="822960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07116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7116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ЇЖА В ПОХІД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7116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07116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87138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151146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0680" y="1746504"/>
            <a:ext cx="763792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187722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7722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7722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120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87722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67512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92" y="4178808"/>
            <a:ext cx="1079500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04088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4088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120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84109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8117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9798" y="4178808"/>
            <a:ext cx="1079500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2284693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4693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4693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83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64715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828723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6629" y="4178808"/>
            <a:ext cx="1087048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3865299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Плов XL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65299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65299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321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65299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45321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409329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9417" y="4178808"/>
            <a:ext cx="1022684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5445905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Плов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5905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!FEST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45905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133–238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45905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SportStorm · Kalush-Craft · Вояджер · Військторг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25926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989934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kh_plov_veal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04165" y="4178808"/>
            <a:ext cx="914400" cy="9144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026510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Плов з басматі та телятиною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6510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26510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195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26510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Харчі ТМ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506532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8570540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kh_plov_ric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84771" y="4178808"/>
            <a:ext cx="914400" cy="9144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8607116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Плов: багато рису, курка й морква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07116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07116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217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7116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Харчі ТМ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4 З 4 · КОРОБКА З НАГРІВАЧЕМ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Найдорожчий формат: без техніки й окропу.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520440" cy="47000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45920"/>
            <a:ext cx="3520440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847088"/>
            <a:ext cx="3246120" cy="148132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d_tomato_beef27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0371" y="1883664"/>
            <a:ext cx="1426704" cy="1408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" y="343814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ПОЗИЦІЙ · БРЕНДІВ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593591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14 · 4  (13 % асортименту)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87705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03250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165–440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31596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· ДІАПАЗОН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47141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735 грн · 380–1 190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754880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ПРИГОТУВАННЯ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91032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Хімічний нагрівач, 15 хв, без техніки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534009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ПОХОДЖЕННЯ БРЕНДІВ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49554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Китай 3 · ЄС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77900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ПРОДАВЦІ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93445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Daruy, Скарби Азії, Sweet Svitt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1664208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166420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1664208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І БРЕНДИ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166420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1901952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43983" y="1975104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2058117"/>
            <a:ext cx="475488" cy="485483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53328" y="21179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165–187 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42048" y="1993392"/>
            <a:ext cx="1325880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22792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42048" y="2267712"/>
            <a:ext cx="2926080" cy="4137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Haidilao ×6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05288" y="2154555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380–680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52544" y="2772918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443983" y="2846070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272" y="2934081"/>
            <a:ext cx="475488" cy="47548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053328" y="2988945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272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42048" y="2864358"/>
            <a:ext cx="662940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22792" y="283692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42048" y="3138678"/>
            <a:ext cx="2926080" cy="4137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Haidilao ×3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05288" y="3025521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770–799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52544" y="3643884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443983" y="3717036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3829430"/>
            <a:ext cx="426720" cy="426720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4962143" y="3717036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0432" y="3829430"/>
            <a:ext cx="426720" cy="426720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5480303" y="3717036"/>
            <a:ext cx="463296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98592" y="3829430"/>
            <a:ext cx="426720" cy="4267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053328" y="3859911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360–440 г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42048" y="3735324"/>
            <a:ext cx="441960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84007" y="3735324"/>
            <a:ext cx="220980" cy="21945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904988" y="3735324"/>
            <a:ext cx="220980" cy="219456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22792" y="37078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42048" y="4009644"/>
            <a:ext cx="2926080" cy="4137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Haidilao ×2 · Zihaiguo · Rongcheng Haoji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05288" y="3896487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735–1 190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352544" y="4514850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443983" y="4588002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orestia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62272" y="4676013"/>
            <a:ext cx="475488" cy="47548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053328" y="4730877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маса н/д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242048" y="4606290"/>
            <a:ext cx="220980" cy="21945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22792" y="457885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42048" y="4880610"/>
            <a:ext cx="2926080" cy="4137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Forestia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05288" y="4767453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935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52544" y="5422392"/>
            <a:ext cx="7235921" cy="923543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352544" y="5422392"/>
            <a:ext cx="82296" cy="923543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63440" y="5605272"/>
            <a:ext cx="6687281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5DBEA"/>
                </a:solidFill>
                <a:latin typeface="Segoe UI"/>
              </a:rPr>
              <a:t>14 позицій і 4 бренди: Haidilao дає 11 із 14. Нагрівач у коробці замінює мікрохвильовку, але медіана 735 грн — у 6,2 раза вища за пауч (118 грн).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продавців; грамаж — вага готової страви (для сухого рису й сублімату — вага продукту). Медіана — за мінімальною ціною позиції. Ціни за одну упаковку, без опту.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КОРОБКА · КАТАЛОГ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Haidilao, Zihaiguo, Rongcheng Haoji, Forestia — без техніки й окропу, 15 хв.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155" y="1746504"/>
            <a:ext cx="895574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Stewed Chicken*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165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380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84109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48117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2348" y="1746504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84693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4693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4693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770–799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64715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28723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2954" y="1746504"/>
            <a:ext cx="914400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65299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299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5299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799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65299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45321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09329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6736" y="1746504"/>
            <a:ext cx="928047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445905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5905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5905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799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5905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25926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89934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4165" y="1746504"/>
            <a:ext cx="914400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26510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6510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6510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680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26510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6532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0540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184" y="1746504"/>
            <a:ext cx="895574" cy="9144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07116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7116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7116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650–680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07116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87138" y="1645920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151146" y="1709928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5377" y="1746504"/>
            <a:ext cx="914400" cy="914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187722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7722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7722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650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87722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67512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0641" y="4178808"/>
            <a:ext cx="956603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04088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4088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181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650–660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84109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8117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5524" y="4178808"/>
            <a:ext cx="928047" cy="9144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2284693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4693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4693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650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64715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828723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42954" y="4178808"/>
            <a:ext cx="914400" cy="914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3865299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65299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65299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1 190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65299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45321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409329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3560" y="4178808"/>
            <a:ext cx="914400" cy="9144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5445905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5905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ZIHAIGUO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45905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735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45905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25926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989934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04165" y="4178808"/>
            <a:ext cx="914400" cy="9144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026510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6510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 i="0">
                <a:solidFill>
                  <a:srgbClr val="C94F7C"/>
                </a:solidFill>
                <a:latin typeface="Segoe UI"/>
              </a:rPr>
              <a:t>RONGCHENG HAOJI · </a:t>
            </a:r>
            <a:r>
              <a:rPr sz="68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26510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735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26510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506532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8570540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hd_spicy36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84771" y="4178808"/>
            <a:ext cx="914400" cy="9144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8607116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Гострий м'ясний рис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07116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07116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950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7116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0087138" y="4078224"/>
            <a:ext cx="1470877" cy="23225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10151146" y="4142232"/>
            <a:ext cx="1342861" cy="987552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forestia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65377" y="4178808"/>
            <a:ext cx="914400" cy="914400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10187722" y="5193792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187722" y="5577840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FORESTIA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187722" y="5760720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935 грн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187722" y="6053327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назви бренду: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× ВАГА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Формат × вага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Скільки позицій у кожній вазі. Помаранчеві мітки — наші формати.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80–99 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735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100–149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1190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150–199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6645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200–249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2100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250–299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7555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300–349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53010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350+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213" y="2029968"/>
            <a:ext cx="2725774" cy="3273552"/>
          </a:xfrm>
          <a:prstGeom prst="roundRect">
            <a:avLst>
              <a:gd name="adj" fmla="val 3000"/>
            </a:avLst>
          </a:prstGeom>
          <a:noFill/>
          <a:ln w="3175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231136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C4810A"/>
                </a:solidFill>
                <a:latin typeface="Segoe UI"/>
              </a:rPr>
              <a:t>Пауч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2523744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реторт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76856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40280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2311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75735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47766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11190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9A50B"/>
                </a:solidFill>
                <a:latin typeface="Segoe UI"/>
              </a:rPr>
              <a:t>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13157" y="2587751"/>
            <a:ext cx="731520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3157" y="2587751"/>
            <a:ext cx="73152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BSCM 150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83221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CA8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46645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6645" y="2432303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Segoe UI"/>
              </a:rPr>
              <a:t>позицій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10653" y="2587751"/>
            <a:ext cx="1207439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10653" y="2587751"/>
            <a:ext cx="1207439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BSCM 200 · BSCM 240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18676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E2C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2100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2100" y="2432303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5487" y="2587751"/>
            <a:ext cx="868680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15487" y="2587751"/>
            <a:ext cx="8686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CM Premium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54131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17555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89586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CA8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53010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53010" y="2432303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Segoe UI"/>
              </a:rPr>
              <a:t>позицій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" y="301752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" y="3310127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стакан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76856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BF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240280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40280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12311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B3D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75735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75735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47766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9CD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11190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11190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110287" y="3374135"/>
            <a:ext cx="937259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110287" y="3374135"/>
            <a:ext cx="937259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BSCM стакан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83221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B3D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46645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46645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77162" y="3374135"/>
            <a:ext cx="1074420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77162" y="3374135"/>
            <a:ext cx="107442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ONE'S 200/210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618676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9CD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82100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82100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815487" y="3374135"/>
            <a:ext cx="868680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815487" y="3374135"/>
            <a:ext cx="8686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BSCM 2×125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954131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9CD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917555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17555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289586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253010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" y="3803903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5E4B94"/>
                </a:solidFill>
                <a:latin typeface="Segoe UI"/>
              </a:rPr>
              <a:t>Дойпак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" y="4096511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плоский пакет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276856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877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240280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40280" y="4005072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Segoe UI"/>
              </a:rPr>
              <a:t>позицій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612311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575735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575735" y="4005072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Segoe UI"/>
              </a:rPr>
              <a:t>позицій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947766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911190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83221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46645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618676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C9C2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582100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82100" y="4005072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954131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17555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289586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253010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3504" y="459028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3504" y="488289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з нагрівачем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276856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240280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612311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575735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947766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E4A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911190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11190" y="4791456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283221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46645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618676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ECC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582100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582100" y="4791456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954131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917555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0289586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EAB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253010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53010" y="4791456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46645" y="1847088"/>
            <a:ext cx="2670910" cy="9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 i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03504" y="5449824"/>
            <a:ext cx="3564117" cy="8961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03504" y="5449824"/>
            <a:ext cx="73152" cy="8961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22960" y="5541264"/>
            <a:ext cx="319835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ПОРЦІЙНЕ ВІКНО 200–299 г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2960" y="5742432"/>
            <a:ext cx="31983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34 позицій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6053328"/>
            <a:ext cx="319835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Пауч і чаша: одна порція на людину. Тут стоять BSCM 200/240, CM Premium, ONE'S і подвійний стакан.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313925" y="5449824"/>
            <a:ext cx="3564117" cy="8961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313925" y="5449824"/>
            <a:ext cx="73152" cy="896112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533381" y="5541264"/>
            <a:ext cx="319835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НАЙЩІЛЬНІША КЛІТИНКА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33381" y="5742432"/>
            <a:ext cx="31983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дойпак 100–149 г — 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33381" y="6053328"/>
            <a:ext cx="319835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Це сухий сублімат для походів, інший привід і канал. Наші формати з ним не перетинаються.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024347" y="5449824"/>
            <a:ext cx="3564117" cy="8961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8024347" y="5449824"/>
            <a:ext cx="73152" cy="89611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243803" y="5541264"/>
            <a:ext cx="319835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ВІЛЬНІ КЛІТИНКИ ДЛЯ НАС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243803" y="5742432"/>
            <a:ext cx="31983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пауч 150–199 г — 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243803" y="6053328"/>
            <a:ext cx="319835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Жодного пауча 150–199 г. BSCM пауч 150 г заходить без прямого конкурента; найближчий — Ben's 220 г.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Вага — готової страви; для сухого рису й сублімату — вага продукту. Позиції без вказаної маси (Trek'n Eat ×2) не враховано. Наші формати — за комерційними пропозиціями BSCM, CM Premium, One's.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Топ поєднань формат + вага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Які упаковки ринок обирає найчастіше — і де стоять наші ваги.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7726679" cy="4700016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7373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ТОП-13 ПОЄДНАНЬ «ФОРМАТ + ГРАМАЖ», ПОЗИЦІЙ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093976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Пауч 350 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32304" y="2103120"/>
            <a:ext cx="1691640" cy="22860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97096" y="207568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10312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101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44184" y="211226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МАКРО · Маркел · Верес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241858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85 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32304" y="2427732"/>
            <a:ext cx="1076498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1954" y="240030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42773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130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44184" y="2436876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Харчі · Їжа в Похід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274320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Пауч 220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2304" y="2752344"/>
            <a:ext cx="1076498" cy="22860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81954" y="27249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1144" y="275234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139 грн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44184" y="276148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Ben's Original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067812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Пауч 240 г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32304" y="3076956"/>
            <a:ext cx="1076498" cy="22860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81954" y="304952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1144" y="307695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225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44184" y="308610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Seeds of Change · Ben's 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339242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Пауч 250 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32304" y="3401568"/>
            <a:ext cx="922712" cy="22860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28168" y="3374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81144" y="340156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90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44184" y="341071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Ben's Original · Clearspring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3717036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Чаша 174 г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432304" y="3726180"/>
            <a:ext cx="768927" cy="228600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74383" y="36987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1144" y="372618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118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44184" y="373532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Henan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404164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110 г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432304" y="4050792"/>
            <a:ext cx="615141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20597" y="402336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81144" y="40507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384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4184" y="4059936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Adventure Menu · Mountain House · SubliMate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" y="43662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125 г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32304" y="4375404"/>
            <a:ext cx="615141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20597" y="434797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81144" y="437540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405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4184" y="43845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Travellunch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" y="4690872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146 г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432304" y="4700016"/>
            <a:ext cx="615141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20597" y="46725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81144" y="470001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501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44184" y="470916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Qiaoshanmei · Adventure Food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" y="50154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Коробка 187 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432304" y="5024628"/>
            <a:ext cx="461356" cy="228600"/>
          </a:xfrm>
          <a:prstGeom prst="roundRect">
            <a:avLst>
              <a:gd name="adj" fmla="val 2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66812" y="49971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81144" y="502462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650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44184" y="503377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Haidilao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340096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Коробка 272 г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432304" y="5349240"/>
            <a:ext cx="461356" cy="228600"/>
          </a:xfrm>
          <a:prstGeom prst="roundRect">
            <a:avLst>
              <a:gd name="adj" fmla="val 2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966812" y="532180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81144" y="534924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799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44184" y="535838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Haidilao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" y="566470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Чаша 144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432304" y="5673852"/>
            <a:ext cx="461356" cy="228600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966812" y="56464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81144" y="567385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135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44184" y="5682996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Henan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" y="598932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90 г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432304" y="5998464"/>
            <a:ext cx="461356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966812" y="597103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81144" y="599846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73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44184" y="600760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James Cook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31352" y="1645920"/>
            <a:ext cx="3057113" cy="2139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14232" y="1737360"/>
            <a:ext cx="27827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ЧАСТКА ФОРМАТУ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14232" y="2011680"/>
            <a:ext cx="278279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C2235"/>
                </a:solidFill>
                <a:latin typeface="Segoe UI"/>
              </a:rPr>
              <a:t>Усі 105 позицій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14232" y="2249424"/>
            <a:ext cx="871485" cy="329184"/>
          </a:xfrm>
          <a:prstGeom prst="rect">
            <a:avLst/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714232" y="2249424"/>
            <a:ext cx="87148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32 %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585717" y="2249424"/>
            <a:ext cx="871485" cy="329184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585717" y="2249424"/>
            <a:ext cx="87148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32 %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457203" y="2249424"/>
            <a:ext cx="589534" cy="3291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57203" y="2249424"/>
            <a:ext cx="58953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22 %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1046738" y="2249424"/>
            <a:ext cx="358847" cy="32918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046738" y="2249424"/>
            <a:ext cx="3588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13 %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714232" y="2852928"/>
            <a:ext cx="278279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C2235"/>
                </a:solidFill>
                <a:latin typeface="Segoe UI"/>
              </a:rPr>
              <a:t>Без туристичних і військових · 60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714232" y="3090672"/>
            <a:ext cx="1390532" cy="329184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714232" y="3090672"/>
            <a:ext cx="13905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52 %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104764" y="3090672"/>
            <a:ext cx="1031685" cy="3291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104764" y="3090672"/>
            <a:ext cx="103168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38 %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136450" y="3090672"/>
            <a:ext cx="134567" cy="329184"/>
          </a:xfrm>
          <a:prstGeom prst="rect">
            <a:avLst/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271017" y="3090672"/>
            <a:ext cx="134567" cy="32918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714232" y="3474720"/>
            <a:ext cx="273707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Тобто є хоча б в одному магазині поза цим каналом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531352" y="3913632"/>
            <a:ext cx="3057113" cy="2432304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8531352" y="3913632"/>
            <a:ext cx="82296" cy="24323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787384" y="4023360"/>
            <a:ext cx="269135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C95C"/>
                </a:solidFill>
                <a:latin typeface="Segoe UI"/>
              </a:rPr>
              <a:t>НАШІ ВАГИ НА ЦІЙ КАРТІ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787384" y="4370832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Пауч 150 г · BSCM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445465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FFC95C"/>
                </a:solidFill>
                <a:latin typeface="Segoe UI"/>
              </a:rPr>
              <a:t>0 конкурентів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787384" y="4681728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Пауч 200 г · BSCM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45465" y="468172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FFC95C"/>
                </a:solidFill>
                <a:latin typeface="Segoe UI"/>
              </a:rPr>
              <a:t>0 конкурентів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787384" y="4992624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Пауч 240 г · BSCM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445465" y="4992624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D5DBEA"/>
                </a:solidFill>
                <a:latin typeface="Segoe UI"/>
              </a:rPr>
              <a:t>7 в цій вазі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87384" y="5303520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Пауч 250 г · CM Premium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445465" y="5303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D5DBEA"/>
                </a:solidFill>
                <a:latin typeface="Segoe UI"/>
              </a:rPr>
              <a:t>6 в цій вазі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87384" y="5614416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Стакан 150 г · BSCM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45465" y="5614416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FFC95C"/>
                </a:solidFill>
                <a:latin typeface="Segoe UI"/>
              </a:rPr>
              <a:t>0 конкурентів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787384" y="5925312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Лоток 210 г · ONE'S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445465" y="59253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D5DBEA"/>
                </a:solidFill>
                <a:latin typeface="Segoe UI"/>
              </a:rPr>
              <a:t>1 в цій вазі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 (105 SKU). «Поза туристичними й військовими магазинами» — позиції, які є хоча б в одному магазині, що не є туристичним чи військовим (мережі, маркетплейси, азійські й гастро-магазини). «Конкурентів» — позицій того самого формату з точно такою вагою.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ЦІНА ЗА ОДНУ УПАКОВКУ · 1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Ціна: готовий рис і наші бренди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Сегмент 1 — розігрів у мікрохвильовці — і наші бренди на одній шкалі.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8875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83115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88590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2830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28306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2546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68021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02261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400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07736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41976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67031" y="1645920"/>
            <a:ext cx="1673615" cy="4315968"/>
          </a:xfrm>
          <a:prstGeom prst="rect">
            <a:avLst/>
          </a:prstGeom>
          <a:solidFill>
            <a:srgbClr val="FF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67031" y="6199631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вікно мережевої полиці 45–180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5980175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ГРН ЗА ОДНУ УПАКОВКУ · ТОЧКА — МЕДІАНА БРЕНДУ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" y="1655064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1655064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СЕГМЕНТ 1 · ГОТОВИЙ РИС ДО РОЗІГРІВУ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1943404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92424" y="196169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15384" y="1961692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89357" y="2007412"/>
            <a:ext cx="471091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479629" y="195254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3329" y="195254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71–109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2190902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М'ясниця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92424" y="220919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15384" y="2209190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00109" y="2254910"/>
            <a:ext cx="36576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690381" y="220004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95386" y="220004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88–89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243840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92424" y="245668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15384" y="2456688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267031" y="2502408"/>
            <a:ext cx="2045530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839147" y="244754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5442" y="244754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45–210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2685897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МАКРО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92424" y="2704185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15384" y="2704185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899286" y="2749905"/>
            <a:ext cx="483489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51544" y="2695041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65655" y="269504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96–135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2933395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92424" y="2951683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15384" y="2951683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00932" y="2997403"/>
            <a:ext cx="793417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88736" y="294253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7230" y="294253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80–144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3180892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Верес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92424" y="319918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15384" y="3199180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48875" y="3244900"/>
            <a:ext cx="433900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888736" y="319003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65655" y="31900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100–135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342839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Ходорівський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92424" y="344667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15384" y="3446678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10861" y="3492398"/>
            <a:ext cx="1165332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111884" y="343753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59073" y="343753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105–199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" y="367588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92424" y="3694176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15384" y="3694176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382775" y="3739896"/>
            <a:ext cx="669446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273047" y="368503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35102" y="368503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135–189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1520" y="3923385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Seeds of Change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92424" y="3941673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15384" y="3941673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287768" y="3987393"/>
            <a:ext cx="2987714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7599543" y="393252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458362" y="393252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208–449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31520" y="4170883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92424" y="4189171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15384" y="4189171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833242" y="4234891"/>
            <a:ext cx="2405047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7723514" y="418002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421170" y="418002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252–446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" y="44183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92424" y="443666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15384" y="4436668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498519" y="4482388"/>
            <a:ext cx="1624027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760706" y="442752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305426" y="442752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225–356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1520" y="466587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Adventure Menu · пауч 400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92424" y="4684166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15384" y="4684166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614263" y="4729886"/>
            <a:ext cx="1103346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8764875" y="467502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900490" y="467502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315–404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03504" y="4935931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31520" y="4935931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НАШІ БРЕНДИ · ПОЛИЦЯ ЗА ФІНМОДЕЛЛЮ (З ПДВ)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3504" y="5237683"/>
            <a:ext cx="10984961" cy="210921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5224272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BSCM Foods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392424" y="52425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Таїланд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15384" y="5242560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24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357981" y="5288280"/>
            <a:ext cx="1822381" cy="10972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6694551" y="523341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363243" y="523341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133–280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03504" y="5485180"/>
            <a:ext cx="10984961" cy="210921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31520" y="5471769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CM Premium · Chefrey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392424" y="5490057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Таїланд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215384" y="5490057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915853" y="5535777"/>
            <a:ext cx="36576" cy="10972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6806125" y="548091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098733" y="548091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178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03504" y="5732678"/>
            <a:ext cx="10984961" cy="210921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31520" y="5719267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ONE'S International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392424" y="5737555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215384" y="5737555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605924" y="5783275"/>
            <a:ext cx="2219090" cy="10972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8715287" y="5728411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007895" y="572841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153–332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Роздрібна ціна за одну упаковку на сайтах продавців; точка — медіана мінімальних цін позицій бренду. Наші бренди — полиця = собівартість × 3,5 (20' навалом, курс 45, бонус мережі 25 %, маржа 35 %). Смуга — від найдешевшої до найдорожчої.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ЦІНА ЗА ОДНУ УПАКОВКУ · 2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Ціна: під окріп і саморозігрів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Рис під окріп коштує як пауч, саморозігрів — у п'ять–шість разів дорожче.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98464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32704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250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22008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77072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750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66376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0615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155680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19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1 250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5980175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ГРН ЗА ОДНУ УПАКОВКУ · ТОЧКА — МЕДІАНА БРЕНДУ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" y="1655064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1655064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СЕГМЕНТ 2 · СУХИЙ РИС ПІД ОКРІП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2051685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92424" y="2069973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15384" y="2069973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37208" y="2115693"/>
            <a:ext cx="376476" cy="10972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38926" y="206082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96565" y="206082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83–156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515743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Gallina Blanca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92424" y="2534031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15384" y="2534031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90162" y="2579751"/>
            <a:ext cx="36576" cy="10972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780434" y="252488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73042" y="252488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2979801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Qiaoshanmei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92424" y="2998089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15384" y="2998089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92925" y="3043809"/>
            <a:ext cx="36576" cy="10972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183197" y="2988945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75805" y="298894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501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3504" y="3358133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3358133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СЕГМЕНТ 3 · САМОРОЗІГРІВ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3754754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92424" y="377304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15384" y="3773042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68902" y="3818762"/>
            <a:ext cx="4177344" cy="10972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106338" y="376389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029127" y="376389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380–1 190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4218813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Zihaiguo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92424" y="42371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15384" y="4237100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499713" y="4282821"/>
            <a:ext cx="36576" cy="10972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389985" y="422795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2593" y="422795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735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4682871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Rongcheng Haoji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92424" y="470115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15384" y="4701158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99713" y="4746879"/>
            <a:ext cx="36576" cy="10972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8389985" y="4692015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682593" y="469201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735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5146929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Mo Xiao Xian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92424" y="5165217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15384" y="5165217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510528" y="5210937"/>
            <a:ext cx="36576" cy="10972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400800" y="515607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93408" y="515607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931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" y="5610987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Forestia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92424" y="5629275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15384" y="5629275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531156" y="5674995"/>
            <a:ext cx="36576" cy="10972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421428" y="5620131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714036" y="562013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935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Роздрібна ціна за одну упаковку на сайтах продавців; точка — медіана мінімальних цін позицій бренду.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ЦІНА ЗА ОДНУ УПАКОВКУ · 3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Ціна: сублімація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Український сублімат — від 55 до 370 грн, імпортний — від 270 до 890.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66322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0562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3484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7724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400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80646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4886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600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37808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72048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800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5980175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ГРН ЗА ОДНУ УПАКОВКУ · ТОЧКА — МЕДІАНА БРЕНДУ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" y="1655064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1655064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020824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James Cook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92424" y="203911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5384" y="2039112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2379" y="2084831"/>
            <a:ext cx="685366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128725" y="202996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0626" y="202996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55–156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242316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!FEST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92424" y="244144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15384" y="2441448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11672" y="2487168"/>
            <a:ext cx="712510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501944" y="243230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07062" y="24323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133–238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2825496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Їжа в Похід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92424" y="284378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15384" y="284378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91315" y="2889503"/>
            <a:ext cx="101787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535873" y="283463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75982" y="283463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130–145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3227832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Харчі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92424" y="324612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15384" y="3246120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272382" y="3291840"/>
            <a:ext cx="1615022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671590" y="323697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70285" y="323697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83–321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363016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SubliMate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92424" y="3648456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15384" y="3648456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677045" y="3694176"/>
            <a:ext cx="542864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696247" y="3639311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02789" y="363931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290–370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4032504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Adventure Menu · дойпак 110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92424" y="4050791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15384" y="4050791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74196" y="4096512"/>
            <a:ext cx="712510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205183" y="404164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69586" y="404164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378–483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443484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Trek'n Eat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92424" y="4453127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15384" y="4453127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534543" y="4498848"/>
            <a:ext cx="3026471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938050" y="444398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43894" y="444398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269–715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" y="4837175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Adventure Food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92424" y="4855463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15384" y="4855463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47778" y="4901183"/>
            <a:ext cx="36576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938050" y="484631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30658" y="484631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492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1520" y="5239511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Travellunch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92424" y="5257799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15384" y="5257799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575257" y="5303519"/>
            <a:ext cx="4166487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094124" y="5248655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24625" y="524865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275–889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1520" y="5641847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Mountain House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92424" y="5660135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15384" y="5660135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452441" y="5705855"/>
            <a:ext cx="36576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9342713" y="5650991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635321" y="565099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699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Роздрібна ціна за одну упаковку на сайтах продавців; точка — медіана мінімальних цін позицій бренду. Інший привід споживання і канал: туризм, армія.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РИТЕЙЛ-АУДИТ · МЕРЕЖІ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з готового рису стоїть у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Каталоги 9 мереж, 28.09.2026: усього 26 позицій, а готового рису кімнатного зберігання — лише 12.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1645920"/>
            <a:ext cx="222199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6664" y="1645920"/>
            <a:ext cx="12161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717890"/>
                </a:solidFill>
                <a:latin typeface="Segoe UI"/>
              </a:rPr>
              <a:t>КІМНАТНЕ ЗБЕРІГАННЯ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2544" y="1645920"/>
            <a:ext cx="12161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717890"/>
                </a:solidFill>
                <a:latin typeface="Segoe UI"/>
              </a:rPr>
              <a:t>ОХОЛОДЖЕНА КУЛІНАРІЯ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78424" y="1645920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717890"/>
                </a:solidFill>
                <a:latin typeface="Segoe UI"/>
              </a:rPr>
              <a:t>СУМІШІ ПІД ВАРІННЯ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3" y="1645920"/>
            <a:ext cx="7132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" y="202996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04825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Сільпо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22199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Ben's ×11 · Чіл Міл ×2 · боули ×6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23844" y="206654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206654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9724" y="206654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61104" y="206654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2744" y="206654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86984" y="206654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3504" y="239572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41401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58775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The Local Food · рис японський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23844" y="243230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35224" y="243230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49724" y="243230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61104" y="243230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52744" y="243230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86984" y="243230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" y="276148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277977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295351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«Майстри Смаку»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5224" y="279806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49724" y="279806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61104" y="279806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52744" y="279806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86984" y="279806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3504" y="312724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14553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331927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«Легко!»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35224" y="316382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49724" y="316382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61104" y="316382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52744" y="3163824"/>
            <a:ext cx="548640" cy="25603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86984" y="316382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3504" y="349300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351129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368503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нічого не знайдено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35224" y="352958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61104" y="352958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86984" y="352958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" y="385876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3877055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ЕКО маркет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4050791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нічого не знайдено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35224" y="389534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61104" y="389534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86984" y="389534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03504" y="422452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424281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Epicentr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441655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нічого не знайдено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35224" y="426110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61104" y="426110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86984" y="426110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03504" y="4590288"/>
            <a:ext cx="708660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1520" y="4608576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Космос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" y="4782312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нічого не знайдено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35224" y="462686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61104" y="462686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86984" y="462686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9B0C4"/>
                </a:solidFill>
                <a:latin typeface="Segoe UI"/>
              </a:rPr>
              <a:t>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3504" y="4974336"/>
            <a:ext cx="7086600" cy="365760"/>
          </a:xfrm>
          <a:prstGeom prst="roundRect">
            <a:avLst>
              <a:gd name="adj" fmla="val 2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1520" y="49743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Segoe UI"/>
              </a:rPr>
              <a:t>Унікальних SKU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5224" y="49743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C95C"/>
                </a:solidFill>
                <a:latin typeface="Segoe UI"/>
              </a:rPr>
              <a:t>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61104" y="4974336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C95C"/>
                </a:solidFill>
                <a:latin typeface="Segoe UI"/>
              </a:rPr>
              <a:t>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86984" y="497433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C95C"/>
                </a:solidFill>
                <a:latin typeface="Segoe UI"/>
              </a:rPr>
              <a:t>3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891272" y="1645920"/>
            <a:ext cx="3697193" cy="373075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92440" y="1737360"/>
            <a:ext cx="33314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BEN'S ORIGINAL У «СІЛЬПО» · 11 ПОЗИЦІЙ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92440" y="2048256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Long Grain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57232" y="204825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99745" y="2048256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45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092440" y="2339035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57232" y="2339035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99745" y="2339035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92440" y="2629814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Basmati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57232" y="262981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99745" y="2629814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92440" y="2920593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Mediterran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857232" y="2920593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99745" y="2920593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92440" y="3211372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Risi Bisi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857232" y="321137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99745" y="3211372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92440" y="3502152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Indian Curry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57232" y="350215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399745" y="3502152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92440" y="3792931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Basmati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57232" y="3792931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399745" y="3792931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100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92440" y="408371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Mexikanisch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857232" y="408371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399745" y="4083710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109 грн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2440" y="4374489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Curryreis Indien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857232" y="4374489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99745" y="4374489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144 грн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92440" y="466526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Для боулів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57232" y="466526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399745" y="4665268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149 грн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92440" y="4956047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Sweet Chili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57232" y="4956047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399745" y="4956047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179 грн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03504" y="5486400"/>
            <a:ext cx="2270760" cy="8595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603504" y="5486400"/>
            <a:ext cx="73152" cy="85953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5559552"/>
            <a:ext cx="1996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5961888"/>
            <a:ext cx="1996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SKU кімнатного зберігання на всю країну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011424" y="5486400"/>
            <a:ext cx="2270760" cy="8595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3011424" y="5486400"/>
            <a:ext cx="73152" cy="85953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230880" y="5559552"/>
            <a:ext cx="1996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03A5D"/>
                </a:solidFill>
                <a:latin typeface="Segoe UI"/>
              </a:rPr>
              <a:t>11 з 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230880" y="5961888"/>
            <a:ext cx="1996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це Ben's Original в одній мережі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419344" y="5486400"/>
            <a:ext cx="2270760" cy="8595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5419344" y="5486400"/>
            <a:ext cx="73152" cy="85953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638800" y="5559552"/>
            <a:ext cx="1996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03A5D"/>
                </a:solidFill>
                <a:latin typeface="Segoe UI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38800" y="5961888"/>
            <a:ext cx="1996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у METRO, Ашан, NOVUS, ЕКО маркет, Epicentr, Космос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7891272" y="5486400"/>
            <a:ext cx="3697193" cy="8595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7891272" y="5486400"/>
            <a:ext cx="82296" cy="8595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02168" y="5669280"/>
            <a:ext cx="314855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5DBEA"/>
                </a:solidFill>
                <a:latin typeface="Segoe UI"/>
              </a:rPr>
              <a:t>Ben's у «Сільпо» — єдиний мережевий гарнір; інших немає.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Каталоги мереж на 28.09.2026: Ашан, Сільпо, METRO, NOVUS, МегаМаркет, Ultramarket (одна платформа з МегаМаркет), ЕКО маркет, Epicentr, Космос. Кімнатне зберігання — готовий рис у паучі/лотку; охолоджена — кулінарія 2–5 діб; суміші — сира крупа в пакеті для варіння.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РИТЕЙЛ-АУДИТ · ПОЗИЦІЇ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саме стоїть на полицях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Усі 26 знайдених позицій: де, який формат, скільки SKU і яка ціна за упаковку.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27632"/>
            <a:ext cx="2514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1627632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ЩО САМЕ СТОЇТЬ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68312" y="162763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162763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4272" y="1627632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0151" y="1627632"/>
            <a:ext cx="1307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" y="1865376"/>
            <a:ext cx="10954512" cy="29260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86537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КІМНАТНЕ ЗБЕРІГАННЯ · НАШ СЕТ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33104" y="1865376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Segoe UI"/>
              </a:rPr>
              <a:t>12 SKU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" y="2194560"/>
            <a:ext cx="10954512" cy="30632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2235708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Сільпо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7832" y="2235708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Ben's Original / Uncle Ben's Express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8312" y="2235708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пауч 220–250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2235708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4272" y="2235708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45–179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0151" y="2235708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Mars · ЄС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2560320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27832" y="2560320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The Local Food, по-тайськи з куркою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8312" y="2560320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лоток 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85632" y="2560320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2560320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0151" y="2560320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" y="2935224"/>
            <a:ext cx="10954512" cy="292608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2935224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ОХОЛОДЖЕНА КУЛІНАРІЯ · 2–5 ДІБ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33104" y="2935224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Segoe UI"/>
              </a:rPr>
              <a:t>11 SKU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" y="3264408"/>
            <a:ext cx="10954512" cy="30632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305556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27832" y="3305556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«Легко!» рис з овочами та курячим фрікасе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68312" y="3305556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лоток 280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85632" y="3305556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34272" y="3305556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60151" y="3305556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3630168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Сільпо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27832" y="3630168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«Чіл Міл» рис паровий · рис з яйцем і овочами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68312" y="3630168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лоток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3630168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34272" y="3630168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0151" y="3630168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03504" y="3913631"/>
            <a:ext cx="10954512" cy="30632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3232" y="3954779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Сільпо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27832" y="3954779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Боули з рисом · теріякі · рис по-китайськи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68312" y="3954779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кулінарія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85632" y="3954779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34272" y="3954779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139–439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0151" y="3954779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3232" y="4279392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27832" y="4279392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«Майстри Смаку» рис з овочами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68312" y="4279392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кулінарія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85632" y="4279392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34272" y="4279392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0151" y="4279392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03504" y="4562856"/>
            <a:ext cx="10954512" cy="30632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3232" y="4604004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27832" y="4604004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Рис японський з овочами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68312" y="4604004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кулінарія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85632" y="4604004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34272" y="4604004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60151" y="4604004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3504" y="4978908"/>
            <a:ext cx="10954512" cy="292608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9808" y="497890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СУМІШ ПІД ВАРІННЯ · НЕ ГОТОВИЙ ПРОДУКТ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33104" y="4978908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Segoe UI"/>
              </a:rPr>
              <a:t>3 SKU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03504" y="5308092"/>
            <a:ext cx="10954512" cy="30632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3232" y="5349240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03A5D"/>
                </a:solidFill>
                <a:latin typeface="Segoe UI"/>
              </a:rPr>
              <a:t>Ашан · NOVUS · МегаМаркет · Сільпо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27832" y="5349240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«Жменька» Tasty Mix басматі з овочами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68312" y="5349240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пакет 200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85632" y="5349240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34272" y="5349240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89–92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60151" y="5349240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3232" y="5673852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NOVUS · Сільпо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27832" y="5673852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Trapeza басматі з карі по-індійськи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068312" y="5673852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пакет 250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85632" y="5673852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34272" y="5673852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59–85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360151" y="5673852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3504" y="5957316"/>
            <a:ext cx="10954512" cy="30632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3232" y="5998464"/>
            <a:ext cx="236829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27832" y="5998464"/>
            <a:ext cx="36941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«Зерновита» рис з овочами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68312" y="5998464"/>
            <a:ext cx="127101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пакет 500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485632" y="5998464"/>
            <a:ext cx="40233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034272" y="5998464"/>
            <a:ext cx="1179576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60151" y="5998464"/>
            <a:ext cx="1161288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235"/>
                </a:solidFill>
                <a:latin typeface="Segoe UI"/>
              </a:rPr>
              <a:t>Україна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Ашан, Сільпо, METRO, NOVUS, МегаМаркет, Ultramarket, ЕКО маркет, Epicentr, Космос — каталоги на 28.09.2026. METRO, ЕКО маркет, Epicentr і Космос — жодної позиції цих трьох груп.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Усі магазини, де ми знайшли готовий рис і суміжні формати, — по каналах.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246120" cy="4700016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55648"/>
            <a:ext cx="2880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ТОЧОК ПРОДАЖУ В КАНАЛІ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066543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2523744"/>
            <a:ext cx="949569" cy="310896"/>
          </a:xfrm>
          <a:prstGeom prst="roundRect">
            <a:avLst>
              <a:gd name="adj" fmla="val 2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5681" y="24871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303A5D"/>
                </a:solidFill>
                <a:latin typeface="Segoe UI"/>
              </a:rPr>
              <a:t>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35224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" y="3392424"/>
            <a:ext cx="158261" cy="310896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73" y="335584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803904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4261104"/>
            <a:ext cx="1055076" cy="310896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51188" y="422452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303A5D"/>
                </a:solidFill>
                <a:latin typeface="Segoe U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672584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Гастро- й фірмові інтернет-магазини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5129784"/>
            <a:ext cx="791307" cy="310896"/>
          </a:xfrm>
          <a:prstGeom prst="roundRect">
            <a:avLst>
              <a:gd name="adj" fmla="val 2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87419" y="509320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303A5D"/>
                </a:solidFill>
                <a:latin typeface="Segoe UI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541264"/>
            <a:ext cx="2880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Туристичні й військові магазини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" y="5998464"/>
            <a:ext cx="2057400" cy="310896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53512" y="596188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303A5D"/>
                </a:solidFill>
                <a:latin typeface="Segoe UI"/>
              </a:rPr>
              <a:t>39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32504" y="1645920"/>
            <a:ext cx="7555961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032504" y="1645920"/>
            <a:ext cx="73152" cy="8686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60" y="1709928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Мережевий роздріб · 18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51105" y="1719072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51105" y="1719072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1975104"/>
            <a:ext cx="719020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C94F7C"/>
                </a:solidFill>
                <a:latin typeface="Segoe UI"/>
              </a:rPr>
              <a:t>3 мережі з категорією: </a:t>
            </a:r>
            <a:r>
              <a:rPr sz="950" b="0" i="0">
                <a:solidFill>
                  <a:srgbClr val="1C2235"/>
                </a:solidFill>
                <a:latin typeface="Segoe UI"/>
              </a:rPr>
              <a:t>Сільпо · МегаМаркет · Ultramarket</a:t>
            </a:r>
          </a:p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C94F7C"/>
                </a:solidFill>
                <a:latin typeface="Segoe UI"/>
              </a:rPr>
              <a:t>ще 15 перевірених без категорії: </a:t>
            </a:r>
            <a:r>
              <a:rPr sz="950" b="0" i="0">
                <a:solidFill>
                  <a:srgbClr val="1C2235"/>
                </a:solidFill>
                <a:latin typeface="Segoe UI"/>
              </a:rPr>
              <a:t>NOVUS · METRO · Таврія В · Cosmos · Восторг · Kharkiv · Чудо-маркет · Епіцентр · Ашан · Грона · Ідеал · ОнДе · Za Raz · ЕКО маркет · Торба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32504" y="2578608"/>
            <a:ext cx="7555961" cy="649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32504" y="2578608"/>
            <a:ext cx="73152" cy="649224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51960" y="2642616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Онлайн-маркетплейси · 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51105" y="2651760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51105" y="2651760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1960" y="2907792"/>
            <a:ext cx="719020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C4810A"/>
                </a:solidFill>
                <a:latin typeface="Segoe UI"/>
              </a:rPr>
              <a:t/>
            </a:r>
            <a:r>
              <a:rPr sz="950" b="0" i="0">
                <a:solidFill>
                  <a:srgbClr val="1C2235"/>
                </a:solidFill>
                <a:latin typeface="Segoe UI"/>
              </a:rPr>
              <a:t>MAUDAU · Rozetka · Prom. На Prom ще 7 перепродавців iHerb (Seeds of Change).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032504" y="3291840"/>
            <a:ext cx="7555961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032504" y="3291840"/>
            <a:ext cx="73152" cy="94183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51960" y="3355848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Азійські й етнічні фудшопи · 20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851105" y="3364992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51105" y="3364992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ЦІЛЬОВИЙ · ВХІД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0" y="3621024"/>
            <a:ext cx="719020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1E9EA6"/>
                </a:solidFill>
                <a:latin typeface="Segoe UI"/>
              </a:rPr>
              <a:t/>
            </a:r>
            <a:r>
              <a:rPr sz="950" b="0" i="0">
                <a:solidFill>
                  <a:srgbClr val="1C2235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032504" y="4297680"/>
            <a:ext cx="7555961" cy="850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032504" y="4297680"/>
            <a:ext cx="73152" cy="85039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51960" y="4361688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Гастро- й фірмові інтернет-магазини · 15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851105" y="4370832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851105" y="4370832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СУМІЖНИЙ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51960" y="4626864"/>
            <a:ext cx="719020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37A169"/>
                </a:solidFill>
                <a:latin typeface="Segoe UI"/>
              </a:rPr>
              <a:t/>
            </a:r>
            <a:r>
              <a:rPr sz="950" b="0" i="0">
                <a:solidFill>
                  <a:srgbClr val="1C2235"/>
                </a:solidFill>
                <a:latin typeface="Segoe UI"/>
              </a:rPr>
              <a:t>Харчі ТМ · Їжа в Похід · UPcompany · СУХПАЙ · Belorfoods · МореПродуктів · Козуб · Смачна адреса · Продукт-Shop · Молочний склад · Foodi Shop · Food Shop · Мартел-shop · portion.com.ua · Euro-komplekt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032504" y="5212080"/>
            <a:ext cx="7555961" cy="11612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032504" y="5212080"/>
            <a:ext cx="73152" cy="116128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51960" y="5276088"/>
            <a:ext cx="517852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Туристичні й військові магазини · 39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851105" y="5285232"/>
            <a:ext cx="1627632" cy="20116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51105" y="5285232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51960" y="5541264"/>
            <a:ext cx="7190201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5E4B94"/>
                </a:solidFill>
                <a:latin typeface="Segoe UI"/>
              </a:rPr>
              <a:t/>
            </a:r>
            <a:r>
              <a:rPr sz="950" b="0" i="0">
                <a:solidFill>
                  <a:srgbClr val="1C2235"/>
                </a:solidFill>
                <a:latin typeface="Segoe UI"/>
              </a:rPr>
              <a:t>ALANTUR · Highlander · ForCamp · Гайдамака · Freeride · MK-Sport · Daruy · Tactico · Лєєр · Activity · ВсеОпт · Шериф · Суренж · OXO · Desna · Kalush-Craft · SportStorm · Klever-Shop · Terra Incognita · 110вольт · Virnyy vybir · Vkladovke.com.ua · Експрес Шоп · Клуб Мандрівників · Вояджер · Непереможні · Вартовий · Драйв Сенс · Ліхтар · Іграшка Мрії · Military Style · Націоналіст · Modern Shop · Palmer · Kamanti · Mr.Fishkin · Висот-Нік · UA-market · Skaut.in.ua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Покупець: мережі — масовий, щоденне харчування; маркетплейси — масовий, планове замовлення; азійські магазини — знає категорію; туристичні й військові — автономне харчування. Мереж перевірено 18 (17 через zakaz.ua + Сільпо); магазини — за картками продавців 23.09–06.10.2026.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Де ми стоїмо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Ринкові якорі й наші позиції на одній шкалі. Помаранчеве — ми.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1700784"/>
            <a:ext cx="10972" cy="4535424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0520" y="626364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700784"/>
            <a:ext cx="10972" cy="4535424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79" y="626364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1700784"/>
            <a:ext cx="10972" cy="4535424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78040" y="626364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1700784"/>
            <a:ext cx="10972" cy="4535424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626364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61320" y="1700784"/>
            <a:ext cx="10972" cy="4535424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5560" y="626364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400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05222" y="1700784"/>
            <a:ext cx="2036826" cy="4535424"/>
          </a:xfrm>
          <a:prstGeom prst="rect">
            <a:avLst/>
          </a:prstGeom>
          <a:solidFill>
            <a:srgbClr val="FF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05222" y="1499616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9A50B"/>
                </a:solidFill>
                <a:latin typeface="Segoe UI"/>
              </a:rPr>
              <a:t>вікно мережевої полиці 45–180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1690908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Ben's Original · найдешевший 250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1735253"/>
            <a:ext cx="678941" cy="112478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96662" y="169090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45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1872325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Український реторт 350 г · найдешевший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1916670"/>
            <a:ext cx="1071219" cy="112478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88939" y="1872325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71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2053742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Henan · найдешевша чаша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26280" y="2098087"/>
            <a:ext cx="1252270" cy="112478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69990" y="2053742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83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" y="2235159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Ben's Original · медіана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26280" y="2279504"/>
            <a:ext cx="1508759" cy="112478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79" y="2235159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100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" y="2416576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Український реторт 350 г · медіана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26280" y="2460921"/>
            <a:ext cx="1523847" cy="112478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41567" y="241657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101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" y="2597993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03A5D"/>
                </a:solidFill>
                <a:latin typeface="Segoe UI"/>
              </a:rPr>
              <a:t>ПАУЧ · медіана категорії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26280" y="2642338"/>
            <a:ext cx="1780336" cy="112478"/>
          </a:xfrm>
          <a:prstGeom prst="roundRect">
            <a:avLst>
              <a:gd name="adj" fmla="val 2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8056" y="2597993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118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" y="2779410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Henan · медіана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26280" y="2823754"/>
            <a:ext cx="1870862" cy="112478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88582" y="277941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124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" y="2960827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НАШ · BSCM пауч 150 г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26280" y="3005171"/>
            <a:ext cx="2006650" cy="112478"/>
          </a:xfrm>
          <a:prstGeom prst="roundRect">
            <a:avLst>
              <a:gd name="adj" fmla="val 2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4370" y="2960827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" y="3142244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Bibigo · лоток 210 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26280" y="3186588"/>
            <a:ext cx="2036826" cy="112478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54546" y="314224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135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" y="3323661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НАШ · BSCM стакан 150 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26280" y="3368005"/>
            <a:ext cx="2097176" cy="112478"/>
          </a:xfrm>
          <a:prstGeom prst="roundRect">
            <a:avLst>
              <a:gd name="adj" fmla="val 2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14896" y="3323661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" y="3505078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НАШ · BSCM пауч 200 г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26280" y="3549422"/>
            <a:ext cx="2263140" cy="112478"/>
          </a:xfrm>
          <a:prstGeom prst="roundRect">
            <a:avLst>
              <a:gd name="adj" fmla="val 2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80860" y="350507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150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504" y="3686495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НАШ · ONE'S лоток 210 г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26280" y="3730839"/>
            <a:ext cx="2308402" cy="112478"/>
          </a:xfrm>
          <a:prstGeom prst="roundRect">
            <a:avLst>
              <a:gd name="adj" fmla="val 2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26122" y="3686495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153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" y="3867911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НАШ · BSCM пауч 240 г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26280" y="3912256"/>
            <a:ext cx="2368753" cy="112478"/>
          </a:xfrm>
          <a:prstGeom prst="roundRect">
            <a:avLst>
              <a:gd name="adj" fmla="val 2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86473" y="3867911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157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3504" y="4049328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НАШ · CM Premium пауч 250 г органік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26280" y="4093673"/>
            <a:ext cx="2685592" cy="112478"/>
          </a:xfrm>
          <a:prstGeom prst="roundRect">
            <a:avLst>
              <a:gd name="adj" fmla="val 2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03312" y="40493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178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3504" y="4230745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Ben's Original · найдорожчий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26280" y="4275090"/>
            <a:ext cx="3168395" cy="112478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786115" y="4230745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210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3504" y="4412162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НАШ · BSCM подвійний стакан 2×125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526280" y="4456507"/>
            <a:ext cx="3304184" cy="112478"/>
          </a:xfrm>
          <a:prstGeom prst="roundRect">
            <a:avLst>
              <a:gd name="adj" fmla="val 2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21904" y="4412162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219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3504" y="4593579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03A5D"/>
                </a:solidFill>
                <a:latin typeface="Segoe UI"/>
              </a:rPr>
              <a:t>ЧАША · медіана категорії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526280" y="4637924"/>
            <a:ext cx="3455060" cy="112478"/>
          </a:xfrm>
          <a:prstGeom prst="roundRect">
            <a:avLst>
              <a:gd name="adj" fmla="val 2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072780" y="4593579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229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3504" y="4774996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Seeds of Change · медіана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526280" y="4819341"/>
            <a:ext cx="3651199" cy="112478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68919" y="477499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242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" y="4956413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Ottogi · медіана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26280" y="5000758"/>
            <a:ext cx="3847337" cy="112478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65057" y="4956413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255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5137830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03A5D"/>
                </a:solidFill>
                <a:latin typeface="Segoe UI"/>
              </a:rPr>
              <a:t>ДОЙПАК · медіана категорії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526280" y="5182175"/>
            <a:ext cx="4752594" cy="112478"/>
          </a:xfrm>
          <a:prstGeom prst="roundRect">
            <a:avLst>
              <a:gd name="adj" fmla="val 2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370314" y="513783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315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3504" y="5319247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НАШ · ONE'S fried rice 200 г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26280" y="5363592"/>
            <a:ext cx="5009083" cy="112478"/>
          </a:xfrm>
          <a:prstGeom prst="roundRect">
            <a:avLst>
              <a:gd name="adj" fmla="val 2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626803" y="5319247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332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3504" y="5500664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Ottogi · найдорожчий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526280" y="5545009"/>
            <a:ext cx="5371185" cy="112478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988905" y="550066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356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3504" y="5682081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03A5D"/>
                </a:solidFill>
                <a:latin typeface="Segoe UI"/>
              </a:rPr>
              <a:t>КОРОБКА · медіана категорії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526280" y="5726426"/>
            <a:ext cx="6035040" cy="112478"/>
          </a:xfrm>
          <a:prstGeom prst="roundRect">
            <a:avLst>
              <a:gd name="adj" fmla="val 2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58400" y="5708138"/>
            <a:ext cx="64008" cy="1490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177272" y="5708138"/>
            <a:ext cx="64008" cy="1490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652760" y="5682081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735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03504" y="5863498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Mo Xiao Xian · найдорожча чаша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526280" y="5907843"/>
            <a:ext cx="6035040" cy="112478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058400" y="5889555"/>
            <a:ext cx="64008" cy="1490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177272" y="5889555"/>
            <a:ext cx="64008" cy="1490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652760" y="586349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931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03504" y="6044915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Haidilao · максимум ринку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26280" y="6089260"/>
            <a:ext cx="6035040" cy="112478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058400" y="6070972"/>
            <a:ext cx="64008" cy="1490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177272" y="6070972"/>
            <a:ext cx="64008" cy="1490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652760" y="6044915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1 190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Ціни за одну упаковку на полиці. Наші позиції — полиця = собівартість × 3,5 (20' навалом, курс 45, бонус мережі 25 %, маржа 35 %, з ПДВ). Довгі стовпчики (понад 400 грн) скорочено; значення підписано.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ЦІНОУТВОРЕННЯ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З чого складається ціна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Кожна гривня на полиці розкладена: закупівля, наша маржа, бонус мережі й націнка магазину. FOB — окрема цифра.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10954512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171907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З КОЖНИХ 100 ГРН НА ПОЛИЦІ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" y="1993392"/>
            <a:ext cx="1737397" cy="36576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1993392"/>
            <a:ext cx="173739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Segoe UI"/>
              </a:rPr>
              <a:t>17 %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16825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C2235"/>
                </a:solidFill>
                <a:latin typeface="Segoe UI"/>
              </a:rPr>
              <a:t>FOB постачальника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9501" y="1993392"/>
            <a:ext cx="1261834" cy="365760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9501" y="1993392"/>
            <a:ext cx="126183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Segoe UI"/>
              </a:rPr>
              <a:t>12 %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77" y="2395728"/>
            <a:ext cx="120697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C2235"/>
                </a:solidFill>
                <a:latin typeface="Segoe UI"/>
              </a:rPr>
              <a:t>Доставка, мито, витрати до складу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31336" y="1993392"/>
            <a:ext cx="1874519" cy="365760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31336" y="1993392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Segoe UI"/>
              </a:rPr>
              <a:t>18 %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7912" y="2395728"/>
            <a:ext cx="18196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C2235"/>
                </a:solidFill>
                <a:latin typeface="Segoe UI"/>
              </a:rPr>
              <a:t>Бонус мережі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05856" y="1993392"/>
            <a:ext cx="2624328" cy="3657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856" y="1993392"/>
            <a:ext cx="2624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303A5D"/>
                </a:solidFill>
                <a:latin typeface="Segoe UI"/>
              </a:rPr>
              <a:t>25 %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42432" y="2395728"/>
            <a:ext cx="25694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C2235"/>
                </a:solidFill>
                <a:latin typeface="Segoe UI"/>
              </a:rPr>
              <a:t>Наша маржа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30184" y="1993392"/>
            <a:ext cx="2999232" cy="365760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30184" y="1993392"/>
            <a:ext cx="299923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303A5D"/>
                </a:solidFill>
                <a:latin typeface="Segoe UI"/>
              </a:rPr>
              <a:t>29 %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2395728"/>
            <a:ext cx="29443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C2235"/>
                </a:solidFill>
                <a:latin typeface="Segoe UI"/>
              </a:rPr>
              <a:t>Націнка магазину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281635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ТОВАР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9504" y="2816352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ПОЛИЦЯ, ГРН ЗА ОДНУ УПАКОВКУ — З ЧОГО СКЛАДАЄТЬСЯ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0264" y="2816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FOB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67544" y="281635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ПОЛИЦЯ / FOB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3504" y="3044952"/>
            <a:ext cx="10954512" cy="40233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31455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89504" y="3127248"/>
            <a:ext cx="369121" cy="292608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89504" y="3127248"/>
            <a:ext cx="36912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58625" y="3127248"/>
            <a:ext cx="281593" cy="292608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540219" y="3127248"/>
            <a:ext cx="406697" cy="292608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40219" y="3127248"/>
            <a:ext cx="406697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46916" y="3127248"/>
            <a:ext cx="569375" cy="2926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46916" y="3127248"/>
            <a:ext cx="56937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16292" y="3127248"/>
            <a:ext cx="650715" cy="292608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16292" y="3127248"/>
            <a:ext cx="6507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8447" y="3127248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139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70264" y="314553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 i="0">
                <a:solidFill>
                  <a:srgbClr val="303A5D"/>
                </a:solidFill>
                <a:latin typeface="Segoe UI"/>
              </a:rPr>
              <a:t>$0.500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67544" y="314553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F9A50B"/>
                </a:solidFill>
                <a:latin typeface="Segoe UI"/>
              </a:rPr>
              <a:t>× 6,2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" y="35661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BSCM пауч 150 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89504" y="3547872"/>
            <a:ext cx="348450" cy="292608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89504" y="3547872"/>
            <a:ext cx="34845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37954" y="3547872"/>
            <a:ext cx="273777" cy="292608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11732" y="3547872"/>
            <a:ext cx="388892" cy="292608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11732" y="3547872"/>
            <a:ext cx="38889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900625" y="3547872"/>
            <a:ext cx="544449" cy="2926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900625" y="3547872"/>
            <a:ext cx="54444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33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45075" y="3547872"/>
            <a:ext cx="622228" cy="292608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45075" y="3547872"/>
            <a:ext cx="6222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38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58743" y="3547872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133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70264" y="35661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 i="0">
                <a:solidFill>
                  <a:srgbClr val="303A5D"/>
                </a:solidFill>
                <a:latin typeface="Segoe UI"/>
              </a:rPr>
              <a:t>$0.472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67544" y="35661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F9A50B"/>
                </a:solidFill>
                <a:latin typeface="Segoe UI"/>
              </a:rPr>
              <a:t>× 6,2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3886200"/>
            <a:ext cx="10954512" cy="40233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39867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BSCM пауч 200 г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89504" y="3968496"/>
            <a:ext cx="406033" cy="292608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89504" y="3968496"/>
            <a:ext cx="40603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95537" y="3968496"/>
            <a:ext cx="297184" cy="292608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592722" y="3968496"/>
            <a:ext cx="439511" cy="292608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592722" y="3968496"/>
            <a:ext cx="43951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32234" y="3968496"/>
            <a:ext cx="615316" cy="2926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32234" y="3968496"/>
            <a:ext cx="61531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38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647550" y="3968496"/>
            <a:ext cx="703218" cy="292608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647550" y="3968496"/>
            <a:ext cx="70321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42208" y="3968496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150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70264" y="3986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 i="0">
                <a:solidFill>
                  <a:srgbClr val="303A5D"/>
                </a:solidFill>
                <a:latin typeface="Segoe UI"/>
              </a:rPr>
              <a:t>$0.550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67544" y="39867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F9A50B"/>
                </a:solidFill>
                <a:latin typeface="Segoe UI"/>
              </a:rPr>
              <a:t>× 6,1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3232" y="44074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BSCM пауч 240 г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89504" y="4389120"/>
            <a:ext cx="430395" cy="292608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889504" y="4389120"/>
            <a:ext cx="43039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19899" y="4389120"/>
            <a:ext cx="304465" cy="292608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624365" y="4389120"/>
            <a:ext cx="459288" cy="292608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24365" y="4389120"/>
            <a:ext cx="4592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83653" y="4389120"/>
            <a:ext cx="643003" cy="2926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083653" y="4389120"/>
            <a:ext cx="6430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39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726657" y="4389120"/>
            <a:ext cx="734861" cy="292608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26657" y="4389120"/>
            <a:ext cx="73486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45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52958" y="438912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157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70264" y="44074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 i="0">
                <a:solidFill>
                  <a:srgbClr val="303A5D"/>
                </a:solidFill>
                <a:latin typeface="Segoe UI"/>
              </a:rPr>
              <a:t>$0.583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67544" y="440740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F9A50B"/>
                </a:solidFill>
                <a:latin typeface="Segoe UI"/>
              </a:rPr>
              <a:t>× 6,0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03504" y="4727448"/>
            <a:ext cx="10954512" cy="40233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3232" y="482803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CM Premium 250 г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889504" y="4809744"/>
            <a:ext cx="492408" cy="292608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889504" y="4809744"/>
            <a:ext cx="4924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30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381912" y="4809744"/>
            <a:ext cx="344022" cy="292608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725934" y="4809744"/>
            <a:ext cx="522769" cy="292608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725934" y="4809744"/>
            <a:ext cx="52276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32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248703" y="4809744"/>
            <a:ext cx="731876" cy="2926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248703" y="4809744"/>
            <a:ext cx="73187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45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980580" y="4809744"/>
            <a:ext cx="836430" cy="292608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980580" y="4809744"/>
            <a:ext cx="83643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51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908451" y="4809744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178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70264" y="482803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 i="0">
                <a:solidFill>
                  <a:srgbClr val="303A5D"/>
                </a:solidFill>
                <a:latin typeface="Segoe UI"/>
              </a:rPr>
              <a:t>$0.667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067544" y="48280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F9A50B"/>
                </a:solidFill>
                <a:latin typeface="Segoe UI"/>
              </a:rPr>
              <a:t>× 5,9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13232" y="5248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ONE'S білий 210 г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889504" y="5230368"/>
            <a:ext cx="421537" cy="292608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889504" y="5230368"/>
            <a:ext cx="421537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26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311041" y="5230368"/>
            <a:ext cx="295649" cy="292608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606690" y="5230368"/>
            <a:ext cx="448241" cy="292608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606690" y="5230368"/>
            <a:ext cx="44824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054931" y="5230368"/>
            <a:ext cx="627537" cy="2926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054931" y="5230368"/>
            <a:ext cx="627537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38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682469" y="5230368"/>
            <a:ext cx="717186" cy="292608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682469" y="5230368"/>
            <a:ext cx="71718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91095" y="5230368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153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70264" y="52486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 i="0">
                <a:solidFill>
                  <a:srgbClr val="303A5D"/>
                </a:solidFill>
                <a:latin typeface="Segoe UI"/>
              </a:rPr>
              <a:t>$0.571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067544" y="524865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F9A50B"/>
                </a:solidFill>
                <a:latin typeface="Segoe UI"/>
              </a:rPr>
              <a:t>× 6,0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03504" y="5568696"/>
            <a:ext cx="10954512" cy="40233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13232" y="56692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ONE'S fried 200 г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889504" y="5650992"/>
            <a:ext cx="913945" cy="292608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889504" y="5650992"/>
            <a:ext cx="91394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56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803449" y="5650992"/>
            <a:ext cx="639956" cy="292608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03449" y="5650992"/>
            <a:ext cx="6399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39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443405" y="5650992"/>
            <a:ext cx="971188" cy="292608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443405" y="5650992"/>
            <a:ext cx="9711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59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14593" y="5650992"/>
            <a:ext cx="1359663" cy="2926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414593" y="5650992"/>
            <a:ext cx="13596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83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774257" y="5650992"/>
            <a:ext cx="1553901" cy="292608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774257" y="5650992"/>
            <a:ext cx="15539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303A5D"/>
                </a:solidFill>
                <a:latin typeface="Segoe UI"/>
              </a:rPr>
              <a:t>95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419599" y="5650992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332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970264" y="56692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 i="0">
                <a:solidFill>
                  <a:srgbClr val="303A5D"/>
                </a:solidFill>
                <a:latin typeface="Segoe UI"/>
              </a:rPr>
              <a:t>$1.238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067544" y="5669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F9A50B"/>
                </a:solidFill>
                <a:latin typeface="Segoe UI"/>
              </a:rPr>
              <a:t>× 6,0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03504" y="6144768"/>
            <a:ext cx="137160" cy="137160"/>
          </a:xfrm>
          <a:prstGeom prst="roundRect">
            <a:avLst>
              <a:gd name="adj" fmla="val 3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04672" y="6108192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FOB постачальника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226564" y="6144768"/>
            <a:ext cx="137160" cy="137160"/>
          </a:xfrm>
          <a:prstGeom prst="roundRect">
            <a:avLst>
              <a:gd name="adj" fmla="val 3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427732" y="6108192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Доставка, мито, витрати до складу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946904" y="6144768"/>
            <a:ext cx="137160" cy="137160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148072" y="6108192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Бонус мережі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227064" y="6144768"/>
            <a:ext cx="137160" cy="137160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428232" y="6108192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Наша маржа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7370064" y="6144768"/>
            <a:ext cx="137160" cy="137160"/>
          </a:xfrm>
          <a:prstGeom prst="roundRect">
            <a:avLst>
              <a:gd name="adj" fmla="val 3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571232" y="6108192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C2235"/>
                </a:solidFill>
                <a:latin typeface="Segoe UI"/>
              </a:rPr>
              <a:t>Націнка магазину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Фінмодель покупця: курс 45 грн/$; собівартість (СС) — FOB плюс доставка, мито й витрати до складу; ціна партнеру = СС ÷ 0,4 (бонус мережі 25 % і наша маржа 35 % від неї); полиця = ціна партнеру × 1,4. FOB — комерційні пропозиції; для ONE'S — оцінка із собівартості ÷ 1,7. Усе з ПДВ, за одну упаковку.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ПОЛИЦЯ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Наша ціна на полиці: усі формати й смаки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32 позиції трьох брендів. Ціна партнеру й роздрібна полиця — з ПДВ, за одну упаковку.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1682496"/>
            <a:ext cx="2505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СМАК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682496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1682496"/>
            <a:ext cx="1005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ПАРТНЕРУ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4608" y="1682496"/>
            <a:ext cx="987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" y="1920240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1920240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ПАУЧ · РЕТОРТ 240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3552" y="1920240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19456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2203703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203703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8" y="2203703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2203703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157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239389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Mexican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239389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39389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4608" y="239389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179 грн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257495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584094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Japanese Style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2584094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67328" y="2584094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2584094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179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277428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Hot &amp; Spicy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277428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67328" y="277428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64608" y="277428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202 грн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" y="3028492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028492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ПАУЧ · РЕТОРТ 200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73552" y="3028492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3504" y="3302812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" y="3311956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3311956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67328" y="3311956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64608" y="3311956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150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" y="350215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Mexican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350215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67328" y="350215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64608" y="350215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169 грн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3683203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4944" y="3692347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Japanese Style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3692347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67328" y="3692347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64608" y="3692347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169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4944" y="388254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Hot &amp; Spicy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0" y="388254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67328" y="388254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132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64608" y="388254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185 грн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03504" y="4136745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3232" y="4136745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ПАУЧ · РЕТОРТ 150 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73552" y="4136745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411065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4944" y="442020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00400" y="442020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67328" y="442020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95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64608" y="442020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133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4944" y="4610404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Mexican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00400" y="4610404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67328" y="4610404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64608" y="4610404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155 грн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3504" y="4791456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4944" y="4800600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Japanese Style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0" y="4800600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67328" y="4800600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64608" y="4800600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155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" y="4990795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Hot &amp; Spicy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0" y="4990795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67328" y="4990795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64608" y="4990795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169 грн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3504" y="5244998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3232" y="5244998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ПАУЧ · РЕТОРТ 250 г, ОРГАНІК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73552" y="5244998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CM Premium · Chefrey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3504" y="551931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94944" y="552846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Garlic Fried Rice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0" y="552846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67328" y="552846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64608" y="552846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7A169"/>
                </a:solidFill>
                <a:latin typeface="Segoe UI"/>
              </a:rPr>
              <a:t>178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718657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Cilantro Lime Rice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5718657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67328" y="5718657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64608" y="5718657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7A169"/>
                </a:solidFill>
                <a:latin typeface="Segoe UI"/>
              </a:rPr>
              <a:t>178 грн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03504" y="589970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94944" y="590885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Turmeric Basmati + Cumin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00400" y="590885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767328" y="590885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864608" y="590885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7A169"/>
                </a:solidFill>
                <a:latin typeface="Segoe UI"/>
              </a:rPr>
              <a:t>178 грн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4944" y="6099048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 Rice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00400" y="6099048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767328" y="6099048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8" y="6099048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7A169"/>
                </a:solidFill>
                <a:latin typeface="Segoe UI"/>
              </a:rPr>
              <a:t>178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09359" y="1682496"/>
            <a:ext cx="2505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СМАК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814816" y="1682496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381744" y="1682496"/>
            <a:ext cx="1005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ПАРТНЕРУ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479024" y="1682496"/>
            <a:ext cx="987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217920" y="1920240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327648" y="1920240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СТАКАН 150 г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87967" y="1920240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217920" y="219456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309359" y="2203703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Thai Jasmine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14816" y="2203703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81744" y="2203703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99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479024" y="2203703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09359" y="239389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Thai Brown Jasmine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814816" y="239389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381744" y="239389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99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479024" y="239389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217920" y="257495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309359" y="2584094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Thai Red Jasmine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814816" y="2584094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381744" y="2584094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479024" y="2584094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150 грн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309359" y="277428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Rice Berry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814816" y="277428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81744" y="277428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107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479024" y="277428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150 грн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217920" y="295534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309359" y="2964484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Brown Jasmine + Red Quinoa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14816" y="2964484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381744" y="2964484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479024" y="2964484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150 грн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6217920" y="3218688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327648" y="3218688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ПОДВІЙНИЙ СТАКАН 2×125 г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887967" y="3218688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217920" y="349300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309359" y="350215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 · з олією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814816" y="350215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381744" y="350215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183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479024" y="350215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256 грн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09359" y="3692347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 Pathum · з олією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14816" y="3692347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81744" y="3692347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479024" y="3692347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233 грн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217920" y="387339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309359" y="388254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Brown Jasmine · з олією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814816" y="388254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381744" y="388254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79024" y="388254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256 грн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309359" y="4072737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Brown Rice · з олією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814816" y="4072737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381744" y="4072737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183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479024" y="4072737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256 грн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17920" y="425378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59" y="426293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Basmati* · з олією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814816" y="426293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81744" y="426293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479024" y="426293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280 грн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309359" y="4453128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Long Grain · з олією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814816" y="4453128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381744" y="4453128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479024" y="4453128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219 грн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217920" y="4634179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09359" y="4643323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 · без олії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814816" y="4643323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381744" y="4643323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183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479024" y="4643323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256 грн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217920" y="4897526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327648" y="4897526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ЛОТОК 200–210 г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887967" y="4897526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ONE'S International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217920" y="5171846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09359" y="5180990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Cooked White Rice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814816" y="5180990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210 г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81744" y="5180990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479024" y="5180990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5E4B94"/>
                </a:solidFill>
                <a:latin typeface="Segoe UI"/>
              </a:rPr>
              <a:t>153 грн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309359" y="5371185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Kimchi Fried Rice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814816" y="5371185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9381744" y="5371185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237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0479024" y="5371185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5E4B94"/>
                </a:solidFill>
                <a:latin typeface="Segoe UI"/>
              </a:rPr>
              <a:t>332 грн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217920" y="5552236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6309359" y="5561380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Vegetable Fried Rice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814816" y="5561380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381744" y="5561380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237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0479024" y="5561380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5E4B94"/>
                </a:solidFill>
                <a:latin typeface="Segoe UI"/>
              </a:rPr>
              <a:t>332 грн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309359" y="5751576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Japchae Fried Rice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814816" y="5751576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381744" y="5751576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237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479024" y="5751576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5E4B94"/>
                </a:solidFill>
                <a:latin typeface="Segoe UI"/>
              </a:rPr>
              <a:t>332 грн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Фінмодель покупця (20' FCL навалом): курс 45 грн/$, бонус мережі 25 %, маржа 35 %. Ціна партнеру = собівартість ÷ 0,4, полиця = ціна партнеру × 1,4. Варіанти змішаного контейнера (Bags+Cups) не показано. Basmati* — за комерційною пропозицією.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</TotalTime>
  <Words>2952</Words>
  <Application>Microsoft Office PowerPoint</Application>
  <PresentationFormat>Широкий екран</PresentationFormat>
  <Paragraphs>836</Paragraphs>
  <Slides>23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6</vt:i4>
      </vt:variant>
      <vt:variant>
        <vt:lpstr>Тема</vt:lpstr>
      </vt:variant>
      <vt:variant>
        <vt:i4>11</vt:i4>
      </vt:variant>
      <vt:variant>
        <vt:lpstr>Заголовки слайдів</vt:lpstr>
      </vt:variant>
      <vt:variant>
        <vt:i4>23</vt:i4>
      </vt:variant>
    </vt:vector>
  </HeadingPairs>
  <TitlesOfParts>
    <vt:vector size="40" baseType="lpstr">
      <vt:lpstr>Arial</vt:lpstr>
      <vt:lpstr>Calibri</vt:lpstr>
      <vt:lpstr>Segoe UI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Чаплигін lлля</cp:lastModifiedBy>
  <cp:revision>9</cp:revision>
  <dcterms:created xsi:type="dcterms:W3CDTF">2013-01-27T09:14:16Z</dcterms:created>
  <dcterms:modified xsi:type="dcterms:W3CDTF">2026-10-06T08:49:21Z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