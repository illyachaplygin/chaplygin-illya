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" y="1600200"/>
            <a:ext cx="6355080" cy="3703320"/>
          </a:xfrm>
          <a:prstGeom prst="rect">
            <a:avLst/>
          </a:prstGeom>
          <a:solidFill>
            <a:srgbClr val="12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5440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0AC58"/>
                </a:solidFill>
                <a:latin typeface="Calibri"/>
              </a:rPr>
              <a:t>РИНОК УКРАЇНИ · ЗУСТРІЧНИЙ АНАЛІЗ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395728"/>
            <a:ext cx="5440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mbria"/>
              </a:rPr>
              <a:t>READY-TO-EAT РИС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291840"/>
            <a:ext cx="1828800" cy="11887"/>
          </a:xfrm>
          <a:prstGeom prst="rect">
            <a:avLst/>
          </a:prstGeom>
          <a:solidFill>
            <a:srgbClr val="C89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474720"/>
            <a:ext cx="54406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5CE76"/>
                </a:solidFill>
                <a:latin typeface="Cambria"/>
              </a:rPr>
              <a:t>Хто вже продає його кінцевому споживачу — і за скільки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023360"/>
            <a:ext cx="5440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D2E4CE"/>
                </a:solidFill>
                <a:latin typeface="Calibri"/>
              </a:rPr>
              <a:t>Ретортні та асептичні пауч / cup / лоток · розігрів 60–90 сек · зберігання за кімнатної температури 12–18 міс.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4773168"/>
            <a:ext cx="5440680" cy="11887"/>
          </a:xfrm>
          <a:prstGeom prst="rect">
            <a:avLst/>
          </a:prstGeom>
          <a:solidFill>
            <a:srgbClr val="2C6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919472"/>
            <a:ext cx="3383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CF9F0"/>
                </a:solidFill>
                <a:latin typeface="Calibri"/>
              </a:rPr>
              <a:t>Кабінетне дослідження · 22 вересня 2026 р.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4919472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F5CE76"/>
                </a:solidFill>
                <a:latin typeface="Calibri"/>
              </a:rPr>
              <a:t>Morskyi Dim Group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27432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0AC58"/>
                </a:solidFill>
                <a:latin typeface="Calibri"/>
              </a:rPr>
              <a:t>МЕТОДОЛОГІЯ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Cambria"/>
              </a:rPr>
              <a:t>Що саме перевірено — і чого перевірити не вдалося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1556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D2E4CE"/>
                </a:solidFill>
                <a:latin typeface="Calibri"/>
              </a:rPr>
              <a:t>Кожна цифра в колоді має джерело й дату. Де джерела немає — так і написано.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36192"/>
            <a:ext cx="5760720" cy="3017520"/>
          </a:xfrm>
          <a:prstGeom prst="rect">
            <a:avLst/>
          </a:prstGeom>
          <a:solidFill>
            <a:srgbClr val="12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737360"/>
            <a:ext cx="5212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5CE76"/>
                </a:solidFill>
                <a:latin typeface="Cambria"/>
              </a:rPr>
              <a:t>Охоплення перевірки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57984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D2E4CE"/>
                </a:solidFill>
                <a:latin typeface="Calibri"/>
              </a:rPr>
              <a:t>Дата зрізу цін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79" y="2157984"/>
            <a:ext cx="37490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CF9F0"/>
                </a:solidFill>
                <a:latin typeface="Calibri"/>
              </a:rPr>
              <a:t>22 вересня 2026 р.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491739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D2E4CE"/>
                </a:solidFill>
                <a:latin typeface="Calibri"/>
              </a:rPr>
              <a:t>Мережі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79" y="2491739"/>
            <a:ext cx="37490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CF9F0"/>
                </a:solidFill>
                <a:latin typeface="Calibri"/>
              </a:rPr>
              <a:t>17 мереж через API платформи zakaz.ua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825496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D2E4CE"/>
                </a:solidFill>
                <a:latin typeface="Calibri"/>
              </a:rPr>
              <a:t>Окремо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79" y="2825496"/>
            <a:ext cx="37490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CF9F0"/>
                </a:solidFill>
                <a:latin typeface="Calibri"/>
              </a:rPr>
              <a:t>Сільпо — власний API мережі, київська філія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3159252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D2E4CE"/>
                </a:solidFill>
                <a:latin typeface="Calibri"/>
              </a:rPr>
              <a:t>Маркетплейси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79" y="3159252"/>
            <a:ext cx="37490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CF9F0"/>
                </a:solidFill>
                <a:latin typeface="Calibri"/>
              </a:rPr>
              <a:t>Prom.ua · Rozetka (лише індекс пошуку)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493008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D2E4CE"/>
                </a:solidFill>
                <a:latin typeface="Calibri"/>
              </a:rPr>
              <a:t>Спец. канал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79" y="3493008"/>
            <a:ext cx="37490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CF9F0"/>
                </a:solidFill>
                <a:latin typeface="Calibri"/>
              </a:rPr>
              <a:t>6 азійських е-магазинів, ~5 500 позицій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" y="3826764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D2E4CE"/>
                </a:solidFill>
                <a:latin typeface="Calibri"/>
              </a:rPr>
              <a:t>Статистика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79" y="3826764"/>
            <a:ext cx="37490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CF9F0"/>
                </a:solidFill>
                <a:latin typeface="Calibri"/>
              </a:rPr>
              <a:t>UN Comtrade, репортер Україна (804)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4700016"/>
            <a:ext cx="5760720" cy="1463040"/>
          </a:xfrm>
          <a:prstGeom prst="rect">
            <a:avLst/>
          </a:prstGeom>
          <a:solidFill>
            <a:srgbClr val="12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4901183"/>
            <a:ext cx="5212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5CE76"/>
                </a:solidFill>
                <a:latin typeface="Cambria"/>
              </a:rPr>
              <a:t>Три рівні даних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" y="5321807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5CE76"/>
                </a:solidFill>
                <a:latin typeface="Calibri"/>
              </a:rPr>
              <a:t>ПІДТВЕРДЖЕНО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5321807"/>
            <a:ext cx="37490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CF9F0"/>
                </a:solidFill>
                <a:latin typeface="Calibri"/>
              </a:rPr>
              <a:t>ціна й наявність зчитані з каталогу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" y="5596127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0AC58"/>
                </a:solidFill>
                <a:latin typeface="Calibri"/>
              </a:rPr>
              <a:t>ОЦІНКА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5596127"/>
            <a:ext cx="37490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CF9F0"/>
                </a:solidFill>
                <a:latin typeface="Calibri"/>
              </a:rPr>
              <a:t>наш розрахунок на підтверджених даних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7" y="5870447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2E4CE"/>
                </a:solidFill>
                <a:latin typeface="Calibri"/>
              </a:rPr>
              <a:t>ПРИПУЩЕННЯ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5870447"/>
            <a:ext cx="37490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CF9F0"/>
                </a:solidFill>
                <a:latin typeface="Calibri"/>
              </a:rPr>
              <a:t>позначено окремо, у висновки не входить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0" y="1536192"/>
            <a:ext cx="5047488" cy="4626864"/>
          </a:xfrm>
          <a:prstGeom prst="rect">
            <a:avLst/>
          </a:prstGeom>
          <a:solidFill>
            <a:srgbClr val="12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0" y="1737360"/>
            <a:ext cx="44988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5CE76"/>
                </a:solidFill>
                <a:latin typeface="Cambria"/>
              </a:rPr>
              <a:t>Межі дослідження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157984"/>
            <a:ext cx="449884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FCF9F0"/>
                </a:solidFill>
                <a:latin typeface="Calibri"/>
              </a:rPr>
              <a:t>Rozetka, АТБ, Varus і Фора закриті від машинного зчитування (Cloudflare). Їхній індекс пошуку показує збіги за брендами, але перевірити назву, вагу й ціну неможливо.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3456432"/>
            <a:ext cx="449884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FCF9F0"/>
                </a:solidFill>
                <a:latin typeface="Calibri"/>
              </a:rPr>
              <a:t>Лічильник збігів сам собою нічого не доводить: пошук у мережах нечіткий. У Сільпо запит «hetbahn» повертає 15 позицій — усі горілка «Гетьман».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4407408"/>
            <a:ext cx="4498848" cy="11887"/>
          </a:xfrm>
          <a:prstGeom prst="rect">
            <a:avLst/>
          </a:prstGeom>
          <a:solidFill>
            <a:srgbClr val="2C6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0" y="4553712"/>
            <a:ext cx="449884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F5CE76"/>
                </a:solidFill>
                <a:latin typeface="Calibri"/>
              </a:rPr>
              <a:t>Тому нуль у цій колоді — це нуль, отриманий переглядом назв товарів, а не відсутністю збігів.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5230368"/>
            <a:ext cx="4498848" cy="822960"/>
          </a:xfrm>
          <a:prstGeom prst="rect">
            <a:avLst/>
          </a:prstGeom>
          <a:solidFill>
            <a:srgbClr val="1A5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22592" y="5340096"/>
            <a:ext cx="4169663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i="0">
                <a:solidFill>
                  <a:srgbClr val="F0AC58"/>
                </a:solidFill>
                <a:latin typeface="Calibri"/>
              </a:rPr>
              <a:t>ПОТРЕБУЄ РУЧНОЇ ПЕРЕВІРКИ В ТОЧКАХ ПРОДАЖУ:</a:t>
            </a:r>
          </a:p>
          <a:p>
            <a:pPr algn="l">
              <a:lnSpc>
                <a:spcPct val="130000"/>
              </a:lnSpc>
            </a:pPr>
            <a:r>
              <a:rPr sz="1050" b="1" i="0">
                <a:solidFill>
                  <a:srgbClr val="F0AC58"/>
                </a:solidFill>
                <a:latin typeface="Calibri"/>
              </a:rPr>
              <a:t>Rozetka · АТБ · Varus · Фора · Ашан офлайн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3550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3D7BF"/>
                </a:solidFill>
                <a:latin typeface="Calibri"/>
              </a:rPr>
              <a:t>Джерело: власні запити до відкритих API stores-api.zakaz.ua, sf-ecom-api.silpo.ua, search.rozetka.com.ua, comtradeapi.un.org та до карт сайтів спеціалізованих магазинів, 22.09.2026.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27432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0AC58"/>
                </a:solidFill>
                <a:latin typeface="Calibri"/>
              </a:rPr>
              <a:t>ГОЛОВНИЙ ВИСНОВОК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Cambria"/>
              </a:rPr>
              <a:t>Категорії в українському роздробі не існує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1556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D2E4CE"/>
                </a:solidFill>
                <a:latin typeface="Calibri"/>
              </a:rPr>
              <a:t>Це не «вільна ніша всередині ринку». Ринку немає — є порожня полиця.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45920"/>
            <a:ext cx="3566160" cy="2103120"/>
          </a:xfrm>
          <a:prstGeom prst="rect">
            <a:avLst/>
          </a:prstGeom>
          <a:solidFill>
            <a:srgbClr val="12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883664"/>
            <a:ext cx="294436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F5CE76"/>
                </a:solidFill>
                <a:latin typeface="Cambria"/>
              </a:rPr>
              <a:t>0</a:t>
            </a:r>
            <a:r>
              <a:rPr sz="1700" b="0" i="0">
                <a:solidFill>
                  <a:srgbClr val="F5CE76"/>
                </a:solidFill>
                <a:latin typeface="Cambria"/>
              </a:rPr>
              <a:t>  SKU</a:t>
            </a:r>
          </a:p>
        </p:txBody>
      </p:sp>
      <p:sp>
        <p:nvSpPr>
          <p:cNvPr id="8" name="Rectangle 7"/>
          <p:cNvSpPr/>
          <p:nvPr/>
        </p:nvSpPr>
        <p:spPr>
          <a:xfrm>
            <a:off x="877824" y="2779776"/>
            <a:ext cx="1280160" cy="11887"/>
          </a:xfrm>
          <a:prstGeom prst="rect">
            <a:avLst/>
          </a:prstGeom>
          <a:solidFill>
            <a:srgbClr val="C89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944368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mbria"/>
              </a:rPr>
              <a:t>у 18 мережах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255264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D2E4CE"/>
                </a:solidFill>
                <a:latin typeface="Calibri"/>
              </a:rPr>
              <a:t>жодної позиції RTE-рису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645920"/>
            <a:ext cx="3566160" cy="2103120"/>
          </a:xfrm>
          <a:prstGeom prst="rect">
            <a:avLst/>
          </a:prstGeom>
          <a:solidFill>
            <a:srgbClr val="12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54296" y="1883664"/>
            <a:ext cx="294436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F5CE76"/>
                </a:solidFill>
                <a:latin typeface="Cambria"/>
              </a:rPr>
              <a:t>2</a:t>
            </a:r>
            <a:r>
              <a:rPr sz="1700" b="0" i="0">
                <a:solidFill>
                  <a:srgbClr val="F5CE76"/>
                </a:solidFill>
                <a:latin typeface="Cambria"/>
              </a:rPr>
              <a:t>  SKU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54296" y="2779776"/>
            <a:ext cx="1280160" cy="11887"/>
          </a:xfrm>
          <a:prstGeom prst="rect">
            <a:avLst/>
          </a:prstGeom>
          <a:solidFill>
            <a:srgbClr val="C89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54296" y="2944368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mbria"/>
              </a:rPr>
              <a:t>на ~5 500 позицій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4296" y="3255264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D2E4CE"/>
                </a:solidFill>
                <a:latin typeface="Calibri"/>
              </a:rPr>
              <a:t>увесь спеціалізований азійський канал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19871" y="1645920"/>
            <a:ext cx="3566160" cy="2103120"/>
          </a:xfrm>
          <a:prstGeom prst="rect">
            <a:avLst/>
          </a:prstGeom>
          <a:solidFill>
            <a:srgbClr val="12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7" y="1883664"/>
            <a:ext cx="294436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F5CE76"/>
                </a:solidFill>
                <a:latin typeface="Cambria"/>
              </a:rPr>
              <a:t>64,3</a:t>
            </a:r>
            <a:r>
              <a:rPr sz="1700" b="0" i="0">
                <a:solidFill>
                  <a:srgbClr val="F5CE76"/>
                </a:solidFill>
                <a:latin typeface="Cambria"/>
              </a:rPr>
              <a:t>  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30767" y="2779776"/>
            <a:ext cx="1280160" cy="11887"/>
          </a:xfrm>
          <a:prstGeom prst="rect">
            <a:avLst/>
          </a:prstGeom>
          <a:solidFill>
            <a:srgbClr val="C89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0767" y="2944368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mbria"/>
              </a:rPr>
              <a:t>за 100 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7" y="3255264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D2E4CE"/>
                </a:solidFill>
                <a:latin typeface="Calibri"/>
              </a:rPr>
              <a:t>єдина зафіксована полична ціна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3968496"/>
            <a:ext cx="11064240" cy="2194560"/>
          </a:xfrm>
          <a:prstGeom prst="rect">
            <a:avLst/>
          </a:prstGeom>
          <a:solidFill>
            <a:srgbClr val="12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7" y="4169663"/>
            <a:ext cx="10515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5CE76"/>
                </a:solidFill>
                <a:latin typeface="Cambria"/>
              </a:rPr>
              <a:t>Що це означає комерційно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" y="4590288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F5CE76"/>
                </a:solidFill>
                <a:latin typeface="Cambria"/>
              </a:rPr>
              <a:t>Вхід — це створення категорії,</a:t>
            </a:r>
          </a:p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F5CE76"/>
                </a:solidFill>
                <a:latin typeface="Cambria"/>
              </a:rPr>
              <a:t>а не відвоювання частки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" y="5230368"/>
            <a:ext cx="32461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FCF9F0"/>
                </a:solidFill>
                <a:latin typeface="Calibri"/>
              </a:rPr>
              <a:t>Немає лідера, чию частку треба відбирати. Немає й попиту, вихованого чужим маркетингом: його доведеться створювати самим.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07408" y="4590288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F5CE76"/>
                </a:solidFill>
                <a:latin typeface="Cambria"/>
              </a:rPr>
              <a:t>Формат і грамаж ми задаємо самі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07408" y="5230368"/>
            <a:ext cx="32461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FCF9F0"/>
                </a:solidFill>
                <a:latin typeface="Calibri"/>
              </a:rPr>
              <a:t>Жодний формат не є «звичним для полиці». Пауч 240 г і cup 150 г стартують з однакових позицій — обмежень з боку звички немає.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73567" y="4590288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F5CE76"/>
                </a:solidFill>
                <a:latin typeface="Cambria"/>
              </a:rPr>
              <a:t>Єдиний орієнтир ціни — 64,3 ₴/100 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73567" y="5230368"/>
            <a:ext cx="32461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FCF9F0"/>
                </a:solidFill>
                <a:latin typeface="Calibri"/>
              </a:rPr>
              <a:t>Корейський Hetbahn у нішевому онлайні. Наша собівартість пауча 240 г — 16,7–18,8 ₴/100 г, тобто вчетверо нижча.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3550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3D7BF"/>
                </a:solidFill>
                <a:latin typeface="Calibri"/>
              </a:rPr>
              <a:t>Джерело: власні запити до каталогів мереж і спеціалізованих магазинів, 22.09.2026; собівартість — колода «RTE Rice · Постачальники», курс 45,00 ₴/$.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27432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0AC58"/>
                </a:solidFill>
                <a:latin typeface="Calibri"/>
              </a:rPr>
              <a:t>КОНКУРЕНТНА КАРТА ·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Cambria"/>
              </a:rPr>
              <a:t>Мультибрендовий роздріб: жодного SKU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1556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D2E4CE"/>
                </a:solidFill>
                <a:latin typeface="Calibri"/>
              </a:rPr>
              <a:t>21 пошуковий запит у кожній мережі — українською, російською та англійською.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36192"/>
            <a:ext cx="11064240" cy="365760"/>
          </a:xfrm>
          <a:prstGeom prst="rect">
            <a:avLst/>
          </a:prstGeom>
          <a:solidFill>
            <a:srgbClr val="12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536192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F5CE76"/>
                </a:solidFill>
                <a:latin typeface="Calibri"/>
              </a:rPr>
              <a:t>МЕРЕЖА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64608" y="153619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F5CE76"/>
                </a:solidFill>
                <a:latin typeface="Calibri"/>
              </a:rPr>
              <a:t>RTE-РИС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67728" y="153619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F5CE76"/>
                </a:solidFill>
                <a:latin typeface="Calibri"/>
              </a:rPr>
              <a:t>ЩО СТОЇТЬ НА ЦІЙ ПОЛИЦІ НАТОМІСТЬ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920240"/>
            <a:ext cx="11064240" cy="402336"/>
          </a:xfrm>
          <a:prstGeom prst="rect">
            <a:avLst/>
          </a:prstGeom>
          <a:solidFill>
            <a:srgbClr val="174E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956816"/>
            <a:ext cx="39319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FCF9F0"/>
                </a:solidFill>
                <a:latin typeface="Calibri"/>
              </a:rPr>
              <a:t>METRO · Ашан · NOVUS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64608" y="1956816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F5CE76"/>
                </a:solidFill>
                <a:latin typeface="Cambria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67728" y="1956816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D2E4CE"/>
                </a:solidFill>
                <a:latin typeface="Calibri"/>
              </a:rPr>
              <a:t>рис сухий, локшина б/п, рамьон, токпоккі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2377440"/>
            <a:ext cx="39319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FCF9F0"/>
                </a:solidFill>
                <a:latin typeface="Calibri"/>
              </a:rPr>
              <a:t>МегаМаркет · Ultramarket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4608" y="2377440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F5CE76"/>
                </a:solidFill>
                <a:latin typeface="Cambria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7728" y="2377440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D2E4CE"/>
                </a:solidFill>
                <a:latin typeface="Calibri"/>
              </a:rPr>
              <a:t>рис сухий, локшина б/п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761488"/>
            <a:ext cx="11064240" cy="402336"/>
          </a:xfrm>
          <a:prstGeom prst="rect">
            <a:avLst/>
          </a:prstGeom>
          <a:solidFill>
            <a:srgbClr val="174E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2798064"/>
            <a:ext cx="39319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FCF9F0"/>
                </a:solidFill>
                <a:latin typeface="Calibri"/>
              </a:rPr>
              <a:t>ЕКО маркет · Таврія 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64608" y="2798064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F5CE76"/>
                </a:solidFill>
                <a:latin typeface="Cambria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7728" y="2798064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D2E4CE"/>
                </a:solidFill>
                <a:latin typeface="Calibri"/>
              </a:rPr>
              <a:t>рис сухий, локшина б/п, рамьон Ottogi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" y="3218688"/>
            <a:ext cx="39319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FCF9F0"/>
                </a:solidFill>
                <a:latin typeface="Calibri"/>
              </a:rPr>
              <a:t>Епіцентр FOOD · Космос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64608" y="3218688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F5CE76"/>
                </a:solidFill>
                <a:latin typeface="Cambria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7728" y="3218688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D2E4CE"/>
                </a:solidFill>
                <a:latin typeface="Calibri"/>
              </a:rPr>
              <a:t>рис сухий, локшина б/п, токпоккі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602736"/>
            <a:ext cx="11064240" cy="402336"/>
          </a:xfrm>
          <a:prstGeom prst="rect">
            <a:avLst/>
          </a:prstGeom>
          <a:solidFill>
            <a:srgbClr val="174E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7" y="3639312"/>
            <a:ext cx="39319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FCF9F0"/>
                </a:solidFill>
                <a:latin typeface="Calibri"/>
              </a:rPr>
              <a:t>Восторг · Харків · Чудо Маркет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64608" y="3639312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F5CE76"/>
                </a:solidFill>
                <a:latin typeface="Cambria"/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7728" y="3639312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D2E4CE"/>
                </a:solidFill>
                <a:latin typeface="Calibri"/>
              </a:rPr>
              <a:t>рис сухий, локшина б/п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7" y="4059936"/>
            <a:ext cx="39319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FCF9F0"/>
                </a:solidFill>
                <a:latin typeface="Calibri"/>
              </a:rPr>
              <a:t>Гроно · Ідеал · ОнDe · Za Raz · Torba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64608" y="4059936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F5CE76"/>
                </a:solidFill>
                <a:latin typeface="Cambria"/>
              </a:rP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67728" y="4059936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D2E4CE"/>
                </a:solidFill>
                <a:latin typeface="Calibri"/>
              </a:rPr>
              <a:t>рис сухий, локшина б/п, токпоккі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4443984"/>
            <a:ext cx="11064240" cy="402336"/>
          </a:xfrm>
          <a:prstGeom prst="rect">
            <a:avLst/>
          </a:prstGeom>
          <a:solidFill>
            <a:srgbClr val="174E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7" y="4480560"/>
            <a:ext cx="39319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FCF9F0"/>
                </a:solidFill>
                <a:latin typeface="Calibri"/>
              </a:rPr>
              <a:t>Сільпо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64608" y="4480560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F5CE76"/>
                </a:solidFill>
                <a:latin typeface="Cambria"/>
              </a:rP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67728" y="4480560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D2E4CE"/>
                </a:solidFill>
                <a:latin typeface="Calibri"/>
              </a:rPr>
              <a:t>рис сухий; охолоджені страви власної кухні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5047488"/>
            <a:ext cx="11064240" cy="1115568"/>
          </a:xfrm>
          <a:prstGeom prst="rect">
            <a:avLst/>
          </a:prstGeom>
          <a:solidFill>
            <a:srgbClr val="12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7" y="5248655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F5CE76"/>
                </a:solidFill>
                <a:latin typeface="Calibri"/>
              </a:rPr>
              <a:t>Єдині збіги на запит «готовий рис» у всіх 17 мережах — корм для собак «Леопольд» 500 г. </a:t>
            </a:r>
            <a:r>
              <a:rPr sz="1150" b="0" i="0">
                <a:solidFill>
                  <a:srgbClr val="FCF9F0"/>
                </a:solidFill>
                <a:latin typeface="Calibri"/>
              </a:rPr>
              <a:t>Позицій RTE-рису для людей не знайдено в жодній мережі. АТБ, Varus і Фора машинно не зчитуються — потребують ручної перевірки в залі.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63550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3D7BF"/>
                </a:solidFill>
                <a:latin typeface="Calibri"/>
              </a:rPr>
              <a:t>Джерело: stores-api.zakaz.ua (17 торгових мереж) і sf-ecom-api.silpo.ua, запити 22.09.2026; перевірено переглядом назв товарів, не лише лічильником збігів.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27432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0AC58"/>
                </a:solidFill>
                <a:latin typeface="Calibri"/>
              </a:rPr>
              <a:t>КОНКУРЕНТНА КАРТА ·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Cambria"/>
              </a:rPr>
              <a:t>Спеціалізований азійський канал: 2 позиції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1556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D2E4CE"/>
                </a:solidFill>
                <a:latin typeface="Calibri"/>
              </a:rPr>
              <a:t>Саме тут категорія існує — у вигляді двох SKU на понад п'ять тисяч позицій.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36192"/>
            <a:ext cx="11064240" cy="365760"/>
          </a:xfrm>
          <a:prstGeom prst="rect">
            <a:avLst/>
          </a:prstGeom>
          <a:solidFill>
            <a:srgbClr val="12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53619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F5CE76"/>
                </a:solidFill>
                <a:latin typeface="Calibri"/>
              </a:rPr>
              <a:t>МАГАЗИН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24528" y="153619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F5CE76"/>
                </a:solidFill>
                <a:latin typeface="Calibri"/>
              </a:rPr>
              <a:t>ПОЗИЦІЙ У КАТАЛОЗІ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84848" y="153619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F5CE76"/>
                </a:solidFill>
                <a:latin typeface="Calibri"/>
              </a:rPr>
              <a:t>RTE-РИС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87967" y="1536192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F5CE76"/>
                </a:solidFill>
                <a:latin typeface="Calibri"/>
              </a:rPr>
              <a:t>ЩО САМЕ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920240"/>
            <a:ext cx="11064240" cy="402336"/>
          </a:xfrm>
          <a:prstGeom prst="rect">
            <a:avLst/>
          </a:prstGeom>
          <a:solidFill>
            <a:srgbClr val="174E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56816"/>
            <a:ext cx="32918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FCF9F0"/>
                </a:solidFill>
                <a:latin typeface="Calibri"/>
              </a:rPr>
              <a:t>asiafoods.com.ua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24528" y="1956816"/>
            <a:ext cx="23774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 i="0">
                <a:solidFill>
                  <a:srgbClr val="D2E4CE"/>
                </a:solidFill>
                <a:latin typeface="Calibri"/>
              </a:rPr>
              <a:t>1 984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4848" y="1956816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D2E4CE"/>
                </a:solidFill>
                <a:latin typeface="Cambria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87967" y="1956816"/>
            <a:ext cx="2651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FCF9F0"/>
                </a:solidFill>
                <a:latin typeface="Calibri"/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2377440"/>
            <a:ext cx="32918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FCF9F0"/>
                </a:solidFill>
                <a:latin typeface="Calibri"/>
              </a:rPr>
              <a:t>yaponskiy-kvartal.com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24528" y="2377440"/>
            <a:ext cx="23774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 i="0">
                <a:solidFill>
                  <a:srgbClr val="D2E4CE"/>
                </a:solidFill>
                <a:latin typeface="Calibri"/>
              </a:rPr>
              <a:t>1 624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4848" y="2377440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D2E4CE"/>
                </a:solidFill>
                <a:latin typeface="Cambria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87967" y="2377440"/>
            <a:ext cx="2651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FCF9F0"/>
                </a:solidFill>
                <a:latin typeface="Calibri"/>
              </a:rPr>
              <a:t>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761488"/>
            <a:ext cx="11064240" cy="402336"/>
          </a:xfrm>
          <a:prstGeom prst="rect">
            <a:avLst/>
          </a:prstGeom>
          <a:solidFill>
            <a:srgbClr val="174E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2798064"/>
            <a:ext cx="32918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FCF9F0"/>
                </a:solidFill>
                <a:latin typeface="Calibri"/>
              </a:rPr>
              <a:t>sushipovar.ua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24528" y="2798064"/>
            <a:ext cx="23774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 i="0">
                <a:solidFill>
                  <a:srgbClr val="D2E4CE"/>
                </a:solidFill>
                <a:latin typeface="Calibri"/>
              </a:rPr>
              <a:t>1 179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4848" y="2798064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D2E4CE"/>
                </a:solidFill>
                <a:latin typeface="Cambria"/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87967" y="2798064"/>
            <a:ext cx="2651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FCF9F0"/>
                </a:solidFill>
                <a:latin typeface="Calibri"/>
              </a:rP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7" y="3218688"/>
            <a:ext cx="32918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FCF9F0"/>
                </a:solidFill>
                <a:latin typeface="Calibri"/>
              </a:rPr>
              <a:t>samguk.com.ua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24528" y="3218688"/>
            <a:ext cx="23774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 i="0">
                <a:solidFill>
                  <a:srgbClr val="D2E4CE"/>
                </a:solidFill>
                <a:latin typeface="Calibri"/>
              </a:rPr>
              <a:t>285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84848" y="3218688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D2E4CE"/>
                </a:solidFill>
                <a:latin typeface="Cambria"/>
              </a:rP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87967" y="3218688"/>
            <a:ext cx="2651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FCF9F0"/>
                </a:solidFill>
                <a:latin typeface="Calibri"/>
              </a:rPr>
              <a:t>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3602736"/>
            <a:ext cx="11064240" cy="402336"/>
          </a:xfrm>
          <a:prstGeom prst="rect">
            <a:avLst/>
          </a:prstGeom>
          <a:solidFill>
            <a:srgbClr val="174E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6928" y="3602736"/>
            <a:ext cx="45720" cy="402336"/>
          </a:xfrm>
          <a:prstGeom prst="rect">
            <a:avLst/>
          </a:prstGeom>
          <a:solidFill>
            <a:srgbClr val="C89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7" y="3639312"/>
            <a:ext cx="32918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F5CE76"/>
                </a:solidFill>
                <a:latin typeface="Calibri"/>
              </a:rPr>
              <a:t>asia-goods.com.ua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24528" y="3639312"/>
            <a:ext cx="23774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 i="0">
                <a:solidFill>
                  <a:srgbClr val="D2E4CE"/>
                </a:solidFill>
                <a:latin typeface="Calibri"/>
              </a:rPr>
              <a:t>250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84848" y="3639312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5CE76"/>
                </a:solidFill>
                <a:latin typeface="Cambria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87967" y="3639312"/>
            <a:ext cx="2651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FCF9F0"/>
                </a:solidFill>
                <a:latin typeface="Calibri"/>
              </a:rPr>
              <a:t>«Готовий рис з Кореї»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4023360"/>
            <a:ext cx="45720" cy="402336"/>
          </a:xfrm>
          <a:prstGeom prst="rect">
            <a:avLst/>
          </a:prstGeom>
          <a:solidFill>
            <a:srgbClr val="C89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7" y="4059936"/>
            <a:ext cx="32918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F5CE76"/>
                </a:solidFill>
                <a:latin typeface="Calibri"/>
              </a:rPr>
              <a:t>smak-korea.com.ua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24528" y="4059936"/>
            <a:ext cx="23774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 i="0">
                <a:solidFill>
                  <a:srgbClr val="D2E4CE"/>
                </a:solidFill>
                <a:latin typeface="Calibri"/>
              </a:rPr>
              <a:t>141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84848" y="4059936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5CE76"/>
                </a:solidFill>
                <a:latin typeface="Cambria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87967" y="4059936"/>
            <a:ext cx="2651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FCF9F0"/>
                </a:solidFill>
                <a:latin typeface="Calibri"/>
              </a:rPr>
              <a:t>CJ Hetbahn 210 г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" y="4590288"/>
            <a:ext cx="11064240" cy="1572768"/>
          </a:xfrm>
          <a:prstGeom prst="rect">
            <a:avLst/>
          </a:prstGeom>
          <a:solidFill>
            <a:srgbClr val="12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1247" y="4791455"/>
            <a:ext cx="10515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5CE76"/>
                </a:solidFill>
                <a:latin typeface="Cambria"/>
              </a:rPr>
              <a:t>Що це говорить про повід споживання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7" y="5212079"/>
            <a:ext cx="5120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FCF9F0"/>
                </a:solidFill>
                <a:latin typeface="Calibri"/>
              </a:rPr>
              <a:t>Обидві позиції стоять у категорії «ЇЖА» поруч із рамьоном, токпоккі та кімчі — тобто продаються як корейська кухня вдома, а не як «швидкий обід» чи «їжа в дорогу».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36208" y="5212079"/>
            <a:ext cx="5120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FCF9F0"/>
                </a:solidFill>
                <a:latin typeface="Calibri"/>
              </a:rPr>
              <a:t>Полиці «готовий гарнір за 90 секунд» в Україні не існує в жодному каналі. Це і ризик (повід треба пояснювати), і можливість — конкурента за цей повід немає.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63550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3D7BF"/>
                </a:solidFill>
                <a:latin typeface="Calibri"/>
              </a:rPr>
              <a:t>Джерело: карти сайтів і каталоги магазинів asiafoods.com.ua, yaponskiy-kvartal.com, sushipovar.ua, samguk.com.ua, asia-goods.com.ua, smak-korea.com.ua (WooCommerce Store API), 22.09.2026.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27432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0AC58"/>
                </a:solidFill>
                <a:latin typeface="Calibri"/>
              </a:rPr>
              <a:t>ЗНАЙДЕНІ ПОЗИЦІЇ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Cambria"/>
              </a:rPr>
              <a:t>Усе, що фізично продається в Україні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1556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D2E4CE"/>
                </a:solidFill>
                <a:latin typeface="Calibri"/>
              </a:rPr>
              <a:t>Дві позиції. Обидві — прямий імпорт з Кореї, без локалізації смаку та упаковки.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36192"/>
            <a:ext cx="3566160" cy="4626864"/>
          </a:xfrm>
          <a:prstGeom prst="rect">
            <a:avLst/>
          </a:prstGeom>
          <a:solidFill>
            <a:srgbClr val="12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755648"/>
            <a:ext cx="1207008" cy="27432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5CE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55648"/>
            <a:ext cx="120700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F5CE76"/>
                </a:solidFill>
                <a:latin typeface="Calibri"/>
              </a:rPr>
              <a:t>ПІДТВЕРДЖЕНО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12848"/>
            <a:ext cx="305409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1" i="0">
                <a:solidFill>
                  <a:srgbClr val="FFFFFF"/>
                </a:solidFill>
                <a:latin typeface="Cambria"/>
              </a:rPr>
              <a:t>CJ Hetbahn</a:t>
            </a:r>
          </a:p>
          <a:p>
            <a:pPr algn="l">
              <a:lnSpc>
                <a:spcPct val="110000"/>
              </a:lnSpc>
            </a:pPr>
            <a:r>
              <a:rPr sz="1550" b="1" i="0">
                <a:solidFill>
                  <a:srgbClr val="FFFFFF"/>
                </a:solidFill>
                <a:latin typeface="Cambria"/>
              </a:rPr>
              <a:t>«Варений рис» 210 г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980944"/>
            <a:ext cx="3054096" cy="11887"/>
          </a:xfrm>
          <a:prstGeom prst="rect">
            <a:avLst/>
          </a:prstGeom>
          <a:solidFill>
            <a:srgbClr val="2C6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127248"/>
            <a:ext cx="305409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F5CE76"/>
                </a:solidFill>
                <a:latin typeface="Cambria"/>
              </a:rPr>
              <a:t>135,00 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621024"/>
            <a:ext cx="30540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0AC58"/>
                </a:solidFill>
                <a:latin typeface="Calibri"/>
              </a:rPr>
              <a:t>64,3 ₴ за 100 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950208"/>
            <a:ext cx="3054096" cy="11887"/>
          </a:xfrm>
          <a:prstGeom prst="rect">
            <a:avLst/>
          </a:prstGeom>
          <a:solidFill>
            <a:srgbClr val="2C6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096512"/>
            <a:ext cx="11338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D2E4CE"/>
                </a:solidFill>
                <a:latin typeface="Calibri"/>
              </a:rPr>
              <a:t>Магазин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93392" y="4096512"/>
            <a:ext cx="18836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CF9F0"/>
                </a:solidFill>
                <a:latin typeface="Calibri"/>
              </a:rPr>
              <a:t>smak-korea.com.ua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411980"/>
            <a:ext cx="11338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D2E4CE"/>
                </a:solidFill>
                <a:latin typeface="Calibri"/>
              </a:rPr>
              <a:t>Наявність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93392" y="4411980"/>
            <a:ext cx="18836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CF9F0"/>
                </a:solidFill>
                <a:latin typeface="Calibri"/>
              </a:rPr>
              <a:t>у наявності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727448"/>
            <a:ext cx="11338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D2E4CE"/>
                </a:solidFill>
                <a:latin typeface="Calibri"/>
              </a:rPr>
              <a:t>Країна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93392" y="4727448"/>
            <a:ext cx="18836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CF9F0"/>
                </a:solidFill>
                <a:latin typeface="Calibri"/>
              </a:rPr>
              <a:t>Республіка Корея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42916"/>
            <a:ext cx="11338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D2E4CE"/>
                </a:solidFill>
                <a:latin typeface="Calibri"/>
              </a:rPr>
              <a:t>Формат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93392" y="5042916"/>
            <a:ext cx="18836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CF9F0"/>
                </a:solidFill>
                <a:latin typeface="Calibri"/>
              </a:rPr>
              <a:t>лоток-чаша, ambient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358383"/>
            <a:ext cx="11338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D2E4CE"/>
                </a:solidFill>
                <a:latin typeface="Calibri"/>
              </a:rPr>
              <a:t>Бренд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93392" y="5358383"/>
            <a:ext cx="18836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CF9F0"/>
                </a:solidFill>
                <a:latin typeface="Calibri"/>
              </a:rPr>
              <a:t>CJ CheilJedang · Hetbahn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673851"/>
            <a:ext cx="11338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D2E4CE"/>
                </a:solidFill>
                <a:latin typeface="Calibri"/>
              </a:rPr>
              <a:t>Локалізація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93392" y="5673851"/>
            <a:ext cx="18836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CF9F0"/>
                </a:solidFill>
                <a:latin typeface="Calibri"/>
              </a:rPr>
              <a:t>немає — прямий імпорт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43400" y="1536192"/>
            <a:ext cx="3566160" cy="4626864"/>
          </a:xfrm>
          <a:prstGeom prst="rect">
            <a:avLst/>
          </a:prstGeom>
          <a:solidFill>
            <a:srgbClr val="12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599432" y="1755648"/>
            <a:ext cx="1207008" cy="27432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5CE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99432" y="1755648"/>
            <a:ext cx="120700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F5CE76"/>
                </a:solidFill>
                <a:latin typeface="Calibri"/>
              </a:rPr>
              <a:t>ПІДТВЕРДЖЕНО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2212848"/>
            <a:ext cx="305409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1" i="0">
                <a:solidFill>
                  <a:srgbClr val="FFFFFF"/>
                </a:solidFill>
                <a:latin typeface="Cambria"/>
              </a:rPr>
              <a:t>«Готовий рис</a:t>
            </a:r>
          </a:p>
          <a:p>
            <a:pPr algn="l">
              <a:lnSpc>
                <a:spcPct val="110000"/>
              </a:lnSpc>
            </a:pPr>
            <a:r>
              <a:rPr sz="1550" b="1" i="0">
                <a:solidFill>
                  <a:srgbClr val="FFFFFF"/>
                </a:solidFill>
                <a:latin typeface="Cambria"/>
              </a:rPr>
              <a:t>з Кореї», арт. 10296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99432" y="2980944"/>
            <a:ext cx="3054096" cy="11887"/>
          </a:xfrm>
          <a:prstGeom prst="rect">
            <a:avLst/>
          </a:prstGeom>
          <a:solidFill>
            <a:srgbClr val="2C6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99432" y="3127248"/>
            <a:ext cx="305409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F5CE76"/>
                </a:solidFill>
                <a:latin typeface="Cambria"/>
              </a:rPr>
              <a:t>190,00 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99432" y="3621024"/>
            <a:ext cx="30540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0AC58"/>
                </a:solidFill>
                <a:latin typeface="Calibri"/>
              </a:rPr>
              <a:t>вага не вказана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99432" y="3950208"/>
            <a:ext cx="3054096" cy="11887"/>
          </a:xfrm>
          <a:prstGeom prst="rect">
            <a:avLst/>
          </a:prstGeom>
          <a:solidFill>
            <a:srgbClr val="2C6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99432" y="4096512"/>
            <a:ext cx="11338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D2E4CE"/>
                </a:solidFill>
                <a:latin typeface="Calibri"/>
              </a:rPr>
              <a:t>Магазин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9864" y="4096512"/>
            <a:ext cx="18836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CF9F0"/>
                </a:solidFill>
                <a:latin typeface="Calibri"/>
              </a:rPr>
              <a:t>asia-goods.com.ua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99432" y="4411980"/>
            <a:ext cx="11338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D2E4CE"/>
                </a:solidFill>
                <a:latin typeface="Calibri"/>
              </a:rPr>
              <a:t>Наявність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69864" y="4411980"/>
            <a:ext cx="18836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CF9F0"/>
                </a:solidFill>
                <a:latin typeface="Calibri"/>
              </a:rPr>
              <a:t>у наявності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99432" y="4727448"/>
            <a:ext cx="11338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D2E4CE"/>
                </a:solidFill>
                <a:latin typeface="Calibri"/>
              </a:rPr>
              <a:t>Країна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69864" y="4727448"/>
            <a:ext cx="18836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CF9F0"/>
                </a:solidFill>
                <a:latin typeface="Calibri"/>
              </a:rPr>
              <a:t>Республіка Корея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99432" y="5042916"/>
            <a:ext cx="11338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D2E4CE"/>
                </a:solidFill>
                <a:latin typeface="Calibri"/>
              </a:rPr>
              <a:t>Формат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69864" y="5042916"/>
            <a:ext cx="18836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CF9F0"/>
                </a:solidFill>
                <a:latin typeface="Calibri"/>
              </a:rPr>
              <a:t>не вказано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99432" y="5358383"/>
            <a:ext cx="11338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D2E4CE"/>
                </a:solidFill>
                <a:latin typeface="Calibri"/>
              </a:rPr>
              <a:t>Бренд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69864" y="5358383"/>
            <a:ext cx="18836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CF9F0"/>
                </a:solidFill>
                <a:latin typeface="Calibri"/>
              </a:rPr>
              <a:t>не вказано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99432" y="5673851"/>
            <a:ext cx="11338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D2E4CE"/>
                </a:solidFill>
                <a:latin typeface="Calibri"/>
              </a:rPr>
              <a:t>Локалізація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69864" y="5673851"/>
            <a:ext cx="18836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CF9F0"/>
                </a:solidFill>
                <a:latin typeface="Calibri"/>
              </a:rPr>
              <a:t>немає — прямий імпорт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19871" y="1536192"/>
            <a:ext cx="3566160" cy="4626864"/>
          </a:xfrm>
          <a:prstGeom prst="rect">
            <a:avLst/>
          </a:prstGeom>
          <a:solidFill>
            <a:srgbClr val="12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375903" y="1755648"/>
            <a:ext cx="1673352" cy="27432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0A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75903" y="1755648"/>
            <a:ext cx="16733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F0AC58"/>
                </a:solidFill>
                <a:latin typeface="Calibri"/>
              </a:rPr>
              <a:t>ПОТРЕБУЄ ПЕРЕВІРКИ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75903" y="2212848"/>
            <a:ext cx="305409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1" i="0">
                <a:solidFill>
                  <a:srgbClr val="FFFFFF"/>
                </a:solidFill>
                <a:latin typeface="Cambria"/>
              </a:rPr>
              <a:t>Rozetka · АТБ</a:t>
            </a:r>
          </a:p>
          <a:p>
            <a:pPr algn="l">
              <a:lnSpc>
                <a:spcPct val="110000"/>
              </a:lnSpc>
            </a:pPr>
            <a:r>
              <a:rPr sz="1550" b="1" i="0">
                <a:solidFill>
                  <a:srgbClr val="FFFFFF"/>
                </a:solidFill>
                <a:latin typeface="Cambria"/>
              </a:rPr>
              <a:t>Varus · Фора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375903" y="2980944"/>
            <a:ext cx="3054096" cy="11887"/>
          </a:xfrm>
          <a:prstGeom prst="rect">
            <a:avLst/>
          </a:prstGeom>
          <a:solidFill>
            <a:srgbClr val="2C6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75903" y="3127248"/>
            <a:ext cx="305409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D2E4CE"/>
                </a:solidFill>
                <a:latin typeface="Cambria"/>
              </a:rPr>
              <a:t>н/д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75903" y="3621024"/>
            <a:ext cx="30540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0AC58"/>
                </a:solidFill>
                <a:latin typeface="Calibri"/>
              </a:rPr>
              <a:t>ціну зчитати неможливо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375903" y="3950208"/>
            <a:ext cx="3054096" cy="11887"/>
          </a:xfrm>
          <a:prstGeom prst="rect">
            <a:avLst/>
          </a:prstGeom>
          <a:solidFill>
            <a:srgbClr val="2C6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75903" y="4096512"/>
            <a:ext cx="11338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D2E4CE"/>
                </a:solidFill>
                <a:latin typeface="Calibri"/>
              </a:rPr>
              <a:t>Причина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46336" y="4096512"/>
            <a:ext cx="18836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CF9F0"/>
                </a:solidFill>
                <a:latin typeface="Calibri"/>
              </a:rPr>
              <a:t>Cloudflare блокує зчитування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75903" y="4411980"/>
            <a:ext cx="11338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D2E4CE"/>
                </a:solidFill>
                <a:latin typeface="Calibri"/>
              </a:rPr>
              <a:t>Індекс Rozetka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546336" y="4411980"/>
            <a:ext cx="18836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CF9F0"/>
                </a:solidFill>
                <a:latin typeface="Calibri"/>
              </a:rPr>
              <a:t>збіги є, назви — ні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75903" y="4727448"/>
            <a:ext cx="11338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D2E4CE"/>
                </a:solidFill>
                <a:latin typeface="Calibri"/>
              </a:rPr>
              <a:t>Ризик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46336" y="4727448"/>
            <a:ext cx="18836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CF9F0"/>
                </a:solidFill>
                <a:latin typeface="Calibri"/>
              </a:rPr>
              <a:t>лічильник збігів нечіткий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75903" y="5042916"/>
            <a:ext cx="11338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D2E4CE"/>
                </a:solidFill>
                <a:latin typeface="Calibri"/>
              </a:rPr>
              <a:t>Метод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546336" y="5042916"/>
            <a:ext cx="18836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CF9F0"/>
                </a:solidFill>
                <a:latin typeface="Calibri"/>
              </a:rPr>
              <a:t>ручний моніторинг у залі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75903" y="5358383"/>
            <a:ext cx="11338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D2E4CE"/>
                </a:solidFill>
                <a:latin typeface="Calibri"/>
              </a:rPr>
              <a:t>Пріоритет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546336" y="5358383"/>
            <a:ext cx="18836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CF9F0"/>
                </a:solidFill>
                <a:latin typeface="Calibri"/>
              </a:rPr>
              <a:t>АТБ і Сільпо офлайн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75903" y="5673851"/>
            <a:ext cx="11338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D2E4CE"/>
                </a:solidFill>
                <a:latin typeface="Calibri"/>
              </a:rPr>
              <a:t>Термін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546336" y="5673851"/>
            <a:ext cx="18836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CF9F0"/>
                </a:solidFill>
                <a:latin typeface="Calibri"/>
              </a:rPr>
              <a:t>до фіксації умов із заводом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6928" y="63550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3D7BF"/>
                </a:solidFill>
                <a:latin typeface="Calibri"/>
              </a:rPr>
              <a:t>Джерело: smak-korea.com.ua (WooCommerce Store API) та asia-goods.com.ua (картка товару), зчитано 22.09.2026. Вага другої позиції на сайті не вказана — питома ціна не рахується.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27432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0AC58"/>
                </a:solidFill>
                <a:latin typeface="Calibri"/>
              </a:rPr>
              <a:t>ФОРМАТИ ТА ГРАМАЖ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Cambria"/>
              </a:rPr>
              <a:t>Домінуючого формату немає, бо немає категорії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1556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D2E4CE"/>
                </a:solidFill>
                <a:latin typeface="Calibri"/>
              </a:rPr>
              <a:t>Порівняння того, що є на полиці України, з тим, що пропонують наші заводи.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36192"/>
            <a:ext cx="5358384" cy="4626864"/>
          </a:xfrm>
          <a:prstGeom prst="rect">
            <a:avLst/>
          </a:prstGeom>
          <a:solidFill>
            <a:srgbClr val="12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737360"/>
            <a:ext cx="4809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5CE76"/>
                </a:solidFill>
                <a:latin typeface="Cambria"/>
              </a:rPr>
              <a:t>На полиці України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57984"/>
            <a:ext cx="4809744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FCF9F0"/>
                </a:solidFill>
                <a:latin typeface="Calibri"/>
              </a:rPr>
              <a:t>Один підтверджений формат на всю країну — корейський лоток-чаша 210 г.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7" y="2871215"/>
            <a:ext cx="4809744" cy="969264"/>
          </a:xfrm>
          <a:prstGeom prst="rect">
            <a:avLst/>
          </a:prstGeom>
          <a:solidFill>
            <a:srgbClr val="1A5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2999232"/>
            <a:ext cx="1188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5CE76"/>
                </a:solidFill>
                <a:latin typeface="Cambria"/>
              </a:rPr>
              <a:t>210 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40864" y="3054096"/>
            <a:ext cx="3200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FCF9F0"/>
                </a:solidFill>
                <a:latin typeface="Calibri"/>
              </a:rPr>
              <a:t>лоток-чаша · CJ Hetbahn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40864" y="3346704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1">
                <a:solidFill>
                  <a:srgbClr val="D2E4CE"/>
                </a:solidFill>
                <a:latin typeface="Calibri"/>
              </a:rPr>
              <a:t>єдиний формат, зафіксований в Україні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4005072"/>
            <a:ext cx="4809744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D2E4CE"/>
                </a:solidFill>
                <a:latin typeface="Calibri"/>
              </a:rPr>
              <a:t>Сегментації за грамажем — «порція на одного» проти «сімейного формату» — не існує. Для сегментації потрібні щонайменше дві лінійки одного бренду; в Україні немає жодної.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7" y="5266944"/>
            <a:ext cx="4809744" cy="11887"/>
          </a:xfrm>
          <a:prstGeom prst="rect">
            <a:avLst/>
          </a:prstGeom>
          <a:solidFill>
            <a:srgbClr val="2C6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5413248"/>
            <a:ext cx="480974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5CE76"/>
                </a:solidFill>
                <a:latin typeface="Cambria"/>
              </a:rPr>
              <a:t>Висновок: формат обираємо ми, а не звичка полиці.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72784" y="1536192"/>
            <a:ext cx="5358384" cy="4626864"/>
          </a:xfrm>
          <a:prstGeom prst="rect">
            <a:avLst/>
          </a:prstGeom>
          <a:solidFill>
            <a:srgbClr val="12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4" y="1737360"/>
            <a:ext cx="4809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5CE76"/>
                </a:solidFill>
                <a:latin typeface="Cambria"/>
              </a:rPr>
              <a:t>У пропозиції наших постачальників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7104" y="2157984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5CE76"/>
                </a:solidFill>
                <a:latin typeface="Calibri"/>
              </a:rPr>
              <a:t>ФОРМАТ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157984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5CE76"/>
                </a:solidFill>
                <a:latin typeface="Calibri"/>
              </a:rPr>
              <a:t>ПОСТАЧАЛЬНИК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20656" y="2157984"/>
            <a:ext cx="9326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F5CE76"/>
                </a:solidFill>
                <a:latin typeface="Calibri"/>
              </a:rPr>
              <a:t>₴/ОД.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2157984"/>
            <a:ext cx="6583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F5CE76"/>
                </a:solidFill>
                <a:latin typeface="Calibri"/>
              </a:rPr>
              <a:t>₴/100Г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468879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CF9F0"/>
                </a:solidFill>
                <a:latin typeface="Calibri"/>
              </a:rPr>
              <a:t>Пауч 150 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2468879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D2E4CE"/>
                </a:solidFill>
                <a:latin typeface="Calibri"/>
              </a:rPr>
              <a:t>BSCM · спецвиробництво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2468879"/>
            <a:ext cx="10607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 i="0">
                <a:solidFill>
                  <a:srgbClr val="FCF9F0"/>
                </a:solidFill>
                <a:latin typeface="Calibri"/>
              </a:rPr>
              <a:t>33,25–38,24 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2468879"/>
            <a:ext cx="7498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F5CE76"/>
                </a:solidFill>
                <a:latin typeface="Calibri"/>
              </a:rPr>
              <a:t>22,2–25,5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7104" y="2834639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CF9F0"/>
                </a:solidFill>
                <a:latin typeface="Calibri"/>
              </a:rPr>
              <a:t>Пауч 200 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2834639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D2E4CE"/>
                </a:solidFill>
                <a:latin typeface="Calibri"/>
              </a:rPr>
              <a:t>BSCM · спецвиробництво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2834639"/>
            <a:ext cx="10607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 i="0">
                <a:solidFill>
                  <a:srgbClr val="FCF9F0"/>
                </a:solidFill>
                <a:latin typeface="Calibri"/>
              </a:rPr>
              <a:t>38,07–43,18 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0" y="2834639"/>
            <a:ext cx="7498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F5CE76"/>
                </a:solidFill>
                <a:latin typeface="Calibri"/>
              </a:rPr>
              <a:t>19,0–21,6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7104" y="3200399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CF9F0"/>
                </a:solidFill>
                <a:latin typeface="Calibri"/>
              </a:rPr>
              <a:t>Пауч 240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3200399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D2E4CE"/>
                </a:solidFill>
                <a:latin typeface="Calibri"/>
              </a:rPr>
              <a:t>BSCM · стандарт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3200399"/>
            <a:ext cx="10607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 i="0">
                <a:solidFill>
                  <a:srgbClr val="FCF9F0"/>
                </a:solidFill>
                <a:latin typeface="Calibri"/>
              </a:rPr>
              <a:t>40,15–45,03 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3200399"/>
            <a:ext cx="7498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F5CE76"/>
                </a:solidFill>
                <a:latin typeface="Calibri"/>
              </a:rPr>
              <a:t>16,7–18,8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47104" y="3566159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CF9F0"/>
                </a:solidFill>
                <a:latin typeface="Calibri"/>
              </a:rPr>
              <a:t>Пауч 250 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3566159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D2E4CE"/>
                </a:solidFill>
                <a:latin typeface="Calibri"/>
              </a:rPr>
              <a:t>Chefrey · organic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0" y="3566159"/>
            <a:ext cx="10607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 i="0">
                <a:solidFill>
                  <a:srgbClr val="FCF9F0"/>
                </a:solidFill>
                <a:latin typeface="Calibri"/>
              </a:rPr>
              <a:t>45,78–60,27 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98480" y="3566159"/>
            <a:ext cx="7498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F5CE76"/>
                </a:solidFill>
                <a:latin typeface="Calibri"/>
              </a:rPr>
              <a:t>18,3–24,1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47104" y="393192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CF9F0"/>
                </a:solidFill>
                <a:latin typeface="Calibri"/>
              </a:rPr>
              <a:t>Cup 150 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0" y="3931920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D2E4CE"/>
                </a:solidFill>
                <a:latin typeface="Calibri"/>
              </a:rPr>
              <a:t>BSCM · single cup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92640" y="3931920"/>
            <a:ext cx="10607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 i="0">
                <a:solidFill>
                  <a:srgbClr val="FCF9F0"/>
                </a:solidFill>
                <a:latin typeface="Calibri"/>
              </a:rPr>
              <a:t>34,95–39,99 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98480" y="3931920"/>
            <a:ext cx="7498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F5CE76"/>
                </a:solidFill>
                <a:latin typeface="Calibri"/>
              </a:rPr>
              <a:t>23,3–26,7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47104" y="429768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CF9F0"/>
                </a:solidFill>
                <a:latin typeface="Calibri"/>
              </a:rPr>
              <a:t>Cup 2×125 г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0" y="4297680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D2E4CE"/>
                </a:solidFill>
                <a:latin typeface="Calibri"/>
              </a:rPr>
              <a:t>BSCM · private label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92640" y="4297680"/>
            <a:ext cx="10607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 i="0">
                <a:solidFill>
                  <a:srgbClr val="FCF9F0"/>
                </a:solidFill>
                <a:latin typeface="Calibri"/>
              </a:rPr>
              <a:t>64,51–73,51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98480" y="4297680"/>
            <a:ext cx="7498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F5CE76"/>
                </a:solidFill>
                <a:latin typeface="Calibri"/>
              </a:rPr>
              <a:t>25,8–29,4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47104" y="466344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CF9F0"/>
                </a:solidFill>
                <a:latin typeface="Calibri"/>
              </a:rPr>
              <a:t>Лоток 210 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46720" y="4663440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D2E4CE"/>
                </a:solidFill>
                <a:latin typeface="Calibri"/>
              </a:rPr>
              <a:t>KBROS · Корея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92640" y="4663440"/>
            <a:ext cx="10607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 i="0">
                <a:solidFill>
                  <a:srgbClr val="FCF9F0"/>
                </a:solidFill>
                <a:latin typeface="Calibri"/>
              </a:rPr>
              <a:t>40,27–43,81 ₴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98480" y="4663440"/>
            <a:ext cx="7498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F5CE76"/>
                </a:solidFill>
                <a:latin typeface="Calibri"/>
              </a:rPr>
              <a:t>19,2–20,9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47104" y="5065776"/>
            <a:ext cx="4809744" cy="11887"/>
          </a:xfrm>
          <a:prstGeom prst="rect">
            <a:avLst/>
          </a:prstGeom>
          <a:solidFill>
            <a:srgbClr val="2C6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47104" y="5230368"/>
            <a:ext cx="480974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D2E4CE"/>
                </a:solidFill>
                <a:latin typeface="Calibri"/>
              </a:rPr>
              <a:t>Діапазон собівартості — від завантаження 40′ FCL до збірного 17 м³.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6928" y="63550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3D7BF"/>
                </a:solidFill>
                <a:latin typeface="Calibri"/>
              </a:rPr>
              <a:t>Джерело: полиця — smak-korea.com.ua, 22.09.2026; собівартість — колода «RTE Rice · Постачальники» (Self Cost Rice Brand.xlsx), курс 45,00 ₴/$. ₴/100 г — наш перерахунок.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27432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0AC58"/>
                </a:solidFill>
                <a:latin typeface="Calibri"/>
              </a:rPr>
              <a:t>РОЗДРІБНІ ЦІНИ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Cambria"/>
              </a:rPr>
              <a:t>Чому тут немає «середньої ціни по ринку»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1556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D2E4CE"/>
                </a:solidFill>
                <a:latin typeface="Calibri"/>
              </a:rPr>
              <a:t>Вибірка з двох позицій не дає ні медіани, ні розкиду. Робити вигляд, що дає — обман.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36192"/>
            <a:ext cx="5760720" cy="2505456"/>
          </a:xfrm>
          <a:prstGeom prst="rect">
            <a:avLst/>
          </a:prstGeom>
          <a:solidFill>
            <a:srgbClr val="12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737360"/>
            <a:ext cx="5212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5CE76"/>
                </a:solidFill>
                <a:latin typeface="Cambria"/>
              </a:rPr>
              <a:t>Що ми маємо насправді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57984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D2E4CE"/>
                </a:solidFill>
                <a:latin typeface="Calibri"/>
              </a:rPr>
              <a:t>Спостережень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2157984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5CE76"/>
                </a:solidFill>
                <a:latin typeface="Calibri"/>
              </a:rPr>
              <a:t>n =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450591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D2E4CE"/>
                </a:solidFill>
                <a:latin typeface="Calibri"/>
              </a:rPr>
              <a:t>З відомою вагою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450591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5CE76"/>
                </a:solidFill>
                <a:latin typeface="Calibri"/>
              </a:rPr>
              <a:t>n =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743199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D2E4CE"/>
                </a:solidFill>
                <a:latin typeface="Calibri"/>
              </a:rPr>
              <a:t>Медіана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743199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0AC58"/>
                </a:solidFill>
                <a:latin typeface="Calibri"/>
              </a:rPr>
              <a:t>не рахується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3035807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D2E4CE"/>
                </a:solidFill>
                <a:latin typeface="Calibri"/>
              </a:rPr>
              <a:t>Мін / макс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3035807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0AC58"/>
                </a:solidFill>
                <a:latin typeface="Calibri"/>
              </a:rPr>
              <a:t>не рахується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328415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D2E4CE"/>
                </a:solidFill>
                <a:latin typeface="Calibri"/>
              </a:rPr>
              <a:t>Єдина питома ціна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3328415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5CE76"/>
                </a:solidFill>
                <a:latin typeface="Calibri"/>
              </a:rPr>
              <a:t>64,3 ₴ за 100 г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7" y="3639311"/>
            <a:ext cx="5212080" cy="11887"/>
          </a:xfrm>
          <a:prstGeom prst="rect">
            <a:avLst/>
          </a:prstGeom>
          <a:solidFill>
            <a:srgbClr val="2C6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3749039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CF9F0"/>
                </a:solidFill>
                <a:latin typeface="Calibri"/>
              </a:rPr>
              <a:t>Одна точка — це орієнтир, а не ринкова ціна.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4224528"/>
            <a:ext cx="5760720" cy="1938528"/>
          </a:xfrm>
          <a:prstGeom prst="rect">
            <a:avLst/>
          </a:prstGeom>
          <a:solidFill>
            <a:srgbClr val="12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4425696"/>
            <a:ext cx="5212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5CE76"/>
                </a:solidFill>
                <a:latin typeface="Cambria"/>
              </a:rPr>
              <a:t>Як закрити цю прогалину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" y="4846320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5CE76"/>
                </a:solidFill>
                <a:latin typeface="Cambria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0432" y="4846320"/>
            <a:ext cx="488289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FCF9F0"/>
                </a:solidFill>
                <a:latin typeface="Calibri"/>
              </a:rPr>
              <a:t>Ручний моніторинг полиці: АТБ, Сільпо, Novus, Ашан, METRO — фотофіксація цінників, 2 міста, 1 тиждень.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" y="5266944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5CE76"/>
                </a:solidFill>
                <a:latin typeface="Cambria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" y="5266944"/>
            <a:ext cx="488289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FCF9F0"/>
                </a:solidFill>
                <a:latin typeface="Calibri"/>
              </a:rPr>
              <a:t>Запит у Rozetka Marketplace і Prom.ua на вивантаження категорії з цінами продавців.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7" y="5687568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5CE76"/>
                </a:solidFill>
                <a:latin typeface="Cambria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0432" y="5687568"/>
            <a:ext cx="488289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FCF9F0"/>
                </a:solidFill>
                <a:latin typeface="Calibri"/>
              </a:rPr>
              <a:t>Тестова закупка обох корейських позицій — щоб зафіксувати вагу, склад і реальне маркування.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0" y="1536192"/>
            <a:ext cx="5047488" cy="4626864"/>
          </a:xfrm>
          <a:prstGeom prst="rect">
            <a:avLst/>
          </a:prstGeom>
          <a:solidFill>
            <a:srgbClr val="12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0" y="1737360"/>
            <a:ext cx="44988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5CE76"/>
                </a:solidFill>
                <a:latin typeface="Cambria"/>
              </a:rPr>
              <a:t>Тому шкалу задають субститути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157984"/>
            <a:ext cx="449884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FCF9F0"/>
                </a:solidFill>
                <a:latin typeface="Calibri"/>
              </a:rPr>
              <a:t>Ціну RTE-рису в Україні поки що можна оцінити лише через сусідні полиці — те, чим споживач фактично закриває той самий прийом їжі.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3364991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5CE76"/>
                </a:solidFill>
                <a:latin typeface="Calibri"/>
              </a:rPr>
              <a:t>КАТЕГОРІЯ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07424" y="3364991"/>
            <a:ext cx="5669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F5CE76"/>
                </a:solidFill>
                <a:latin typeface="Calibri"/>
              </a:rPr>
              <a:t>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02368" y="3364991"/>
            <a:ext cx="5669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F5CE76"/>
                </a:solidFill>
                <a:latin typeface="Calibri"/>
              </a:rPr>
              <a:t>МІН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97312" y="3364991"/>
            <a:ext cx="5669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F5CE76"/>
                </a:solidFill>
                <a:latin typeface="Calibri"/>
              </a:rPr>
              <a:t>МЕД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00816" y="3364991"/>
            <a:ext cx="5669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F5CE76"/>
                </a:solidFill>
                <a:latin typeface="Calibri"/>
              </a:rPr>
              <a:t>МАКС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3657599"/>
            <a:ext cx="22494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CF9F0"/>
                </a:solidFill>
                <a:latin typeface="Calibri"/>
              </a:rPr>
              <a:t>Рис сухий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07424" y="3657599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 i="0">
                <a:solidFill>
                  <a:srgbClr val="D2E4CE"/>
                </a:solidFill>
                <a:latin typeface="Calibri"/>
              </a:rPr>
              <a:t>410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02368" y="3657599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 i="0">
                <a:solidFill>
                  <a:srgbClr val="D2E4CE"/>
                </a:solidFill>
                <a:latin typeface="Calibri"/>
              </a:rPr>
              <a:t>3,9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97312" y="3657599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FCF9F0"/>
                </a:solidFill>
                <a:latin typeface="Calibri"/>
              </a:rPr>
              <a:t>16,5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00816" y="3657599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 i="0">
                <a:solidFill>
                  <a:srgbClr val="D2E4CE"/>
                </a:solidFill>
                <a:latin typeface="Calibri"/>
              </a:rPr>
              <a:t>206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4014215"/>
            <a:ext cx="22494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CF9F0"/>
                </a:solidFill>
                <a:latin typeface="Calibri"/>
              </a:rPr>
              <a:t>Каші б/п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07424" y="4014215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 i="0">
                <a:solidFill>
                  <a:srgbClr val="D2E4CE"/>
                </a:solidFill>
                <a:latin typeface="Calibri"/>
              </a:rPr>
              <a:t>102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02368" y="4014215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 i="0">
                <a:solidFill>
                  <a:srgbClr val="D2E4CE"/>
                </a:solidFill>
                <a:latin typeface="Calibri"/>
              </a:rPr>
              <a:t>11,8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97312" y="4014215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FCF9F0"/>
                </a:solidFill>
                <a:latin typeface="Calibri"/>
              </a:rPr>
              <a:t>48,9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00816" y="4014215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 i="0">
                <a:solidFill>
                  <a:srgbClr val="D2E4CE"/>
                </a:solidFill>
                <a:latin typeface="Calibri"/>
              </a:rPr>
              <a:t>398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4370831"/>
            <a:ext cx="22494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CF9F0"/>
                </a:solidFill>
                <a:latin typeface="Calibri"/>
              </a:rPr>
              <a:t>Локшина б/п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07424" y="4370831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 i="0">
                <a:solidFill>
                  <a:srgbClr val="D2E4CE"/>
                </a:solidFill>
                <a:latin typeface="Calibri"/>
              </a:rPr>
              <a:t>478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02368" y="4370831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 i="0">
                <a:solidFill>
                  <a:srgbClr val="D2E4CE"/>
                </a:solidFill>
                <a:latin typeface="Calibri"/>
              </a:rPr>
              <a:t>14,5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97312" y="4370831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FCF9F0"/>
                </a:solidFill>
                <a:latin typeface="Calibri"/>
              </a:rPr>
              <a:t>48,9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00816" y="4370831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 i="0">
                <a:solidFill>
                  <a:srgbClr val="D2E4CE"/>
                </a:solidFill>
                <a:latin typeface="Calibri"/>
              </a:rPr>
              <a:t>244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0" y="4727447"/>
            <a:ext cx="22494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CF9F0"/>
                </a:solidFill>
                <a:latin typeface="Calibri"/>
              </a:rPr>
              <a:t>Готова їжа з рисом, охол.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07424" y="4727447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 i="0">
                <a:solidFill>
                  <a:srgbClr val="D2E4CE"/>
                </a:solidFill>
                <a:latin typeface="Calibri"/>
              </a:rPr>
              <a:t>11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02368" y="4727447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 i="0">
                <a:solidFill>
                  <a:srgbClr val="D2E4CE"/>
                </a:solidFill>
                <a:latin typeface="Calibri"/>
              </a:rPr>
              <a:t>35,6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97312" y="4727447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FCF9F0"/>
                </a:solidFill>
                <a:latin typeface="Calibri"/>
              </a:rPr>
              <a:t>52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100816" y="4727447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 i="0">
                <a:solidFill>
                  <a:srgbClr val="D2E4CE"/>
                </a:solidFill>
                <a:latin typeface="Calibri"/>
              </a:rPr>
              <a:t>66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784848" y="5038343"/>
            <a:ext cx="4645152" cy="365760"/>
          </a:xfrm>
          <a:prstGeom prst="rect">
            <a:avLst/>
          </a:prstGeom>
          <a:solidFill>
            <a:srgbClr val="2C6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858000" y="5084063"/>
            <a:ext cx="22494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F5CE76"/>
                </a:solidFill>
                <a:latin typeface="Calibri"/>
              </a:rPr>
              <a:t>RTE-рис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07424" y="5084063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F5CE76"/>
                </a:solidFill>
                <a:latin typeface="Calibri"/>
              </a:rPr>
              <a:t>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02368" y="5084063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F5CE76"/>
                </a:solidFill>
                <a:latin typeface="Calibri"/>
              </a:rPr>
              <a:t>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497312" y="5084063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F5CE76"/>
                </a:solidFill>
                <a:latin typeface="Calibri"/>
              </a:rPr>
              <a:t>64,3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100816" y="5084063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F5CE76"/>
                </a:solidFill>
                <a:latin typeface="Calibri"/>
              </a:rPr>
              <a:t>—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58000" y="5440679"/>
            <a:ext cx="22494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CF9F0"/>
                </a:solidFill>
                <a:latin typeface="Calibri"/>
              </a:rPr>
              <a:t>Токпоккі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07424" y="5440679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 i="0">
                <a:solidFill>
                  <a:srgbClr val="D2E4CE"/>
                </a:solidFill>
                <a:latin typeface="Calibri"/>
              </a:rPr>
              <a:t>36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802368" y="5440679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 i="0">
                <a:solidFill>
                  <a:srgbClr val="D2E4CE"/>
                </a:solidFill>
                <a:latin typeface="Calibri"/>
              </a:rPr>
              <a:t>90,3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497312" y="5440679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FCF9F0"/>
                </a:solidFill>
                <a:latin typeface="Calibri"/>
              </a:rPr>
              <a:t>144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100816" y="5440679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 i="0">
                <a:solidFill>
                  <a:srgbClr val="D2E4CE"/>
                </a:solidFill>
                <a:latin typeface="Calibri"/>
              </a:rPr>
              <a:t>235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0" y="5852159"/>
            <a:ext cx="44988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1">
                <a:solidFill>
                  <a:srgbClr val="C3D7BF"/>
                </a:solidFill>
                <a:latin typeface="Calibri"/>
              </a:rPr>
              <a:t>усі значення — ₴ за 100 г, 22.09.2026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66928" y="63550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3D7BF"/>
                </a:solidFill>
                <a:latin typeface="Calibri"/>
              </a:rPr>
              <a:t>Джерело: розрахунок за каталогами 17 мереж (stores-api.zakaz.ua) і Сільпо, 22.09.2026. N — кількість SKU у вибірці; питома ціна рахується лише для позицій із вагою в назві.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27432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0AC58"/>
                </a:solidFill>
                <a:latin typeface="Calibri"/>
              </a:rPr>
              <a:t>СУБСТИТУТИ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Cambria"/>
              </a:rPr>
              <a:t>Чим українець фактично закриває цей прийом їжі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1556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D2E4CE"/>
                </a:solidFill>
                <a:latin typeface="Calibri"/>
              </a:rPr>
              <a:t>Охолоджена готова їжа власної кухні мережі — головний конкурент, а не локшина.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36192"/>
            <a:ext cx="6144768" cy="3383280"/>
          </a:xfrm>
          <a:prstGeom prst="rect">
            <a:avLst/>
          </a:prstGeom>
          <a:solidFill>
            <a:srgbClr val="12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737360"/>
            <a:ext cx="55961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5CE76"/>
                </a:solidFill>
                <a:latin typeface="Cambria"/>
              </a:rPr>
              <a:t>Сільпо · власна кухня, охолоджені страви з рисом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57984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5CE76"/>
                </a:solidFill>
                <a:latin typeface="Calibri"/>
              </a:rPr>
              <a:t>СТРАВА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13632" y="2157984"/>
            <a:ext cx="6583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F5CE76"/>
                </a:solidFill>
                <a:latin typeface="Calibri"/>
              </a:rPr>
              <a:t>ВАГА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0016" y="2157984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F5CE76"/>
                </a:solidFill>
                <a:latin typeface="Calibri"/>
              </a:rPr>
              <a:t>ЦІНА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42432" y="2157984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F5CE76"/>
                </a:solidFill>
                <a:latin typeface="Calibri"/>
              </a:rPr>
              <a:t>₴/100 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468879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CF9F0"/>
                </a:solidFill>
                <a:latin typeface="Calibri"/>
              </a:rPr>
              <a:t>Рис з яйцем та овочами «Чіл Міл»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13632" y="2468879"/>
            <a:ext cx="658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 i="0">
                <a:solidFill>
                  <a:srgbClr val="D2E4CE"/>
                </a:solidFill>
                <a:latin typeface="Calibri"/>
              </a:rPr>
              <a:t>180 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0016" y="2468879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 i="0">
                <a:solidFill>
                  <a:srgbClr val="FCF9F0"/>
                </a:solidFill>
                <a:latin typeface="Calibri"/>
              </a:rPr>
              <a:t>63,99 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42432" y="2468879"/>
            <a:ext cx="694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F5CE76"/>
                </a:solidFill>
                <a:latin typeface="Calibri"/>
              </a:rPr>
              <a:t>35,6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2852927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CF9F0"/>
                </a:solidFill>
                <a:latin typeface="Calibri"/>
              </a:rPr>
              <a:t>Боул: рис зі смаженим курячим філе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13632" y="2852927"/>
            <a:ext cx="658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 i="0">
                <a:solidFill>
                  <a:srgbClr val="D2E4CE"/>
                </a:solidFill>
                <a:latin typeface="Calibri"/>
              </a:rPr>
              <a:t>330 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0016" y="2852927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 i="0">
                <a:solidFill>
                  <a:srgbClr val="FCF9F0"/>
                </a:solidFill>
                <a:latin typeface="Calibri"/>
              </a:rPr>
              <a:t>139,00 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42432" y="2852927"/>
            <a:ext cx="694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F5CE76"/>
                </a:solidFill>
                <a:latin typeface="Calibri"/>
              </a:rPr>
              <a:t>42,1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3236975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CF9F0"/>
                </a:solidFill>
                <a:latin typeface="Calibri"/>
              </a:rPr>
              <a:t>Смажений рис з куркою в теріякі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13632" y="3236975"/>
            <a:ext cx="658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 i="0">
                <a:solidFill>
                  <a:srgbClr val="D2E4CE"/>
                </a:solidFill>
                <a:latin typeface="Calibri"/>
              </a:rPr>
              <a:t>350 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0016" y="3236975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 i="0">
                <a:solidFill>
                  <a:srgbClr val="FCF9F0"/>
                </a:solidFill>
                <a:latin typeface="Calibri"/>
              </a:rPr>
              <a:t>169,00 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42432" y="3236975"/>
            <a:ext cx="694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F5CE76"/>
                </a:solidFill>
                <a:latin typeface="Calibri"/>
              </a:rPr>
              <a:t>48,3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" y="3621023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CF9F0"/>
                </a:solidFill>
                <a:latin typeface="Calibri"/>
              </a:rPr>
              <a:t>Рис з овочами та курячим битком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13632" y="3621023"/>
            <a:ext cx="658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 i="0">
                <a:solidFill>
                  <a:srgbClr val="D2E4CE"/>
                </a:solidFill>
                <a:latin typeface="Calibri"/>
              </a:rPr>
              <a:t>300 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0016" y="3621023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 i="0">
                <a:solidFill>
                  <a:srgbClr val="FCF9F0"/>
                </a:solidFill>
                <a:latin typeface="Calibri"/>
              </a:rPr>
              <a:t>149,00 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42432" y="3621023"/>
            <a:ext cx="694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F5CE76"/>
                </a:solidFill>
                <a:latin typeface="Calibri"/>
              </a:rPr>
              <a:t>49,7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7" y="400507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CF9F0"/>
                </a:solidFill>
                <a:latin typeface="Calibri"/>
              </a:rPr>
              <a:t>Рис з овочами та яйцем у кунжуті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13632" y="4005072"/>
            <a:ext cx="658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 i="0">
                <a:solidFill>
                  <a:srgbClr val="D2E4CE"/>
                </a:solidFill>
                <a:latin typeface="Calibri"/>
              </a:rPr>
              <a:t>160 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0016" y="4005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 i="0">
                <a:solidFill>
                  <a:srgbClr val="FCF9F0"/>
                </a:solidFill>
                <a:latin typeface="Calibri"/>
              </a:rPr>
              <a:t>88,99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42432" y="4005072"/>
            <a:ext cx="694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F5CE76"/>
                </a:solidFill>
                <a:latin typeface="Calibri"/>
              </a:rPr>
              <a:t>55,6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7" y="438912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CF9F0"/>
                </a:solidFill>
                <a:latin typeface="Calibri"/>
              </a:rPr>
              <a:t>Карі з рисом та куркою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13632" y="4389120"/>
            <a:ext cx="658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 i="0">
                <a:solidFill>
                  <a:srgbClr val="D2E4CE"/>
                </a:solidFill>
                <a:latin typeface="Calibri"/>
              </a:rPr>
              <a:t>350 г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43891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 i="0">
                <a:solidFill>
                  <a:srgbClr val="FCF9F0"/>
                </a:solidFill>
                <a:latin typeface="Calibri"/>
              </a:rPr>
              <a:t>219,00 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42432" y="4389120"/>
            <a:ext cx="694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F5CE76"/>
                </a:solidFill>
                <a:latin typeface="Calibri"/>
              </a:rPr>
              <a:t>62,6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5065776"/>
            <a:ext cx="6144768" cy="1097280"/>
          </a:xfrm>
          <a:prstGeom prst="rect">
            <a:avLst/>
          </a:prstGeom>
          <a:solidFill>
            <a:srgbClr val="12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7" y="5266944"/>
            <a:ext cx="559612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F5CE76"/>
                </a:solidFill>
                <a:latin typeface="Calibri"/>
              </a:rPr>
              <a:t>Діапазон 35,6 – 66,4 ₴/100 г. </a:t>
            </a:r>
            <a:r>
              <a:rPr sz="1150" b="0" i="0">
                <a:solidFill>
                  <a:srgbClr val="FCF9F0"/>
                </a:solidFill>
                <a:latin typeface="Calibri"/>
              </a:rPr>
              <a:t>Hetbahn за 64,3 ₴/100 г коштує як повноцінна страва з куркою — хоча це просто рис. Ось де наш ціновий важіль.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67728" y="1536192"/>
            <a:ext cx="4663440" cy="4626864"/>
          </a:xfrm>
          <a:prstGeom prst="rect">
            <a:avLst/>
          </a:prstGeom>
          <a:solidFill>
            <a:srgbClr val="12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42048" y="1737360"/>
            <a:ext cx="4114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5CE76"/>
                </a:solidFill>
                <a:latin typeface="Cambria"/>
              </a:rPr>
              <a:t>Чи відбирають вони попит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42048" y="2157984"/>
            <a:ext cx="2834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CF9F0"/>
                </a:solidFill>
                <a:latin typeface="Calibri"/>
              </a:rPr>
              <a:t>Локшина б/п · рамьон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76688" y="2157984"/>
            <a:ext cx="12984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F5CE76"/>
                </a:solidFill>
                <a:latin typeface="Calibri"/>
              </a:rPr>
              <a:t>48,9 ₴/100 г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42048" y="2414015"/>
            <a:ext cx="413308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D2E4CE"/>
                </a:solidFill>
                <a:latin typeface="Calibri"/>
              </a:rPr>
              <a:t>Окрема ніша. Це самостійна страва з бульйоном, а не гарнір. Попит перетинається лише в поводі «швидко й гаряче».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42048" y="3218687"/>
            <a:ext cx="2834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CF9F0"/>
                </a:solidFill>
                <a:latin typeface="Calibri"/>
              </a:rPr>
              <a:t>Каші б/п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76688" y="3218687"/>
            <a:ext cx="12984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F5CE76"/>
                </a:solidFill>
                <a:latin typeface="Calibri"/>
              </a:rPr>
              <a:t>48,9 ₴/100 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42048" y="3474720"/>
            <a:ext cx="413308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D2E4CE"/>
                </a:solidFill>
                <a:latin typeface="Calibri"/>
              </a:rPr>
              <a:t>Сніданковий повід, солодкий профіль. З RTE-рисом майже не конкурує.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42048" y="4279392"/>
            <a:ext cx="2834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CF9F0"/>
                </a:solidFill>
                <a:latin typeface="Calibri"/>
              </a:rPr>
              <a:t>Рис сухий, зокрема 5×80 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76688" y="4279392"/>
            <a:ext cx="12984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F5CE76"/>
                </a:solidFill>
                <a:latin typeface="Calibri"/>
              </a:rPr>
              <a:t>16,5 ₴/100 г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42048" y="4535424"/>
            <a:ext cx="413308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D2E4CE"/>
                </a:solidFill>
                <a:latin typeface="Calibri"/>
              </a:rPr>
              <a:t>Головний ціновий якір у голові споживача: «навіщо платити вчетверо». Саме з цим доведеться сперечатися комунікацією.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42048" y="5340096"/>
            <a:ext cx="2834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CF9F0"/>
                </a:solidFill>
                <a:latin typeface="Calibri"/>
              </a:rPr>
              <a:t>Охолоджена готова їжа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76688" y="5340096"/>
            <a:ext cx="12984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F5CE76"/>
                </a:solidFill>
                <a:latin typeface="Calibri"/>
              </a:rPr>
              <a:t>35,6–66,4 ₴/100 г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42048" y="5596128"/>
            <a:ext cx="413308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D2E4CE"/>
                </a:solidFill>
                <a:latin typeface="Calibri"/>
              </a:rPr>
              <a:t>Прямий конкурент за повід і за ціну. Але потребує холодильника й живе 2–5 діб — тут наша перевага.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6928" y="63550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3D7BF"/>
                </a:solidFill>
                <a:latin typeface="Calibri"/>
              </a:rPr>
              <a:t>Джерело: sf-ecom-api.silpo.ua (київська філія) та stores-api.zakaz.ua, 22.09.2026. ₴/100 г — наш перерахунок; вагові позиції з прилавка виключено.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27432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0AC58"/>
                </a:solidFill>
                <a:latin typeface="Calibri"/>
              </a:rPr>
              <a:t>ТОЧКИ ПРОДАЖУ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Cambria"/>
              </a:rPr>
              <a:t>Де категорія живе сьогодні — і де її немає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1556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D2E4CE"/>
                </a:solidFill>
                <a:latin typeface="Calibri"/>
              </a:rPr>
              <a:t>Розподіл по каналах прямо показує, який повід споживання зараз обслуговується.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72768"/>
            <a:ext cx="11064240" cy="969264"/>
          </a:xfrm>
          <a:prstGeom prst="rect">
            <a:avLst/>
          </a:prstGeom>
          <a:solidFill>
            <a:srgbClr val="12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54864" cy="969264"/>
          </a:xfrm>
          <a:prstGeom prst="rect">
            <a:avLst/>
          </a:prstGeom>
          <a:solidFill>
            <a:srgbClr val="D2E4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719072"/>
            <a:ext cx="37490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mbria"/>
              </a:rPr>
              <a:t>Продуктові мережі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084832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D2E4CE"/>
                </a:solidFill>
                <a:latin typeface="Calibri"/>
              </a:rPr>
              <a:t>знайдено позицій RTE-рису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1755648"/>
            <a:ext cx="8229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 i="0">
                <a:solidFill>
                  <a:srgbClr val="D2E4CE"/>
                </a:solidFill>
                <a:latin typeface="Cambria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87568" y="1737360"/>
            <a:ext cx="566928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FCF9F0"/>
                </a:solidFill>
                <a:latin typeface="Calibri"/>
              </a:rPr>
              <a:t>METRO · Ашан · NOVUS · МегаМаркет · Ultramarket · ЕКО маркет · Таврія В · Епіцентр FOOD · Сільпо та ще 9 регіональних мереж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615184"/>
            <a:ext cx="11064240" cy="969264"/>
          </a:xfrm>
          <a:prstGeom prst="rect">
            <a:avLst/>
          </a:prstGeom>
          <a:solidFill>
            <a:srgbClr val="12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615184"/>
            <a:ext cx="54864" cy="969264"/>
          </a:xfrm>
          <a:prstGeom prst="rect">
            <a:avLst/>
          </a:prstGeom>
          <a:solidFill>
            <a:srgbClr val="F0A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2761488"/>
            <a:ext cx="37490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mbria"/>
              </a:rPr>
              <a:t>Маркетплейси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127248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D2E4CE"/>
                </a:solidFill>
                <a:latin typeface="Calibri"/>
              </a:rPr>
              <a:t>знайдено позицій RTE-рису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2798064"/>
            <a:ext cx="8229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 i="0">
                <a:solidFill>
                  <a:srgbClr val="F0AC58"/>
                </a:solidFill>
                <a:latin typeface="Cambria"/>
              </a:rPr>
              <a:t>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87568" y="2779776"/>
            <a:ext cx="566928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FCF9F0"/>
                </a:solidFill>
                <a:latin typeface="Calibri"/>
              </a:rPr>
              <a:t>Prom.ua на запит «готовий рис пауч» дає лише корм для тварин. Rozetka: індекс показує збіги, картки закриті — ручна перевірка.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657600"/>
            <a:ext cx="11064240" cy="969264"/>
          </a:xfrm>
          <a:prstGeom prst="rect">
            <a:avLst/>
          </a:prstGeom>
          <a:solidFill>
            <a:srgbClr val="12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3657600"/>
            <a:ext cx="54864" cy="969264"/>
          </a:xfrm>
          <a:prstGeom prst="rect">
            <a:avLst/>
          </a:prstGeom>
          <a:solidFill>
            <a:srgbClr val="F5CE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3803904"/>
            <a:ext cx="37490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mbria"/>
              </a:rPr>
              <a:t>Спеціалізований азійський онлайн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4169664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D2E4CE"/>
                </a:solidFill>
                <a:latin typeface="Calibri"/>
              </a:rPr>
              <a:t>знайдено позицій RTE-рису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81728" y="3840480"/>
            <a:ext cx="8229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 i="0">
                <a:solidFill>
                  <a:srgbClr val="F5CE76"/>
                </a:solidFill>
                <a:latin typeface="Cambria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87568" y="3822191"/>
            <a:ext cx="566928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FCF9F0"/>
                </a:solidFill>
                <a:latin typeface="Calibri"/>
              </a:rPr>
              <a:t>smak-korea.com.ua (CJ Hetbahn 210 г, 135 ₴) · asia-goods.com.ua («Готовий рис з Кореї», 190 ₴)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4700016"/>
            <a:ext cx="11064240" cy="969264"/>
          </a:xfrm>
          <a:prstGeom prst="rect">
            <a:avLst/>
          </a:prstGeom>
          <a:solidFill>
            <a:srgbClr val="12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4700016"/>
            <a:ext cx="54864" cy="969264"/>
          </a:xfrm>
          <a:prstGeom prst="rect">
            <a:avLst/>
          </a:prstGeom>
          <a:solidFill>
            <a:srgbClr val="F0A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4846320"/>
            <a:ext cx="37490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mbria"/>
              </a:rPr>
              <a:t>Мережі поза зчитуванням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" y="5212079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D2E4CE"/>
                </a:solidFill>
                <a:latin typeface="Calibri"/>
              </a:rPr>
              <a:t>знайдено позицій RTE-рису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81728" y="4882896"/>
            <a:ext cx="8229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 i="0">
                <a:solidFill>
                  <a:srgbClr val="F0AC58"/>
                </a:solidFill>
                <a:latin typeface="Cambria"/>
              </a:rPr>
              <a:t>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87568" y="4864607"/>
            <a:ext cx="566928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FCF9F0"/>
                </a:solidFill>
                <a:latin typeface="Calibri"/>
              </a:rPr>
              <a:t>АТБ · Varus · Фора — Cloudflare; потребують ручного моніторингу полиці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5760720"/>
            <a:ext cx="11064240" cy="402336"/>
          </a:xfrm>
          <a:prstGeom prst="rect">
            <a:avLst/>
          </a:prstGeom>
          <a:solidFill>
            <a:srgbClr val="12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7" y="5888736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CE76"/>
                </a:solidFill>
                <a:latin typeface="Calibri"/>
              </a:rPr>
              <a:t>Сезонність: </a:t>
            </a:r>
            <a:r>
              <a:rPr sz="1100" b="0" i="0">
                <a:solidFill>
                  <a:srgbClr val="FCF9F0"/>
                </a:solidFill>
                <a:latin typeface="Calibri"/>
              </a:rPr>
              <a:t>оцінити неможливо — для цього потрібен ряд спостережень за рік, а категорії на полиці немає.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3550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3D7BF"/>
                </a:solidFill>
                <a:latin typeface="Calibri"/>
              </a:rPr>
              <a:t>Джерело: stores-api.zakaz.ua, sf-ecom-api.silpo.ua, prom.ua, search.rozetka.com.ua, каталоги спеціалізованих магазинів — 22.09.2026.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27432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0AC58"/>
                </a:solidFill>
                <a:latin typeface="Calibri"/>
              </a:rPr>
              <a:t>ІМПОРТНА СТАТИСТИКА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Cambria"/>
              </a:rPr>
              <a:t>HS 1904 90 — найближчий публічний код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1556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D2E4CE"/>
                </a:solidFill>
                <a:latin typeface="Calibri"/>
              </a:rPr>
              <a:t>Прямого коду саме для RTE-рису не існує; це кошиковий код готових круп'яних виробів.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36192"/>
            <a:ext cx="6492240" cy="4626864"/>
          </a:xfrm>
          <a:prstGeom prst="rect">
            <a:avLst/>
          </a:prstGeom>
          <a:solidFill>
            <a:srgbClr val="12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737360"/>
            <a:ext cx="5943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5CE76"/>
                </a:solidFill>
                <a:latin typeface="Cambria"/>
              </a:rPr>
              <a:t>Імпорт України, HS 1904 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57984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5CE76"/>
                </a:solidFill>
                <a:latin typeface="Calibri"/>
              </a:rPr>
              <a:t>РІК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61488" y="2157984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F5CE76"/>
                </a:solidFill>
                <a:latin typeface="Calibri"/>
              </a:rPr>
              <a:t>ТОНН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07408" y="2157984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F5CE76"/>
                </a:solidFill>
                <a:latin typeface="Calibri"/>
              </a:rPr>
              <a:t>ТИС. $ CIF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53328" y="2157984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F5CE76"/>
                </a:solidFill>
                <a:latin typeface="Calibri"/>
              </a:rPr>
              <a:t>$/КГ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468879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CF9F0"/>
                </a:solidFill>
                <a:latin typeface="Calibri"/>
              </a:rPr>
              <a:t>2018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2848" y="2468879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50" b="0" i="0">
                <a:solidFill>
                  <a:srgbClr val="FCF9F0"/>
                </a:solidFill>
                <a:latin typeface="Calibri"/>
              </a:rPr>
              <a:t>956,6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58768" y="2468879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50" b="0" i="0">
                <a:solidFill>
                  <a:srgbClr val="FCF9F0"/>
                </a:solidFill>
                <a:latin typeface="Calibri"/>
              </a:rPr>
              <a:t>839,7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04688" y="2468879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50" b="1" i="0">
                <a:solidFill>
                  <a:srgbClr val="F5CE76"/>
                </a:solidFill>
                <a:latin typeface="Calibri"/>
              </a:rPr>
              <a:t>0,88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2834639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D2E4CE"/>
                </a:solidFill>
                <a:latin typeface="Calibri"/>
              </a:rPr>
              <a:t>2019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12848" y="2834639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50" b="0" i="0">
                <a:solidFill>
                  <a:srgbClr val="D2E4CE"/>
                </a:solidFill>
                <a:latin typeface="Calibri"/>
              </a:rPr>
              <a:t>17,6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58768" y="2834639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50" b="0" i="0">
                <a:solidFill>
                  <a:srgbClr val="D2E4CE"/>
                </a:solidFill>
                <a:latin typeface="Calibri"/>
              </a:rPr>
              <a:t>74,6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04688" y="2834639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50" b="1" i="0">
                <a:solidFill>
                  <a:srgbClr val="D2E4CE"/>
                </a:solidFill>
                <a:latin typeface="Calibri"/>
              </a:rPr>
              <a:t>4,24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3200399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D2E4CE"/>
                </a:solidFill>
                <a:latin typeface="Calibri"/>
              </a:rPr>
              <a:t>2020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12848" y="3200399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50" b="0" i="0">
                <a:solidFill>
                  <a:srgbClr val="D2E4CE"/>
                </a:solidFill>
                <a:latin typeface="Calibri"/>
              </a:rPr>
              <a:t>1,2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58768" y="3200399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50" b="0" i="0">
                <a:solidFill>
                  <a:srgbClr val="D2E4CE"/>
                </a:solidFill>
                <a:latin typeface="Calibri"/>
              </a:rPr>
              <a:t>12,8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04688" y="3200399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50" b="1" i="0">
                <a:solidFill>
                  <a:srgbClr val="D2E4CE"/>
                </a:solidFill>
                <a:latin typeface="Calibri"/>
              </a:rPr>
              <a:t>10,67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" y="3566159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D2E4CE"/>
                </a:solidFill>
                <a:latin typeface="Calibri"/>
              </a:rPr>
              <a:t>2021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12848" y="3566159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50" b="0" i="0">
                <a:solidFill>
                  <a:srgbClr val="D2E4CE"/>
                </a:solidFill>
                <a:latin typeface="Calibri"/>
              </a:rPr>
              <a:t>0,4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58768" y="3566159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50" b="0" i="0">
                <a:solidFill>
                  <a:srgbClr val="D2E4CE"/>
                </a:solidFill>
                <a:latin typeface="Calibri"/>
              </a:rPr>
              <a:t>2,3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04688" y="3566159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50" b="1" i="0">
                <a:solidFill>
                  <a:srgbClr val="D2E4CE"/>
                </a:solidFill>
                <a:latin typeface="Calibri"/>
              </a:rPr>
              <a:t>5,75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7" y="39319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CF9F0"/>
                </a:solidFill>
                <a:latin typeface="Calibri"/>
              </a:rPr>
              <a:t>2022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12848" y="393192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50" b="0" i="0">
                <a:solidFill>
                  <a:srgbClr val="FCF9F0"/>
                </a:solidFill>
                <a:latin typeface="Calibri"/>
              </a:rPr>
              <a:t>362,2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58768" y="393192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50" b="0" i="0">
                <a:solidFill>
                  <a:srgbClr val="FCF9F0"/>
                </a:solidFill>
                <a:latin typeface="Calibri"/>
              </a:rPr>
              <a:t>534,4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04688" y="393192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50" b="1" i="0">
                <a:solidFill>
                  <a:srgbClr val="F5CE76"/>
                </a:solidFill>
                <a:latin typeface="Calibri"/>
              </a:rPr>
              <a:t>1,48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7" y="429768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CF9F0"/>
                </a:solidFill>
                <a:latin typeface="Calibri"/>
              </a:rPr>
              <a:t>2023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12848" y="429768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50" b="0" i="0">
                <a:solidFill>
                  <a:srgbClr val="FCF9F0"/>
                </a:solidFill>
                <a:latin typeface="Calibri"/>
              </a:rPr>
              <a:t>287,5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58768" y="429768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50" b="0" i="0">
                <a:solidFill>
                  <a:srgbClr val="FCF9F0"/>
                </a:solidFill>
                <a:latin typeface="Calibri"/>
              </a:rPr>
              <a:t>706,7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04688" y="429768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50" b="1" i="0">
                <a:solidFill>
                  <a:srgbClr val="F5CE76"/>
                </a:solidFill>
                <a:latin typeface="Calibri"/>
              </a:rPr>
              <a:t>2,46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7" y="46634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CF9F0"/>
                </a:solidFill>
                <a:latin typeface="Calibri"/>
              </a:rPr>
              <a:t>2024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12848" y="466344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50" b="0" i="0">
                <a:solidFill>
                  <a:srgbClr val="FCF9F0"/>
                </a:solidFill>
                <a:latin typeface="Calibri"/>
              </a:rPr>
              <a:t>207,2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58768" y="466344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50" b="0" i="0">
                <a:solidFill>
                  <a:srgbClr val="FCF9F0"/>
                </a:solidFill>
                <a:latin typeface="Calibri"/>
              </a:rPr>
              <a:t>608,7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04688" y="466344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50" b="1" i="0">
                <a:solidFill>
                  <a:srgbClr val="F5CE76"/>
                </a:solidFill>
                <a:latin typeface="Calibri"/>
              </a:rPr>
              <a:t>2,94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1247" y="5084064"/>
            <a:ext cx="5943600" cy="11887"/>
          </a:xfrm>
          <a:prstGeom prst="rect">
            <a:avLst/>
          </a:prstGeom>
          <a:solidFill>
            <a:srgbClr val="2C6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1247" y="5248656"/>
            <a:ext cx="5943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1">
                <a:solidFill>
                  <a:srgbClr val="F0AC58"/>
                </a:solidFill>
                <a:latin typeface="Calibri"/>
              </a:rPr>
              <a:t>2019–2021 — майже нульові значення. Це схоже на прогалину у звітності, а не на реальне зникнення імпорту. Ряд читати обережно.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242048" y="1536192"/>
            <a:ext cx="4389120" cy="4626864"/>
          </a:xfrm>
          <a:prstGeom prst="rect">
            <a:avLst/>
          </a:prstGeom>
          <a:solidFill>
            <a:srgbClr val="12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16368" y="1737360"/>
            <a:ext cx="3840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5CE76"/>
                </a:solidFill>
                <a:latin typeface="Cambria"/>
              </a:rPr>
              <a:t>Межі цих даних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16368" y="2157984"/>
            <a:ext cx="3840480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FCF9F0"/>
                </a:solidFill>
                <a:latin typeface="Calibri"/>
              </a:rPr>
              <a:t>— HS 1904 90 — «готові харчові вироби з зерна, інші». Готовий рис — лише частина коду; сюди ж потрапляють інші крупи.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16368" y="3163824"/>
            <a:ext cx="3840480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FCF9F0"/>
                </a:solidFill>
                <a:latin typeface="Calibri"/>
              </a:rPr>
              <a:t>— Публічний доступ UN Comtrade віддає лише світовий агрегат. Розбивки за країнами-партнерами немає — тож частку Таїланду та Кореї з цього джерела не видно.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16368" y="4169664"/>
            <a:ext cx="3840480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FCF9F0"/>
                </a:solidFill>
                <a:latin typeface="Calibri"/>
              </a:rPr>
              <a:t>— Дані за 2025 рік на дату зрізу відсутні.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516368" y="5266944"/>
            <a:ext cx="3840480" cy="841248"/>
          </a:xfrm>
          <a:prstGeom prst="rect">
            <a:avLst/>
          </a:prstGeom>
          <a:solidFill>
            <a:srgbClr val="1A5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99248" y="5376672"/>
            <a:ext cx="34747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 i="0">
                <a:solidFill>
                  <a:srgbClr val="F0AC58"/>
                </a:solidFill>
                <a:latin typeface="Calibri"/>
              </a:rPr>
              <a:t>Для точної картини потрібне вивантаження Держмитслужби за УКТЗЕД 1904 90 10 з розбивкою за країнами — це платний / запитовий ресурс.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" y="63550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3D7BF"/>
                </a:solidFill>
                <a:latin typeface="Calibri"/>
              </a:rPr>
              <a:t>Джерело: UN Comtrade (comtradeapi.un.org), репортер Україна (804), потік «імпорт», код HS 190490, звернення 22.09.2026. $/кг — наш розрахунок.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27432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0AC58"/>
                </a:solidFill>
                <a:latin typeface="Calibri"/>
              </a:rPr>
              <a:t>РЕГУЛЯТОРИКА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Cambria"/>
              </a:rPr>
              <a:t>Що потрібно для введення продукту на ринок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1556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D2E4CE"/>
                </a:solidFill>
                <a:latin typeface="Calibri"/>
              </a:rPr>
              <a:t>Оглядово, без глибокого юридичного аналізу — з позначенням зон ризику.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36192"/>
            <a:ext cx="6492240" cy="4626864"/>
          </a:xfrm>
          <a:prstGeom prst="rect">
            <a:avLst/>
          </a:prstGeom>
          <a:solidFill>
            <a:srgbClr val="12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737360"/>
            <a:ext cx="5943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5CE76"/>
                </a:solidFill>
                <a:latin typeface="Cambria"/>
              </a:rPr>
              <a:t>Базові вимоги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57984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F5CE76"/>
                </a:solidFill>
                <a:latin typeface="Calibri"/>
              </a:rPr>
              <a:t>Маркування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70048" y="2157984"/>
            <a:ext cx="4114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FCF9F0"/>
                </a:solidFill>
                <a:latin typeface="Calibri"/>
              </a:rPr>
              <a:t>Українською мовою — ЗУ «Про інформацію для споживачів щодо харчових продуктів» № 2639-VIII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017520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F5CE76"/>
                </a:solidFill>
                <a:latin typeface="Calibri"/>
              </a:rPr>
              <a:t>Обов'язкові дані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70048" y="3017520"/>
            <a:ext cx="4114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FCF9F0"/>
                </a:solidFill>
                <a:latin typeface="Calibri"/>
              </a:rPr>
              <a:t>Склад, поживна цінність, алергени, термін придатності, партія, країна походження, виробник та імпортер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877056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F5CE76"/>
                </a:solidFill>
                <a:latin typeface="Calibri"/>
              </a:rPr>
              <a:t>Оператор ринку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70048" y="3877056"/>
            <a:ext cx="4114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FCF9F0"/>
                </a:solidFill>
                <a:latin typeface="Calibri"/>
              </a:rPr>
              <a:t>Реєстрація потужностей імпортера в Держпродспоживслужбі; система НАССР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4736592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F5CE76"/>
                </a:solidFill>
                <a:latin typeface="Calibri"/>
              </a:rPr>
              <a:t>Походження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0048" y="4736592"/>
            <a:ext cx="4114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FCF9F0"/>
                </a:solidFill>
                <a:latin typeface="Calibri"/>
              </a:rPr>
              <a:t>Рецептура рослинного походження — ветеринарний сертифікат не потрібен. Він з'являється, щойно в складі є компонент тваринного походження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5596127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F5CE76"/>
                </a:solidFill>
                <a:latin typeface="Calibri"/>
              </a:rPr>
              <a:t>Митні платежі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70048" y="5596127"/>
            <a:ext cx="4114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FCF9F0"/>
                </a:solidFill>
                <a:latin typeface="Calibri"/>
              </a:rPr>
              <a:t>Мито 10 % і ПДВ 20 % — уже враховані в розрахунку собівартості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42048" y="1536192"/>
            <a:ext cx="4389120" cy="4626864"/>
          </a:xfrm>
          <a:prstGeom prst="rect">
            <a:avLst/>
          </a:prstGeom>
          <a:solidFill>
            <a:srgbClr val="12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16368" y="1737360"/>
            <a:ext cx="3840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5CE76"/>
                </a:solidFill>
                <a:latin typeface="Cambria"/>
              </a:rPr>
              <a:t>Зони ризику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16368" y="2121408"/>
            <a:ext cx="45720" cy="1170432"/>
          </a:xfrm>
          <a:prstGeom prst="rect">
            <a:avLst/>
          </a:prstGeom>
          <a:solidFill>
            <a:srgbClr val="B33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99248" y="2157984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0AC58"/>
                </a:solidFill>
                <a:latin typeface="Calibri"/>
              </a:rPr>
              <a:t>Рецептура з м'ясом чи яйцем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8" y="2414015"/>
            <a:ext cx="3566160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FCF9F0"/>
                </a:solidFill>
                <a:latin typeface="Calibri"/>
              </a:rPr>
              <a:t>Смаки з куркою, яйцем або морепродуктами переводять товар у режим продукції тваринного походження — інший пакет документів і затверджені потужності експортера.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16368" y="3438144"/>
            <a:ext cx="45720" cy="1170432"/>
          </a:xfrm>
          <a:prstGeom prst="rect">
            <a:avLst/>
          </a:prstGeom>
          <a:solidFill>
            <a:srgbClr val="B33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99248" y="3474720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0AC58"/>
                </a:solidFill>
                <a:latin typeface="Calibri"/>
              </a:rPr>
              <a:t>Воєнні спрощення маркування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99248" y="3730752"/>
            <a:ext cx="3566160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FCF9F0"/>
                </a:solidFill>
                <a:latin typeface="Calibri"/>
              </a:rPr>
              <a:t>У березні 2022 року Кабмін дозволив супровідну документацію українською замість друку на упаковці. Чи діє це у 2026 році — потребує юридичної перевірки.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16368" y="4754880"/>
            <a:ext cx="45720" cy="1170432"/>
          </a:xfrm>
          <a:prstGeom prst="rect">
            <a:avLst/>
          </a:prstGeom>
          <a:solidFill>
            <a:srgbClr val="B33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99248" y="4791456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0AC58"/>
                </a:solidFill>
                <a:latin typeface="Calibri"/>
              </a:rPr>
              <a:t>Заявки на упаковці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99248" y="5047488"/>
            <a:ext cx="3566160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FCF9F0"/>
                </a:solidFill>
                <a:latin typeface="Calibri"/>
              </a:rPr>
              <a:t>«Без консервантів», «organic», «без глютену» вимагають підтвердження; organic — ще й визнаної сертифікації.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3550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3D7BF"/>
                </a:solidFill>
                <a:latin typeface="Calibri"/>
              </a:rPr>
              <a:t>Джерело: ЗУ № 2639-VIII (zakon.rada.gov.ua/go/2639-19); повідомлення Кабінету Міністрів України від 21.03.2022 про спрощення маркування імпортних продуктів. Станом на 22.09.2026 чинність спрощень не перевірялася — потрібен висновок юриста.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27432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0AC58"/>
                </a:solidFill>
                <a:latin typeface="Calibri"/>
              </a:rPr>
              <a:t>СОБІВАРТІСТЬ ПРОТИ ПОЛИЦІ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Cambria"/>
              </a:rPr>
              <a:t>Де саме відкривається вікно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1556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D2E4CE"/>
                </a:solidFill>
                <a:latin typeface="Calibri"/>
              </a:rPr>
              <a:t>Єдиний орієнтир ціни — 64,3 ₴/100 г. Наша собівартість — учетверо нижча.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36192"/>
            <a:ext cx="5120640" cy="2377440"/>
          </a:xfrm>
          <a:prstGeom prst="rect">
            <a:avLst/>
          </a:prstGeom>
          <a:solidFill>
            <a:srgbClr val="12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737360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5CE76"/>
                </a:solidFill>
                <a:latin typeface="Cambria"/>
              </a:rPr>
              <a:t>Відправна точка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57984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D2E4CE"/>
                </a:solidFill>
                <a:latin typeface="Calibri"/>
              </a:rPr>
              <a:t>Hetbahn 210 г, полиця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39" y="2157984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5CE76"/>
                </a:solidFill>
                <a:latin typeface="Calibri"/>
              </a:rPr>
              <a:t>135,00 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505456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D2E4CE"/>
                </a:solidFill>
                <a:latin typeface="Calibri"/>
              </a:rPr>
              <a:t>те саме за 100 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39" y="2505456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5CE76"/>
                </a:solidFill>
                <a:latin typeface="Calibri"/>
              </a:rPr>
              <a:t>64,3 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852927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D2E4CE"/>
                </a:solidFill>
                <a:latin typeface="Calibri"/>
              </a:rPr>
              <a:t>наш пауч 240 г, 40′ FCL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39" y="2852927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CF9F0"/>
                </a:solidFill>
                <a:latin typeface="Calibri"/>
              </a:rPr>
              <a:t>40,15 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3200399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D2E4CE"/>
                </a:solidFill>
                <a:latin typeface="Calibri"/>
              </a:rPr>
              <a:t>те саме за 100 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39" y="3200399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5CE76"/>
                </a:solidFill>
                <a:latin typeface="Calibri"/>
              </a:rPr>
              <a:t>16,7 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547871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D2E4CE"/>
                </a:solidFill>
                <a:latin typeface="Calibri"/>
              </a:rPr>
              <a:t>розрив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39" y="3547871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0AC58"/>
                </a:solidFill>
                <a:latin typeface="Calibri"/>
              </a:rPr>
              <a:t>×3,8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4059936"/>
            <a:ext cx="5120640" cy="2103120"/>
          </a:xfrm>
          <a:prstGeom prst="rect">
            <a:avLst/>
          </a:prstGeom>
          <a:solidFill>
            <a:srgbClr val="12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261104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5CE76"/>
                </a:solidFill>
                <a:latin typeface="Cambria"/>
              </a:rPr>
              <a:t>Наш пауч 240 г коштує менше, ніж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681728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CF9F0"/>
                </a:solidFill>
                <a:latin typeface="Calibri"/>
              </a:rPr>
              <a:t>Охолоджений боул Сільпо 330 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33087" y="468172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F5CE76"/>
                </a:solidFill>
                <a:latin typeface="Calibri"/>
              </a:rPr>
              <a:t>139,00 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" y="5010912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CF9F0"/>
                </a:solidFill>
                <a:latin typeface="Calibri"/>
              </a:rPr>
              <a:t>Локшина Samyang Buldak 70 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33087" y="5010912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F5CE76"/>
                </a:solidFill>
                <a:latin typeface="Calibri"/>
              </a:rPr>
              <a:t>137,00 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" y="5340096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CF9F0"/>
                </a:solidFill>
                <a:latin typeface="Calibri"/>
              </a:rPr>
              <a:t>Токпоккі Yopokki 140 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33087" y="5340096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F5CE76"/>
                </a:solidFill>
                <a:latin typeface="Calibri"/>
              </a:rPr>
              <a:t>≈160 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7" y="5669280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CF9F0"/>
                </a:solidFill>
                <a:latin typeface="Calibri"/>
              </a:rPr>
              <a:t>Рис сухий 5×80 г, Novus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33087" y="566928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F5CE76"/>
                </a:solidFill>
                <a:latin typeface="Calibri"/>
              </a:rPr>
              <a:t>38,59 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7" y="5980176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D2E4CE"/>
                </a:solidFill>
                <a:latin typeface="Calibri"/>
              </a:rPr>
              <a:t>Сухий рис лишається якорем «дешево» — і це головне заперечення.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61888" y="1536192"/>
            <a:ext cx="5669280" cy="4626864"/>
          </a:xfrm>
          <a:prstGeom prst="rect">
            <a:avLst/>
          </a:prstGeom>
          <a:solidFill>
            <a:srgbClr val="12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36207" y="1737360"/>
            <a:ext cx="51206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5CE76"/>
                </a:solidFill>
                <a:latin typeface="Cambria"/>
              </a:rPr>
              <a:t>Цінові сценарії · пауч 240 г, 40′ FCL   ·   ОЦІНКА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36208" y="2157984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5CE76"/>
                </a:solidFill>
                <a:latin typeface="Calibri"/>
              </a:rPr>
              <a:t>РЕКОМ. ЦІНА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2157984"/>
            <a:ext cx="960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F5CE76"/>
                </a:solidFill>
                <a:latin typeface="Calibri"/>
              </a:rPr>
              <a:t>₴/100 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32520" y="2157984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F5CE76"/>
                </a:solidFill>
                <a:latin typeface="Calibri"/>
              </a:rPr>
              <a:t>vs HETBAHN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2157984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F5CE76"/>
                </a:solidFill>
                <a:latin typeface="Calibri"/>
              </a:rPr>
              <a:t>МАРЖА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2157984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F5CE76"/>
                </a:solidFill>
                <a:latin typeface="Calibri"/>
              </a:rPr>
              <a:t>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36208" y="2487168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CF9F0"/>
                </a:solidFill>
                <a:latin typeface="Cambria"/>
              </a:rPr>
              <a:t>89 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0" y="2487168"/>
            <a:ext cx="960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D2E4CE"/>
                </a:solidFill>
                <a:latin typeface="Calibri"/>
              </a:rPr>
              <a:t>37,1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32520" y="2487168"/>
            <a:ext cx="1143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D2E4CE"/>
                </a:solidFill>
                <a:latin typeface="Calibri"/>
              </a:rPr>
              <a:t>−42 %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12680" y="2487168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D2E4CE"/>
                </a:solidFill>
                <a:latin typeface="Calibri"/>
              </a:rPr>
              <a:t>14,79 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2487168"/>
            <a:ext cx="502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D2E4CE"/>
                </a:solidFill>
                <a:latin typeface="Calibri"/>
              </a:rPr>
              <a:t>27 %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36208" y="2907791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CF9F0"/>
                </a:solidFill>
                <a:latin typeface="Cambria"/>
              </a:rPr>
              <a:t>99 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89520" y="2907791"/>
            <a:ext cx="960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D2E4CE"/>
                </a:solidFill>
                <a:latin typeface="Calibri"/>
              </a:rPr>
              <a:t>41,2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32520" y="2907791"/>
            <a:ext cx="1143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D2E4CE"/>
                </a:solidFill>
                <a:latin typeface="Calibri"/>
              </a:rPr>
              <a:t>−36 %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12680" y="2907791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D2E4CE"/>
                </a:solidFill>
                <a:latin typeface="Calibri"/>
              </a:rPr>
              <a:t>20,96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2907791"/>
            <a:ext cx="502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D2E4CE"/>
                </a:solidFill>
                <a:latin typeface="Calibri"/>
              </a:rPr>
              <a:t>34 %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44768" y="3282696"/>
            <a:ext cx="5303520" cy="384048"/>
          </a:xfrm>
          <a:prstGeom prst="rect">
            <a:avLst/>
          </a:prstGeom>
          <a:solidFill>
            <a:srgbClr val="2C6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36208" y="3328415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5CE76"/>
                </a:solidFill>
                <a:latin typeface="Cambria"/>
              </a:rPr>
              <a:t>109 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89520" y="3328415"/>
            <a:ext cx="960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F5CE76"/>
                </a:solidFill>
                <a:latin typeface="Calibri"/>
              </a:rPr>
              <a:t>45,4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32520" y="3328415"/>
            <a:ext cx="1143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F5CE76"/>
                </a:solidFill>
                <a:latin typeface="Calibri"/>
              </a:rPr>
              <a:t>−29 %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12680" y="3328415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F5CE76"/>
                </a:solidFill>
                <a:latin typeface="Calibri"/>
              </a:rPr>
              <a:t>27,13 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72800" y="3328415"/>
            <a:ext cx="502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F5CE76"/>
                </a:solidFill>
                <a:latin typeface="Calibri"/>
              </a:rPr>
              <a:t>40 %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44768" y="3703320"/>
            <a:ext cx="5303520" cy="384048"/>
          </a:xfrm>
          <a:prstGeom prst="rect">
            <a:avLst/>
          </a:prstGeom>
          <a:solidFill>
            <a:srgbClr val="2C6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36208" y="3749039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5CE76"/>
                </a:solidFill>
                <a:latin typeface="Cambria"/>
              </a:rPr>
              <a:t>119 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589520" y="3749039"/>
            <a:ext cx="960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F5CE76"/>
                </a:solidFill>
                <a:latin typeface="Calibri"/>
              </a:rPr>
              <a:t>49,6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32520" y="3749039"/>
            <a:ext cx="1143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F5CE76"/>
                </a:solidFill>
                <a:latin typeface="Calibri"/>
              </a:rPr>
              <a:t>−23 %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12680" y="3749039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F5CE76"/>
                </a:solidFill>
                <a:latin typeface="Calibri"/>
              </a:rPr>
              <a:t>33,31 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972800" y="3749039"/>
            <a:ext cx="502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F5CE76"/>
                </a:solidFill>
                <a:latin typeface="Calibri"/>
              </a:rPr>
              <a:t>45 %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36208" y="4169663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CF9F0"/>
                </a:solidFill>
                <a:latin typeface="Cambria"/>
              </a:rPr>
              <a:t>129 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589520" y="4169663"/>
            <a:ext cx="960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D2E4CE"/>
                </a:solidFill>
                <a:latin typeface="Calibri"/>
              </a:rPr>
              <a:t>53,8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32520" y="4169663"/>
            <a:ext cx="1143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D2E4CE"/>
                </a:solidFill>
                <a:latin typeface="Calibri"/>
              </a:rPr>
              <a:t>−16 %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012680" y="4169663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D2E4CE"/>
                </a:solidFill>
                <a:latin typeface="Calibri"/>
              </a:rPr>
              <a:t>39,48 ₴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972800" y="4169663"/>
            <a:ext cx="502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D2E4CE"/>
                </a:solidFill>
                <a:latin typeface="Calibri"/>
              </a:rPr>
              <a:t>50 %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236208" y="4645151"/>
            <a:ext cx="5212080" cy="11887"/>
          </a:xfrm>
          <a:prstGeom prst="rect">
            <a:avLst/>
          </a:prstGeom>
          <a:solidFill>
            <a:srgbClr val="2C6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236208" y="4809744"/>
            <a:ext cx="52120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0" i="1">
                <a:solidFill>
                  <a:srgbClr val="F0AC58"/>
                </a:solidFill>
                <a:latin typeface="Calibri"/>
              </a:rPr>
              <a:t>Розрахунок: роздрібна ціна без ПДВ, націнка мережі 35 %, маржа — різниця між ціною відвантаження та собівартістю 40,15 ₴. Це модель для обговорення, а не комерційна пропозиція: реальна націнка мереж і умови входу (listing fee, промо-бюджет, відстрочка) у розрахунку не враховані.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6928" y="63550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3D7BF"/>
                </a:solidFill>
                <a:latin typeface="Calibri"/>
              </a:rPr>
              <a:t>Джерело: собівартість — колода «RTE Rice · Постачальники» (BSCM пауч 240 г, 40′ FCL, курс 45,00 ₴/$); ціна Hetbahn — smak-korea.com.ua, 22.09.2026. Сценарії — наш розрахунок.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27432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0AC58"/>
                </a:solidFill>
                <a:latin typeface="Calibri"/>
              </a:rPr>
              <a:t>ВИСНОВОК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Cambria"/>
              </a:rPr>
              <a:t>Ніша вільна — але це не готовий попит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1556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D2E4CE"/>
                </a:solidFill>
                <a:latin typeface="Calibri"/>
              </a:rPr>
              <a:t>Пряма відповідь на питання, поставлене на початку дослідження.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36192"/>
            <a:ext cx="5760720" cy="2743200"/>
          </a:xfrm>
          <a:prstGeom prst="rect">
            <a:avLst/>
          </a:prstGeom>
          <a:solidFill>
            <a:srgbClr val="12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737360"/>
            <a:ext cx="5212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5CE76"/>
                </a:solidFill>
                <a:latin typeface="Cambria"/>
              </a:rPr>
              <a:t>Так, ніша вільна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57984"/>
            <a:ext cx="52120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 i="0">
                <a:solidFill>
                  <a:srgbClr val="FCF9F0"/>
                </a:solidFill>
                <a:latin typeface="Calibri"/>
              </a:rPr>
              <a:t>У жодній із 18 перевірених мереж немає RTE-рису. У чотирьох із шести перевірених азійських е-магазинів — теж. Вхід не потребує витіснення конкурента: полиця порожня, і власна марка може стати першою.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7" y="3584448"/>
            <a:ext cx="5212080" cy="11887"/>
          </a:xfrm>
          <a:prstGeom prst="rect">
            <a:avLst/>
          </a:prstGeom>
          <a:solidFill>
            <a:srgbClr val="C89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3730752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5CE76"/>
                </a:solidFill>
                <a:latin typeface="Calibri"/>
              </a:rPr>
              <a:t>Диференціація за ціною не потрібна — немає від кого.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4443984"/>
            <a:ext cx="5760720" cy="1719072"/>
          </a:xfrm>
          <a:prstGeom prst="rect">
            <a:avLst/>
          </a:prstGeom>
          <a:solidFill>
            <a:srgbClr val="12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4645152"/>
            <a:ext cx="5212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5CE76"/>
                </a:solidFill>
                <a:latin typeface="Cambria"/>
              </a:rPr>
              <a:t>Але порожня полиця — не те саме, що попит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5065776"/>
            <a:ext cx="52120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150" b="0" i="0">
                <a:solidFill>
                  <a:srgbClr val="FCF9F0"/>
                </a:solidFill>
                <a:latin typeface="Calibri"/>
              </a:rPr>
              <a:t>Категорії немає тому, що ніхто її не пробував, — або тому, що спроби не окупилися. Відрізнити одне від одного кабінетно неможливо. Тому головна інвестиція на старті — не ціна, а пояснення поводу споживання.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1536192"/>
            <a:ext cx="5047488" cy="4626864"/>
          </a:xfrm>
          <a:prstGeom prst="rect">
            <a:avLst/>
          </a:prstGeom>
          <a:solidFill>
            <a:srgbClr val="12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1737360"/>
            <a:ext cx="44988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5CE76"/>
                </a:solidFill>
                <a:latin typeface="Cambria"/>
              </a:rPr>
              <a:t>Що зробити до рішення про закупівлю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157984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5CE76"/>
                </a:solidFill>
                <a:latin typeface="Cambria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42048" y="2157984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Ручний моніторинг полиці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42048" y="2432303"/>
            <a:ext cx="411480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D2E4CE"/>
                </a:solidFill>
                <a:latin typeface="Calibri"/>
              </a:rPr>
              <a:t>АТБ, Сільпо, Novus, Ашан, METRO — 2 міста, фотофіксація цінників. Закриває єдину прогалину цього дослідження.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200400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5CE76"/>
                </a:solidFill>
                <a:latin typeface="Cambr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2048" y="3200400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Тестова закупка двох корейських SKU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42048" y="3474720"/>
            <a:ext cx="411480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D2E4CE"/>
                </a:solidFill>
                <a:latin typeface="Calibri"/>
              </a:rPr>
              <a:t>Зафіксувати вагу, склад, маркування й реальну якість — щоб мати з чим порівнювати зразки заводів.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4242816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5CE76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42048" y="4242816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Вивантаження Держмитслужби за УКТЗЕД 1904 90 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42048" y="4517136"/>
            <a:ext cx="411480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D2E4CE"/>
                </a:solidFill>
                <a:latin typeface="Calibri"/>
              </a:rPr>
              <a:t>Розбивка за країнами покаже, чи хтось уже возить і в яких обсягах.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5285231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5CE76"/>
                </a:solidFill>
                <a:latin typeface="Cambr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42048" y="5285231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Перемовини з мережею про вхід у категорію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42048" y="5559551"/>
            <a:ext cx="411480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D2E4CE"/>
                </a:solidFill>
                <a:latin typeface="Calibri"/>
              </a:rPr>
              <a:t>Новий продукт без аналога на полиці — це питання не ціни, а готовності мережі відкрити позицію.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3550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3D7BF"/>
                </a:solidFill>
                <a:latin typeface="Calibri"/>
              </a:rPr>
              <a:t>Підсумок за матеріалами слайдів 2–13. Усі полиці й ціни зафіксовано 22.09.2026; дані з позначкою «потребує ручної перевірки» у висновок не включені.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