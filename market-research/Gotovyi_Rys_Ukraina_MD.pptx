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5" Type="http://schemas.openxmlformats.org/officeDocument/2006/relationships/image" Target="../media/image9.jpg"/><Relationship Id="rId6" Type="http://schemas.openxmlformats.org/officeDocument/2006/relationships/image" Target="../media/image3.jpg"/><Relationship Id="rId7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8.jpg"/><Relationship Id="rId13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19.jpg"/><Relationship Id="rId5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jpg"/><Relationship Id="rId4" Type="http://schemas.openxmlformats.org/officeDocument/2006/relationships/image" Target="../media/image6.jpg"/><Relationship Id="rId5" Type="http://schemas.openxmlformats.org/officeDocument/2006/relationships/image" Target="../media/image19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993392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3042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МАРКЕТИНГОВЕ ДОСЛІДЖЕННЯ · ВЕРЕСЕНЬ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24912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Ринок готового рису
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26110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6CEE2"/>
                </a:solidFill>
                <a:latin typeface="Segoe UI"/>
              </a:rPr>
              <a:t>Конкурентне середовище, асортимент, ціни та стратегія виходу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901184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5102352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100" b="0" i="0">
                <a:solidFill>
                  <a:srgbClr val="9FA9C4"/>
                </a:solidFill>
                <a:latin typeface="Segoe UI"/>
              </a:rPr>
              <a:t>Для власника компанії та керівників розвитку і комерції
Зріз онлайн-вітрин: 22 вересня 2026 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1115568"/>
            <a:ext cx="2148840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665" y="1243584"/>
            <a:ext cx="1529396" cy="21396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1463040"/>
            <a:ext cx="2148840" cy="2048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9613" y="1591056"/>
            <a:ext cx="1784077" cy="17922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639312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earspr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422" y="3767328"/>
            <a:ext cx="1391883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639312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ttogi_burg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3775272"/>
            <a:ext cx="1856232" cy="16483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52944" y="5687568"/>
            <a:ext cx="4453128" cy="786384"/>
          </a:xfrm>
          <a:prstGeom prst="roundRect">
            <a:avLst>
              <a:gd name="adj" fmla="val 14000"/>
            </a:avLst>
          </a:prstGeom>
          <a:solidFill>
            <a:srgbClr val="262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5797296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 бренди гарнірів · 14 порівнянних варіантів · </a:t>
            </a:r>
            <a:r>
              <a:rPr sz="1100" b="0" i="0">
                <a:solidFill>
                  <a:srgbClr val="B9C2DA"/>
                </a:solidFill>
                <a:latin typeface="Segoe UI"/>
              </a:rPr>
              <a:t>ціни 100–252 грн. Наявність — головна проблема категорії.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РЕЗЮМЕ ДЛЯ ВЛАСНИКА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Ринок існує. Масовий попит ще не доведено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Категорія знайома рітейлу, але майже кожна перевірена картка — без залишку.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8366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52928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БРЕНДИ ГАРНІРІВ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45536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Ben's Original · Bibigo
Clearspring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675887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плюс Ottogi та Portion у стравах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0712" y="1883664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10712" y="188366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176272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220–250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52928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9EA6"/>
                </a:solidFill>
                <a:latin typeface="Segoe UI"/>
              </a:rPr>
              <a:t>ГРАМІВ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145536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основний діапазон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3675887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12 із 14 порівнянних варіантів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83664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88366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176272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852928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7A169"/>
                </a:solidFill>
                <a:latin typeface="Segoe UI"/>
              </a:rPr>
              <a:t>ГРИВЕНЬ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145536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діюча пропозиція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675887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Bibigo 210 г · «Смак Кореї»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5128" y="1883664"/>
            <a:ext cx="2578608" cy="22128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5128" y="1883664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59" y="2176272"/>
            <a:ext cx="20665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303A5D"/>
                </a:solidFill>
                <a:latin typeface="Segoe UI"/>
              </a:rPr>
              <a:t>1 з 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2852928"/>
            <a:ext cx="2066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2564B"/>
                </a:solidFill>
                <a:latin typeface="Segoe UI"/>
              </a:rPr>
              <a:t>У НАЯВНОСТІ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3145536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решта — без залишку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675887"/>
            <a:ext cx="20665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наявність, а не ціна, стримує категорію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4352544"/>
            <a:ext cx="10954512" cy="1755648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3504" y="4352544"/>
            <a:ext cx="91440" cy="17556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59028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95C"/>
                </a:solidFill>
                <a:latin typeface="Segoe UI"/>
              </a:rPr>
              <a:t>Комерційний висновок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047488"/>
            <a:ext cx="57607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Вхід через базовий гарнір у пауче з обмеженою стартовою матрицею: 2 SKU, 220–250 г, ціновий тест 109–129 грн.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4626864"/>
            <a:ext cx="36576" cy="1207008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590288"/>
            <a:ext cx="398678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C2DA"/>
                </a:solidFill>
                <a:latin typeface="Segoe UI"/>
              </a:rPr>
              <a:t>Основа аналізу — онлайн-асортимент. Частота SKU не дорівнює частці продажів; позиції без залишку позначені окремо на кожному слайді.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S5 · перевірені картки українських онлайн-вітрин, 22.09.2026.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КОНКУРЕНТНЕ СЕРЕДОВИЩЕ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Три сегменти. Наш — перший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Вологий готовий гарнір без холодильника — цільовий сегмент.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3511296" cy="422452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139696"/>
            <a:ext cx="3145536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530" y="2231136"/>
            <a:ext cx="1137243" cy="15910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6112" y="405993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ПОВСЯКДЕННИЙ ГАРНІР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315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Ben's Original · Bibigo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18304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Чистий рис або легкий смак.
Пауч 220–250 г, лоток 210 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5596128"/>
            <a:ext cx="1272844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ЦІЛЬОВИЙ СЕГМЕНТ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1883664"/>
            <a:ext cx="3511296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2544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35424" y="2139696"/>
            <a:ext cx="3145536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earsp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841" y="2231136"/>
            <a:ext cx="1330701" cy="15910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5152" y="405993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ОРГАНІЧНИЙ ПРЕМІУМ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315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718304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Суміш рисів із tamari.
Пауч 250 г; картка 252 грн.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5152" y="5596128"/>
            <a:ext cx="943660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5596128"/>
            <a:ext cx="9436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ВУЗЬКА НІША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1883664"/>
            <a:ext cx="3511296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1583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84463" y="2139696"/>
            <a:ext cx="3145536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ttogi_burg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358" y="2231136"/>
            <a:ext cx="1791746" cy="15910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94192" y="4059936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65382"/>
                </a:solidFill>
                <a:latin typeface="Segoe UI"/>
              </a:rPr>
              <a:t>ПОВНОЦІННА СТРАВА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3159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Ottogi · Portion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718304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Рис із наповнювачем.
Чаша або реторт-пакет.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5596128"/>
            <a:ext cx="943660" cy="237744"/>
          </a:xfrm>
          <a:prstGeom prst="roundRect">
            <a:avLst>
              <a:gd name="adj" fmla="val 5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596128"/>
            <a:ext cx="9436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ІНШИЙ ПОВІД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S9, S11 · фото — картки товарів відповідних магазинів.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ГРАВЦІ КАТЕГОРІЇ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П'ять компаній формують усю пропозицію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Найширша лінійка гарнірів — у Ben's Original. Частки продажів не встановлені.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65376"/>
            <a:ext cx="10954512" cy="950976"/>
          </a:xfrm>
          <a:prstGeom prst="roundRect">
            <a:avLst>
              <a:gd name="adj" fmla="val 1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65376"/>
            <a:ext cx="82296" cy="95097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56816"/>
            <a:ext cx="10972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ns_lang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98450"/>
            <a:ext cx="987552" cy="6848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84832" y="204825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Mars · Ben's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37744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11 SKU у «Сільпо» + 2 позиції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194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Сільпо · MAUDAU · Edison Lee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4" y="2066544"/>
            <a:ext cx="786384" cy="548640"/>
          </a:xfrm>
          <a:prstGeom prst="roundRect">
            <a:avLst>
              <a:gd name="adj" fmla="val 16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664" y="2066544"/>
            <a:ext cx="7863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1945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SKU у
вибірці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2944368"/>
            <a:ext cx="10954512" cy="9509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" y="2944368"/>
            <a:ext cx="82296" cy="95097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035808"/>
            <a:ext cx="10972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707" y="3072384"/>
            <a:ext cx="691785" cy="6949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84832" y="31272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CJ · Bibigo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2" y="34564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Білий рис 210 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327355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Смак Кореї · Prom · Rozetka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41664" y="3145536"/>
            <a:ext cx="786384" cy="548640"/>
          </a:xfrm>
          <a:prstGeom prst="roundRect">
            <a:avLst>
              <a:gd name="adj" fmla="val 16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4" y="3145536"/>
            <a:ext cx="7863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3273551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SKU у
вибірці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4023360"/>
            <a:ext cx="10954512" cy="950976"/>
          </a:xfrm>
          <a:prstGeom prst="roundRect">
            <a:avLst>
              <a:gd name="adj" fmla="val 1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" y="4023360"/>
            <a:ext cx="82296" cy="95097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114800"/>
            <a:ext cx="10972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earspr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7" y="4151376"/>
            <a:ext cx="581225" cy="6949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84832" y="420624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2" y="453542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Brown &amp; Wild Rice з tamari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5504" y="4352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MAUDAU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41664" y="4224528"/>
            <a:ext cx="786384" cy="548640"/>
          </a:xfrm>
          <a:prstGeom prst="roundRect">
            <a:avLst>
              <a:gd name="adj" fmla="val 16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1664" y="4224528"/>
            <a:ext cx="7863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435254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SKU у
вибірці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5102352"/>
            <a:ext cx="10954512" cy="9509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" y="5102352"/>
            <a:ext cx="82296" cy="950976"/>
          </a:xfrm>
          <a:prstGeom prst="roundRect">
            <a:avLst>
              <a:gd name="adj" fmla="val 5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" y="5193792"/>
            <a:ext cx="109728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ottogi_burg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99" y="5230368"/>
            <a:ext cx="782601" cy="6949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84832" y="52852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84832" y="561441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Рисові страви: тунець, курка, кімчі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543153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C2235"/>
                </a:solidFill>
                <a:latin typeface="Segoe UI"/>
              </a:rPr>
              <a:t>Pulsar · продавці Rozetka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41664" y="5303520"/>
            <a:ext cx="786384" cy="548640"/>
          </a:xfrm>
          <a:prstGeom prst="roundRect">
            <a:avLst>
              <a:gd name="adj" fmla="val 16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41664" y="5303520"/>
            <a:ext cx="78638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9488" y="54315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SKU у
вибірці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6272784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Portion / «Пирятинський делікатес» — рис із куркою та овочами, 350 г, Rozetka. Edison Lee: наявність не підтверджено; у Long Grain суперечність маси 220 / 250 г.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S9, S11, S18 · зріз 22.09.2026.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ДИСТРИБУЦІЯ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Асортимент є. Залишку майже немає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Наявність на дату перевірки 22.09.2026; «Сільпо» перевірено без вибору адреси.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920240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920240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579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11 SKU Ben's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2852928"/>
            <a:ext cx="1207007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52928"/>
            <a:ext cx="12070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УСІ БЕЗ ЗАЛИШКУ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920240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6824" y="1920240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21579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MAUDAU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Ben's Basmati 220 г · Clearspring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2852928"/>
            <a:ext cx="94366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2852928"/>
            <a:ext cx="9436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БЕЗ ЗАЛИШКУ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1920240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0144" y="1920240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21579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Смак Кореї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Bibigo 210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2852928"/>
            <a:ext cx="1470355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2852928"/>
            <a:ext cx="147035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У НАЯВНОСТІ · 8 УП.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438144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3438144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67588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Edison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00507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Ben's Bio Basmati 240 г · Long Grain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4370831"/>
            <a:ext cx="1602028" cy="237744"/>
          </a:xfrm>
          <a:prstGeom prst="roundRect">
            <a:avLst>
              <a:gd name="adj" fmla="val 50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370831"/>
            <a:ext cx="16020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СКЛАД НЕ ПІДТВЕРДЖЕНО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6824" y="3438144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06824" y="3438144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367588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Prom / Rozetka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400507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Bibigo · страви Ottogi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4370831"/>
            <a:ext cx="1338681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4370831"/>
            <a:ext cx="133868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КАРТКИ НЕДОСТУПНІ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3438144"/>
            <a:ext cx="3456432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3438144"/>
            <a:ext cx="3456432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5" y="3675887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03A5D"/>
                </a:solidFill>
                <a:latin typeface="Segoe UI"/>
              </a:rPr>
              <a:t>Pulsar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5" y="400507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6 рисових страв Ottogi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66175" y="4370831"/>
            <a:ext cx="1207007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5" y="4370831"/>
            <a:ext cx="120700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УСІ БЕЗ ЗАЛИШКУ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047488"/>
            <a:ext cx="10954512" cy="106070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3504" y="5047488"/>
            <a:ext cx="82296" cy="10607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230368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АТБ, Novus, Metro, Varus, Auchan, Fozzy, Таврія В — </a:t>
            </a:r>
            <a:r>
              <a:rPr sz="1150" b="0" i="0">
                <a:solidFill>
                  <a:srgbClr val="717890"/>
                </a:solidFill>
                <a:latin typeface="Segoe UI"/>
              </a:rPr>
              <a:t>порівнянний SKU не підтверджено пошуком. Це не доказ відсутності в мережі: перевірка велася онлайн, без обходу полиці.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S4, S5, S7, S8, S9, S10 · зріз 22.09.2026.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І 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 220–250 г — основний формат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14 порівнянних варіантів гарнірів; страви з м'ясом та імпорт під замовлення виключені.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751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17890"/>
                </a:solidFill>
                <a:latin typeface="Segoe UI"/>
              </a:rPr>
              <a:t>РОЗПОДІЛ ЗА МАСОЮ, ВАРІАНТІВ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377440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220 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242316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423160"/>
            <a:ext cx="3291839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237744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926080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250 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97180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81328" y="2971800"/>
            <a:ext cx="3291839" cy="21945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292608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474720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210 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52044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81328" y="35204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4" y="3474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7A169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023360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240 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81328" y="4069080"/>
            <a:ext cx="3291840" cy="219456"/>
          </a:xfrm>
          <a:prstGeom prst="roundRect">
            <a:avLst>
              <a:gd name="adj" fmla="val 5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81328" y="40690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1184" y="40233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9EA6"/>
                </a:solidFill>
                <a:latin typeface="Segoe UI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4718304"/>
            <a:ext cx="4882896" cy="1389888"/>
          </a:xfrm>
          <a:prstGeom prst="roundRect">
            <a:avLst>
              <a:gd name="adj" fmla="val 8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01184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95C"/>
                </a:solidFill>
                <a:latin typeface="Segoe UI"/>
              </a:rPr>
              <a:t>13 паучів / 1 лоток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85232"/>
            <a:ext cx="42976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C6CEE2"/>
                </a:solidFill>
                <a:latin typeface="Segoe UI"/>
              </a:rPr>
              <a:t>Одного лідера за грамажем немає. Частота асортименту не визначає найпродаванішу упаковку.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920240"/>
            <a:ext cx="2798064" cy="19385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ens_basmati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773" y="2048256"/>
            <a:ext cx="1055716" cy="1463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0" y="3529584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220 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2832" y="1920240"/>
            <a:ext cx="2798064" cy="19385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993" y="2048256"/>
            <a:ext cx="1045741" cy="14630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42832" y="3529584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250 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059935"/>
            <a:ext cx="2798064" cy="19385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ibigo_bow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437" y="4187951"/>
            <a:ext cx="1456389" cy="1463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43600" y="5669279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210 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42832" y="4059935"/>
            <a:ext cx="2798064" cy="19385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ens_bio24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562" y="4187951"/>
            <a:ext cx="1908602" cy="1463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42832" y="5669279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303A5D"/>
                </a:solidFill>
                <a:latin typeface="Segoe UI"/>
              </a:rPr>
              <a:t>240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S5 · маса за картками товарів, 22.09.2026.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ЦІНОВИЙ ЛАНДШАФТ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100 до 252 грн у ключових картках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Ціна відсутнього товару — орієнтир каталогу, а не доступна пропозиція.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47088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901952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75" y="1929384"/>
            <a:ext cx="356304" cy="493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99616" y="1938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Basmati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1945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MAUDAU · 220 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112264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2112264"/>
            <a:ext cx="1547446" cy="146304"/>
          </a:xfrm>
          <a:prstGeom prst="roundRect">
            <a:avLst>
              <a:gd name="adj" fmla="val 50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993392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100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4" y="201168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45,45 /100 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247120" y="204825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204825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2542032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4944" y="2596896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62" y="2624328"/>
            <a:ext cx="491531" cy="4937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99616" y="26334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Bibigo білий рис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288950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Смак Кореї · 210 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807208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37760" y="2807208"/>
            <a:ext cx="2089052" cy="1463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2688336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135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96144" y="2706624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64,29 /100 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47120" y="274320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27432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3236976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4944" y="3291840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ns_bio24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41861"/>
            <a:ext cx="585216" cy="44859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99616" y="332841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Bio Basmati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9616" y="358444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Edison Lee · 240 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502152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37760" y="3502152"/>
            <a:ext cx="2150950" cy="146304"/>
          </a:xfrm>
          <a:prstGeom prst="roundRect">
            <a:avLst>
              <a:gd name="adj" fmla="val 50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3383280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139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4" y="34015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57,92 /100 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47120" y="343814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0" y="343814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" y="3931920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4944" y="3986783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ens_basmati25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59" y="4014215"/>
            <a:ext cx="352937" cy="49377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99616" y="4023359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Ben's Basmati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9616" y="427939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Сільпо · 220 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37760" y="4197096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937760" y="4197096"/>
            <a:ext cx="2228322" cy="146304"/>
          </a:xfrm>
          <a:prstGeom prst="roundRect">
            <a:avLst>
              <a:gd name="adj" fmla="val 50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53728" y="4078224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144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96144" y="4096511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65,45 /100 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247120" y="4133087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47120" y="4133087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626864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4944" y="4681727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62" y="4709159"/>
            <a:ext cx="491531" cy="49377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99616" y="471830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Bibigo білий рис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99616" y="497433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Rozetka · 210 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0" y="4892040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937760" y="4892040"/>
            <a:ext cx="2847300" cy="146304"/>
          </a:xfrm>
          <a:prstGeom prst="roundRect">
            <a:avLst>
              <a:gd name="adj" fmla="val 50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4773168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184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96144" y="4791455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87,62 /100 г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247120" y="4828031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247120" y="4828031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3504" y="5321807"/>
            <a:ext cx="10954512" cy="65836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4944" y="5376671"/>
            <a:ext cx="658368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clearspr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39" y="5404103"/>
            <a:ext cx="412976" cy="4937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499616" y="541324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Clearspring Brown &amp; Wild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9616" y="5669279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MAUDAU · 250 г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37760" y="5586983"/>
            <a:ext cx="4023360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937760" y="5586983"/>
            <a:ext cx="3899564" cy="146304"/>
          </a:xfrm>
          <a:prstGeom prst="roundRect">
            <a:avLst>
              <a:gd name="adj" fmla="val 50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53728" y="5468112"/>
            <a:ext cx="932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303A5D"/>
                </a:solidFill>
                <a:latin typeface="Segoe UI"/>
              </a:rPr>
              <a:t>252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96144" y="5486399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9A50B"/>
                </a:solidFill>
                <a:latin typeface="Segoe UI"/>
              </a:rPr>
              <a:t>100,80 /100 г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47120" y="5522975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47120" y="5522975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" y="605332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Онлайн-ціни без доставки. У повному асортименті «Сільпо» трапляється 45 грн за відсутній Long Grain 250 г — це залишок каталогу, а не пропозиція.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S1, S2, S3, S4, S5, S7, S8 · зріз 22.09.2026.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ГЛИБИНА АСОРТИМЕНТУ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Ben's Original: 11 варіантів — і жодного залишку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Категорія знайома рітейлу. Причина відсутності — постачання чи обіговість — не встановлена.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06" y="2011680"/>
            <a:ext cx="771234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ens_mediterr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528" y="2011680"/>
            <a:ext cx="765103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04288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85616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77056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358" y="2011680"/>
            <a:ext cx="767555" cy="10789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95344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5344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76672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68112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414" y="2011680"/>
            <a:ext cx="767555" cy="10789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0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67728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59168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113" y="2011680"/>
            <a:ext cx="782269" cy="10789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77456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7456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58784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50224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6948" y="2011680"/>
            <a:ext cx="746711" cy="10789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68512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Curry · Lentils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8512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89,99 грн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1883664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41280" y="1975104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ens_sweetchili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6547" y="2011680"/>
            <a:ext cx="789625" cy="10789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568" y="3218688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9568" y="35478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9568" y="373075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4151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4944" y="4242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ens_mexikanisch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406" y="4279392"/>
            <a:ext cx="771234" cy="10789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3232" y="5486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815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5998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94560" y="4151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286000" y="4242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bens_curryrei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5749" y="4279392"/>
            <a:ext cx="800661" cy="10789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304288" y="5486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04288" y="5815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4288" y="5998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85616" y="4151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877056" y="4242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ens_basmati22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840" y="4279392"/>
            <a:ext cx="778590" cy="107899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895344" y="5486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95344" y="5815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95344" y="5998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76672" y="4151376"/>
            <a:ext cx="1463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468112" y="4242816"/>
            <a:ext cx="1280160" cy="115214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bens_stickybow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7097" y="4279392"/>
            <a:ext cx="722188" cy="107899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486400" y="5486400"/>
            <a:ext cx="1243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Для боулів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81558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5998464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149 грн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04304" y="4151376"/>
            <a:ext cx="4553712" cy="2103120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004304" y="4151376"/>
            <a:ext cx="82296" cy="21031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33488" y="4370832"/>
            <a:ext cx="39867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33488" y="4773168"/>
            <a:ext cx="398678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Одинадцять варіантів у каталозі — це визнання категорії мережею. Нуль залишку — це або збій постачання, або низька обіговість. Перше відкриває нам двері, друге закриває: перевірити обидві версії треба до закупівлі.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33488" y="5888736"/>
            <a:ext cx="3986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A9C4"/>
                </a:solidFill>
                <a:latin typeface="Segoe UI"/>
              </a:rPr>
              <a:t>Ціни — картки «Сільпо» на 22.09.2026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S1 · каталог «Сільпо», 11 карток Ben's Original, усі позначені як відсутні.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ЦІННІСТЬ ДЛЯ ПОКУПЦЯ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Чистий гарнір конкурує з готовою стравою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Для покупця важлива вартість обіду, а не тільки ціна 100 г рису.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322576" cy="122529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ibigo_bow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559" y="2066543"/>
            <a:ext cx="1110497" cy="1115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" y="336499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BIBIGO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58444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Білий рис 210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867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135 грн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288" y="404164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40416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42569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Швидкий гарнір. Білок і соус
покупець додає сам.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1883664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2011680"/>
            <a:ext cx="2322576" cy="122529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2450592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717890"/>
                </a:solidFill>
                <a:latin typeface="Segoe UI"/>
              </a:rPr>
              <a:t>ФОТО КАРТКИ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670048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717890"/>
                </a:solidFill>
                <a:latin typeface="Segoe UI"/>
              </a:rPr>
              <a:t>недоступне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456" y="336499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PORTION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358444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Рис із куркою 350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456" y="39867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1496" y="404164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40416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442569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Готова страва більшої маси
за меншу ціну.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883664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45936" y="2011680"/>
            <a:ext cx="2322576" cy="122529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ttogi_octopu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18" y="2066543"/>
            <a:ext cx="1251210" cy="11155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55664" y="336499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OTTOGI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8444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Рис із наповнювачами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9867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255 грн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18704" y="404164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4" y="40416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42569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Корейська страва в чаші.
Інший повід споживання.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883664"/>
            <a:ext cx="2578608" cy="3163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53144" y="2011680"/>
            <a:ext cx="2322576" cy="122529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learspr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921" y="2066543"/>
            <a:ext cx="933020" cy="11155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62872" y="336499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CLEARSPRING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58444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C2235"/>
                </a:solidFill>
                <a:latin typeface="Segoe UI"/>
              </a:rPr>
              <a:t>Суміш рисів 250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39867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252 грн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25911" y="404164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25911" y="404164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4425696"/>
            <a:ext cx="2103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Органічне преміальне
позиціювання.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" y="5266944"/>
            <a:ext cx="10954512" cy="859536"/>
          </a:xfrm>
          <a:prstGeom prst="roundRect">
            <a:avLst>
              <a:gd name="adj" fmla="val 1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3504" y="5266944"/>
            <a:ext cx="82296" cy="85953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3153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303A5D"/>
                </a:solidFill>
                <a:latin typeface="Segoe UI"/>
              </a:rPr>
              <a:t>Висновок для продукту: </a:t>
            </a:r>
            <a:r>
              <a:rPr sz="1150" b="0" i="0">
                <a:solidFill>
                  <a:srgbClr val="1C2235"/>
                </a:solidFill>
                <a:latin typeface="Segoe UI"/>
              </a:rPr>
              <a:t>продавати зручність і якість текстури. Порівняння ціни лише з корейським імпортом завищує привабливість запуску — поруч стоїть готова страва за 109 грн.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S2, S3, S9, S11 · ціни карток на 22.09.2026.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РЕКОМЕНДАЦІЯ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Стартова матриця: два SKU на одній платформі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Рекомендація для тесту, а не підтверджений прогноз продажів.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3712463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83664"/>
            <a:ext cx="3712463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121408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wn_pouch_jasm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96" y="2194560"/>
            <a:ext cx="1655479" cy="12801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7824" y="3694176"/>
            <a:ext cx="1009497" cy="23774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694176"/>
            <a:ext cx="100949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SKU 1 · БАЗА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78224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Базовий рис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498848"/>
            <a:ext cx="3163824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Пауч 220–250 г. Один сорт — jasmine або basmati за результатами дегустації. Основне завдання — швидкий гарнір.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1883664"/>
            <a:ext cx="3712463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1883664"/>
            <a:ext cx="3712463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36592" y="2121408"/>
            <a:ext cx="3346704" cy="14264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wn_pouch_mexic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204" y="2194560"/>
            <a:ext cx="1655479" cy="12801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828032" y="3694176"/>
            <a:ext cx="1404518" cy="23774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3694176"/>
            <a:ext cx="14045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SKU 2 · РОЗШИРЕННЯ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4078224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03A5D"/>
                </a:solidFill>
                <a:latin typeface="Segoe UI"/>
              </a:rPr>
              <a:t>Рис із м'яким смаком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4498848"/>
            <a:ext cx="3163824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17890"/>
                </a:solidFill>
                <a:latin typeface="Segoe UI"/>
              </a:rPr>
              <a:t>Та сама маса й формат. Овочі або помірний curry. Розширює привід покупки без ускладнення лінійки.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0496" y="1883664"/>
            <a:ext cx="3017520" cy="3749039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14816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Параметри запуску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2560320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ЦІНА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6" y="2798063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тест 109 / 119 / 129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6" y="352958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КАНАЛИ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816" y="376732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один мережевий партнер
і спеціалізований онлайн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6" y="449884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ПОВІДОМЛЕННЯ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4816" y="473659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«Готовий рис», час розігріву
на лицьовій стороні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14816" y="5138928"/>
            <a:ext cx="2468880" cy="3657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4816" y="526694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1">
                <a:solidFill>
                  <a:srgbClr val="9FA9C4"/>
                </a:solidFill>
                <a:latin typeface="Segoe UI"/>
              </a:rPr>
              <a:t>Фото — формати наших постачальників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Комерційна рекомендація / розрахунковий сценарій.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ЕКОНОМІКА ОДНІЄЇ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119 грн: 12,86 грн на покриття витрат проєкту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Розрахунковий сценарій для пауча. Результат не дорівнює чистому прибутку.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202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ПІСЛЯ ПДВ, МАРЖІ МЕРЕЖІ ТА УТРИМАНЬ, ГРН / УПАКОВКУ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304288"/>
            <a:ext cx="676656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5059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85292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2615184"/>
            <a:ext cx="2394539" cy="402336"/>
          </a:xfrm>
          <a:prstGeom prst="roundRect">
            <a:avLst>
              <a:gd name="adj" fmla="val 28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5091" y="2615184"/>
            <a:ext cx="624919" cy="402336"/>
          </a:xfrm>
          <a:prstGeom prst="roundRect">
            <a:avLst>
              <a:gd name="adj" fmla="val 28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2615184"/>
            <a:ext cx="23945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продукт + витрати 45,15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5091" y="2615184"/>
            <a:ext cx="6249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03A5D"/>
                </a:solidFill>
                <a:latin typeface="Segoe UI"/>
              </a:rPr>
              <a:t>7,99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59689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53,14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717890"/>
                </a:solidFill>
                <a:latin typeface="Segoe UI"/>
              </a:rPr>
              <a:t>після утримань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602736"/>
            <a:ext cx="6766560" cy="111556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49039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03A5D"/>
                </a:solidFill>
                <a:latin typeface="Segoe UI"/>
              </a:rPr>
              <a:t>119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15137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роздріб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4832" y="3913632"/>
            <a:ext cx="2394539" cy="402336"/>
          </a:xfrm>
          <a:prstGeom prst="roundRect">
            <a:avLst>
              <a:gd name="adj" fmla="val 28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5091" y="3913632"/>
            <a:ext cx="883200" cy="402336"/>
          </a:xfrm>
          <a:prstGeom prst="roundRect">
            <a:avLst>
              <a:gd name="adj" fmla="val 28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3913632"/>
            <a:ext cx="23945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продукт + витрати 45,15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5091" y="3913632"/>
            <a:ext cx="88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12,86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89534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58,01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4169663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717890"/>
                </a:solidFill>
                <a:latin typeface="Segoe UI"/>
              </a:rPr>
              <a:t>після утримань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901183"/>
            <a:ext cx="6766560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04748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303A5D"/>
                </a:solidFill>
                <a:latin typeface="Segoe UI"/>
              </a:rPr>
              <a:t>129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449823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роздріб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84832" y="5212079"/>
            <a:ext cx="2394539" cy="402336"/>
          </a:xfrm>
          <a:prstGeom prst="roundRect">
            <a:avLst>
              <a:gd name="adj" fmla="val 28000"/>
            </a:avLst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5091" y="5212079"/>
            <a:ext cx="1142012" cy="402336"/>
          </a:xfrm>
          <a:prstGeom prst="roundRect">
            <a:avLst>
              <a:gd name="adj" fmla="val 28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12848" y="5212079"/>
            <a:ext cx="23945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продукт + витрати 45,15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5091" y="5212079"/>
            <a:ext cx="11420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03A5D"/>
                </a:solidFill>
                <a:latin typeface="Segoe UI"/>
              </a:rPr>
              <a:t>17,74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519379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03A5D"/>
                </a:solidFill>
                <a:latin typeface="Segoe UI"/>
              </a:rPr>
              <a:t>62,89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546811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717890"/>
                </a:solidFill>
                <a:latin typeface="Segoe UI"/>
              </a:rPr>
              <a:t>після утримань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7536" y="1920240"/>
            <a:ext cx="3840480" cy="2322576"/>
          </a:xfrm>
          <a:prstGeom prst="roundRect">
            <a:avLst>
              <a:gd name="adj" fmla="val 7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2139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95C"/>
                </a:solidFill>
                <a:latin typeface="Segoe UI"/>
              </a:rPr>
              <a:t>Ризик промо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4" y="25420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C6CEE2"/>
                </a:solidFill>
                <a:latin typeface="Segoe UI"/>
              </a:rPr>
              <a:t>Промо −20 % при базі 119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4" y="31089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564B"/>
                </a:solidFill>
                <a:latin typeface="Segoe UI"/>
              </a:rPr>
              <a:t>1,26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4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A9C4"/>
                </a:solidFill>
                <a:latin typeface="Segoe UI"/>
              </a:rPr>
              <a:t>вклад на покриття замість 12,86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17536" y="4407408"/>
            <a:ext cx="3840480" cy="1700784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0144" y="459028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ДОПУЩЕННЯ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144" y="4864608"/>
            <a:ext cx="329184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ПДВ 20 % · маржа мережі 35 % · утримання 10 % · місцеві витрати 5 грн.
Вартість 40,15 грн з початкової моделі потребує оновлення та звірки ПДВ.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Джерело: S0 · розрахунковий сценарій, не комерційна пропозиція.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ПЕРШОЇ ПАРТІЇ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20 магазинів × 2 SKU × 8 тижнів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Першу партію рахувати від числа магазинів і допустимого запасу, а не від прайсу.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920240"/>
            <a:ext cx="3511296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92024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C3C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28895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265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шт. / SKU / магазин / тиждень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419856"/>
            <a:ext cx="2889504" cy="2743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ЗА 8 ТИЖНІВ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879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упаковок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35661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C3CBDC"/>
                </a:solidFill>
                <a:latin typeface="Segoe UI"/>
              </a:rPr>
              <a:t>ВКЛАД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984" y="3803904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C3CBDC"/>
                </a:solidFill>
                <a:latin typeface="Segoe UI"/>
              </a:rPr>
              <a:t>8 232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41879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при 12,86 грн / шт.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консервативний сценарій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920240"/>
            <a:ext cx="3511296" cy="329184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52544" y="192024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8895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96265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шт. / SKU / магазин / тиждень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419856"/>
            <a:ext cx="2889504" cy="2743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5661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ЗА 8 ТИЖНІВ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03904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1 600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879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упаковок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35661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F9A50B"/>
                </a:solidFill>
                <a:latin typeface="Segoe UI"/>
              </a:rPr>
              <a:t>ВКЛАД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7024" y="3803904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20 580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7024" y="41879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при 12,86 грн / шт.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57200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03A5D"/>
                </a:solidFill>
                <a:latin typeface="Segoe UI"/>
              </a:rPr>
              <a:t>робоча гіпотеза для розрахунку партії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1920240"/>
            <a:ext cx="3511296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01583" y="1920240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194560"/>
            <a:ext cx="28895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962656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шт. / SKU / магазин / тиждень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419856"/>
            <a:ext cx="2889504" cy="2743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56616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ЗА 8 ТИЖНІВ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03904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03A5D"/>
                </a:solidFill>
                <a:latin typeface="Segoe UI"/>
              </a:rPr>
              <a:t>3 200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1879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17890"/>
                </a:solidFill>
                <a:latin typeface="Segoe UI"/>
              </a:rPr>
              <a:t>упаковок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356616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1E9EA6"/>
                </a:solidFill>
                <a:latin typeface="Segoe UI"/>
              </a:rPr>
              <a:t>ВКЛАД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6063" y="3803904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41 160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6063" y="41879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17890"/>
                </a:solidFill>
                <a:latin typeface="Segoe UI"/>
              </a:rPr>
              <a:t>при 12,86 грн / шт.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572000"/>
            <a:ext cx="28895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717890"/>
                </a:solidFill>
                <a:latin typeface="Segoe UI"/>
              </a:rPr>
              <a:t>оптимістичний сценарій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413248"/>
            <a:ext cx="10954512" cy="731520"/>
          </a:xfrm>
          <a:prstGeom prst="roundRect">
            <a:avLst>
              <a:gd name="adj" fmla="val 1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559552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Масштабувати — лише після фактичного промо, підтверджених повторних покупок і стабільної обіговості.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Комерційна рекомендація / розрахунковий сценарій.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389888" cy="603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" y="1554480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8470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95C"/>
                </a:solidFill>
                <a:latin typeface="Segoe UI"/>
              </a:rPr>
              <a:t>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9456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Запускати тест,
обмеживши обсяг закупівлі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3621024"/>
            <a:ext cx="5669280" cy="36576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3504" y="38587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8587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877055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Два SKU на одній упаковочній платформі, пауч 220–250 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44256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44256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43983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Ціновий тест 109 / 119 / 129 грн; базовий сценарій — 119 грн.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9926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49926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01091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Один мережевий партнер плюс спеціалізований онлайн.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55595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55595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57784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FFFFFF"/>
                </a:solidFill>
                <a:latin typeface="Segoe UI"/>
              </a:rPr>
              <a:t>До закупівлі з'ясувати, чому Ben's Original стоїть без залишку.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1737360"/>
            <a:ext cx="4114800" cy="3968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ibigo_bow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050" y="1956816"/>
            <a:ext cx="2639706" cy="26517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699248" y="4718304"/>
            <a:ext cx="3639312" cy="27432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4864608"/>
            <a:ext cx="3639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Єдина позиція з підтвердженим залишком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5138928"/>
            <a:ext cx="36393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00" b="0" i="0">
                <a:solidFill>
                  <a:srgbClr val="717890"/>
                </a:solidFill>
                <a:latin typeface="Segoe UI"/>
              </a:rPr>
              <a:t>Bibigo, білий рис 210 г · 135 грн
«Смак Кореї», 8 упаковок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345936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5B4"/>
                </a:solidFill>
                <a:latin typeface="Segoe UI"/>
              </a:rPr>
              <a:t>Зріз онлайн-вітрин 22.09.2026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ДОДАТОК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Страви Ottogi: 255 грн і жодного залишку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Pulsar: шість карток, усі без залишку. Інший сегмент — рис із наповнювачем.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993392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ttogi_chick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66216"/>
            <a:ext cx="1591056" cy="14099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0320" y="2212848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Гостра курка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004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310/315*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36499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33649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1883664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80559" y="1993392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ttogi_burg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164793"/>
            <a:ext cx="1591056" cy="14128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9360" y="2212848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Гамбурзький стейк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004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315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36499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649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1883664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1993392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ttogi_octopu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3" y="2161930"/>
            <a:ext cx="1591056" cy="14185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58400" y="2212848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Гострий восьминіг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67004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36499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336499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4059935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4169663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ottogi_jjampo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349517"/>
            <a:ext cx="1591056" cy="139594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560320" y="4389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Jin Jjampong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846320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217,5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1206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554126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5541264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52544" y="4059935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80559" y="4169663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ottogi_tun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51959"/>
            <a:ext cx="1591056" cy="15910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09360" y="4389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846320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1206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54126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541264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4059935"/>
            <a:ext cx="3511296" cy="19751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0" y="4169663"/>
            <a:ext cx="1700784" cy="17556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ottogi_kimchi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3" y="4251959"/>
            <a:ext cx="1591056" cy="15910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058400" y="4389120"/>
            <a:ext cx="1426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Кімчі й тунець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4846320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51206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255 грн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8400" y="5541264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0" y="5541264"/>
            <a:ext cx="7863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НЕМАЄ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" y="6181344"/>
            <a:ext cx="10954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717890"/>
                </a:solidFill>
                <a:latin typeface="Segoe UI"/>
              </a:rPr>
              <a:t>* Яловичина / бульгогі та свинина 269 / 310 г на Rozetka: ідентичність SKU потребує звірки EAN та етикетки. Повторні пропозиції продавців не рахуються окремими SKU.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Джерела: O01–O06, S10, R01–R12 · картки Pulsar і продавців Rozetka, 22.09.2026.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МЕТОДОЛОГІЯ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Основа дослідження та межі висновків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335024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717890"/>
                </a:solidFill>
                <a:latin typeface="Segoe UI"/>
              </a:rPr>
              <a:t>Відкриті українські онлайн-вітрини, зріз на 22 вересня 2026 року.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883664"/>
            <a:ext cx="3511296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A50B"/>
                </a:solidFill>
                <a:latin typeface="Segoe UI"/>
              </a:rPr>
              <a:t>ЩО ПЕРЕВІРЕНО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2624327"/>
            <a:ext cx="8229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Сільпо · MAUDAU · Смак Кореї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31912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Edison Lee · Prom · Rozetka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75887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Pulsar · спеціалізовані магазини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4325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42816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14 порівнянних варіантів гарнірів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489204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9744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31 перевірена картка товару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1883664"/>
            <a:ext cx="3511296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2544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2139696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2564B"/>
                </a:solidFill>
                <a:latin typeface="Segoe UI"/>
              </a:rPr>
              <a:t>ЩО НЕ ПЕРЕВІРЕНО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6864" y="2624327"/>
            <a:ext cx="82296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54203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АТБ · Novus · Metro · Varus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31912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10896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Auchan · Fozzy · Таврія 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6864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675887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Офлайн-полиця в жодній мережі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26864" y="4325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242816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Фактичні продажі та обіговість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6864" y="4892040"/>
            <a:ext cx="82296" cy="82296"/>
          </a:xfrm>
          <a:prstGeom prst="roundRect">
            <a:avLst>
              <a:gd name="adj" fmla="val 50000"/>
            </a:avLst>
          </a:prstGeom>
          <a:solidFill>
            <a:srgbClr val="E25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809744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Причина відсутності залишку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83664"/>
            <a:ext cx="3511296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01583" y="1883664"/>
            <a:ext cx="3511296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39696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9EA6"/>
                </a:solidFill>
                <a:latin typeface="Segoe UI"/>
              </a:rPr>
              <a:t>МЕЖІ ВИСНОВКІВ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5904" y="2624327"/>
            <a:ext cx="8229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59" y="2542032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Частота SKU ≠ частка продажів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5904" y="31912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59" y="310896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Ціна відсутнього товару — орієнтир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75904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59" y="3675887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Відсутність у пошуку ≠ відсутність у мережі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75904" y="4325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59" y="4242816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Економіка — розрахунок, не прогноз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75904" y="489204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59" y="4809744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1C2235"/>
                </a:solidFill>
                <a:latin typeface="Segoe UI"/>
              </a:rPr>
              <a:t>Собівартість потребує оновлення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" y="5760720"/>
            <a:ext cx="10954512" cy="493776"/>
          </a:xfrm>
          <a:prstGeom prst="roundRect">
            <a:avLst>
              <a:gd name="adj" fmla="val 22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870448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17890"/>
                </a:solidFill>
                <a:latin typeface="Segoe UI"/>
              </a:rPr>
              <a:t>Точні посилання — у примітках відповідних слайдів. Розрахункові параметри запуску та економіки позначені як допущення.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37376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Morskyi Dim · маркетингове дослідження · вересень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