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field.jpg"/>
          <p:cNvPicPr>
            <a:picLocks noChangeAspect="1"/>
          </p:cNvPicPr>
          <p:nvPr/>
        </p:nvPicPr>
        <p:blipFill>
          <a:blip r:embed="rId2"/>
          <a:srcRect l="23600" r="23600"/>
          <a:stretch>
            <a:fillRect/>
          </a:stretch>
        </p:blipFill>
        <p:spPr>
          <a:xfrm>
            <a:off x="5760720" y="0"/>
            <a:ext cx="643737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60720" y="0"/>
            <a:ext cx="6437376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0" y="0"/>
            <a:ext cx="6437376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11696" y="1078992"/>
            <a:ext cx="4663440" cy="4700016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a_bibi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35" y="1298448"/>
            <a:ext cx="3502761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5010912"/>
            <a:ext cx="3968496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5157216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30F"/>
                </a:solidFill>
                <a:latin typeface="Segoe UI"/>
              </a:rPr>
              <a:t>bibigo · CJ Foods — Cooked White Rice 210 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54132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073"/>
                </a:solidFill>
                <a:latin typeface="Segoe UI"/>
              </a:rPr>
              <a:t>smak-korea.com.ua · у наявності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5358384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D6452B"/>
                </a:solidFill>
                <a:latin typeface="Georgia"/>
              </a:rPr>
              <a:t>135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588873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8FAB9C"/>
                </a:solidFill>
                <a:latin typeface="Segoe UI"/>
              </a:rPr>
              <a:t>єдина позиція категорії, що має залишок на 22.09.2026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188720"/>
            <a:ext cx="310896" cy="54864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481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99C74"/>
                </a:solidFill>
                <a:latin typeface="Segoe UI"/>
              </a:rPr>
              <a:t>РИНОК УКРАЇНИ · ПЕРЕВІРКА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847088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Ready-to-eat рис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C9DACF"/>
                </a:solidFill>
                <a:latin typeface="Georgia"/>
              </a:rPr>
              <a:t>Хто вже стоїть на полиці — і за скільки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03904"/>
            <a:ext cx="4846320" cy="10058"/>
          </a:xfrm>
          <a:prstGeom prst="rect">
            <a:avLst/>
          </a:prstGeom>
          <a:solidFill>
            <a:srgbClr val="3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86784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A9C2B4"/>
                </a:solidFill>
                <a:latin typeface="Segoe UI"/>
              </a:rPr>
              <a:t>Ретортний і асептичний пауч / cup / лоток · розігрів 60–90 сек · зберігання за кімнатної температури 12–18 міс.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58384"/>
            <a:ext cx="4846320" cy="822960"/>
          </a:xfrm>
          <a:prstGeom prst="rect">
            <a:avLst/>
          </a:prstGeom>
          <a:solidFill>
            <a:srgbClr val="17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46811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 i="0">
                <a:solidFill>
                  <a:srgbClr val="E99C74"/>
                </a:solidFill>
                <a:latin typeface="Segoe UI"/>
              </a:rPr>
              <a:t>Друга редакція. </a:t>
            </a:r>
            <a:r>
              <a:rPr sz="1050" b="0" i="0">
                <a:solidFill>
                  <a:srgbClr val="C9DACF"/>
                </a:solidFill>
                <a:latin typeface="Segoe UI"/>
              </a:rPr>
              <a:t>Перша версія стверджувала, що категорії в Україні немає. Це було неточно — див. слайд 02.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6422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B9C"/>
                </a:solidFill>
                <a:latin typeface="Segoe UI"/>
              </a:rPr>
              <a:t>Зріз полиці · 22 вересня 2026 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63642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99C74"/>
                </a:solidFill>
                <a:latin typeface="Segoe UI"/>
              </a:rPr>
              <a:t>Morskyi Dim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ПОПРАВКА ДО ПЕРШОЇ РЕДАКЦІЇ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Категорія в Україні є. Дистрибуції — немає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Ви маєте рацію: у пошуку товар видно. Ось що змінилося після повторної перевірки.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5358384" cy="3749039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121408"/>
            <a:ext cx="109362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21408"/>
            <a:ext cx="109362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8A8073"/>
                </a:solidFill>
                <a:latin typeface="Segoe UI"/>
              </a:rPr>
              <a:t>БУЛО СКАЗАНО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78608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 i="1">
                <a:solidFill>
                  <a:srgbClr val="16130F"/>
                </a:solidFill>
                <a:latin typeface="Segoe UI"/>
              </a:rPr>
              <a:t>«Жодної позиції RTE-рису в Україні. 0 SKU у 18 мережах, 2 SKU на весь спеціалізований канал».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3639312"/>
            <a:ext cx="47548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785615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8073"/>
                </a:solidFill>
                <a:latin typeface="Segoe UI"/>
              </a:rPr>
              <a:t>Помилка була не в цифрах по мережах — вони підтвердились. Помилка була в тому, що маркетплейси Rozetka, Prom і Епіцентр я позначив як «недоступні для перевірки» і не став шукати далі. Саме там товар і продається.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83664"/>
            <a:ext cx="5358384" cy="3749039"/>
          </a:xfrm>
          <a:prstGeom prst="rect">
            <a:avLst/>
          </a:prstGeom>
          <a:solidFill>
            <a:srgbClr val="FFFEFB"/>
          </a:solidFill>
          <a:ln w="20320">
            <a:solidFill>
              <a:srgbClr val="D6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0528" y="2121408"/>
            <a:ext cx="1592884" cy="256032"/>
          </a:xfrm>
          <a:prstGeom prst="roundRect">
            <a:avLst>
              <a:gd name="adj" fmla="val 50000"/>
            </a:avLst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21408"/>
            <a:ext cx="15928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ПЕРЕВІРЕНО ПОВТОРНО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78608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1" i="0">
                <a:solidFill>
                  <a:srgbClr val="16130F"/>
                </a:solidFill>
                <a:latin typeface="Segoe UI"/>
              </a:rPr>
              <a:t>Чотири позиції справді присутні в українському ритейлі. Дві з них — у наявності просто зараз.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639312"/>
            <a:ext cx="47548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8039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30F"/>
                </a:solidFill>
                <a:latin typeface="Segoe UI"/>
              </a:rPr>
              <a:t>bibigo Cooked White Rice 210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050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smak-korea.com.ua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822191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135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84048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D6452B"/>
                </a:solidFill>
                <a:latin typeface="Segoe UI"/>
              </a:rPr>
              <a:t>у наявності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2611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30F"/>
                </a:solidFill>
                <a:latin typeface="Segoe UI"/>
              </a:rPr>
              <a:t>«Готовий рис з Кореї»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4622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asia-goods.com.ua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2793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190 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29768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D6452B"/>
                </a:solidFill>
                <a:latin typeface="Segoe UI"/>
              </a:rPr>
              <a:t>у наявності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7183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30F"/>
                </a:solidFill>
                <a:latin typeface="Segoe UI"/>
              </a:rPr>
              <a:t>Рис швидк. пригот. Bibigo 210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9194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Prom.ua · ТАЙЯКІ МАРТ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7365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A8073"/>
                </a:solidFill>
                <a:latin typeface="Georgia"/>
              </a:rPr>
              <a:t>189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75488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недоступний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1755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6130F"/>
                </a:solidFill>
                <a:latin typeface="Segoe UI"/>
              </a:rPr>
              <a:t>Рис готовий Ottogi бібімбап 269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37667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Епіцентр · Gurmissimo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51937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A8073"/>
                </a:solidFill>
                <a:latin typeface="Georgia"/>
              </a:rPr>
              <a:t>н/д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21208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немає в наявності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smak-korea.com.ua (Store API), asia-goods.com.ua, prom.ua, epicentrk.ua — перевірено 22.09.2026. Мережі — stores-api.zakaz.ua (17 мереж) і sf-ecom-api.silpo.ua.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ГОЛОВНЕ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Лістинг є. Полиці немає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Категорія живе в довгому хвості маркетплейсів, а не в дистрибуції мереж.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D6452B"/>
                </a:solidFill>
                <a:latin typeface="Georg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8833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лістинги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80944"/>
            <a:ext cx="1005840" cy="10058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знайдено в Україні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маркетплейси та спеціалізовані магазини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1" y="1993392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D6452B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1" y="268833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з них у наявності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1" y="2980944"/>
            <a:ext cx="1005840" cy="10058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1" y="3127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решта — out of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41985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лістинг без товару — це ще не дистрибуція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993392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D6452B"/>
                </a:solidFill>
                <a:latin typeface="Georg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68833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SKU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980944"/>
            <a:ext cx="1005840" cy="10058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3127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у 18 мережах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41985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жодної позиції у роздрібних мережах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1993392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D6452B"/>
                </a:solidFill>
                <a:latin typeface="Georgia"/>
              </a:rPr>
              <a:t>64,3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268833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₴ за 100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1976" y="2980944"/>
            <a:ext cx="1005840" cy="10058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3127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нижня полична ціна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3419856"/>
            <a:ext cx="2560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bibigo 210 г за 135 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61104"/>
            <a:ext cx="10911809" cy="1792224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ua_bibi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52" y="4425696"/>
            <a:ext cx="1437030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23744" y="44988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Що це означає для закупівлі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3744" y="4828032"/>
            <a:ext cx="4023360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8A8073"/>
                </a:solidFill>
                <a:latin typeface="Segoe UI"/>
              </a:rPr>
              <a:t>Конкурента, чию частку треба відбирати, немає. Але немає й виробленої звички: жодна мережа ще не вчила покупця, що рис буває готовим.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425696"/>
            <a:ext cx="45720" cy="146304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94576" y="44988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Чому це вигідніше за зайнятий ринок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4828032"/>
            <a:ext cx="4572000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8A8073"/>
                </a:solidFill>
                <a:latin typeface="Segoe UI"/>
              </a:rPr>
              <a:t>Наш пауч 240 г обходиться в 16,7 ₴/100 г — учетверо дешевше за єдину полічну ціну в країні. Такий запас дозволяє одночасно тримати маржу й заходити нижче корейського імпорту.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власна перевірка полиць і лістингів, 22.09.2026; собівартість — колода «RTE Rice · Постачальники», курс 45,00 ₴/$.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КАРТА КАТЕГОРІЇ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Усе, що продається в Україні як готовий рис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Чотири лістинги. Усі — прямий корейський імпорт, без локалізації смаку та упаковки.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25603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2560320" cy="4572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a_bibi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43" y="2066543"/>
            <a:ext cx="1454993" cy="14813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9536" y="3602736"/>
            <a:ext cx="1022299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6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02736"/>
            <a:ext cx="10222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D6452B"/>
                </a:solidFill>
                <a:latin typeface="Segoe UI"/>
              </a:rPr>
              <a:t>У НАЯВНОСТІ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86784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BIBIGO · CJ FOODS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224528"/>
            <a:ext cx="21214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6130F"/>
                </a:solidFill>
                <a:latin typeface="Segoe UI"/>
              </a:rPr>
              <a:t>Cooked White Rice 210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4809744"/>
            <a:ext cx="212140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194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D6452B"/>
                </a:solidFill>
                <a:latin typeface="Georgia"/>
              </a:rPr>
              <a:t>135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4009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6452B"/>
                </a:solidFill>
                <a:latin typeface="Segoe UI"/>
              </a:rPr>
              <a:t>64,3 ₴/100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54126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30F"/>
                </a:solidFill>
                <a:latin typeface="Segoe UI"/>
              </a:rPr>
              <a:t>smak-korea.com.ua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742432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750" b="0" i="0">
                <a:solidFill>
                  <a:srgbClr val="8A8073"/>
                </a:solidFill>
                <a:latin typeface="Segoe UI"/>
              </a:rPr>
              <a:t>Product of S. Korea · імпортер H Mart Europe (UK) · мікрохвильовка 90 сек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0711" y="1938528"/>
            <a:ext cx="25603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0711" y="1938528"/>
            <a:ext cx="2560320" cy="45720"/>
          </a:xfrm>
          <a:prstGeom prst="rect">
            <a:avLst/>
          </a:prstGeom>
          <a:solidFill>
            <a:srgbClr val="8A8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a_bibi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375" y="2066543"/>
            <a:ext cx="1454993" cy="148132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630168" y="3602736"/>
            <a:ext cx="1022299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3602736"/>
            <a:ext cx="10222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8A8073"/>
                </a:solidFill>
                <a:latin typeface="Segoe UI"/>
              </a:rPr>
              <a:t>НЕДОСТУПНИЙ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986784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BIBIGO · ТОЙ САМИЙ 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4224528"/>
            <a:ext cx="21214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6130F"/>
                </a:solidFill>
                <a:latin typeface="Segoe UI"/>
              </a:rPr>
              <a:t>Рис швидк. пригот. 210 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4809744"/>
            <a:ext cx="212140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49194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8A8073"/>
                </a:solidFill>
                <a:latin typeface="Georgia"/>
              </a:rPr>
              <a:t>189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534009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A8073"/>
                </a:solidFill>
                <a:latin typeface="Segoe UI"/>
              </a:rPr>
              <a:t>90,0 ₴/100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554126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30F"/>
                </a:solidFill>
                <a:latin typeface="Segoe UI"/>
              </a:rPr>
              <a:t>Prom.ua · ТАЙЯКІ МАРТ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5742432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750" b="0" i="0">
                <a:solidFill>
                  <a:srgbClr val="8A8073"/>
                </a:solidFill>
                <a:latin typeface="Segoe UI"/>
              </a:rPr>
              <a:t>Той самий товар на маркетплейсі — на 40 % дорожче й без залишку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1938528"/>
            <a:ext cx="25603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1938528"/>
            <a:ext cx="2560320" cy="45720"/>
          </a:xfrm>
          <a:prstGeom prst="rect">
            <a:avLst/>
          </a:prstGeom>
          <a:solidFill>
            <a:srgbClr val="8A8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103120"/>
            <a:ext cx="2121408" cy="1371600"/>
          </a:xfrm>
          <a:prstGeom prst="rect">
            <a:avLst/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67004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8A8073"/>
                </a:solidFill>
                <a:latin typeface="Segoe UI"/>
              </a:rPr>
              <a:t>ФОТО ВІДСУТНЄ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926080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A8073"/>
                </a:solidFill>
                <a:latin typeface="Segoe UI"/>
              </a:rPr>
              <a:t>на картці продавця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602736"/>
            <a:ext cx="1450238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602736"/>
            <a:ext cx="14502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8A8073"/>
                </a:solidFill>
                <a:latin typeface="Segoe UI"/>
              </a:rPr>
              <a:t>НЕМАЄ В НАЯВНОСТІ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86784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OTTOGI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24528"/>
            <a:ext cx="21214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6130F"/>
                </a:solidFill>
                <a:latin typeface="Segoe UI"/>
              </a:rPr>
              <a:t>Бібімбап з овочами та м'ясом 269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09744"/>
            <a:ext cx="212140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9194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8A8073"/>
                </a:solidFill>
                <a:latin typeface="Georgia"/>
              </a:rPr>
              <a:t>н/д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009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A8073"/>
                </a:solidFill>
                <a:latin typeface="Segoe UI"/>
              </a:rPr>
              <a:t>ціну не показано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54126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30F"/>
                </a:solidFill>
                <a:latin typeface="Segoe UI"/>
              </a:rPr>
              <a:t>Епіцентр · Gurmissimo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742432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750" b="0" i="0">
                <a:solidFill>
                  <a:srgbClr val="8A8073"/>
                </a:solidFill>
                <a:latin typeface="Segoe UI"/>
              </a:rPr>
              <a:t>Лістинг у мережевому маркетплейсі, продавець — сторонній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51976" y="1938528"/>
            <a:ext cx="25603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51976" y="1938528"/>
            <a:ext cx="2560320" cy="4572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71432" y="2103120"/>
            <a:ext cx="2121408" cy="1371600"/>
          </a:xfrm>
          <a:prstGeom prst="rect">
            <a:avLst/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1432" y="267004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8A8073"/>
                </a:solidFill>
                <a:latin typeface="Segoe UI"/>
              </a:rPr>
              <a:t>ФОТО ВІДСУТНЄ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2926080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A8073"/>
                </a:solidFill>
                <a:latin typeface="Segoe UI"/>
              </a:rPr>
              <a:t>на картці продавця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71432" y="3602736"/>
            <a:ext cx="1022299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6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1432" y="3602736"/>
            <a:ext cx="10222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D6452B"/>
                </a:solidFill>
                <a:latin typeface="Segoe UI"/>
              </a:rPr>
              <a:t>У НАЯВНОСТІ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1432" y="3986784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БЕЗ БРЕНДУ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432" y="4224528"/>
            <a:ext cx="21214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6130F"/>
                </a:solidFill>
                <a:latin typeface="Segoe UI"/>
              </a:rPr>
              <a:t>«Готовий рис з Кореї», арт. 10296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71432" y="4809744"/>
            <a:ext cx="212140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71432" y="4919472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D6452B"/>
                </a:solidFill>
                <a:latin typeface="Georgia"/>
              </a:rPr>
              <a:t>190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71432" y="534009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6452B"/>
                </a:solidFill>
                <a:latin typeface="Segoe UI"/>
              </a:rPr>
              <a:t>вага не вказана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71432" y="554126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30F"/>
                </a:solidFill>
                <a:latin typeface="Segoe UI"/>
              </a:rPr>
              <a:t>asia-goods.com.ua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1432" y="5742432"/>
            <a:ext cx="2121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750" b="0" i="0">
                <a:solidFill>
                  <a:srgbClr val="8A8073"/>
                </a:solidFill>
                <a:latin typeface="Segoe UI"/>
              </a:rPr>
              <a:t>Ані ваги, ані виробника на картці — потрібна тестова закупка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smak-korea.com.ua (WooCommerce Store API, фото — картка товару), prom.ua, epicentrk.ua, asia-goods.com.ua — зчитано 22.09.2026.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КАРТА КАТЕГОРІЇ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Що видає пошук — і що з цього не наша категорія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За запитом «готовий рис» Google показує здебільшого сусідні технології. Ось вони.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2560320" cy="2706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a_selfheat_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1" y="2066543"/>
            <a:ext cx="1225296" cy="1225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340156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Саморозігрівальний рис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3931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073"/>
                </a:solidFill>
                <a:latin typeface="Segoe UI"/>
              </a:rPr>
              <a:t>Dacia · 187 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95344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680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242816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6452B"/>
                </a:solidFill>
                <a:latin typeface="Segoe UI"/>
              </a:rPr>
              <a:t>363,6 ₴/100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44398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>хімічний нагрівач у коробці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1" y="1938528"/>
            <a:ext cx="2560320" cy="2706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a_selfheat_2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3" y="2066543"/>
            <a:ext cx="1225296" cy="12252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30168" y="340156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Саморозігрівальний рис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63931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073"/>
                </a:solidFill>
                <a:latin typeface="Segoe UI"/>
              </a:rPr>
              <a:t>Dacia · 272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895344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799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4242816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6452B"/>
                </a:solidFill>
                <a:latin typeface="Segoe UI"/>
              </a:rPr>
              <a:t>293,8 ₴/100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44398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>з тушкованою яловичиною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938528"/>
            <a:ext cx="2560320" cy="2706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ub_noodle_c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331" y="2066543"/>
            <a:ext cx="1082344" cy="12252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340156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Локшина б/п у стакані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3931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073"/>
                </a:solidFill>
                <a:latin typeface="Segoe UI"/>
              </a:rPr>
              <a:t>Nongshim · 67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95344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103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42816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6452B"/>
                </a:solidFill>
                <a:latin typeface="Segoe UI"/>
              </a:rPr>
              <a:t>153,7 ₴/100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4398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>заливається окропом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1976" y="1938528"/>
            <a:ext cx="2560320" cy="2706624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ub_rice_bag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1240" y="2066543"/>
            <a:ext cx="861791" cy="12252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71432" y="3401568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Рис у варильних пакетах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363931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8073"/>
                </a:solidFill>
                <a:latin typeface="Segoe UI"/>
              </a:rPr>
              <a:t>Novus · 5×80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3895344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38,59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4242816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D6452B"/>
                </a:solidFill>
                <a:latin typeface="Segoe UI"/>
              </a:rPr>
              <a:t>9,6 ₴/100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4443984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>варіння 15–20 хв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64608"/>
            <a:ext cx="10911809" cy="1225296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029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9C74"/>
                </a:solidFill>
                <a:latin typeface="Segoe UI"/>
              </a:rPr>
              <a:t>Чому це не наш продукт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5358384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C9DACF"/>
                </a:solidFill>
                <a:latin typeface="Segoe UI"/>
              </a:rPr>
              <a:t>Саморозігрівальний рис має хімічний нагрівач і коштує вп'ятеро дорожче. Локшина та сублімований SubliMate потребують окропу. Garde Manger — заморожений, страви Сільпо — охолоджені на 2–5 діб.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029200"/>
            <a:ext cx="45720" cy="89611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5029200"/>
            <a:ext cx="47914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Наш продукт — єдиний, що поєднує кімнатне зберігання 12–18 місяців, 90 секунд до готовності й ціну гарніра, а не делікатесу. У цій точці на полиці зараз немає нікого.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prom.ua (картки товарів із цінами), stores-api.zakaz.ua, sf-ecom-api.silpo.ua — 22.09.2026. ₴/100 г — наш перерахунок.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ДИСТРИБУЦІЯ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У мережах — жодної позиції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21 пошуковий запит у кожній мережі, перевірено переглядом назв товарів.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6675120" cy="420624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METRO · Ашан · NOVUS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031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96896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45536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ЕКО маркет · Таврія 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004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94176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Епіцентр FOOD · Космос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7490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42816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7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Восторг · Харків · Чудо Маркет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9767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91455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1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Гроно · Ідеал · ОнDe · Za Raz · Torba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84631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40095"/>
            <a:ext cx="612648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6130F"/>
                </a:solidFill>
                <a:latin typeface="Segoe UI"/>
              </a:rPr>
              <a:t>Сільпо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9495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8A8073"/>
                </a:solidFill>
                <a:latin typeface="Georgia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7536" y="1883664"/>
            <a:ext cx="3840480" cy="420624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2121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9C74"/>
                </a:solidFill>
                <a:latin typeface="Segoe UI"/>
              </a:rPr>
              <a:t>Що стоїть натомість</a:t>
            </a:r>
          </a:p>
        </p:txBody>
      </p:sp>
      <p:pic>
        <p:nvPicPr>
          <p:cNvPr id="30" name="Picture 29" descr="sub_noodle_c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358" y="2523744"/>
            <a:ext cx="1050036" cy="1188720"/>
          </a:xfrm>
          <a:prstGeom prst="rect">
            <a:avLst/>
          </a:prstGeom>
        </p:spPr>
      </p:pic>
      <p:pic>
        <p:nvPicPr>
          <p:cNvPr id="31" name="Picture 30" descr="sub_tte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136" y="2523744"/>
            <a:ext cx="1001166" cy="11887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91856" y="3840480"/>
            <a:ext cx="32918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C9DACF"/>
                </a:solidFill>
                <a:latin typeface="Segoe UI"/>
              </a:rPr>
              <a:t>Локшина швидкого приготування, рамьон, токпоккі, рис у варильних пакетах і охолоджені страви власної кухні мережі.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6" y="4864608"/>
            <a:ext cx="3291840" cy="10058"/>
          </a:xfrm>
          <a:prstGeom prst="rect">
            <a:avLst/>
          </a:prstGeom>
          <a:solidFill>
            <a:srgbClr val="3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1856" y="5010912"/>
            <a:ext cx="32918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i="1">
                <a:solidFill>
                  <a:srgbClr val="9EB8A9"/>
                </a:solidFill>
                <a:latin typeface="Segoe UI"/>
              </a:rPr>
              <a:t>Пошук у мережах нечіткий: запит «hetbahn» у Сільпо повертає 15 позицій — усі горілка «Гетьман». Тому нулі перевірено очима.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stores-api.zakaz.ua (17 торгових мереж) і sf-ecom-api.silpo.ua, запити 22.09.2026. АТБ, Varus і Фора машинно не зчитуються — потрібна ручна перевірка.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НАША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Чим ми можемо зайняти цю полицю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Формат не обмежений звичкою покупця — категорії ще немає, тож ми задаємо її самі.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2006797" cy="301752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wn_pouch_jas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15" y="2084831"/>
            <a:ext cx="1679326" cy="1298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3529584"/>
            <a:ext cx="16410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Пауч 240 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85615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BSCM · Jasmine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4078224"/>
            <a:ext cx="1641037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187952"/>
            <a:ext cx="164103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130F"/>
                </a:solidFill>
                <a:latin typeface="Georgia"/>
              </a:rPr>
              <a:t>40,15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53712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6452B"/>
                </a:solidFill>
                <a:latin typeface="Segoe UI"/>
              </a:rPr>
              <a:t>16,7 ₴/100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6333" y="1938528"/>
            <a:ext cx="2006797" cy="301752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own_chefrey_tu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068" y="2084831"/>
            <a:ext cx="1679326" cy="1298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9213" y="3529584"/>
            <a:ext cx="16410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Пауч 250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9213" y="3785615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Chefrey · organic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9213" y="4078224"/>
            <a:ext cx="1641037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9213" y="4187952"/>
            <a:ext cx="164103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130F"/>
                </a:solidFill>
                <a:latin typeface="Georgia"/>
              </a:rPr>
              <a:t>45,78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9213" y="4553712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6452B"/>
                </a:solidFill>
                <a:latin typeface="Segoe UI"/>
              </a:rPr>
              <a:t>18,3 ₴/100 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92586" y="1938528"/>
            <a:ext cx="2006797" cy="301752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wn_c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890" y="2183066"/>
            <a:ext cx="1714189" cy="11019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75466" y="3529584"/>
            <a:ext cx="16410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Cup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5466" y="3785615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BSCM · single cup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5466" y="4078224"/>
            <a:ext cx="1641037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5466" y="4187952"/>
            <a:ext cx="164103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130F"/>
                </a:solidFill>
                <a:latin typeface="Georgia"/>
              </a:rPr>
              <a:t>34,95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5466" y="4553712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6452B"/>
                </a:solidFill>
                <a:latin typeface="Segoe UI"/>
              </a:rPr>
              <a:t>23,3 ₴/100 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8839" y="1938528"/>
            <a:ext cx="2006797" cy="301752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wn_spar_cu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143" y="2091235"/>
            <a:ext cx="1714189" cy="128564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01719" y="3529584"/>
            <a:ext cx="16410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Cup 2×125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1719" y="3785615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BSCM · private label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01719" y="4078224"/>
            <a:ext cx="1641037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1719" y="4187952"/>
            <a:ext cx="164103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130F"/>
                </a:solidFill>
                <a:latin typeface="Georgia"/>
              </a:rPr>
              <a:t>64,51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1719" y="4553712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6452B"/>
                </a:solidFill>
                <a:latin typeface="Segoe UI"/>
              </a:rPr>
              <a:t>25,8 ₴/100 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45092" y="1938528"/>
            <a:ext cx="2006797" cy="301752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own_kbros_kimch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827" y="2084831"/>
            <a:ext cx="1679326" cy="12984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27972" y="3529584"/>
            <a:ext cx="16410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30F"/>
                </a:solidFill>
                <a:latin typeface="Segoe UI"/>
              </a:rPr>
              <a:t>Лоток 200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7972" y="3785615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A8073"/>
                </a:solidFill>
                <a:latin typeface="Segoe UI"/>
              </a:rPr>
              <a:t>KBROS · Korea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7972" y="4078224"/>
            <a:ext cx="1641037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7972" y="4187952"/>
            <a:ext cx="164103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130F"/>
                </a:solidFill>
                <a:latin typeface="Georgia"/>
              </a:rPr>
              <a:t>87,26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7972" y="4553712"/>
            <a:ext cx="16410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6452B"/>
                </a:solidFill>
                <a:latin typeface="Segoe UI"/>
              </a:rPr>
              <a:t>43,6 ₴/100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38928"/>
            <a:ext cx="10911809" cy="950976"/>
          </a:xfrm>
          <a:prstGeom prst="rect">
            <a:avLst/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85232"/>
            <a:ext cx="10424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1" i="0">
                <a:solidFill>
                  <a:srgbClr val="16130F"/>
                </a:solidFill>
                <a:latin typeface="Segoe UI"/>
              </a:rPr>
              <a:t>Собівартість — завантаження 40′ FCL, курс 45,00 ₴/$. </a:t>
            </a:r>
            <a:r>
              <a:rPr sz="1050" b="0" i="0">
                <a:solidFill>
                  <a:srgbClr val="8A8073"/>
                </a:solidFill>
                <a:latin typeface="Segoe UI"/>
              </a:rPr>
              <a:t>Пауч 240 г — найдешевший грам у лінійці й найближчий формат до того, що вже приймає полиця. Cup 2×125 г існує лише як private label — у виробника власної марки в цьому форматі немає.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колода «RTE Rice · Постачальники» (Self Cost Rice Brand.xlsx), 40′ FCL, курс 45,00 ₴/$; фото — офіційні знімки упаковки постачальників. ₴/100 г — наш перерахунок.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ЦІНОВА ШКАЛА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Скільки коштує та сама порція на сусідніх полицях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Єдина спільна одиниця виміру — гривня за 100 грамів.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Рис сухий, варильні пакети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984248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984248"/>
            <a:ext cx="155082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190195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9,6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1088" y="1901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Рис сухий, медіана мереж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40864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2340864"/>
            <a:ext cx="266547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258568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16,5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91088" y="2258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1518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Наш пауч 240 г · собівартість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697480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2697480"/>
            <a:ext cx="269778" cy="128016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615184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Georgia"/>
              </a:rPr>
              <a:t>16,7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91088" y="26151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Каші швидкого приготування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054096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3054096"/>
            <a:ext cx="789950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97180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48,9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2841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Локшина швидкого приготування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3410712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3410712"/>
            <a:ext cx="789950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3328416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48,9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91088" y="33284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6850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Охолоджені страви з рисом, Сільпо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767328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3767328"/>
            <a:ext cx="840028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368503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52,0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1088" y="3685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041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6130F"/>
                </a:solidFill>
                <a:latin typeface="Segoe UI"/>
              </a:rPr>
              <a:t>bibigo 210 г · полиця України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4123944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12080" y="4123944"/>
            <a:ext cx="1038727" cy="128016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041648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Georgia"/>
              </a:rPr>
              <a:t>64,3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4041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39826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Bibigo 210 г · маркетплейс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4480559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2080" y="4480559"/>
            <a:ext cx="1453896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4398264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90,0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91088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754879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Токпоккі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4837175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12080" y="4837175"/>
            <a:ext cx="2321387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4754879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143,7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91088" y="475487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111495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6130F"/>
                </a:solidFill>
                <a:latin typeface="Segoe UI"/>
              </a:rPr>
              <a:t>Саморозігрівальний рис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5193791"/>
            <a:ext cx="4846320" cy="128016"/>
          </a:xfrm>
          <a:prstGeom prst="rect">
            <a:avLst/>
          </a:prstGeom>
          <a:solidFill>
            <a:srgbClr val="EA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12080" y="5193791"/>
            <a:ext cx="4746162" cy="128016"/>
          </a:xfrm>
          <a:prstGeom prst="rect">
            <a:avLst/>
          </a:prstGeom>
          <a:solidFill>
            <a:srgbClr val="B9A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5111495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6130F"/>
                </a:solidFill>
                <a:latin typeface="Georgia"/>
              </a:rPr>
              <a:t>293,8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91088" y="511149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073"/>
                </a:solidFill>
                <a:latin typeface="Segoe U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5449823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A8073"/>
                </a:solidFill>
                <a:latin typeface="Segoe UI"/>
              </a:rPr>
              <a:t>₴ за 100 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669280"/>
            <a:ext cx="10911809" cy="493776"/>
          </a:xfrm>
          <a:prstGeom prst="rect">
            <a:avLst/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769864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Вікно для РРЦ — між 37 і 54 ₴/100 г. </a:t>
            </a:r>
            <a:r>
              <a:rPr sz="1050" b="0" i="0">
                <a:solidFill>
                  <a:srgbClr val="16130F"/>
                </a:solidFill>
                <a:latin typeface="Segoe UI"/>
              </a:rPr>
              <a:t>Вище сухого рису, бо це готова страва; нижче корейського імпорту й охолодженої кулінарії, бо це наша перевага.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розрахунок за каталогами 17 мереж (stores-api.zakaz.ua), Сільпо, prom.ua та smak-korea.com.ua — 22.09.2026. Питома ціна рахується лише для позицій із вагою.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ЦІНОУТВОРЕННЯ · ОЦІНКА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Де поставити полицю нашому паучу 240 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Модель: РРЦ без ПДВ, націнка мережі 35 %, собівартість 40,15 ₴ (40′ FCL).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4114800" cy="420624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wn_pouch_jas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49" y="2066543"/>
            <a:ext cx="201046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78561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BSCM · Jasmine Rice, пауч 240 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9663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C2B4"/>
                </a:solidFill>
                <a:latin typeface="Segoe UI"/>
              </a:rPr>
              <a:t>Собівартість, 40′ FCL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6966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Georgia"/>
              </a:rPr>
              <a:t>40,15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C2B4"/>
                </a:solidFill>
                <a:latin typeface="Segoe UI"/>
              </a:rPr>
              <a:t>за 100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720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Georgia"/>
              </a:rPr>
              <a:t>16,7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743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C2B4"/>
                </a:solidFill>
                <a:latin typeface="Segoe UI"/>
              </a:rPr>
              <a:t>Полиця bibigo, за 100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974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Georgia"/>
              </a:rPr>
              <a:t>64,3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9C2B4"/>
                </a:solidFill>
                <a:latin typeface="Segoe UI"/>
              </a:rPr>
              <a:t>Запас по грамах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7667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Georgia"/>
              </a:rPr>
              <a:t>×3,8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1883664"/>
            <a:ext cx="6510528" cy="420624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212140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РРЦ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₴/100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1214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vs BIBIGO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1214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МАРЖА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25328" y="2121408"/>
            <a:ext cx="694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4" y="2395728"/>
            <a:ext cx="596188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8384" y="254203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89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42032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37,1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54203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−42 %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54203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14,79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8" y="2542032"/>
            <a:ext cx="694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27 %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301752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99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175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41,2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30175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−36 %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0175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20,96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5328" y="3017520"/>
            <a:ext cx="694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34 %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3456432"/>
            <a:ext cx="6181344" cy="457200"/>
          </a:xfrm>
          <a:prstGeom prst="rect">
            <a:avLst/>
          </a:prstGeom>
          <a:solidFill>
            <a:srgbClr val="F7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58384" y="349300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D6452B"/>
                </a:solidFill>
                <a:latin typeface="Georgia"/>
              </a:rPr>
              <a:t>109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493008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45,4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49300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−29 %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2016" y="349300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27,13 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25328" y="3493008"/>
            <a:ext cx="694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40 %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0368" y="3931920"/>
            <a:ext cx="6181344" cy="457200"/>
          </a:xfrm>
          <a:prstGeom prst="rect">
            <a:avLst/>
          </a:prstGeom>
          <a:solidFill>
            <a:srgbClr val="F7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8384" y="396849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D6452B"/>
                </a:solidFill>
                <a:latin typeface="Georgia"/>
              </a:rPr>
              <a:t>119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6849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49,6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7" y="396849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−23 %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396849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33,31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5328" y="3968496"/>
            <a:ext cx="694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D6452B"/>
                </a:solidFill>
                <a:latin typeface="Segoe UI"/>
              </a:rPr>
              <a:t>45 %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8384" y="4443983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6130F"/>
                </a:solidFill>
                <a:latin typeface="Georgia"/>
              </a:rPr>
              <a:t>129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443983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53,8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444398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−16 %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6" y="4443983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39,48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25328" y="4443983"/>
            <a:ext cx="694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6130F"/>
                </a:solidFill>
                <a:latin typeface="Segoe UI"/>
              </a:rPr>
              <a:t>50 %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58384" y="4937759"/>
            <a:ext cx="5961888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58384" y="5084063"/>
            <a:ext cx="5961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8A8073"/>
                </a:solidFill>
                <a:latin typeface="Segoe UI"/>
              </a:rPr>
              <a:t>Рекомендація: стартувати з 109–119 ₴. Це на 23–29 % дешевше за корейський імпорт, лишає мережі повну націнку, а нам — 40–45 % маржі. Умови входу (listing fee, промо, відстрочка) в модель не закладені.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собівартість — колода «RTE Rice · Постачальники» (BSCM пауч 240 г, 40′ FCL, курс 45,00 ₴/$); полиця bibigo — smak-korea.com.ua, 22.09.2026. Сценарії — наш розрахунок.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АРХІТЕКТУРА АСОРТИМЕНТУ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Що саме ставити на полицю першим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Погляд категорійного менеджера: три ролі, а не список SKU.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34747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3474720" cy="4572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wn_pouch_jas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993" y="2139696"/>
            <a:ext cx="1844893" cy="14264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7824" y="3694176"/>
            <a:ext cx="665683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6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694176"/>
            <a:ext cx="66568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D6452B"/>
                </a:solidFill>
                <a:latin typeface="Segoe UI"/>
              </a:rPr>
              <a:t>ТРАФІК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09651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130F"/>
                </a:solidFill>
                <a:latin typeface="Segoe UI"/>
              </a:rPr>
              <a:t>Jasmine 240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805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Найдешевший грам, найзрозуміліший смак. Тримає цінове сприйняття категорії й перший пробний купівельний акт.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5449824"/>
            <a:ext cx="2999232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57784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6452B"/>
                </a:solidFill>
                <a:latin typeface="Georgia"/>
              </a:rPr>
              <a:t>109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65099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8A8073"/>
                </a:solidFill>
                <a:latin typeface="Segoe UI"/>
              </a:rPr>
              <a:t>орієнтовна РРЦ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938528"/>
            <a:ext cx="34747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938528"/>
            <a:ext cx="3474720" cy="4572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wn_pouch_mexic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13" y="2139696"/>
            <a:ext cx="1844893" cy="14264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81144" y="3694176"/>
            <a:ext cx="59436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694176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6130F"/>
                </a:solidFill>
                <a:latin typeface="Segoe UI"/>
              </a:rPr>
              <a:t>МАРЖА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9651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130F"/>
                </a:solidFill>
                <a:latin typeface="Segoe UI"/>
              </a:rPr>
              <a:t>Mexican · Hot &amp; Spicy 240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4805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Смакові версії за тією ж собівартістю +5–10 %, але з вищою РРЦ. Саме вони роблять категорію прибутковою.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1144" y="5449824"/>
            <a:ext cx="2999232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557784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30F"/>
                </a:solidFill>
                <a:latin typeface="Georgia"/>
              </a:rPr>
              <a:t>129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65099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8A8073"/>
                </a:solidFill>
                <a:latin typeface="Segoe UI"/>
              </a:rPr>
              <a:t>орієнтовна РРЦ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1938528"/>
            <a:ext cx="3474720" cy="4151376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1938528"/>
            <a:ext cx="3474720" cy="45720"/>
          </a:xfrm>
          <a:prstGeom prst="rect">
            <a:avLst/>
          </a:prstGeom>
          <a:solidFill>
            <a:srgbClr val="8A8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wn_spar_cu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3" y="2139696"/>
            <a:ext cx="1901952" cy="142646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284463" y="3694176"/>
            <a:ext cx="523036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3" y="3694176"/>
            <a:ext cx="5230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8A8073"/>
                </a:solidFill>
                <a:latin typeface="Segoe UI"/>
              </a:rPr>
              <a:t>ТЕСТ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3" y="4096512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130F"/>
                </a:solidFill>
                <a:latin typeface="Segoe UI"/>
              </a:rPr>
              <a:t>Cup 2×125 г, private label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4480560"/>
            <a:ext cx="2999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Формат для тесту в одній мережі. Виробник дає його лише під марку замовника — це вже готовий private label кейс (SPAR).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3" y="5449824"/>
            <a:ext cx="2999232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557784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8A8073"/>
                </a:solidFill>
                <a:latin typeface="Georgia"/>
              </a:rPr>
              <a:t>159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5650992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8A8073"/>
                </a:solidFill>
                <a:latin typeface="Segoe UI"/>
              </a:rPr>
              <a:t>орієнтовна РРЦ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Ролі SKU — наша рекомендація на підставі цінової шкали (слайд 08) і собівартості (слайд 07). РРЦ — оцінка, не комерційна пропозиція.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ІМПОРТ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HS 1904 90 — найближчий публічний 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Окремого коду для RTE-рису не існує; це кошик готових виробів із зерна.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6492240" cy="420624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8073"/>
                </a:solidFill>
                <a:latin typeface="Segoe UI"/>
              </a:rPr>
              <a:t>РІК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2140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ТОНН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2140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ТИС. $ CIF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2140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8A8073"/>
                </a:solidFill>
                <a:latin typeface="Segoe UI"/>
              </a:rPr>
              <a:t>$/КГ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95728"/>
            <a:ext cx="5943600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2374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30F"/>
                </a:solidFill>
                <a:latin typeface="Segoe UI"/>
              </a:rPr>
              <a:t>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237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956,6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237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839,7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523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0,88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44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944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17,6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944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74,6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9443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A8073"/>
                </a:solidFill>
                <a:latin typeface="Georgia"/>
              </a:rPr>
              <a:t>4,24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649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3649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1,2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3649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12,8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3649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A8073"/>
                </a:solidFill>
                <a:latin typeface="Georgia"/>
              </a:rPr>
              <a:t>10,67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856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8073"/>
                </a:solidFill>
                <a:latin typeface="Segoe UI"/>
              </a:rPr>
              <a:t>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7856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0,4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856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8A8073"/>
                </a:solidFill>
                <a:latin typeface="Georgia"/>
              </a:rPr>
              <a:t>2,3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8561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A8073"/>
                </a:solidFill>
                <a:latin typeface="Georgia"/>
              </a:rPr>
              <a:t>5,75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30F"/>
                </a:solidFill>
                <a:latin typeface="Segoe UI"/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362,2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534,4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206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1,48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30F"/>
                </a:solidFill>
                <a:latin typeface="Segoe UI"/>
              </a:rPr>
              <a:t>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6268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287,5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6268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706,7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6268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2,46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47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130F"/>
                </a:solidFill>
                <a:latin typeface="Segoe UI"/>
              </a:rPr>
              <a:t>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047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207,2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047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6130F"/>
                </a:solidFill>
                <a:latin typeface="Georgia"/>
              </a:rPr>
              <a:t>608,7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6452B"/>
                </a:solidFill>
                <a:latin typeface="Georgia"/>
              </a:rPr>
              <a:t>2,94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5955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1">
                <a:solidFill>
                  <a:srgbClr val="D6452B"/>
                </a:solidFill>
                <a:latin typeface="Segoe UI"/>
              </a:rPr>
              <a:t>2019–2021 — майже нулі. Це схоже на прогалину у звітності, а не на зникнення імпорту.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34656" y="1883664"/>
            <a:ext cx="4023360" cy="4206240"/>
          </a:xfrm>
          <a:prstGeom prst="rect">
            <a:avLst/>
          </a:prstGeom>
          <a:solidFill>
            <a:srgbClr val="E9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08975" y="21214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Межі цих даних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08975" y="2578608"/>
            <a:ext cx="91440" cy="9144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2523744"/>
            <a:ext cx="3255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6130F"/>
                </a:solidFill>
                <a:latin typeface="Segoe UI"/>
              </a:rPr>
              <a:t>Код кошиковий: готовий рис — лише його частина.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08975" y="3493008"/>
            <a:ext cx="91440" cy="9144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8431" y="3438144"/>
            <a:ext cx="3255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6130F"/>
                </a:solidFill>
                <a:latin typeface="Segoe UI"/>
              </a:rPr>
              <a:t>Публічний UN Comtrade віддає тільки світовий агрегат — частку Таїланду й Кореї з нього не видно.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08975" y="4407407"/>
            <a:ext cx="91440" cy="9144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28431" y="4352544"/>
            <a:ext cx="3255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6130F"/>
                </a:solidFill>
                <a:latin typeface="Segoe UI"/>
              </a:rPr>
              <a:t>Даних за 2025 рік на дату зрізу немає.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08975" y="5285232"/>
            <a:ext cx="3474720" cy="658368"/>
          </a:xfrm>
          <a:prstGeom prst="rect">
            <a:avLst/>
          </a:prstGeom>
          <a:solidFill>
            <a:srgbClr val="FFF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91856" y="5413248"/>
            <a:ext cx="31455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D6452B"/>
                </a:solidFill>
                <a:latin typeface="Segoe UI"/>
              </a:rPr>
              <a:t>Для точної картини потрібне вивантаження Держмитслужби за УКТЗЕД 1904 90 10.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UN Comtrade (comtradeapi.un.org), репортер Україна (804), потік «імпорт», код HS 190490, звернення 22.09.2026. $/кг — наш розрахунок.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РЕГУЛЯТОРИКА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Що потрібно, щоб завести 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Оглядово, без глибокого юридичного аналізу — із позначенням зон ризику.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6492240" cy="420624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6452B"/>
                </a:solidFill>
                <a:latin typeface="Segoe UI"/>
              </a:rPr>
              <a:t>Маркування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2139696"/>
            <a:ext cx="42611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6130F"/>
                </a:solidFill>
                <a:latin typeface="Segoe UI"/>
              </a:rPr>
              <a:t>Українською мовою — ЗУ № 2639-VIII «Про інформацію для споживачів щодо харчових продуктів»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6452B"/>
                </a:solidFill>
                <a:latin typeface="Segoe UI"/>
              </a:rPr>
              <a:t>Обов'язкові дані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944368"/>
            <a:ext cx="42611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6130F"/>
                </a:solidFill>
                <a:latin typeface="Segoe UI"/>
              </a:rPr>
              <a:t>Склад, поживна цінність, алергени, термін придатності, партія, країна походження, виробник та імпортер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6452B"/>
                </a:solidFill>
                <a:latin typeface="Segoe UI"/>
              </a:rPr>
              <a:t>Оператор ринку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3749039"/>
            <a:ext cx="42611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6130F"/>
                </a:solidFill>
                <a:latin typeface="Segoe UI"/>
              </a:rPr>
              <a:t>Реєстрація потужностей імпортера в Держпродспоживслужбі, система НАССР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5371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6452B"/>
                </a:solidFill>
                <a:latin typeface="Segoe UI"/>
              </a:rPr>
              <a:t>Походження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4553712"/>
            <a:ext cx="42611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6130F"/>
                </a:solidFill>
                <a:latin typeface="Segoe UI"/>
              </a:rPr>
              <a:t>Рецептура рослинного походження — ветеринарний сертифікат не потрібен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58383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6452B"/>
                </a:solidFill>
                <a:latin typeface="Segoe UI"/>
              </a:rPr>
              <a:t>Платежі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5358383"/>
            <a:ext cx="42611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6130F"/>
                </a:solidFill>
                <a:latin typeface="Segoe UI"/>
              </a:rPr>
              <a:t>Мито 10 % і ПДВ 20 % уже враховані в собівартості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34656" y="1883664"/>
            <a:ext cx="4023360" cy="420624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21214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9C74"/>
                </a:solidFill>
                <a:latin typeface="Segoe UI"/>
              </a:rPr>
              <a:t>Зони ризику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5" y="2578608"/>
            <a:ext cx="45720" cy="859536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54203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Смаки з м'ясом і яйцем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798063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C9DACF"/>
                </a:solidFill>
                <a:latin typeface="Segoe UI"/>
              </a:rPr>
              <a:t>Курка, яйце, морепродукти переводять товар у режим продукції тваринного походження — інший пакет документів і затверджені потужності експортера.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08975" y="3767328"/>
            <a:ext cx="45720" cy="859536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373075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Воєнні спрощення маркування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3986784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C9DACF"/>
                </a:solidFill>
                <a:latin typeface="Segoe UI"/>
              </a:rPr>
              <a:t>Дозвіл на супровідну документацію українською замість друку на упаковці (КМУ, 21.03.2022). Чинність у 2026 році потребує висновку юриста.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8975" y="4956048"/>
            <a:ext cx="45720" cy="859536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491947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Заяви на упаковці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5175504"/>
            <a:ext cx="3291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C9DACF"/>
                </a:solidFill>
                <a:latin typeface="Segoe UI"/>
              </a:rPr>
              <a:t>«Organic», «без глютену», «без консервантів» потребують підтвердження; organic — визнаної сертифікації.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Джерело: ЗУ № 2639-VIII (zakon.rada.gov.ua/go/2639-19); повідомлення Кабінету Міністрів України від 21.03.2022. Чинність спрощень станом на 22.09.2026 не перевірялася.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g_plant.jpg"/>
          <p:cNvPicPr>
            <a:picLocks noChangeAspect="1"/>
          </p:cNvPicPr>
          <p:nvPr/>
        </p:nvPicPr>
        <p:blipFill>
          <a:blip r:embed="rId2"/>
          <a:srcRect l="23521" r="23521"/>
          <a:stretch>
            <a:fillRect/>
          </a:stretch>
        </p:blipFill>
        <p:spPr>
          <a:xfrm>
            <a:off x="6949440" y="0"/>
            <a:ext cx="5248656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0"/>
            <a:ext cx="5248656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1D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896112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99C74"/>
                </a:solidFill>
                <a:latin typeface="Segoe UI"/>
              </a:rPr>
              <a:t>ВИСНОВОК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Ніша вільна, але покупця доведеться вчити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96896"/>
            <a:ext cx="6035040" cy="10058"/>
          </a:xfrm>
          <a:prstGeom prst="rect">
            <a:avLst/>
          </a:prstGeom>
          <a:solidFill>
            <a:srgbClr val="3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79776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C9DACF"/>
                </a:solidFill>
                <a:latin typeface="Segoe UI"/>
              </a:rPr>
              <a:t>Категорія в Україні існує у вигляді чотирьох лістингів, з яких два мають залишок. У жодній мережі її немає. Витісняти нікого не треба — але й готового попиту, вихованого чужим маркетингом, теж немає.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966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6452B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187951"/>
            <a:ext cx="561441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Перший SKU — Jasmine 240 г за 109 ₴: найдешевший грам і найнижчий бар'єр проби.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2803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6452B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846319"/>
            <a:ext cx="561441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Комунікація продає не рис, а 90 секунд: конкурент — не крупа, а доставка.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39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6452B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5504687"/>
            <a:ext cx="561441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Вхід через одну мережу з обмеженим SKU-сетом, а не широкий лістинг одразу.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36208"/>
            <a:ext cx="6035040" cy="384048"/>
          </a:xfrm>
          <a:prstGeom prst="rect">
            <a:avLst/>
          </a:prstGeom>
          <a:solidFill>
            <a:srgbClr val="17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629107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FAB9C"/>
                </a:solidFill>
                <a:latin typeface="Segoe UI"/>
              </a:rPr>
              <a:t>Зріз полиці 22.09.2026 · дані з позначкою «потребує перевірки» у висновок не включені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5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274320" cy="50292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3657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6452B"/>
                </a:solidFill>
                <a:latin typeface="Segoe UI"/>
              </a:rPr>
              <a:t>ПЛАН ДІЙ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6130F"/>
                </a:solidFill>
                <a:latin typeface="Segoe UI"/>
              </a:rPr>
              <a:t>Що зробити до рішення про закупівлю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A8073"/>
                </a:solidFill>
                <a:latin typeface="Segoe UI"/>
              </a:rPr>
              <a:t>Чотири кроки, кожен закриває конкретну прогалину цього дослідження.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93392"/>
            <a:ext cx="10911809" cy="91440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93392"/>
            <a:ext cx="45720" cy="91440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12848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9E1D2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5798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Ручний моніторинг полиці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30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5798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АТБ, Сільпо, Novus, Ашан, METRO — 2 міста, фотофіксація цінників. Закриває єдиний канал, який не зчитується машинно.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729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Segoe UI"/>
              </a:rPr>
              <a:t>1 тиждень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35808"/>
            <a:ext cx="10911809" cy="91440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35808"/>
            <a:ext cx="45720" cy="91440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255264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9E1D2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00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Тестова закупка чотирьох лістингів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112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30F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Зафіксувати вагу, склад, маркування й якість — і зрозуміти, чому дві позиції з чотирьох стоять без залишку.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729" y="334670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Segoe UI"/>
              </a:rPr>
              <a:t>2 тижні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11809" cy="91440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78224"/>
            <a:ext cx="45720" cy="91440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297680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9E1D2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428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Вивантаження Держмитслужби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53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30F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2428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УКТЗЕД 1904 90 10 з розбивкою за країнами: покаже, хто вже возить і в яких обсягах.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729" y="43891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Segoe UI"/>
              </a:rPr>
              <a:t>за запитом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10911809" cy="914400"/>
          </a:xfrm>
          <a:prstGeom prst="rect">
            <a:avLst/>
          </a:prstGeom>
          <a:solidFill>
            <a:srgbClr val="FFFEFB"/>
          </a:solidFill>
          <a:ln w="12700">
            <a:solidFill>
              <a:srgbClr val="D9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120640"/>
            <a:ext cx="45720" cy="914400"/>
          </a:xfrm>
          <a:prstGeom prst="rect">
            <a:avLst/>
          </a:prstGeom>
          <a:solidFill>
            <a:srgbClr val="D6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340096"/>
            <a:ext cx="731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9E1D2"/>
                </a:solidFill>
                <a:latin typeface="Georgia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28523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30F"/>
                </a:solidFill>
                <a:latin typeface="Segoe UI"/>
              </a:rPr>
              <a:t>Перемовини з однією мережею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59612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6130F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285231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8A8073"/>
                </a:solidFill>
                <a:latin typeface="Segoe UI"/>
              </a:rPr>
              <a:t>Новий продукт без аналога на полиці — питання не ціни, а готовності мережі відкрити позицію.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1729" y="5431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Segoe UI"/>
              </a:rPr>
              <a:t>паралельно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327648"/>
            <a:ext cx="10911809" cy="10058"/>
          </a:xfrm>
          <a:prstGeom prst="rect">
            <a:avLst/>
          </a:prstGeom>
          <a:solidFill>
            <a:srgbClr val="D9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A8073"/>
                </a:solidFill>
                <a:latin typeface="Segoe UI"/>
              </a:rPr>
              <a:t>Підсумок за матеріалами слайдів 02–13. Усі ціни та залишки зафіксовано 22.09.2026.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3249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D6452B"/>
                </a:solidFill>
                <a:latin typeface="Georgia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