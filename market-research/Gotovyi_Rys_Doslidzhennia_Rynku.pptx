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image" Target="../media/image16.jpg"/><Relationship Id="rId12" Type="http://schemas.openxmlformats.org/officeDocument/2006/relationships/image" Target="../media/image17.jpg"/><Relationship Id="rId13" Type="http://schemas.openxmlformats.org/officeDocument/2006/relationships/image" Target="../media/image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6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14.jpg"/><Relationship Id="rId7" Type="http://schemas.openxmlformats.org/officeDocument/2006/relationships/image" Target="../media/image22.jpg"/><Relationship Id="rId8" Type="http://schemas.openxmlformats.org/officeDocument/2006/relationships/image" Target="../media/image5.jpg"/><Relationship Id="rId9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133087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6CEE2"/>
                </a:solidFill>
                <a:latin typeface="Segoe UI"/>
              </a:rPr>
              <a:t>Хто представлений · яка упаковка · яка ціна · де представлено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48828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FA9C4"/>
                </a:solidFill>
                <a:latin typeface="Segoe UI"/>
              </a:rPr>
              <a:t>9 брендів · 45 перевірених карток товару · 16 каналів продажу
Зріз відкритих українських онлайн-вітрин: 22 вересня 2026 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1115568"/>
            <a:ext cx="214884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665" y="1243584"/>
            <a:ext cx="1529396" cy="21396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1463040"/>
            <a:ext cx="214884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613" y="1591056"/>
            <a:ext cx="1784077" cy="17922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639312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earspr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422" y="3767328"/>
            <a:ext cx="1391883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639312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ttogi_burg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775272"/>
            <a:ext cx="1856232" cy="16483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52944" y="5687568"/>
            <a:ext cx="4453128" cy="713232"/>
          </a:xfrm>
          <a:prstGeom prst="roundRect">
            <a:avLst>
              <a:gd name="adj" fmla="val 16000"/>
            </a:avLst>
          </a:prstGeom>
          <a:solidFill>
            <a:srgbClr val="262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5797296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Ben's Original · Bibigo · Clearspring · Ottogi · Portion
Haidilao · Mo Xiao Xian · Travellunch · SubliMate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показав зріз вітрин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Чотири питання дослідження та коротка відповідь на кожне.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65376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6537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57984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34640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ХТО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27248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брендів у категорії та поруч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657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5 — готовий рис, 4 — суміжні технології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1865376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10712" y="186537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157984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210–350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34640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9EA6"/>
                </a:solidFill>
                <a:latin typeface="Segoe UI"/>
              </a:rPr>
              <a:t>УПАКОВКА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127248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грамів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657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пауч, лоток-чаша та висока чаша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65376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86537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157984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18–130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834640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ЦІНА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127248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грн за 100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657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медіана 79 грн; за упаковку 45–356 грн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1865376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5128" y="1865376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59" y="2157984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2834640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7A169"/>
                </a:solidFill>
                <a:latin typeface="Segoe UI"/>
              </a:rPr>
              <a:t>ДЕ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3127248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каналів продажу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657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мережа, маркетплейси, спеціалізований онлайн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4315968"/>
            <a:ext cx="10954512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3504" y="4315968"/>
            <a:ext cx="91440" cy="17556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55371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Структура пропозиції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" y="50337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3584" y="49743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Гарніри — чистий рис у пауці: Ben's Original, Clearspring.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" y="53812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43584" y="53218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Рис у чаші: Bibigo — білий рис, Ottogi — рис із наповнювачем.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2980" y="57287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3584" y="5669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Суміжні технології: саморозігрів, сублімація — інша ціна й повід.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4590288"/>
            <a:ext cx="36576" cy="120700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4553712"/>
            <a:ext cx="398678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Основа — онлайн-асортимент відкритих вітрин. Частота карток не дорівнює частці продажів: один товар може бути виставлений у кількох продавців за різними цінами.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перевірені картки українських онлайн-вітрин, 22.09.2026.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ХТО ПРЕДСТАВЛЕНИЙ · 1/4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Три способи продати готовий рис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Сегменти відрізняються не смаком, а технологією та поводом споживання.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ХТО ПРЕДСТАВЛЕНИЙ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2432304"/>
            <a:ext cx="314553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353" y="2505456"/>
            <a:ext cx="1019597" cy="1426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" y="4133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9A50B"/>
                </a:solidFill>
                <a:latin typeface="Segoe UI"/>
              </a:rPr>
              <a:t>ГАРНІР У ПАУЧІ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89120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303A5D"/>
                </a:solidFill>
                <a:latin typeface="Segoe UI"/>
              </a:rPr>
              <a:t>Ben's Original · Clearspring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974336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Чистий рис або легкий смак.
Пауч 220–250 г, розігрів 2 хв.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565099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7607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15 карток · 18–101 грн/100 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52544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35424" y="2432304"/>
            <a:ext cx="314553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201" y="2505456"/>
            <a:ext cx="1419980" cy="14264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45152" y="4133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7A169"/>
                </a:solidFill>
                <a:latin typeface="Segoe UI"/>
              </a:rPr>
              <a:t>РИС У ЧАШІ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389120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303A5D"/>
                </a:solidFill>
                <a:latin typeface="Segoe UI"/>
              </a:rPr>
              <a:t>Bibigo · Ottogi · Portion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974336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Біла основа або рис із наповнювачем.
Лоток-чаша 210–350 г.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565099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57607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7A169"/>
                </a:solidFill>
                <a:latin typeface="Segoe UI"/>
              </a:rPr>
              <a:t>16 карток · 31–130 грн/100 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01583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84463" y="2432304"/>
            <a:ext cx="314553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3" y="3054096"/>
            <a:ext cx="3145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17890"/>
                </a:solidFill>
                <a:latin typeface="Segoe UI"/>
              </a:rPr>
              <a:t>ПАКШОТІВ НЕМАЄ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3" y="3291840"/>
            <a:ext cx="31455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на картках цих продавців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133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B5EA7"/>
                </a:solidFill>
                <a:latin typeface="Segoe UI"/>
              </a:rPr>
              <a:t>СУМІЖНІ ТЕХНОЛОГІЇ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389120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303A5D"/>
                </a:solidFill>
                <a:latin typeface="Segoe UI"/>
              </a:rPr>
              <a:t>Haidilao · Mo Xiao Xian
Travellunch · SubliMate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974336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Саморозігрів і сублімація.
Інший повід, інша цінова ліга.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94192" y="565099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57607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14 карток · 220–454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картки товарів українських онлайн-вітрин, 22.09.2026. Ціни за 100 г — наш розрахунок за масою та ціною картки.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ХТО ПРЕДСТАВЛЕНИЙ · 2/4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П'ять брендів готового рису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Кожен займає власну нішу за форматом, походженням і ціною.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ХТО ПРЕДСТАВЛЕНИЙ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13969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БРЕНД І ПОХОДЖЕННЯ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13969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213969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ЩО САМЕ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4704" y="213969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717890"/>
                </a:solidFill>
                <a:latin typeface="Segoe UI"/>
              </a:rPr>
              <a:t>ГРН ЗА УПАКОВКУ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414016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" y="2414016"/>
            <a:ext cx="82296" cy="7315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2487168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ens_lang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20" y="2514600"/>
            <a:ext cx="764791" cy="5303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93392" y="25328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281635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26517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Пауч 220 / 240 / 250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265176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Найширша лінійка: 11 смаків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25603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87121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14 карток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200400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3504" y="3200400"/>
            <a:ext cx="82296" cy="73152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" y="3273552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ottogi_kimch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00984"/>
            <a:ext cx="530352" cy="5303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93392" y="33192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36027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4381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Чаша 217–320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343814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Рис із наповнювачем, 10 страв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3264" y="334670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7B5EA7"/>
                </a:solidFill>
                <a:latin typeface="Segoe UI"/>
              </a:rPr>
              <a:t>225 – 356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3264" y="36576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12 карток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3986784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3504" y="3986784"/>
            <a:ext cx="82296" cy="73152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672" y="4059936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45" y="4087368"/>
            <a:ext cx="527941" cy="5303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93392" y="410565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339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CJ CheilJedang · Корея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422452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Лоток-чаша 210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8624" y="422452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Білий рис без добавок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13264" y="413308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37A169"/>
                </a:solidFill>
                <a:latin typeface="Segoe UI"/>
              </a:rPr>
              <a:t>135 – 189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3264" y="44439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3 карток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4773168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3504" y="4773168"/>
            <a:ext cx="82296" cy="73152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" y="4846320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clearspr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32" y="4873752"/>
            <a:ext cx="443567" cy="5303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993392" y="48920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3392" y="517550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9744" y="501091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50109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Органіка: суміш рисів із tamari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13264" y="491947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1E9EA6"/>
                </a:solidFill>
                <a:latin typeface="Segoe UI"/>
              </a:rPr>
              <a:t>252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13264" y="523036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1 карток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5559552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3504" y="5559552"/>
            <a:ext cx="82296" cy="73152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4672" y="5632704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5815584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717890"/>
                </a:solidFill>
                <a:latin typeface="Segoe UI"/>
              </a:rPr>
              <a:t>фото
немає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93392" y="5678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93392" y="59618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Пирятинський делікатес · 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579729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Лоток 350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78624" y="579729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Єдиний український виробник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13264" y="570585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94F7C"/>
                </a:solidFill>
                <a:latin typeface="Segoe UI"/>
              </a:rPr>
              <a:t>109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3264" y="60167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1 карток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Сільпо, MAUDAU, Edison Lee, Смак Кореї, Rozetka, Prom, Pulsar, Апетітаріум, Gurmissimo, Тайякі Март — 22.09.2026.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ХТО ПРЕДСТАВЛЕНИЙ · 3/4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Чотири бренди поруч із категорією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Їх видає той самий пошук, але це інша технологія та інша цінова ліга.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ХТО ПРЕДСТАВЛЕНИЙ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5358384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212848"/>
            <a:ext cx="53583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432304"/>
            <a:ext cx="1371600" cy="135331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фото
немає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27614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3035808"/>
            <a:ext cx="10094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3035808"/>
            <a:ext cx="10094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3383280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Чаша 175–272 г із хімічним нагрівачем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2450591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7B5EA7"/>
                </a:solidFill>
                <a:latin typeface="Segoe UI"/>
              </a:rPr>
              <a:t>650 – 799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2743200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283–371 грн/100 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212848"/>
            <a:ext cx="5358384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2212848"/>
            <a:ext cx="53583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432304"/>
            <a:ext cx="1371600" cy="135331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99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фото
немає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76148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035808"/>
            <a:ext cx="1470355" cy="237744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035808"/>
            <a:ext cx="14703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ШВИДКЕ ПРИГОТУВАННЯ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83280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Instant Rice 275 г, окріп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450591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5B6B8C"/>
                </a:solidFill>
                <a:latin typeface="Segoe UI"/>
              </a:rPr>
              <a:t>ціну не вказано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743200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4187952"/>
            <a:ext cx="5358384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187952"/>
            <a:ext cx="53583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4407408"/>
            <a:ext cx="1371600" cy="135331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9743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фото
немає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9152" y="44439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7365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Німеччина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59152" y="5010912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59152" y="5010912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СУБЛІМАЦІЯ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59152" y="5358384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Пакет 125 / 250 г, потребує окропу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4425696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1E9EA6"/>
                </a:solidFill>
                <a:latin typeface="Segoe UI"/>
              </a:rPr>
              <a:t>275 – 889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4" y="4718304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220–454 грн/100 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187952"/>
            <a:ext cx="5358384" cy="1792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99632" y="4187952"/>
            <a:ext cx="5358384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0" y="4407408"/>
            <a:ext cx="1371600" cy="135331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9743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фото
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4439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365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5010912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5010912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СУБЛІМАЦІЯ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5358384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Порційний пакет, туристичний канал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57232" y="4425696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E2564B"/>
                </a:solidFill>
                <a:latin typeface="Segoe UI"/>
              </a:rPr>
              <a:t>ціна за запитом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4718304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" y="6126480"/>
            <a:ext cx="1095451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6217920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Канали: Daruy, Tactico, ALANTUR, ForCamp, Highlander, Військторг Гайдамака — переважно туристичні та військові магазини, а не продуктова роздріб.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ХТО ПРЕДСТАВЛЕНИЙ · 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Ben's Original: 11 смаків — найглибша лінійка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Для порівняння: у решти брендів гарнірів по одному-трьох варіантах.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06" y="1993392"/>
            <a:ext cx="771234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ens_mediterr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528" y="1993392"/>
            <a:ext cx="765103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04288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85616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77056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358" y="1993392"/>
            <a:ext cx="767555" cy="10789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95344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5344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76672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68112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414" y="1993392"/>
            <a:ext cx="767555" cy="10789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7728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59168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113" y="1993392"/>
            <a:ext cx="782269" cy="10789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77456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58784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50224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948" y="1993392"/>
            <a:ext cx="746711" cy="10789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68512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Curry · сочевиця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8512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1865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41280" y="1956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ens_sweetchili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6547" y="1993392"/>
            <a:ext cx="789625" cy="10789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568" y="3200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9568" y="3529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9568" y="3712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133087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4944" y="4224527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406" y="4261103"/>
            <a:ext cx="771234" cy="10789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3232" y="5468112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79729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980175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94560" y="4133087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286000" y="4224527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5749" y="4261103"/>
            <a:ext cx="800661" cy="10789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304288" y="5468112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04288" y="579729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4288" y="5980175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85616" y="4133087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877056" y="4224527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ens_basmati22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840" y="4261103"/>
            <a:ext cx="778590" cy="107899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895344" y="5468112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95344" y="579729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95344" y="5980175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76672" y="4133087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468112" y="4224527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bens_stickybow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7097" y="4261103"/>
            <a:ext cx="722188" cy="107899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486400" y="5468112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79729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5980175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04304" y="4133087"/>
            <a:ext cx="4553712" cy="2103120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004304" y="4133087"/>
            <a:ext cx="82296" cy="21031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33488" y="4352544"/>
            <a:ext cx="3986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C95C"/>
                </a:solidFill>
                <a:latin typeface="Segoe UI"/>
              </a:rPr>
              <a:t>Дві вагові платформи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33488" y="47548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93024" y="477316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45 – 89,99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479145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A9C4"/>
                </a:solidFill>
                <a:latin typeface="Segoe UI"/>
              </a:rPr>
              <a:t>5 смаків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33488" y="5321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93024" y="534009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89,99 – 179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68128" y="535838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FA9C4"/>
                </a:solidFill>
                <a:latin typeface="Segoe UI"/>
              </a:rPr>
              <a:t>6 смаків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3488" y="5779008"/>
            <a:ext cx="3986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9FA9C4"/>
                </a:solidFill>
                <a:latin typeface="Segoe UI"/>
              </a:rPr>
              <a:t>Плюс Bio Basmati 240 г і Long Grain 220 г у спеціалізованому онлайні.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карток), MAUDAU, Edison Lee — 22.09.2026.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OTTOGI · ГЛИБИНА ЛІНІЙКИ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Ottogi: 10 страв у чаші, ціна залежить від продавця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Другий за глибиною бренд категорії. Один товар трапляється у чотирьох продавців.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65376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975104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ttogi_chick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06" y="2011680"/>
            <a:ext cx="1114362" cy="987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096" y="3127248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438144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62102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255 – 260 грн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1865376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6432" y="1975104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ttogi_burg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228" y="2011680"/>
            <a:ext cx="1112118" cy="987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11296" y="3127248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438144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62102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1865376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1975104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ttogi_octopu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673" y="2011680"/>
            <a:ext cx="1107629" cy="9875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54496" y="3127248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438144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621024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255 – 289 грн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023360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" y="4133088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ottogi_jjampo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295" y="4169664"/>
            <a:ext cx="1125584" cy="9875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8096" y="5285232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Jin Jjampong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59612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779008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4023360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4133088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ottogi_tun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512" y="4169664"/>
            <a:ext cx="987552" cy="9875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511296" y="5285232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11296" y="559612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1296" y="5779008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225 – 320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4023360"/>
            <a:ext cx="2487168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99632" y="4133088"/>
            <a:ext cx="2267712" cy="106070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ottogi_kimchi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4169664"/>
            <a:ext cx="987552" cy="9875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54496" y="5285232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Кімчі й тунець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559612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5779008"/>
            <a:ext cx="2157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51392" y="1865376"/>
            <a:ext cx="2706624" cy="4133087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51392" y="1865376"/>
            <a:ext cx="2706624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2121408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Ще 4 смаки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424" y="2432304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без фото на картках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283464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Пібімпаб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30358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0175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B5EA7"/>
                </a:solidFill>
                <a:latin typeface="Segoe UI"/>
              </a:rPr>
              <a:t>252 – 334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07424" y="340156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7424" y="36027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35844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3968496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Свинина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07424" y="416966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415137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07424" y="4535424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Бульгогі / яловичина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07424" y="473659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47183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B5EA7"/>
                </a:solidFill>
                <a:latin typeface="Segoe UI"/>
              </a:rPr>
              <a:t>252 – 356 грн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07424" y="5175504"/>
            <a:ext cx="223113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7424" y="5303520"/>
            <a:ext cx="22311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7B5EA7"/>
                </a:solidFill>
                <a:latin typeface="Segoe UI"/>
              </a:rPr>
              <a:t>Розкид цін на один товар — до 42 % між продавцями.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Март, Rozetka — 22.09.2026.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УПАКОВКА · 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Два вагові кластери: 210–250 г і 247–350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Гарніри тримаються 220–250 г, страви з наповнювачем важчі за визначенням.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ЯКА УПАКОВКА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21284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ВАРІАНТІВ У КОЖНІЙ ВАЗІ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542032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220 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2224" y="2606039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2224" y="2606039"/>
            <a:ext cx="1591055" cy="20116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54203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54203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07238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250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92224" y="3136391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92224" y="3136391"/>
            <a:ext cx="1591055" cy="20116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07238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07238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Ben's · Clearspring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6027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210 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92224" y="3666744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92224" y="3666744"/>
            <a:ext cx="265176" cy="20116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6027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7A169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60273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Bibigo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133087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240 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2224" y="4197096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92224" y="4197096"/>
            <a:ext cx="265176" cy="20116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133087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133087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Ben's Bio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466344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247–320 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92224" y="4727448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92224" y="4727448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466344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7B5EA7"/>
                </a:solidFill>
                <a:latin typeface="Segoe U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2352" y="466344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Ottogi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5193792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350 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92224" y="5257800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92224" y="5257800"/>
            <a:ext cx="265176" cy="20116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519379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C94F7C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2352" y="519379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717890"/>
                </a:solidFill>
                <a:latin typeface="Segoe UI"/>
              </a:rPr>
              <a:t>Portion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5724144"/>
            <a:ext cx="6126480" cy="566928"/>
          </a:xfrm>
          <a:prstGeom prst="roundRect">
            <a:avLst>
              <a:gd name="adj" fmla="val 2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58338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Одного лідера за грамажем немає: 220 і 250 г представлені порівну.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04304" y="2212848"/>
            <a:ext cx="2103120" cy="188366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bens_basmati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389" y="2322576"/>
            <a:ext cx="936948" cy="12984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04304" y="365760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220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4304" y="38587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пауч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08592" y="2212848"/>
            <a:ext cx="2103120" cy="188366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104" y="2322576"/>
            <a:ext cx="928095" cy="12984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08592" y="365760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250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38587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пауч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04304" y="4279392"/>
            <a:ext cx="2103120" cy="188366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591" y="4389120"/>
            <a:ext cx="1292545" cy="12984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004304" y="572414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04304" y="59253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лоток-чаша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08592" y="4279392"/>
            <a:ext cx="2103120" cy="188366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ottogi_octopu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988" y="4389120"/>
            <a:ext cx="1456327" cy="12984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08592" y="572414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280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08592" y="59253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чаша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маса за картками товарів, 22.09.2026. Суміжні технології (саморозігрів, сублімація) у цей розподіл не входять.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УПАКОВКА · 2/2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Три типи паковання на вітрині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Тип паковання визначає і спосіб споживання, і полицю, на яку товар потрапляє.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ЯКА УПАКОВКА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2432304"/>
            <a:ext cx="3145536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104" y="2505456"/>
            <a:ext cx="928095" cy="1298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ПАУЧ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159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220 · 240 · 250 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64515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7548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Ben's Original · Clearspring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Плаский реторт-пауч.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3218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Рис висипається у тарілку.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5687568"/>
            <a:ext cx="81198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87568"/>
            <a:ext cx="81198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15 карток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35424" y="2432304"/>
            <a:ext cx="3145536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919" y="2505456"/>
            <a:ext cx="1292545" cy="12984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7A169"/>
                </a:solidFill>
                <a:latin typeface="Segoe UI"/>
              </a:rPr>
              <a:t>ЛОТОК-ЧАША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3159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210 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64515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7548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50292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Пласка чаша з плівкою.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53218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Білий рис, їдять з упаковки.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5687568"/>
            <a:ext cx="746150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5687568"/>
            <a:ext cx="74615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3 картки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2194560"/>
            <a:ext cx="3511296" cy="3913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01583" y="219456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84463" y="2432304"/>
            <a:ext cx="3145536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ottogi_octopu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9068" y="2505456"/>
            <a:ext cx="1456327" cy="12984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94192" y="4005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ВИСОКА ЧАША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3159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217 – 350 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94192" y="4645152"/>
            <a:ext cx="2926080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47548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Ottogi · Portion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50292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Глибока чаша з наповнювачем.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53218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Самостійний обід, не гарнір.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4192" y="5687568"/>
            <a:ext cx="81198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2" y="5687568"/>
            <a:ext cx="81198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13 карток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тип паковання за фото та описом карток, 22.09.2026.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ЦІНА · 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За упаковку: від 45 до 356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Крайні точки кожного бренду. Один товар у різних продавців має різну ціну.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ЯКА ЦІНА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157984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2203703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75" y="2221991"/>
            <a:ext cx="221160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217627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Ben's Long Grain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238658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250 г · Сільпо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313432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2313432"/>
            <a:ext cx="511569" cy="12801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1284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45 грн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2619756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2665475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46" y="2683763"/>
            <a:ext cx="222219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1872" y="263804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Ben's Basmati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84835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250 г · Сільпо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775203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0" y="2775203"/>
            <a:ext cx="1023139" cy="12801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67462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90 грн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3081527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6656" y="3127247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1872" y="3099815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Portion рис із куркою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310127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350 г · Rozetka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236975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54880" y="3236975"/>
            <a:ext cx="1239135" cy="12801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136391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3543299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6656" y="3589019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14" y="3607307"/>
            <a:ext cx="309482" cy="3108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61872" y="3561587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Bibigo білий рис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377190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210 г · Смак Кореї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3698748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54880" y="3698748"/>
            <a:ext cx="1534709" cy="12801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598163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135 грн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4005072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6656" y="4050791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ens_sweetchil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96" y="4069080"/>
            <a:ext cx="227519" cy="31089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61872" y="4023359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Ben's Sweet Chili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61872" y="423367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220 г · Сільпо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4160520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54880" y="4160520"/>
            <a:ext cx="2034910" cy="12801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059935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179 грн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466844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6656" y="4512564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14" y="4530852"/>
            <a:ext cx="309482" cy="31089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261872" y="4485131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Bibigo білий рис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1872" y="469544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210 г · Prom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54880" y="4622292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54880" y="4622292"/>
            <a:ext cx="2148592" cy="12801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4521707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189 грн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" y="4928616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76656" y="4974336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ottogi_tun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992624"/>
            <a:ext cx="310896" cy="31089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61872" y="4946903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Ottogi тунець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1872" y="515721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247 г · Тайякі Март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54880" y="5084064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754880" y="5084064"/>
            <a:ext cx="2557848" cy="12801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4983479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225 грн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3504" y="5390388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76656" y="5436107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clearspri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244" y="5454396"/>
            <a:ext cx="260022" cy="31089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261872" y="5408675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Clearspring Brown &amp; Wild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1872" y="561898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250 г · MAUDAU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54880" y="5545836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754880" y="5545836"/>
            <a:ext cx="2864790" cy="12801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0" y="5445251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252 грн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3504" y="5852159"/>
            <a:ext cx="10954512" cy="43891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76656" y="5897879"/>
            <a:ext cx="457200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ottogi_burg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200" y="5916168"/>
            <a:ext cx="350111" cy="31089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261872" y="5870447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Ottogi яловичина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61872" y="6080759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320 г · Апетітаріум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54880" y="6007607"/>
            <a:ext cx="4206240" cy="128016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754880" y="6007607"/>
            <a:ext cx="4047084" cy="12801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26880" y="5907023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303A5D"/>
                </a:solidFill>
                <a:latin typeface="Segoe UI"/>
              </a:rPr>
              <a:t>356 грн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6327648"/>
            <a:ext cx="18288" cy="10972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43984" y="6455664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91701" y="6327648"/>
            <a:ext cx="18288" cy="10972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80805" y="6455664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28523" y="6327648"/>
            <a:ext cx="18288" cy="10972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17627" y="6455664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65344" y="6327648"/>
            <a:ext cx="18288" cy="10972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54448" y="6455664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0" y="64373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грн за упаковку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ЯКА ЦІНА · 2/2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За 100 грамів: кожен бренд у своєму коридорі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Смуга показує розкид цін бренду; цифри — крайні точки в грн за 100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ЯКА ЦІНА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139696"/>
            <a:ext cx="10954512" cy="3218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6502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7318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3965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4781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1428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2244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8891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9707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6354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7170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3817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4633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2304288"/>
            <a:ext cx="13716" cy="2798064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5120640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8406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ГРН ЗА 100 ГРАМІВ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2532888"/>
            <a:ext cx="475488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55" y="2551176"/>
            <a:ext cx="234169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71600" y="252374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274320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пауч 220–250 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83756" y="2638044"/>
            <a:ext cx="293837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83172" y="26060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1543" y="26060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6828" y="23042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1775" y="23042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81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" y="3063240"/>
            <a:ext cx="475488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96" y="3081528"/>
            <a:ext cx="327687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71600" y="30540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32735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чаша 210 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30170" y="3168396"/>
            <a:ext cx="1192452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29586" y="313639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22038" y="313639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242" y="28346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7A169"/>
                </a:solidFill>
                <a:latin typeface="Segoe UI"/>
              </a:rPr>
              <a:t>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92270" y="28346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7A169"/>
                </a:solidFill>
                <a:latin typeface="Segoe UI"/>
              </a:rPr>
              <a:t>90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" y="3593592"/>
            <a:ext cx="475488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clearspr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81" y="3611880"/>
            <a:ext cx="275317" cy="32918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71600" y="35844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380390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пауч 250 г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2868" y="366674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4812" y="336499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101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" y="4123944"/>
            <a:ext cx="475488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411480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4334256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лоток 350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2648" y="41970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44592" y="389534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31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" y="4654296"/>
            <a:ext cx="475488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ottogi_octopu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35" y="4672584"/>
            <a:ext cx="369209" cy="32918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371600" y="464515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486460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чаша 217–320 г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0925" y="4759452"/>
            <a:ext cx="2355971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00341" y="47274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56312" y="47274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33997" y="442569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79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6544" y="442569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130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3504" y="5541264"/>
            <a:ext cx="5303520" cy="731520"/>
          </a:xfrm>
          <a:prstGeom prst="roundRect">
            <a:avLst>
              <a:gd name="adj" fmla="val 1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" y="565099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6CEE2"/>
                </a:solidFill>
                <a:latin typeface="Segoe UI"/>
              </a:rPr>
              <a:t>Медіана категорії — </a:t>
            </a:r>
            <a:r>
              <a:rPr sz="1200" b="1" i="0">
                <a:solidFill>
                  <a:srgbClr val="FFC95C"/>
                </a:solidFill>
                <a:latin typeface="Segoe UI"/>
              </a:rPr>
              <a:t>79 грн за 100 г</a:t>
            </a:r>
            <a:r>
              <a:rPr sz="1200" b="0" i="0">
                <a:solidFill>
                  <a:srgbClr val="C6CEE2"/>
                </a:solidFill>
                <a:latin typeface="Segoe UI"/>
              </a:rPr>
              <a:t> · 31 картка п'яти брендів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72784" y="5541264"/>
            <a:ext cx="5285232" cy="731520"/>
          </a:xfrm>
          <a:prstGeom prst="roundRect">
            <a:avLst>
              <a:gd name="adj" fmla="val 1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272784" y="5541264"/>
            <a:ext cx="82296" cy="73152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47104" y="563270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Поза шкалою: саморозігрівальний Haidilao 283–371 і сублімований Travellunch 220–454 грн за 100 г.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" y="645566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Розрахунок за масою та ціною карток, 22.09.2026. Смуга — від мінімальної до максимальної ціни бренду за 100 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Шістнадцять каналів: від мережі до туристичних магазинів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1673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Категорія майже повністю живе в онлайні — мережева роздріб представлена одним гравцем.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739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194560"/>
            <a:ext cx="10954512" cy="932688"/>
          </a:xfrm>
          <a:prstGeom prst="roundRect">
            <a:avLst>
              <a:gd name="adj" fmla="val 1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194560"/>
            <a:ext cx="82296" cy="93268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34086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МЕРЕЖЕВА РОЗДРІБ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6151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Ben's Original — 11 смаків у каталозі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2523744"/>
            <a:ext cx="614476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3" y="2523744"/>
            <a:ext cx="6144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44784" y="2505456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191256"/>
            <a:ext cx="1095451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" y="3191256"/>
            <a:ext cx="82296" cy="93268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3756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7A169"/>
                </a:solidFill>
                <a:latin typeface="Segoe UI"/>
              </a:rPr>
              <a:t>ОНЛАЙН-СУПЕРМАРКЕТИ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Ben's Original · Clearspring · Bibigo · Ottogi · Portion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9663" y="3520440"/>
            <a:ext cx="614476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663" y="3520440"/>
            <a:ext cx="6144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0444" y="3520440"/>
            <a:ext cx="680313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0444" y="3520440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57062" y="3520440"/>
            <a:ext cx="482803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57062" y="3520440"/>
            <a:ext cx="4828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44784" y="3502152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4187952"/>
            <a:ext cx="10954512" cy="932688"/>
          </a:xfrm>
          <a:prstGeom prst="roundRect">
            <a:avLst>
              <a:gd name="adj" fmla="val 1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3504" y="4187952"/>
            <a:ext cx="82296" cy="93268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3342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СПЕЦІАЛІЗОВАНИЙ АЗІЙСЬКИЙ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46085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Bibigo · Ottogi · Ben's Original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9663" y="4517136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9663" y="4517136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93792" y="4517136"/>
            <a:ext cx="943660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517136"/>
            <a:ext cx="9436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3756" y="4517136"/>
            <a:ext cx="614476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3756" y="4517136"/>
            <a:ext cx="6144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4537" y="4517136"/>
            <a:ext cx="943660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4537" y="4517136"/>
            <a:ext cx="9436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4502" y="4517136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4502" y="4517136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58630" y="4517136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8630" y="4517136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44784" y="4498848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7B5EA7"/>
                </a:solidFill>
                <a:latin typeface="Segoe UI"/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5184648"/>
            <a:ext cx="1095451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3504" y="5184648"/>
            <a:ext cx="82296" cy="932688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" y="53309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" y="5605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Haidilao · Travellunch · SubliMate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69663" y="551383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3" y="551383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64607" y="5513832"/>
            <a:ext cx="680313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64607" y="5513832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91225" y="5513832"/>
            <a:ext cx="680313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91225" y="5513832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7843" y="5513832"/>
            <a:ext cx="680313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17843" y="5513832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44460" y="5513832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4460" y="5513832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68588" y="5513832"/>
            <a:ext cx="153619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8588" y="5513832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Військторг Гайдамака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44784" y="5495544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1E9EA6"/>
                </a:solidFill>
                <a:latin typeface="Segoe U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" y="6236208"/>
            <a:ext cx="1095451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4" y="6345936"/>
            <a:ext cx="1095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У пошуку не знайдено порівнянних позицій в АТБ, Novus, Metro, Varus, Auchan, Fozzy та «Таврія В». Перевірка велася онлайн, без обходу полиці.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