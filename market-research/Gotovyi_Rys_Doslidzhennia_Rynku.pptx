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13.jpg"/><Relationship Id="rId9" Type="http://schemas.openxmlformats.org/officeDocument/2006/relationships/image" Target="../media/image14.jpg"/><Relationship Id="rId10" Type="http://schemas.openxmlformats.org/officeDocument/2006/relationships/image" Target="../media/image15.jpg"/><Relationship Id="rId11" Type="http://schemas.openxmlformats.org/officeDocument/2006/relationships/image" Target="../media/image16.jpg"/><Relationship Id="rId12" Type="http://schemas.openxmlformats.org/officeDocument/2006/relationships/image" Target="../media/image17.jpg"/><Relationship Id="rId13" Type="http://schemas.openxmlformats.org/officeDocument/2006/relationships/image" Target="../media/image1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1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2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jpg"/><Relationship Id="rId4" Type="http://schemas.openxmlformats.org/officeDocument/2006/relationships/image" Target="../media/image3.jpg"/><Relationship Id="rId5" Type="http://schemas.openxmlformats.org/officeDocument/2006/relationships/image" Target="../media/image17.jpg"/><Relationship Id="rId6" Type="http://schemas.openxmlformats.org/officeDocument/2006/relationships/image" Target="../media/image4.jpg"/><Relationship Id="rId7" Type="http://schemas.openxmlformats.org/officeDocument/2006/relationships/image" Target="../media/image19.jpg"/><Relationship Id="rId8" Type="http://schemas.openxmlformats.org/officeDocument/2006/relationships/image" Target="../media/image14.jpg"/><Relationship Id="rId9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1.jpg"/><Relationship Id="rId4" Type="http://schemas.openxmlformats.org/officeDocument/2006/relationships/image" Target="../media/image6.jpg"/><Relationship Id="rId5" Type="http://schemas.openxmlformats.org/officeDocument/2006/relationships/image" Target="../media/image20.jpg"/><Relationship Id="rId6" Type="http://schemas.openxmlformats.org/officeDocument/2006/relationships/image" Target="../media/image22.jpg"/><Relationship Id="rId7" Type="http://schemas.openxmlformats.org/officeDocument/2006/relationships/image" Target="../media/image23.jpg"/><Relationship Id="rId8" Type="http://schemas.openxmlformats.org/officeDocument/2006/relationships/image" Target="../media/image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 l="0" r="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4133087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6CEE2"/>
                </a:solidFill>
                <a:latin typeface="Segoe UI"/>
              </a:rPr>
              <a:t>Хто представлений · яка упаковка · яка ціна · де представлено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63440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64608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FA9C4"/>
                </a:solidFill>
                <a:latin typeface="Segoe UI"/>
              </a:rPr>
              <a:t>Зріз відкритих українських онлайн-вітрин: 22 вересня 2026 р.
18 перевірених карток товару · 5 компаній · 6 каналів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585216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262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961888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9C2DA"/>
                </a:solidFill>
                <a:latin typeface="Segoe UI"/>
              </a:rPr>
              <a:t>Полична ціна власного продукту в це дослідження не входить.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52944" y="1115568"/>
            <a:ext cx="2148840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2665" y="1243584"/>
            <a:ext cx="1529396" cy="213969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857232" y="1463040"/>
            <a:ext cx="2148840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ibigo_bow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9613" y="1591056"/>
            <a:ext cx="1784077" cy="179222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552944" y="3639312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learspri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1422" y="3767328"/>
            <a:ext cx="1391883" cy="166420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857232" y="3639312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ottogi_burge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775272"/>
            <a:ext cx="1856232" cy="1648319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552944" y="5687568"/>
            <a:ext cx="4453128" cy="713232"/>
          </a:xfrm>
          <a:prstGeom prst="roundRect">
            <a:avLst>
              <a:gd name="adj" fmla="val 16000"/>
            </a:avLst>
          </a:prstGeom>
          <a:solidFill>
            <a:srgbClr val="262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5797296"/>
            <a:ext cx="3931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Ben's Original · Bibigo · Clearspring · Ottogi · Portion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показав зріз вітрин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Чотири питання дослідження та короткі відповіді на кожне.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883664"/>
            <a:ext cx="2578608" cy="22128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88366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176272"/>
            <a:ext cx="206654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852928"/>
            <a:ext cx="20665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ХТО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45536"/>
            <a:ext cx="20665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1C2235"/>
                </a:solidFill>
                <a:latin typeface="Segoe UI"/>
              </a:rPr>
              <a:t>компаній у категорії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675887"/>
            <a:ext cx="206654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Ben's Original, Bibigo, Clearspring, Ottogi, Portion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1883664"/>
            <a:ext cx="2578608" cy="22128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10712" y="188366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66744" y="2176272"/>
            <a:ext cx="206654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303A5D"/>
                </a:solidFill>
                <a:latin typeface="Segoe UI"/>
              </a:rPr>
              <a:t>220–250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66744" y="2852928"/>
            <a:ext cx="20665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E9EA6"/>
                </a:solidFill>
                <a:latin typeface="Segoe UI"/>
              </a:rPr>
              <a:t>УПАКОВКА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20665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1C2235"/>
                </a:solidFill>
                <a:latin typeface="Segoe UI"/>
              </a:rPr>
              <a:t>грамів — основний пауч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66744" y="3675887"/>
            <a:ext cx="206654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12 із 14 порівнянних варіантів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883664"/>
            <a:ext cx="2578608" cy="22128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7920" y="188366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2176272"/>
            <a:ext cx="206654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303A5D"/>
                </a:solidFill>
                <a:latin typeface="Segoe UI"/>
              </a:rPr>
              <a:t>18–101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2852928"/>
            <a:ext cx="20665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ЦІНА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145536"/>
            <a:ext cx="20665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1C2235"/>
                </a:solidFill>
                <a:latin typeface="Segoe UI"/>
              </a:rPr>
              <a:t>грн за 100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3675887"/>
            <a:ext cx="206654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медіана 60,5 грн; за упаковку 45–252 грн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5128" y="1883664"/>
            <a:ext cx="2578608" cy="22128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25128" y="188366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1159" y="2176272"/>
            <a:ext cx="206654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59" y="2852928"/>
            <a:ext cx="20665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7A169"/>
                </a:solidFill>
                <a:latin typeface="Segoe UI"/>
              </a:rPr>
              <a:t>ДЕ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59" y="3145536"/>
            <a:ext cx="20665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1C2235"/>
                </a:solidFill>
                <a:latin typeface="Segoe UI"/>
              </a:rPr>
              <a:t>перевірених каналів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59" y="3675887"/>
            <a:ext cx="206654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мережа, маркетплейси та спеціалізований онлайн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" y="4352544"/>
            <a:ext cx="10954512" cy="175564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3504" y="4352544"/>
            <a:ext cx="91440" cy="17556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4590288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03A5D"/>
                </a:solidFill>
                <a:latin typeface="Segoe UI"/>
              </a:rPr>
              <a:t>Що ще показав зріз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7552" y="5093208"/>
            <a:ext cx="8229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7008" y="501091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Ben's Original формує 13 із 18 перевірених карток.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7552" y="544068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7008" y="535838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Лише 1 позиція з 18 мала підтверджений залишок.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7552" y="5788152"/>
            <a:ext cx="8229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07008" y="570585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Жодної позиції не знайдено в АТБ, Novus, Metro, Varus, Auchan.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4626864"/>
            <a:ext cx="36576" cy="1207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60336" y="4590288"/>
            <a:ext cx="3986784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717890"/>
                </a:solidFill>
                <a:latin typeface="Segoe UI"/>
              </a:rPr>
              <a:t>Основа — онлайн-асортимент. Частота SKU не дорівнює частці продажів, а ціна картки без залишку є орієнтиром каталогу, а не доступною пропозицією. Офлайн-полиця не перевірялася.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" y="6437376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S1–S11 · перевірені картки українських онлайн-вітрин, 22.09.2026.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ХТО ПРЕДСТАВЛЕНИЙ · 1/3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Три сегменти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Готовий рис на українських вітринах розпадається на три різні пропозиції.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8105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810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1837943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ХТО ПРЕДСТАВЛЕНИЙ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2231136"/>
            <a:ext cx="3511296" cy="38770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2231136"/>
            <a:ext cx="3511296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6384" y="2468880"/>
            <a:ext cx="3145536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ens_basmati2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745" y="2542032"/>
            <a:ext cx="1058812" cy="1481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6112" y="4224528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ПОВСЯКДЕННИЙ ГАРНІР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48056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Ben's Original · Bibigo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864608"/>
            <a:ext cx="29260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17890"/>
                </a:solidFill>
                <a:latin typeface="Segoe UI"/>
              </a:rPr>
              <a:t>Чистий рис або легкий смак.
Пауч 220–250 г, лоток-чаша 210 г.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" y="5614416"/>
            <a:ext cx="81198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614416"/>
            <a:ext cx="8119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14 карток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2544" y="2231136"/>
            <a:ext cx="3511296" cy="38770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52544" y="2231136"/>
            <a:ext cx="3511296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35424" y="2468880"/>
            <a:ext cx="3145536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8727" y="2542032"/>
            <a:ext cx="1238928" cy="14813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645152" y="4224528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ОРГАНІЧНИЙ ПРЕМІУМ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5152" y="448056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4864608"/>
            <a:ext cx="29260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17890"/>
                </a:solidFill>
                <a:latin typeface="Segoe UI"/>
              </a:rPr>
              <a:t>Суміш рисів із соусом tamari.
Пауч 250 г.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45152" y="5614416"/>
            <a:ext cx="74615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5152" y="5614416"/>
            <a:ext cx="74615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1 картка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1583" y="2231136"/>
            <a:ext cx="3511296" cy="38770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01583" y="2231136"/>
            <a:ext cx="3511296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84463" y="2468880"/>
            <a:ext cx="3145536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ottogi_burge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3143" y="2542032"/>
            <a:ext cx="1668177" cy="14813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394192" y="4224528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ПОВНОЦІННА СТРАВА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448056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Ottogi · Portion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4864608"/>
            <a:ext cx="29260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17890"/>
                </a:solidFill>
                <a:latin typeface="Segoe UI"/>
              </a:rPr>
              <a:t>Рис із наповнювачем.
Чаша 217–315 г, лоток 350 г.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4192" y="5614416"/>
            <a:ext cx="746150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94192" y="5614416"/>
            <a:ext cx="74615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7 карток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6437376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S1, S2, S3, S9, S11 · фото — картки товарів відповідних магазинів.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ХТО ПРЕДСТАВЛЕНИЙ · 2/3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П'ять компаній формують усю пропозицію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Найширша лінійка — у Ben's Original. Частки продажів не встановлені.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8105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810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1837943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ХТО ПРЕДСТАВЛЕНИЙ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210312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БРЕНД І 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984" y="210312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4" y="2103120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КАНАЛИ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21824" y="210312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КАРТОК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377440"/>
            <a:ext cx="10954512" cy="731520"/>
          </a:xfrm>
          <a:prstGeom prst="roundRect">
            <a:avLst>
              <a:gd name="adj" fmla="val 1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3504" y="2377440"/>
            <a:ext cx="82296" cy="7315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" y="2450592"/>
            <a:ext cx="93268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ens_lang2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20" y="2478024"/>
            <a:ext cx="764791" cy="5303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993392" y="2505456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277977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Mars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261518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Пауч 220 / 240 / 250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261518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Сільпо · MAUDAU · Edison Lee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1824" y="262432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21824" y="262432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13 карток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" y="3163824"/>
            <a:ext cx="10954512" cy="7315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03504" y="3163824"/>
            <a:ext cx="82296" cy="73152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4672" y="3236976"/>
            <a:ext cx="93268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ttogi_kimch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264408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93392" y="329184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93392" y="3566160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3984" y="340156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Чаша 217–315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40156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Pulsar · продавці Rozetka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21824" y="341071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21824" y="341071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6 карток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" y="3950208"/>
            <a:ext cx="10954512" cy="731520"/>
          </a:xfrm>
          <a:prstGeom prst="roundRect">
            <a:avLst>
              <a:gd name="adj" fmla="val 1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3504" y="3950208"/>
            <a:ext cx="82296" cy="73152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672" y="4023360"/>
            <a:ext cx="93268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bibigo_bow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045" y="4050792"/>
            <a:ext cx="527941" cy="53035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993392" y="407822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93392" y="435254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CJ CheilJedang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43984" y="418795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Лоток-чаша 210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9984" y="418795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21824" y="4197096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21824" y="41970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3 картки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4736592"/>
            <a:ext cx="10954512" cy="7315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03504" y="4736592"/>
            <a:ext cx="82296" cy="73152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04672" y="4809744"/>
            <a:ext cx="93268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clearspri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232" y="4837176"/>
            <a:ext cx="443567" cy="53035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993392" y="4864607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93392" y="51389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Велика Британія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43984" y="49743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9984" y="4974336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MAUDAU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021824" y="4983479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21824" y="498347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 картка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5522976"/>
            <a:ext cx="10954512" cy="731520"/>
          </a:xfrm>
          <a:prstGeom prst="roundRect">
            <a:avLst>
              <a:gd name="adj" fmla="val 1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03504" y="5522976"/>
            <a:ext cx="82296" cy="731520"/>
          </a:xfrm>
          <a:prstGeom prst="roundRect">
            <a:avLst>
              <a:gd name="adj" fmla="val 5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04672" y="5596128"/>
            <a:ext cx="93268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4672" y="5779008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0" i="0">
                <a:solidFill>
                  <a:srgbClr val="717890"/>
                </a:solidFill>
                <a:latin typeface="Segoe UI"/>
              </a:rPr>
              <a:t>фото
немає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93392" y="5650992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93392" y="592531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«Пирятинський делікатес»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43984" y="576072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Лоток 350 г · 109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9984" y="5760720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021824" y="5769864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21824" y="576986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 картка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" y="6382512"/>
            <a:ext cx="1095451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03504" y="6473952"/>
            <a:ext cx="109545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Сумарно 18 перевірених карток гарнірів (Ben's Original, Bibigo, Clearspring) і 7 карток страв із наповнювачем (Ottogi, Portion).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ХТО ПРЕДСТАВЛЕНИЙ · 3/3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Ben's Original: 11 варіантів у каталозі «Сільпо»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Найглибша лінійка категорії. Усі одинадцять позначені як відсутні.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883664"/>
            <a:ext cx="14630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944" y="1975104"/>
            <a:ext cx="1280160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06" y="2011680"/>
            <a:ext cx="771234" cy="1078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3218688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54787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73075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89,99 грн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1883664"/>
            <a:ext cx="14630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975104"/>
            <a:ext cx="1280160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ens_mediterr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3528" y="2011680"/>
            <a:ext cx="765103" cy="1078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04288" y="3218688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04288" y="354787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373075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89,99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85616" y="1883664"/>
            <a:ext cx="14630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877056" y="1975104"/>
            <a:ext cx="1280160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3358" y="2011680"/>
            <a:ext cx="767555" cy="107899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95344" y="3218688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95344" y="354787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73075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76672" y="1883664"/>
            <a:ext cx="14630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68112" y="1975104"/>
            <a:ext cx="1280160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4414" y="2011680"/>
            <a:ext cx="767555" cy="107899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486400" y="3218688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54787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73075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89,99 грн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67728" y="1883664"/>
            <a:ext cx="14630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59168" y="1975104"/>
            <a:ext cx="1280160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113" y="2011680"/>
            <a:ext cx="782269" cy="107899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077456" y="3218688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7456" y="354787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77456" y="373075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89,99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58784" y="1883664"/>
            <a:ext cx="14630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50224" y="1975104"/>
            <a:ext cx="1280160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6948" y="2011680"/>
            <a:ext cx="746711" cy="107899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668512" y="3218688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303A5D"/>
                </a:solidFill>
                <a:latin typeface="Segoe UI"/>
              </a:rPr>
              <a:t>Curry · сочевиця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68512" y="354787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8512" y="373075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89,99 грн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49840" y="1883664"/>
            <a:ext cx="14630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241280" y="1975104"/>
            <a:ext cx="1280160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bens_sweetchili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6547" y="2011680"/>
            <a:ext cx="789625" cy="107899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568" y="3218688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59568" y="354787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59568" y="3730752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151376"/>
            <a:ext cx="14630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94944" y="4242816"/>
            <a:ext cx="1280160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9406" y="4279392"/>
            <a:ext cx="771234" cy="107899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13232" y="5486400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" y="5815584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3232" y="5998464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194560" y="4151376"/>
            <a:ext cx="14630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286000" y="4242816"/>
            <a:ext cx="1280160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25749" y="4279392"/>
            <a:ext cx="800661" cy="107899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304288" y="5486400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04288" y="5815584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4288" y="5998464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85616" y="4151376"/>
            <a:ext cx="14630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3877056" y="4242816"/>
            <a:ext cx="1280160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bens_basmati22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7840" y="4279392"/>
            <a:ext cx="778590" cy="107899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3895344" y="5486400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95344" y="5815584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95344" y="5998464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376672" y="4151376"/>
            <a:ext cx="14630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468112" y="4242816"/>
            <a:ext cx="1280160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bens_stickybowl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7097" y="4279392"/>
            <a:ext cx="722188" cy="107899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486400" y="5486400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0" y="5815584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0" y="5998464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004304" y="4151376"/>
            <a:ext cx="4553712" cy="2103120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004304" y="4151376"/>
            <a:ext cx="82296" cy="21031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33488" y="4370832"/>
            <a:ext cx="3986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C95C"/>
                </a:solidFill>
                <a:latin typeface="Segoe UI"/>
              </a:rPr>
              <a:t>Розподіл цін лінійки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33488" y="47731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250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93024" y="4791455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45 – 89,99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4809744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FA9C4"/>
                </a:solidFill>
                <a:latin typeface="Segoe UI"/>
              </a:rPr>
              <a:t>5 варіантів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33488" y="5376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93024" y="5394959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89,99 – 179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68128" y="54132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FA9C4"/>
                </a:solidFill>
                <a:latin typeface="Segoe UI"/>
              </a:rPr>
              <a:t>6 варіантів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33488" y="5870448"/>
            <a:ext cx="39867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A9C4"/>
                </a:solidFill>
                <a:latin typeface="Segoe UI"/>
              </a:rPr>
              <a:t>Ціни — картки «Сільпо» на 22.09.2026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37376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S1 · каталог «Сільпо», 11 карток Ben's Original.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ЯКА УПАКОВКА · 1/2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220–250 г — основний формат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14 порівнянних варіантів гарнірів; страви з наповнювачем рахуються окремо.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8105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810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1837943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ЯКА УПАКОВКА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267712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РОЗПОДІЛ ЗА МАСОЮ, ВАРІАНТІВ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651760"/>
            <a:ext cx="786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220 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81328" y="2697479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81328" y="2697479"/>
            <a:ext cx="3291839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184" y="26517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9A50B"/>
                </a:solidFill>
                <a:latin typeface="Segoe U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3200400"/>
            <a:ext cx="786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250 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81328" y="3246120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481328" y="3246120"/>
            <a:ext cx="3291839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01184" y="320040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9A50B"/>
                </a:solidFill>
                <a:latin typeface="Segoe U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3749039"/>
            <a:ext cx="786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210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81328" y="3794759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81328" y="3794759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01184" y="3749039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7A169"/>
                </a:solidFill>
                <a:latin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297679"/>
            <a:ext cx="786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240 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81328" y="4343399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481328" y="4343399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184" y="4297679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E9EA6"/>
                </a:solidFill>
                <a:latin typeface="Segoe UI"/>
              </a:rPr>
              <a:t>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" y="4956048"/>
            <a:ext cx="4882896" cy="1152144"/>
          </a:xfrm>
          <a:prstGeom prst="roundRect">
            <a:avLst>
              <a:gd name="adj" fmla="val 8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C95C"/>
                </a:solidFill>
                <a:latin typeface="Segoe UI"/>
              </a:rPr>
              <a:t>13 паучів / 1 лоток-чаша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468112"/>
            <a:ext cx="42976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C6CEE2"/>
                </a:solidFill>
                <a:latin typeface="Segoe UI"/>
              </a:rPr>
              <a:t>Одного лідера за грамажем немає: 220 і 250 г представлені порівну.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0" y="2212848"/>
            <a:ext cx="2798064" cy="1883664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bens_basmati2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559" y="2322576"/>
            <a:ext cx="950144" cy="131673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943600" y="3657600"/>
            <a:ext cx="27980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220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3858768"/>
            <a:ext cx="2798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717890"/>
                </a:solidFill>
                <a:latin typeface="Segoe UI"/>
              </a:rPr>
              <a:t>6 варіантів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42832" y="2212848"/>
            <a:ext cx="2798064" cy="1883664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1280" y="2322576"/>
            <a:ext cx="941166" cy="131673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42832" y="3657600"/>
            <a:ext cx="27980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3858768"/>
            <a:ext cx="2798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717890"/>
                </a:solidFill>
                <a:latin typeface="Segoe UI"/>
              </a:rPr>
              <a:t>6 варіантів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4279392"/>
            <a:ext cx="2798064" cy="1883664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ibigo_bow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7256" y="4389120"/>
            <a:ext cx="1310750" cy="13167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943600" y="5724144"/>
            <a:ext cx="27980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210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5925312"/>
            <a:ext cx="2798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717890"/>
                </a:solidFill>
                <a:latin typeface="Segoe UI"/>
              </a:rPr>
              <a:t>1 варіант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42832" y="4279392"/>
            <a:ext cx="2798064" cy="1883664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ens_bio24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2993" y="4389120"/>
            <a:ext cx="1717741" cy="131673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942832" y="5724144"/>
            <a:ext cx="27980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240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5925312"/>
            <a:ext cx="2798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717890"/>
                </a:solidFill>
                <a:latin typeface="Segoe UI"/>
              </a:rPr>
              <a:t>1 варіант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" y="6437376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S1, S2, S3, S5 · маса за картками товарів, 22.09.2026. Long Grain 220 / 250 г виключено зі статистики маси через суперечність картки.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ЯКА УПАКОВКА · 2/2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Три типи паковання на вітрині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Тип упаковки визначає і спосіб споживання, і полицю, на яку товар потрапляє.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8105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810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1837943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ЯКА УПАКОВКА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2231136"/>
            <a:ext cx="3511296" cy="38770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2231136"/>
            <a:ext cx="3511296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6384" y="2468880"/>
            <a:ext cx="3145536" cy="14630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ens_basmati2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568" y="2542032"/>
            <a:ext cx="941166" cy="13167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6112" y="40599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37083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220 · 240 · 250 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" y="4700016"/>
            <a:ext cx="2926080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8097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Ben's Original · Clearspring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08406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Плаский реторт-пауч.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3766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Гарнір, що висипається у тарілку.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" y="5724144"/>
            <a:ext cx="120700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724144"/>
            <a:ext cx="12070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14 із 18 карток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2544" y="2231136"/>
            <a:ext cx="3511296" cy="38770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52544" y="2231136"/>
            <a:ext cx="3511296" cy="914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35424" y="2468880"/>
            <a:ext cx="3145536" cy="14630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ibigo_bow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816" y="2542032"/>
            <a:ext cx="1310750" cy="13167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645152" y="40599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7A169"/>
                </a:solidFill>
                <a:latin typeface="Segoe UI"/>
              </a:rPr>
              <a:t>ЛОТОК-ЧАША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437083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210 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4700016"/>
            <a:ext cx="2926080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5152" y="48097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5152" y="508406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Жорстка чаша з плівкою. Один товар
у трьох каналах.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5152" y="53766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Їдять просто з упаковки.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45152" y="5724144"/>
            <a:ext cx="1141171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45152" y="5724144"/>
            <a:ext cx="114117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4 із 18 карток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01583" y="2231136"/>
            <a:ext cx="3511296" cy="38770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01583" y="2231136"/>
            <a:ext cx="3511296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84463" y="2468880"/>
            <a:ext cx="3145536" cy="14630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ttogi_octopu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812" y="2542032"/>
            <a:ext cx="1476839" cy="13167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94192" y="40599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ЧАША ЗІ СТРАВОЮ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437083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217 – 315 г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94192" y="4700016"/>
            <a:ext cx="2926080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94192" y="48097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508406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Висока чаша, рис із наповнювачем.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94192" y="53766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Самостійний обід, не гарнір.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94192" y="5724144"/>
            <a:ext cx="120700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94192" y="5724144"/>
            <a:ext cx="12070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6 карток окремо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" y="6437376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S1, S2, S3, S5, S9, S11 · тип паковання за фото та описом карток, 22.09.2026.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ЯКА ЦІНА · 1/2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За упаковку: від 45 до 252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Ціна картки без залишку є орієнтиром каталогу, а не доступною пропозицією.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8105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810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1837943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ЯКА ЦІНА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2176272"/>
            <a:ext cx="10954512" cy="493776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2221991"/>
            <a:ext cx="512064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593" y="2240279"/>
            <a:ext cx="260188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35024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Ben's Long Grain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2432304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Сільпо · 250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2359152"/>
            <a:ext cx="3931920" cy="128016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37760" y="2359152"/>
            <a:ext cx="680524" cy="128016"/>
          </a:xfrm>
          <a:prstGeom prst="roundRect">
            <a:avLst>
              <a:gd name="adj" fmla="val 50000"/>
            </a:avLst>
          </a:prstGeom>
          <a:solidFill>
            <a:srgbClr val="C3C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22494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45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22992" y="2267712"/>
            <a:ext cx="9509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 i="0">
                <a:solidFill>
                  <a:srgbClr val="F9A50B"/>
                </a:solidFill>
                <a:latin typeface="Segoe UI"/>
              </a:rPr>
              <a:t>18,00 /100 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65408" y="2304288"/>
            <a:ext cx="60350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65408" y="2304288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" y="2692908"/>
            <a:ext cx="10954512" cy="493776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76656" y="2738627"/>
            <a:ext cx="512064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970" y="2756915"/>
            <a:ext cx="261435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335024" y="272948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Ben's Basmati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35024" y="2948939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Сільпо · 250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0" y="2875788"/>
            <a:ext cx="3931920" cy="128016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937760" y="2875788"/>
            <a:ext cx="1360898" cy="128016"/>
          </a:xfrm>
          <a:prstGeom prst="roundRect">
            <a:avLst>
              <a:gd name="adj" fmla="val 50000"/>
            </a:avLst>
          </a:prstGeom>
          <a:solidFill>
            <a:srgbClr val="C3C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0" y="2766060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89,99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2784348"/>
            <a:ext cx="9509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 i="0">
                <a:solidFill>
                  <a:srgbClr val="F9A50B"/>
                </a:solidFill>
                <a:latin typeface="Segoe UI"/>
              </a:rPr>
              <a:t>36,00 /100 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265408" y="2820924"/>
            <a:ext cx="60350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65408" y="2820924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" y="3209544"/>
            <a:ext cx="10954512" cy="493776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76656" y="3255263"/>
            <a:ext cx="512064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bens_basmati22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723" y="3273551"/>
            <a:ext cx="263929" cy="36576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335024" y="3246120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Ben's Basmati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35024" y="346557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MAUDAU · 220 г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0" y="3392424"/>
            <a:ext cx="3931920" cy="128016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937760" y="3392424"/>
            <a:ext cx="1512276" cy="128016"/>
          </a:xfrm>
          <a:prstGeom prst="roundRect">
            <a:avLst>
              <a:gd name="adj" fmla="val 50000"/>
            </a:avLst>
          </a:prstGeom>
          <a:solidFill>
            <a:srgbClr val="C3C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28269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22992" y="3300984"/>
            <a:ext cx="9509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 i="0">
                <a:solidFill>
                  <a:srgbClr val="F9A50B"/>
                </a:solidFill>
                <a:latin typeface="Segoe UI"/>
              </a:rPr>
              <a:t>45,45 /100 г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265408" y="3337560"/>
            <a:ext cx="60350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65408" y="3337560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3504" y="3726179"/>
            <a:ext cx="10954512" cy="493776"/>
          </a:xfrm>
          <a:prstGeom prst="roundRect">
            <a:avLst>
              <a:gd name="adj" fmla="val 2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76656" y="3771899"/>
            <a:ext cx="512064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bibigo_bow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639" y="3790187"/>
            <a:ext cx="364097" cy="36576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335024" y="376275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Bibigo білий рис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35024" y="3982211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Смак Кореї · 210 г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0" y="3909059"/>
            <a:ext cx="3931920" cy="128016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937760" y="3909059"/>
            <a:ext cx="2041573" cy="12801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0" y="3799331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135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22992" y="3817619"/>
            <a:ext cx="9509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 i="0">
                <a:solidFill>
                  <a:srgbClr val="F9A50B"/>
                </a:solidFill>
                <a:latin typeface="Segoe UI"/>
              </a:rPr>
              <a:t>64,29 /100 г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265408" y="3854195"/>
            <a:ext cx="60350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65408" y="3854195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Segoe UI"/>
              </a:rPr>
              <a:t>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242815"/>
            <a:ext cx="10954512" cy="493776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76656" y="4288535"/>
            <a:ext cx="512064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bens_bio24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314470"/>
            <a:ext cx="457200" cy="350466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335024" y="4279391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Ben's Bio Basmati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35024" y="4498847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Edison Lee · 240 г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0" y="4425695"/>
            <a:ext cx="3931920" cy="128016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37760" y="4425695"/>
            <a:ext cx="2102064" cy="128016"/>
          </a:xfrm>
          <a:prstGeom prst="roundRect">
            <a:avLst>
              <a:gd name="adj" fmla="val 5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44000" y="4315967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139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22992" y="4334255"/>
            <a:ext cx="9509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 i="0">
                <a:solidFill>
                  <a:srgbClr val="F9A50B"/>
                </a:solidFill>
                <a:latin typeface="Segoe UI"/>
              </a:rPr>
              <a:t>57,92 /100 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265408" y="4370831"/>
            <a:ext cx="603504" cy="237744"/>
          </a:xfrm>
          <a:prstGeom prst="roundRect">
            <a:avLst>
              <a:gd name="adj" fmla="val 50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65408" y="4370831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3504" y="4759451"/>
            <a:ext cx="10954512" cy="493776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76656" y="4805171"/>
            <a:ext cx="512064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ens_sweetchili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853" y="4823459"/>
            <a:ext cx="267669" cy="36576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335024" y="4796027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Ben's Sweet Chili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35024" y="5015483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Сільпо · 220 г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937760" y="4942331"/>
            <a:ext cx="3931920" cy="128016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937760" y="4942331"/>
            <a:ext cx="2706975" cy="128016"/>
          </a:xfrm>
          <a:prstGeom prst="roundRect">
            <a:avLst>
              <a:gd name="adj" fmla="val 50000"/>
            </a:avLst>
          </a:prstGeom>
          <a:solidFill>
            <a:srgbClr val="C3C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44000" y="4832603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179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22992" y="4850891"/>
            <a:ext cx="9509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 i="0">
                <a:solidFill>
                  <a:srgbClr val="F9A50B"/>
                </a:solidFill>
                <a:latin typeface="Segoe UI"/>
              </a:rPr>
              <a:t>81,36 /100 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1265408" y="4887467"/>
            <a:ext cx="60350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265408" y="4887467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3504" y="5276087"/>
            <a:ext cx="10954512" cy="493776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76656" y="5321807"/>
            <a:ext cx="512064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bibigo_bow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639" y="5340095"/>
            <a:ext cx="364097" cy="36576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335024" y="5312663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Bibigo білий рис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35024" y="5532119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Prom · 210 г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937760" y="5458967"/>
            <a:ext cx="3931920" cy="128016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937760" y="5458967"/>
            <a:ext cx="2858203" cy="128016"/>
          </a:xfrm>
          <a:prstGeom prst="roundRect">
            <a:avLst>
              <a:gd name="adj" fmla="val 50000"/>
            </a:avLst>
          </a:prstGeom>
          <a:solidFill>
            <a:srgbClr val="C3C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44000" y="5349239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189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22992" y="5367527"/>
            <a:ext cx="9509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 i="0">
                <a:solidFill>
                  <a:srgbClr val="F9A50B"/>
                </a:solidFill>
                <a:latin typeface="Segoe UI"/>
              </a:rPr>
              <a:t>90,00 /100 г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1265408" y="5404103"/>
            <a:ext cx="60350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265408" y="5404103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03504" y="5792723"/>
            <a:ext cx="10954512" cy="493776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6656" y="5838443"/>
            <a:ext cx="512064" cy="40233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learsprin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9733" y="5856731"/>
            <a:ext cx="305908" cy="36576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335024" y="5829299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Clearspring Brown &amp; Wild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35024" y="6048755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MAUDAU · 250 г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937760" y="5975603"/>
            <a:ext cx="3931920" cy="128016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937760" y="5975603"/>
            <a:ext cx="3810937" cy="128016"/>
          </a:xfrm>
          <a:prstGeom prst="roundRect">
            <a:avLst>
              <a:gd name="adj" fmla="val 50000"/>
            </a:avLst>
          </a:prstGeom>
          <a:solidFill>
            <a:srgbClr val="C3C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144000" y="5865875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252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22992" y="5884163"/>
            <a:ext cx="9509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1" i="0">
                <a:solidFill>
                  <a:srgbClr val="F9A50B"/>
                </a:solidFill>
                <a:latin typeface="Segoe UI"/>
              </a:rPr>
              <a:t>100,80 /100 г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1265408" y="5920739"/>
            <a:ext cx="60350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265408" y="5920739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364224"/>
            <a:ext cx="109545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Показано 8 із 18 карток — крайні точки та ключові канали; повний перелік — слайд 05. Онлайн-ціни без доставки.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ЯКА ЦІНА · 2/2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За 100 грамів: від 18 до 101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Медіана 60,5 грн за 100 г. Розкид у 5,6 раза — це різні сегменти, а не різні ціни на один товар.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8105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810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1837943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ЯКА ЦІНА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2761488"/>
            <a:ext cx="10954512" cy="30175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9264" y="5358384"/>
            <a:ext cx="10149840" cy="2743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9264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91976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99368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4689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2081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402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44794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0114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7506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82827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90219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5540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2932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60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28253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5645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70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50965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58357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73678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81070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90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96391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03783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119104" y="5358384"/>
            <a:ext cx="18288" cy="118872"/>
          </a:xfrm>
          <a:prstGeom prst="rect">
            <a:avLst/>
          </a:prstGeom>
          <a:solidFill>
            <a:srgbClr val="B0B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496" y="5541264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717890"/>
                </a:solidFill>
                <a:latin typeface="Segoe UI"/>
              </a:rPr>
              <a:t>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" y="2926080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ГРН ЗА 100 ГРАМІВ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21917" y="5175504"/>
            <a:ext cx="16459" cy="182880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552422" y="5029200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58162" y="5010912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18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82431" y="5175504"/>
            <a:ext cx="16459" cy="182880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12936" y="5029200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18676" y="5010912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36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82431" y="4864608"/>
            <a:ext cx="16459" cy="493776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212936" y="4718304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8676" y="4700016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36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82431" y="4553712"/>
            <a:ext cx="16459" cy="804672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212936" y="4407408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18676" y="43891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36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82431" y="4242816"/>
            <a:ext cx="16459" cy="1115568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212936" y="4096512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18676" y="4078224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36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35348" y="3931920"/>
            <a:ext cx="16459" cy="1426464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665854" y="3785615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71594" y="3767328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41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55183" y="5175504"/>
            <a:ext cx="16459" cy="182880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85688" y="5029200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91428" y="5010912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32656" y="4864608"/>
            <a:ext cx="16459" cy="493776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463162" y="4718304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8902" y="4700016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50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5078" y="5175504"/>
            <a:ext cx="16459" cy="182880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235584" y="5029200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1324" y="5010912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58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790901" y="4864608"/>
            <a:ext cx="16459" cy="493776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721406" y="4718304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27146" y="4700016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63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92759" y="5175504"/>
            <a:ext cx="16459" cy="182880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823264" y="5029200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29004" y="5010912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64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00608" y="4553712"/>
            <a:ext cx="16459" cy="804672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931114" y="4407408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36854" y="43891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000608" y="4242816"/>
            <a:ext cx="16459" cy="1115568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931114" y="4096512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6854" y="4078224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65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10316" y="3931920"/>
            <a:ext cx="16459" cy="1426464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140821" y="3785615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346561" y="3767328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68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68560" y="5175504"/>
            <a:ext cx="16459" cy="182880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399066" y="5029200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04806" y="5010912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81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045755" y="5175504"/>
            <a:ext cx="16459" cy="182880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976261" y="5029200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82001" y="5010912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88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265448" y="4864608"/>
            <a:ext cx="16459" cy="493776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9195954" y="4718304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01694" y="4700016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90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261978" y="5175504"/>
            <a:ext cx="16459" cy="182880"/>
          </a:xfrm>
          <a:prstGeom prst="rect">
            <a:avLst/>
          </a:prstGeom>
          <a:solidFill>
            <a:srgbClr val="CFD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0192484" y="5029200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398224" y="5010912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101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03504" y="2176272"/>
            <a:ext cx="35661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03504" y="2176272"/>
            <a:ext cx="73152" cy="47548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22960" y="224942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до 45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2960" y="2450592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великі паучі та акційні залишки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46704" y="2267712"/>
            <a:ext cx="658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F9A50B"/>
                </a:solidFill>
                <a:latin typeface="Segoe UI"/>
              </a:rPr>
              <a:t>5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297680" y="2176272"/>
            <a:ext cx="35661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297680" y="2176272"/>
            <a:ext cx="73152" cy="47548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517136" y="224942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45 – 70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517136" y="2450592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основна маса лінійок Ben's і Bibigo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40880" y="2267712"/>
            <a:ext cx="658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E9EA6"/>
                </a:solidFill>
                <a:latin typeface="Segoe UI"/>
              </a:rPr>
              <a:t>9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991856" y="2176272"/>
            <a:ext cx="35661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7991856" y="2176272"/>
            <a:ext cx="73152" cy="47548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211312" y="224942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понад 80 грн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11312" y="2450592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преміум і націнка маркетплейсів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735056" y="2267712"/>
            <a:ext cx="658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7B5EA7"/>
                </a:solidFill>
                <a:latin typeface="Segoe UI"/>
              </a:rPr>
              <a:t>4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69264" y="596188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88720" y="5907024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889504" y="596188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108960" y="5907024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809744" y="596188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029200" y="5907024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0" y="5888736"/>
            <a:ext cx="4315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03A5D"/>
                </a:solidFill>
                <a:latin typeface="Segoe UI"/>
              </a:rPr>
              <a:t>n = 18 карток · мін 18 · медіана 60,5 · макс 100,8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03504" y="6437376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S1–S8 · розрахунок за масою та ціною карток, 22.09.2026. Страви Ottogi (81–117 грн/100 г) не входять до вибірки гарнірів — див. слайд 12.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 · 1/2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каналів: мережа, маркетплейси, спеціалізований онлайн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Наявність на дату перевірки 22.09.2026; «Сільпо» перевірено без вибору адреси.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8105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810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1837943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2231136"/>
            <a:ext cx="3456432" cy="1408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2231136"/>
            <a:ext cx="3456432" cy="82296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2450591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761488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E2564B"/>
                </a:solidFill>
                <a:latin typeface="Segoe UI"/>
              </a:rPr>
              <a:t>МЕРЕЖА СУПЕРМАРКЕТІВ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999232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11 SKU Ben's Original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" y="3310128"/>
            <a:ext cx="1207007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310128"/>
            <a:ext cx="12070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УСІ БЕЗ ЗАЛИШКУ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06824" y="2231136"/>
            <a:ext cx="3456432" cy="1408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6824" y="2231136"/>
            <a:ext cx="3456432" cy="82296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2856" y="2450591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MAUDAU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856" y="2761488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E2564B"/>
                </a:solidFill>
                <a:latin typeface="Segoe UI"/>
              </a:rPr>
              <a:t>ОНЛАЙН-СУПЕРМАРКЕТ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999232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Ben's Basmati 220 г · Clearspring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62856" y="3310128"/>
            <a:ext cx="943660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62856" y="3310128"/>
            <a:ext cx="9436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БЕЗ ЗАЛИШКУ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2231136"/>
            <a:ext cx="3456432" cy="1408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10144" y="2231136"/>
            <a:ext cx="3456432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66175" y="2450591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Смак Кореї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5" y="2761488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5" y="2999232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Bibigo 210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6175" y="3310128"/>
            <a:ext cx="1470355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66175" y="3310128"/>
            <a:ext cx="147035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У НАЯВНОСТІ · 8 УП.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" y="3840480"/>
            <a:ext cx="3456432" cy="1408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3504" y="3840480"/>
            <a:ext cx="3456432" cy="82296"/>
          </a:xfrm>
          <a:prstGeom prst="roundRect">
            <a:avLst>
              <a:gd name="adj" fmla="val 50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40599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Edison Lee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" y="4370832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460857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Ben's Bio 240 г · Long Grain 220 г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" y="4919472"/>
            <a:ext cx="1602028" cy="237744"/>
          </a:xfrm>
          <a:prstGeom prst="roundRect">
            <a:avLst>
              <a:gd name="adj" fmla="val 50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" y="4919472"/>
            <a:ext cx="16020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СКЛАД НЕ ПІДТВЕРДЖЕНО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06824" y="3840480"/>
            <a:ext cx="3456432" cy="1408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306824" y="3840480"/>
            <a:ext cx="3456432" cy="82296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62856" y="40599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Rozetka · Prom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62856" y="4370832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E2564B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2856" y="460857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Bibigo · страви Ottogi · Portion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62856" y="4919472"/>
            <a:ext cx="1338681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62856" y="4919472"/>
            <a:ext cx="133868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КАРТКИ НЕДОСТУПНІ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10144" y="3840480"/>
            <a:ext cx="3456432" cy="1408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010144" y="3840480"/>
            <a:ext cx="3456432" cy="82296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66175" y="40599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Pulsar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5" y="4370832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E2564B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5" y="460857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717890"/>
                </a:solidFill>
                <a:latin typeface="Segoe UI"/>
              </a:rPr>
              <a:t>6 рисових страв Ottogi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66175" y="4919472"/>
            <a:ext cx="1207007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66175" y="4919472"/>
            <a:ext cx="12070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УСІ БЕЗ ЗАЛИШКУ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" y="5596128"/>
            <a:ext cx="10954512" cy="65836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03504" y="5596128"/>
            <a:ext cx="82296" cy="65836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0" y="5724144"/>
            <a:ext cx="10332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Не знайдено пошуком: </a:t>
            </a:r>
            <a:r>
              <a:rPr sz="1100" b="0" i="0">
                <a:solidFill>
                  <a:srgbClr val="717890"/>
                </a:solidFill>
                <a:latin typeface="Segoe UI"/>
              </a:rPr>
              <a:t>АТБ · Novus · Metro · Varus · Auchan · Fozzy · Таврія В. Це не доказ відсутності в мережі — перевірка велася онлайн, без обходу полиці.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" y="6437376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S1–S10 · зріз 22.09.2026.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 · 2/2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Асортимент є на вітрині, товару на складі — майже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Із 18 перевірених карток гарнірів залишок підтверджено лише в однієї.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8105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810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1837943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2231136"/>
            <a:ext cx="2578608" cy="22128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2231136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2523744"/>
            <a:ext cx="206654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200400"/>
            <a:ext cx="20665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7A169"/>
                </a:solidFill>
                <a:latin typeface="Segoe UI"/>
              </a:rPr>
              <a:t>У НАЯВНОСТІ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493008"/>
            <a:ext cx="20665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1C2235"/>
                </a:solidFill>
                <a:latin typeface="Segoe UI"/>
              </a:rPr>
              <a:t>Bibigo 210 г · «Смак Кореї»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023360"/>
            <a:ext cx="206654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8 упаковок на 22.09.2026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0712" y="2231136"/>
            <a:ext cx="2578608" cy="22128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10712" y="2231136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6744" y="2523744"/>
            <a:ext cx="206654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66744" y="3200400"/>
            <a:ext cx="20665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НЕ ПІДТВЕРДЖЕНО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6744" y="3493008"/>
            <a:ext cx="20665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1C2235"/>
                </a:solidFill>
                <a:latin typeface="Segoe UI"/>
              </a:rPr>
              <a:t>Edison Lee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66744" y="4023360"/>
            <a:ext cx="206654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склад продавця не підтверджено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231136"/>
            <a:ext cx="2578608" cy="22128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0" y="2231136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2523744"/>
            <a:ext cx="206654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303A5D"/>
                </a:solidFill>
                <a:latin typeface="Segoe UI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3200400"/>
            <a:ext cx="20665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2564B"/>
                </a:solidFill>
                <a:latin typeface="Segoe UI"/>
              </a:rPr>
              <a:t>БЕЗ ЗАЛИШКУ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3493008"/>
            <a:ext cx="20665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1C2235"/>
                </a:solidFill>
                <a:latin typeface="Segoe UI"/>
              </a:rPr>
              <a:t>решта карток гарнірів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4023360"/>
            <a:ext cx="206654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ціна лишається в каталозі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25128" y="2231136"/>
            <a:ext cx="2578608" cy="22128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025128" y="2231136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59" y="2523744"/>
            <a:ext cx="206654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59" y="3200400"/>
            <a:ext cx="20665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БЕЗ ЗАЛИШКУ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59" y="3493008"/>
            <a:ext cx="20665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1C2235"/>
                </a:solidFill>
                <a:latin typeface="Segoe UI"/>
              </a:rPr>
              <a:t>страви Ottogi у Pulsar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59" y="4023360"/>
            <a:ext cx="206654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усі шість карток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" y="4700016"/>
            <a:ext cx="10954512" cy="140817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3504" y="4700016"/>
            <a:ext cx="91440" cy="140817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49011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C95C"/>
                </a:solidFill>
                <a:latin typeface="Segoe UI"/>
              </a:rPr>
              <a:t>Як читати цю картину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" y="5266944"/>
            <a:ext cx="493776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FFFFF"/>
                </a:solidFill>
                <a:latin typeface="Segoe UI"/>
              </a:rPr>
              <a:t>Каталоги мереж і маркетплейсів категорію знають і тримають. Товарного покриття за цими картками немає.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4937760"/>
            <a:ext cx="36576" cy="93268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86016" y="4901184"/>
            <a:ext cx="4297680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9C2DA"/>
                </a:solidFill>
                <a:latin typeface="Segoe UI"/>
              </a:rPr>
              <a:t>Причина відсутності залишку — постачання чи обіговість — із відкритих даних не встановлюється. Це питання до самих мереж і дистриб'юторів.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6437376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S1–S11 · статус наявності за картками на 22.09.2026.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ДОДАТОК · СУМІЖНИЙ СЕГМЕНТ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Страви Ottogi: єдина ціна 255 грн на шість позицій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Рис із наповнювачем — окремий сегмент; у статистику гарнірів не входить.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2011680"/>
            <a:ext cx="3511296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121408"/>
            <a:ext cx="1645920" cy="1700784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ttogi_chick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291110"/>
            <a:ext cx="1536192" cy="136137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05456" y="228600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2724912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310/315*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5456" y="2962656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5456" y="3273552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82,3 /100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05456" y="352958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5456" y="3529584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2544" y="2011680"/>
            <a:ext cx="3511296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59" y="2121408"/>
            <a:ext cx="1645920" cy="1700784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ottogi_burg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2289736"/>
            <a:ext cx="1536192" cy="136412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54496" y="228600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4496" y="2724912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2962656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4496" y="3273552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81,0 /100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4496" y="352958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3529584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2011680"/>
            <a:ext cx="3511296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29600" y="2121408"/>
            <a:ext cx="1645920" cy="1700784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ttogi_octopu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3" y="2286972"/>
            <a:ext cx="1536192" cy="136965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003536" y="228600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03536" y="2724912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03536" y="2962656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03536" y="3273552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91,1 /100 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03536" y="352958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03536" y="3529584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" y="4133087"/>
            <a:ext cx="3511296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31520" y="4242816"/>
            <a:ext cx="1645920" cy="1700784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ottogi_jjampo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4419305"/>
            <a:ext cx="1536192" cy="1347805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505456" y="4407407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Jin Jjampong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5456" y="4846320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05456" y="5084064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05456" y="5394959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117,2 /100 г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05456" y="565099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5456" y="5650992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52544" y="4133087"/>
            <a:ext cx="3511296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480559" y="4242816"/>
            <a:ext cx="1645920" cy="1700784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ottogi_tun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5424" y="4325112"/>
            <a:ext cx="1536192" cy="153619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254496" y="4407407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54496" y="4846320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54496" y="5084064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54496" y="5394959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103,2 /100 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54496" y="565099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54496" y="5650992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101583" y="4133087"/>
            <a:ext cx="3511296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229600" y="4242816"/>
            <a:ext cx="1645920" cy="1700784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ttogi_kimchi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4463" y="4325112"/>
            <a:ext cx="1536192" cy="153619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003536" y="4407407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Кімчі й тунець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03536" y="4846320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03536" y="5084064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03536" y="5394959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82,3 /100 г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003536" y="565099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03536" y="5650992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НЕМАЄ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3504" y="6236208"/>
            <a:ext cx="10954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* Яловичина / бульгогі та свинина 269 / 310 г на Rozetka: ідентичність SKU потребує звірки EAN та етикетки. Повторні пропозиції продавців не рахуються окремими SKU.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" y="6437376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O01–O06, S10, R01–R12 · картки Pulsar і продавців Rozetka, 22.09.2026.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МЕТОДОЛОГІЯ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Основа дослідження та межі висновків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3502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Відкриті українські онлайн-вітрини, зріз на 22 вересня 2026 року.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883664"/>
            <a:ext cx="3511296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883664"/>
            <a:ext cx="3511296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139696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9A50B"/>
                </a:solidFill>
                <a:latin typeface="Segoe UI"/>
              </a:rPr>
              <a:t>ЩО ПЕРЕВІРЕНО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" y="26243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542032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Сільпо · MAUDAU · Смак Кореї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" y="31912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108960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Edison Lee · Rozetka · Prom · Pulsar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" y="3758183"/>
            <a:ext cx="8229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675887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18 карток гарнірів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" y="4325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242816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6 карток страв Ottogi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" y="489204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809744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Маса, ціна, канал, наявність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2544" y="1883664"/>
            <a:ext cx="3511296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52544" y="1883664"/>
            <a:ext cx="3511296" cy="91440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6864" y="2139696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2564B"/>
                </a:solidFill>
                <a:latin typeface="Segoe UI"/>
              </a:rPr>
              <a:t>ЩО НЕ ПЕРЕВІРЕНО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26243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2542032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АТБ · Novus · Metro · Varus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31912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3108960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Auchan · Fozzy · Таврія 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26864" y="3758183"/>
            <a:ext cx="82296" cy="82296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0" y="3675887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Офлайн-полиця в жодній мережі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26864" y="4325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0" y="4242816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Фактичні продажі та обіговість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26864" y="4892040"/>
            <a:ext cx="82296" cy="82296"/>
          </a:xfrm>
          <a:prstGeom prst="roundRect">
            <a:avLst>
              <a:gd name="adj" fmla="val 50000"/>
            </a:avLst>
          </a:prstGeom>
          <a:solidFill>
            <a:srgbClr val="E25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6320" y="4809744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Причина відсутності залишку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01583" y="1883664"/>
            <a:ext cx="3511296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01583" y="1883664"/>
            <a:ext cx="3511296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75904" y="2139696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9EA6"/>
                </a:solidFill>
                <a:latin typeface="Segoe UI"/>
              </a:rPr>
              <a:t>МЕЖІ ВИСНОВКІВ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75904" y="26243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59" y="2542032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Частота SKU ≠ частка продажів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75904" y="31912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59" y="3108960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Ціна без залишку — орієнтир каталогу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75904" y="375818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95359" y="3675887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Відсутність у пошуку ≠ відсутність у мережі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75904" y="4325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59" y="4242816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Long Grain виключено зі статистики маси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75904" y="4892040"/>
            <a:ext cx="8229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59" y="4809744"/>
            <a:ext cx="2743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Доля ринку жодного бренду не встановлена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3504" y="5760720"/>
            <a:ext cx="10954512" cy="493776"/>
          </a:xfrm>
          <a:prstGeom prst="roundRect">
            <a:avLst>
              <a:gd name="adj" fmla="val 2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870448"/>
            <a:ext cx="10332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Точні посилання — у примітках відповідних слайдів. Полична ціна власного продукту в це дослідження не входить і рахується окремо.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37376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Morskyi Dim · дослідження ринку · вересень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