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3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jpg"/><Relationship Id="rId11" Type="http://schemas.openxmlformats.org/officeDocument/2006/relationships/image" Target="../media/image14.jpg"/><Relationship Id="rId12" Type="http://schemas.openxmlformats.org/officeDocument/2006/relationships/image" Target="../media/image15.jpg"/><Relationship Id="rId13" Type="http://schemas.openxmlformats.org/officeDocument/2006/relationships/image" Target="../media/image1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4.jpg"/><Relationship Id="rId8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6.jpg"/><Relationship Id="rId10" Type="http://schemas.openxmlformats.org/officeDocument/2006/relationships/image" Target="../media/image28.jpg"/><Relationship Id="rId11" Type="http://schemas.openxmlformats.org/officeDocument/2006/relationships/image" Target="../media/image5.jpg"/><Relationship Id="rId12" Type="http://schemas.openxmlformats.org/officeDocument/2006/relationships/image" Target="../media/image29.jpg"/><Relationship Id="rId13" Type="http://schemas.openxmlformats.org/officeDocument/2006/relationships/image" Target="../media/image3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d_bg_title.jpg"/>
          <p:cNvPicPr>
            <a:picLocks noChangeAspect="1"/>
          </p:cNvPicPr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md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75488"/>
            <a:ext cx="1773936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3504" y="1847088"/>
            <a:ext cx="493776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2139696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C95C"/>
                </a:solidFill>
                <a:latin typeface="Segoe UI"/>
              </a:rPr>
              <a:t>ФІНАЛЬНА ВЕРСІЯ · ЖОВТЕНЬ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2542032"/>
            <a:ext cx="65836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 i="0">
                <a:solidFill>
                  <a:srgbClr val="FFFFFF"/>
                </a:solidFill>
                <a:latin typeface="Segoe UI"/>
              </a:rPr>
              <a:t>Готовий рис
в Україні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133087"/>
            <a:ext cx="6400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C6CEE2"/>
                </a:solidFill>
                <a:latin typeface="Segoe UI"/>
              </a:rPr>
              <a:t>Кімнатне зберігання · розігрів · без готування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4681728"/>
            <a:ext cx="5394960" cy="50292"/>
          </a:xfrm>
          <a:prstGeom prst="rect">
            <a:avLst/>
          </a:prstGeom>
          <a:solidFill>
            <a:srgbClr val="556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4882896"/>
            <a:ext cx="630936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FA9C4"/>
                </a:solidFill>
                <a:latin typeface="Segoe UI"/>
              </a:rPr>
              <a:t>11 брендів · 32 позиції · ціна за одну упаковку
Ціни — 23–28.09.2026, митна база — вивантаження 28.09.2026.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52944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560" y="1005840"/>
            <a:ext cx="1385606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857232" y="877824"/>
            <a:ext cx="21488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t_bibimb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1159649"/>
            <a:ext cx="1856232" cy="163090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52944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a_veres_chicke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608" y="3328416"/>
            <a:ext cx="1471510" cy="166420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857232" y="3200400"/>
            <a:ext cx="21488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ua_makro_bee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1371" y="3328416"/>
            <a:ext cx="1460561" cy="166420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52944" y="5266944"/>
            <a:ext cx="4453128" cy="932688"/>
          </a:xfrm>
          <a:prstGeom prst="roundRect">
            <a:avLst>
              <a:gd name="adj" fmla="val 14000"/>
            </a:avLst>
          </a:prstGeom>
          <a:solidFill>
            <a:srgbClr val="262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5413248"/>
            <a:ext cx="405993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Ben's Original · Ottogi · Bibigo · Portion · М'ясниця · Маркел · МАКРО · Верес · Ходорівський · Clearspring · Adventure Menu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ГОЛОВНЕ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Шість цифр про категорію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Предмет: рис, що зберігається за кімнатної температури і лише розігрівається.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700784" cy="17556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5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ФОРМАЛЬНИЙ ІМПОРТ READY-TO-EAT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76272"/>
            <a:ext cx="12618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F9A50B"/>
                </a:solidFill>
                <a:latin typeface="Segoe UI"/>
              </a:rPr>
              <a:t>0,81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126187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За 16 міс. (01.2025–05.2026) за
митною базою, код 1904901000.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719072"/>
            <a:ext cx="1700784" cy="17556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8880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1956815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ПОЗИЦІЙ У ПРОДАЖУ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8336" y="2176272"/>
            <a:ext cx="12618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7B5EA7"/>
                </a:solidFill>
                <a:latin typeface="Segoe UI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6" y="2633472"/>
            <a:ext cx="126187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11 брендів. 11 позицій —
українського виробництва.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4256" y="1719072"/>
            <a:ext cx="1700784" cy="17556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34256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1956815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 ПОЛИЦІ МЕРЕЖ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176272"/>
            <a:ext cx="12618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E9EA6"/>
                </a:solidFill>
                <a:latin typeface="Segoe UI"/>
              </a:rPr>
              <a:t>12 SKU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633472"/>
            <a:ext cx="126187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11 — Ben's Original у «Сільпо».
Ритейл-аудит, 9 мереж, 28.09.2026.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1719072"/>
            <a:ext cx="1700784" cy="17556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956815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МЕДІАНА ЗА УПАКОВКУ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2176272"/>
            <a:ext cx="12618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37A169"/>
                </a:solidFill>
                <a:latin typeface="Segoe UI"/>
              </a:rPr>
              <a:t>118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2633472"/>
            <a:ext cx="126187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Діапазон 45–466 грн.
Половина позицій — до 118 грн.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719072"/>
            <a:ext cx="1700784" cy="17556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5008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4" y="1956815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НАЙДЕШЕВШИЙ СЕГМЕНТ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4" y="2176272"/>
            <a:ext cx="12618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C94F7C"/>
                </a:solidFill>
                <a:latin typeface="Segoe UI"/>
              </a:rPr>
              <a:t>101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4" y="2633472"/>
            <a:ext cx="126187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Український реторт-пауч 350 г,
71–199 грн, 6 виробників.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30384" y="1719072"/>
            <a:ext cx="1700784" cy="17556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30384" y="1719072"/>
            <a:ext cx="1700784" cy="82296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1956815"/>
            <a:ext cx="1261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МАСОВА ВАГА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76272"/>
            <a:ext cx="126187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5B6B8C"/>
                </a:solidFill>
                <a:latin typeface="Segoe UI"/>
              </a:rPr>
              <a:t>350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2633472"/>
            <a:ext cx="1261872" cy="768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11 позицій. Далі 250 г — 6,
220 г — 6.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3675887"/>
            <a:ext cx="5358384" cy="2157984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" y="3675887"/>
            <a:ext cx="82296" cy="215798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840479"/>
            <a:ext cx="4809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показало дослідження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169663"/>
            <a:ext cx="4809744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Організованого імпорту категорії практично немає: за 16 місяців митниця бачить менше тонни готового рису для розігріву — одна партія Ben's (676 кг, 24.02.2025, імпортер «Фоззі Коммерц») і сліди CJ та Clearspring.
2. Українське виробництво вже є — і воно найдешевше: реторт-пауч 350 г за 71–199 грн, медіана 101 грн.
3. Корейська чаша — найдорожчий сегмент (медіана 252 грн), три азійські магазини.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9632" y="3675887"/>
            <a:ext cx="5358384" cy="2157984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99632" y="3675887"/>
            <a:ext cx="82296" cy="215798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3840479"/>
            <a:ext cx="48097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Де порожньо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10528" y="4169663"/>
            <a:ext cx="4809744" cy="1517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Жодного постачальника, що возить контейнерами на постійній основі: усе, що є, — разові партії або локальне виробництво.
2. Немає українського гарніру — чистого рису в паучі. Усі 11 українських позицій це рис із м'ясом.
3. Немає жодної позиції категорії в АТБ, Novus, Metro, Varus, Ашан, Fozzy та інших мережах — перевірено 28.09.2026.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Ціни: сайти продавців, 23.09.2026, за одну упаковку. Імпорт: митна база (codexmb), код 1904901000, вивантаження 28.09.2026. Полиця: ритейл-аудит 9 мереж, 28.09.2026.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ОБСЯГ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Код 1904901000 — 250,3 т, з них на наш продукт 0,81 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Митний код «рис на основі зерна» ширший за нашу категорію в 300 разів за вагою.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7040880" cy="365760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65376"/>
            <a:ext cx="6217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З ЧОГО СКЛАДАЄТЬСЯ КОД 1904901000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21284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Заморожені сирі суміші рис+овочі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4304" y="2212848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5B6B8C"/>
                </a:solidFill>
                <a:latin typeface="Segoe UI"/>
              </a:rPr>
              <a:t>74,8 %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432304"/>
            <a:ext cx="656539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432304"/>
            <a:ext cx="6565392" cy="146304"/>
          </a:xfrm>
          <a:prstGeom prst="roundRect">
            <a:avLst>
              <a:gd name="adj" fmla="val 50000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606040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Oerlemans, «Рудь»: ризото й гавайська суміш, сирі, у морозилку. Не наш продукт.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7294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Рисові чіпси й снеки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4304" y="2729484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717890"/>
                </a:solidFill>
                <a:latin typeface="Segoe UI"/>
              </a:rPr>
              <a:t>12,8 %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2948939"/>
            <a:ext cx="656539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2948939"/>
            <a:ext cx="1123489" cy="146304"/>
          </a:xfrm>
          <a:prstGeom prst="roundRect">
            <a:avLst>
              <a:gd name="adj" fmla="val 50000"/>
            </a:avLst>
          </a:prstGeom>
          <a:solidFill>
            <a:srgbClr val="71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122676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Ficosota «Livity Chips» — солоний снек, не страва.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24612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Різото «довести до готовності»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4304" y="3246120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7B5EA7"/>
                </a:solidFill>
                <a:latin typeface="Segoe UI"/>
              </a:rPr>
              <a:t>2,3 %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465576"/>
            <a:ext cx="656539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3465576"/>
            <a:ext cx="201877" cy="14630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639312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Riso Gallo, Casa Rinaldi, Cordero — рис неприготований, варити 15–18 хв.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37627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Долма в банці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4304" y="3762756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C94F7C"/>
                </a:solidFill>
                <a:latin typeface="Segoe UI"/>
              </a:rPr>
              <a:t>4,3 %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3982212"/>
            <a:ext cx="656539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248" y="3982212"/>
            <a:ext cx="377422" cy="146304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155948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Palirria: виноградне листя з рисом, інший формат і привід.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2793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Інше / неоднозначний опис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4279392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E2E8F3"/>
                </a:solidFill>
                <a:latin typeface="Segoe UI"/>
              </a:rPr>
              <a:t>3,5 %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4498848"/>
            <a:ext cx="656539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1248" y="4498848"/>
            <a:ext cx="307204" cy="146304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4672583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Переважно той самий «варити» різото під іншою назвою.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4796027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2235"/>
                </a:solidFill>
                <a:latin typeface="Segoe UI"/>
              </a:rPr>
              <a:t>Готовий рис для розігріву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4796027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1" i="0">
                <a:solidFill>
                  <a:srgbClr val="F9A50B"/>
                </a:solidFill>
                <a:latin typeface="Segoe UI"/>
              </a:rPr>
              <a:t>0,3 %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1248" y="5015483"/>
            <a:ext cx="6565392" cy="1463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1248" y="5015483"/>
            <a:ext cx="28547" cy="1463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189219"/>
            <a:ext cx="6309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Mars Austria (Ben's) 0,676 т, CJ CheilJedang, Clearspring.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36992" y="1719072"/>
            <a:ext cx="3621024" cy="3657600"/>
          </a:xfrm>
          <a:prstGeom prst="roundRect">
            <a:avLst>
              <a:gd name="adj" fmla="val 5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936992" y="1719072"/>
            <a:ext cx="82296" cy="365760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1883664"/>
            <a:ext cx="3200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FC95C"/>
                </a:solidFill>
                <a:latin typeface="Segoe UI"/>
              </a:rPr>
              <a:t>Єдина знайдена партія Ben's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241401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675,84 кг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2798064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A9C4"/>
                </a:solidFill>
                <a:latin typeface="Segoe UI"/>
              </a:rPr>
              <a:t>усього за 16 місяців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3024" y="312724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FA9C4"/>
                </a:solidFill>
                <a:latin typeface="Segoe UI"/>
              </a:rPr>
              <a:t>Дата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127248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24.02.2025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4" y="349300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FA9C4"/>
                </a:solidFill>
                <a:latin typeface="Segoe UI"/>
              </a:rPr>
              <a:t>Імпортер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3493008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«Фоззі Коммерц» (Fozzy Group)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4" y="38587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FA9C4"/>
                </a:solidFill>
                <a:latin typeface="Segoe UI"/>
              </a:rPr>
              <a:t>Виробник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858768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Mars Austria OG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93024" y="422452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9FA9C4"/>
                </a:solidFill>
                <a:latin typeface="Segoe UI"/>
              </a:rPr>
              <a:t>Упаковок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224528"/>
            <a:ext cx="206654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FFFFFF"/>
                </a:solidFill>
                <a:latin typeface="Segoe UI"/>
              </a:rPr>
              <a:t>≈ 2 900 шт. на 11 SKU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46634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D5DBEA"/>
                </a:solidFill>
                <a:latin typeface="Segoe UI"/>
              </a:rPr>
              <a:t>«Фоззі Коммерц» — торговий оператор Fozzy Group (власник «Сільпо»). Це пояснює, чому всі 11 SKU Ben's Original стоять саме в «Сільпо».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" y="5504688"/>
            <a:ext cx="10954512" cy="7680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03504" y="5504688"/>
            <a:ext cx="82296" cy="7680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0" y="5705855"/>
            <a:ext cx="10405872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Висновок: організованого контейнерного імпорту категорії немає — є одна разова партія лідера та сліди ще двох брендів. Хто завезе постійний обсяг, матиме ринок практично без прямого імпортного конкурента.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Митна база (codexmb), вивантаження 28.09.2026, УКТ ЗЕД 1904901000, 01.2025–05.2026 (без 12–31.03.2025). Фактурна вартість USD без ПДВ і мита. Частки — за вагою нетто рядків бази.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КАРТА КАТЕГОРІЇ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Чотири сегменти, 11 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Усередині категорії — два формати паковання і дві ролі: гарнір або повна страва.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37360"/>
            <a:ext cx="2578608" cy="279806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2024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9A50B"/>
                </a:solidFill>
                <a:latin typeface="Segoe UI"/>
              </a:rPr>
              <a:t>ГАРНІР У ПАУЧІ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1762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11 позицій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487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090672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Чистий рис без наповнювача. Мікрохвильовка 90 с.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3547872"/>
            <a:ext cx="2176272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6393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УПАКОВКУ · МЕДІАНА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803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45 – 179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428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C2235"/>
                </a:solidFill>
                <a:latin typeface="Segoe UI"/>
              </a:rPr>
              <a:t>маса 220–250 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0712" y="1737360"/>
            <a:ext cx="2578608" cy="279806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10712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192024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7B5EA7"/>
                </a:solidFill>
                <a:latin typeface="Segoe UI"/>
              </a:rPr>
              <a:t>СТРАВА В ЧАШІ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1762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6 позицій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2487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Ottogi · Bibigo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090672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Рис із м'ясом у жорсткій чаші. Мікрохвильовка 2 хв.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3547872"/>
            <a:ext cx="2176272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6393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УПАКОВКУ · МЕДІАНА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803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0599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189 – 356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42428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C2235"/>
                </a:solidFill>
                <a:latin typeface="Segoe UI"/>
              </a:rPr>
              <a:t>маса 210–320 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737360"/>
            <a:ext cx="2578608" cy="279806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192024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37A169"/>
                </a:solidFill>
                <a:latin typeface="Segoe UI"/>
              </a:rPr>
              <a:t>СТРАВА В ПАУЧІ · УКРАЇНА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21762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11 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2487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Portion · М'ясниця · Маркел · МАКРО · Верес · Ходорівський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3090672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Рис із м'ясом у реторт-паучі. Розігрів у воді або НВЧ.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19088" y="3547872"/>
            <a:ext cx="2176272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36393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УПАКОВКУ · МЕДІАНА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3803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7A169"/>
                </a:solidFill>
                <a:latin typeface="Segoe UI"/>
              </a:rPr>
              <a:t>101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40599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71 – 199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42428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C2235"/>
                </a:solidFill>
                <a:latin typeface="Segoe UI"/>
              </a:rPr>
              <a:t>маса 350 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25128" y="1737360"/>
            <a:ext cx="2578608" cy="2798064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25128" y="1737360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26296" y="192024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E9EA6"/>
                </a:solidFill>
                <a:latin typeface="Segoe UI"/>
              </a:rPr>
              <a:t>СТРАВА В ПАУЧІ · ІМПОРТ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6296" y="217627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4 позиції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26296" y="248716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1C2235"/>
                </a:solidFill>
                <a:latin typeface="Segoe UI"/>
              </a:rPr>
              <a:t>Clearspring · Adventure Menu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6296" y="3090672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Те саме, але завезене: ЄС, органіка й туристична лінійка.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26296" y="3547872"/>
            <a:ext cx="2176272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26296" y="363931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УПАКОВКУ · МЕДІАНА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26296" y="380390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9EA6"/>
                </a:solidFill>
                <a:latin typeface="Segoe UI"/>
              </a:rPr>
              <a:t>356 грн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26296" y="40599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315 – 466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26296" y="42428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C2235"/>
                </a:solidFill>
                <a:latin typeface="Segoe UI"/>
              </a:rPr>
              <a:t>маса 250–400 г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3504" y="4700016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03504" y="4700016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4864607"/>
            <a:ext cx="10405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Як читати цю карту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193792"/>
            <a:ext cx="104058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Український реторт-пауч уже виграє за ціною: медіана 101 грн проти 90 грн у Ben's Original — але в паучі 350 г проти 220–250 г, тобто це повна страва з м'ясом, а не гарнір. Інша полиця й інший привід.
Ben's Original тримає нішу гарніру сам-один: жодного українського чистого рису в паучі на ринку немає. Корейська чаша — найдорожчий формат і найвужчий канал: три азійські магазини.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32 позицій, ціни за одну упаковку, 23.09.2026.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 1 · ПАУЧ · ГАРНІР · BEN'S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11 позицій: пауч 220 і 250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Єдиний бренд чистого готового рису на ринку. Мікрохвильовка 90 секунд.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572768"/>
            <a:ext cx="10954512" cy="603504"/>
          </a:xfrm>
          <a:prstGeom prst="roundRect">
            <a:avLst>
              <a:gd name="adj" fmla="val 2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572768"/>
            <a:ext cx="82296" cy="60350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63677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19019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Mars · Франція, Німеччина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9534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пауч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3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C2235"/>
                </a:solidFill>
                <a:latin typeface="Segoe U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ЗА УПАКОВКУ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582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45–179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4" y="1655064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МАСА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6064" y="183794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220–250 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2286000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2359152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ens_longgr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82" y="2395728"/>
            <a:ext cx="546395" cy="7680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2376" y="3236976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584448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49039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45 грн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4005072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44496" y="2286000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7648" y="2359152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ens_basmati2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764" y="2395728"/>
            <a:ext cx="549014" cy="7680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563368" y="3236976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3368" y="3584448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3368" y="3749039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3368" y="4005072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85488" y="2286000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58640" y="2359152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bens_mediterra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939" y="2395728"/>
            <a:ext cx="544649" cy="76809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404360" y="3236976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Mediterran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4360" y="3584448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4360" y="3749039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04360" y="4005072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79" y="2286000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99631" y="2359152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bens_risibis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8058" y="2395728"/>
            <a:ext cx="546395" cy="7680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245351" y="3236976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Risi Bisi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5351" y="3584448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5351" y="3749039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5351" y="4005072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67472" y="2286000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40624" y="2359152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bens_curry_indie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3813" y="2395728"/>
            <a:ext cx="556869" cy="768096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086344" y="3236976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Indian Curry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86344" y="3584448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86344" y="3749039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86344" y="4005072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08464" y="2286000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881616" y="2359152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bens_curry_lins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7461" y="2395728"/>
            <a:ext cx="531557" cy="7680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927336" y="3236976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 з сочевицею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27336" y="3584448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27336" y="3749039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90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27336" y="4005072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3504" y="4370832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76656" y="4443984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bens_mexikanisch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3772" y="4480560"/>
            <a:ext cx="549014" cy="768096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722376" y="5321808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Mexikanisch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" y="5669280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" y="5833872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109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" y="6089904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444496" y="4370832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517648" y="4443984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bens_curryreis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34290" y="4480560"/>
            <a:ext cx="569962" cy="76809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2563368" y="5321808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Curryreis Indien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63368" y="5669280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563368" y="5833872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63368" y="6089904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285488" y="4370832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358640" y="4443984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bens_basmati22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3138" y="4480560"/>
            <a:ext cx="554251" cy="76809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4404360" y="5321808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Basmati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04360" y="5669280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04360" y="5833872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144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04360" y="6089904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26479" y="4370832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199631" y="4443984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bens_sweetchili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20202" y="4480560"/>
            <a:ext cx="562106" cy="768096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245351" y="5321808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Sweet Chili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45351" y="5669280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245351" y="5833872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179 грн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45351" y="6089904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Сільпо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967472" y="4370832"/>
            <a:ext cx="1749552" cy="20299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040624" y="4443984"/>
            <a:ext cx="1603248" cy="841248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bens_lang220_singl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3414" y="4480560"/>
            <a:ext cx="537667" cy="76809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086344" y="5321808"/>
            <a:ext cx="1511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Long Grain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86344" y="5669280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BEN'S ORIGINAL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220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86344" y="5833872"/>
            <a:ext cx="1511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86344" y="6089904"/>
            <a:ext cx="1511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Edison Lee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Ціни каталогу «Сільпо», отримані поштучно з картки кожного товару 23.09.2026; Long Grain 220 г — Edison Lee, у картці зазначено «ціну вказано за одну порцію». Позицій Sticky Bowl 220 г і Bio Basmati 240 г тут немає: у каталозі «Сільпо» їх не залишилося, в інших продавців картки зняті — перевірено 23.09.2026.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 2 · ЧАША · OTTOGI ТА BIBIGO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6 позицій: чаша 210–320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Рис із наповнювачем у жорсткій чаші. Корея, канал — азійські фудшопи.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2670048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2523744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t_bulgog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089" y="1828800"/>
            <a:ext cx="1004877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Бульгогі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OTTOGI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320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252–356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4787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719072"/>
            <a:ext cx="2670048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1792224"/>
            <a:ext cx="2523744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t_pork3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577" y="1828800"/>
            <a:ext cx="1004877" cy="8778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83864" y="27797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з восьминогом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1272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OTTOGI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3291840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252–334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54787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Тайякі · Gurm. · Апетіт.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719072"/>
            <a:ext cx="2670048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1792224"/>
            <a:ext cx="2523744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ot_chicken_ri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1828800"/>
            <a:ext cx="877823" cy="8778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45352" y="27797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Гострі курячі ребра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31272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OTTOGI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310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3291840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260–289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354787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Gurmissimo · Апетітаріум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719072"/>
            <a:ext cx="2670048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0" y="1792224"/>
            <a:ext cx="2523744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ot_tun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8576" y="1828800"/>
            <a:ext cx="1108830" cy="87782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06840" y="2779776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Тунець і майонез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312724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OTTOGI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247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3291840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225–356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54787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Тайякі · Gurm. · Апетіт.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3950208"/>
            <a:ext cx="2670048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6656" y="4023360"/>
            <a:ext cx="2523744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ot_bibimbap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8976" y="4059936"/>
            <a:ext cx="999102" cy="87782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2376" y="5010912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Пібімпаб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35838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OTTOGI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269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5522976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252–334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577900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Тайякі · Апетітаріум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64992" y="3950208"/>
            <a:ext cx="2670048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438144" y="4023360"/>
            <a:ext cx="2523744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bibigo_bowl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3099" y="4059936"/>
            <a:ext cx="873833" cy="87782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3483864" y="5010912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Білий рис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3864" y="535838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BIBIGO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210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83864" y="5522976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189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83864" y="5779008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Тайякі Март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3950208"/>
            <a:ext cx="5431536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26480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37376" y="4114800"/>
            <a:ext cx="4882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7376" y="4443984"/>
            <a:ext cx="4882896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Найдорожчий сегмент: медіана 252 грн за чашу проти 90 грн у Ben's і 101 грн в українському паучі. Та сама позиція коштує по-різному: тунець 247 г — 225 грн у «Тайякі Март» і 356 грн в «Апетітаріум», розкид 58 %.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Ціни з карток Prom.ua 23.09.2026, роздрібні за одну чашу. У «Тайякі Март» діє нижча ціна від 15–20 шт — вона до розрахунку не бралася. Позиції Ottogi «Гамбурзький стейк» 315 г, «Чжамппонг» 217,5 г і «Кімчі» 310 г зняті: їх не продає жоден продавець. «Свинина з восьминогом» показана як одна позиція: три продавці ведуть її як три різні (310, 280 і 269 г), але на всіх трьох картках те саме фото пачки — рис 180 г плюс соус 130 г.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 3 · РЕТОРТ-ПАУЧ · УКРАЇНА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11 позицій: реторт-пауч 350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Рис із м'ясом у реторт-паучі 350 г. Зберігання 24 місяці, розігрів без готування.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ua_portion_pa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72" y="1828800"/>
            <a:ext cx="944815" cy="8778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2779776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 м'ясом курки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12724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C94F7C"/>
                </a:solidFill>
                <a:latin typeface="Segoe UI"/>
              </a:rPr>
              <a:t>PORTION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291840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C94F7C"/>
                </a:solidFill>
                <a:latin typeface="Segoe UI"/>
              </a:rPr>
              <a:t>71–85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47872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portion.com.ua · Prom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81497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54649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a_myasnytsi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516" y="1828800"/>
            <a:ext cx="726514" cy="8778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00369" y="2779776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35 %, горошок, кукурудза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00369" y="312724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М'ЯСНИЦЯ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0369" y="3291840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88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0369" y="3547872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Belorfoods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59490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832642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a_markel_so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524" y="1828800"/>
            <a:ext cx="696484" cy="87782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78362" y="2779776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соєвим м'ясом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8362" y="312724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МАРКЕЛ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8362" y="3291840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80–96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8362" y="3547872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UP Shop · СУХПАЙ · Мартел-shop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37483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10635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ua_pak_por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5499" y="1857538"/>
            <a:ext cx="1230521" cy="82034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56355" y="2779776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та овочі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56355" y="312724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МАКРО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6355" y="3291840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96–135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56355" y="3547872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UP Shop · СУХПАЙ · Ліхтар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5476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988628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ua_veres_por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2305" y="1828800"/>
            <a:ext cx="572895" cy="87782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34348" y="2779776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Свинина, горошок, кукурудза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4348" y="312724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ВЕРЕС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34348" y="3291840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100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4348" y="3547872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МореПродуктів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93469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66621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ua_makro_chicke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0419" y="1828800"/>
            <a:ext cx="712654" cy="87782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612341" y="2779776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Курятина 35 % і овочі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2341" y="312724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МАКРО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12341" y="3291840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101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12341" y="3547872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СУХПАЙ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71462" y="1719072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144614" y="1792224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ua_makro_beef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9536" y="1828800"/>
            <a:ext cx="770406" cy="877823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190334" y="2779776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Яловичина й солодкий перець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90334" y="312724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F9A50B"/>
                </a:solidFill>
                <a:latin typeface="Segoe UI"/>
              </a:rPr>
              <a:t>МАКРО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90334" y="3291840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9A50B"/>
                </a:solidFill>
                <a:latin typeface="Segoe UI"/>
              </a:rPr>
              <a:t>104–107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90334" y="3547872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UP Shop · СУХПАЙ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76656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ua_khodoriv_35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596" y="4059936"/>
            <a:ext cx="658367" cy="87782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22376" y="5010912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 та овочі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" y="5358384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ХОДОРІВСЬКИЙ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" y="5522976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105 грн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376" y="577900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Молочний склад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181497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54649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ua_veres_chicken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6683" y="4059936"/>
            <a:ext cx="776181" cy="87782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2300369" y="5010912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Каша рисова з куркою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00369" y="5358384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ВЕРЕС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00369" y="5522976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108–134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300369" y="577900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Козуб · Смачна адреса · Продукт-Sh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759490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32642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ua_markel_eat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2610" y="4059936"/>
            <a:ext cx="680313" cy="877823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878362" y="5010912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Рис із рослинним фаршем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78362" y="5358384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5B6B8C"/>
                </a:solidFill>
                <a:latin typeface="Segoe UI"/>
              </a:rPr>
              <a:t>МАРКЕЛ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78362" y="5522976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B6B8C"/>
                </a:solidFill>
                <a:latin typeface="Segoe UI"/>
              </a:rPr>
              <a:t>127–144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78362" y="577900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UP Shop · СУХПАЙ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337483" y="3950208"/>
            <a:ext cx="1486553" cy="213969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410635" y="4023360"/>
            <a:ext cx="1340249" cy="95097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ua_khodoriv_pork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23855" y="4059936"/>
            <a:ext cx="713809" cy="877823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456355" y="5010912"/>
            <a:ext cx="124880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Свинина, горошок, кукурудза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56355" y="5358384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B5EA7"/>
                </a:solidFill>
                <a:latin typeface="Segoe UI"/>
              </a:rPr>
              <a:t>ХОДОРІВСЬКИЙ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350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56355" y="5522976"/>
            <a:ext cx="1248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7B5EA7"/>
                </a:solidFill>
                <a:latin typeface="Segoe UI"/>
              </a:rPr>
              <a:t>140–199 грн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56355" y="5779008"/>
            <a:ext cx="124880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Foodi Shop · Food Shop · МореПроду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15476" y="3950208"/>
            <a:ext cx="4642539" cy="21396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915476" y="3950208"/>
            <a:ext cx="82296" cy="21396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26372" y="4114800"/>
            <a:ext cx="40938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26372" y="4443984"/>
            <a:ext cx="4093899" cy="149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Найдешевший сегмент категорії: 71–199 грн за пауч 350 г, медіана 101 грн. Виробництво українське, тому ці позиції не потрапляють в імпортну статистику на слайді 03 — реальна категорія більша за 182 тонни.
Канал вузький: Prom і фірмові магазини, у мережах цих брендів немає.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Ціни з карток продавців на Prom.ua і з фірмового магазину portion.com.ua, 23.09.2026, за один пауч. Оптові пороги від 3–12 шт не бралися.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 4 · РЕТОРТ-ПАУЧ · ІМПОРТ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4 позиції: реторт-пауч 250 і 400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Той самий формат, але завезений: британська органіка й чеська туристична лінійка.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2670048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1792224"/>
            <a:ext cx="2523744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earspr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813" y="1828800"/>
            <a:ext cx="1575428" cy="18836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" y="3785615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Brown &amp; Wild Rice, тамарі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33087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1E9EA6"/>
                </a:solidFill>
                <a:latin typeface="Segoe UI"/>
              </a:rPr>
              <a:t>CLEARSPRING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250 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429767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E9EA6"/>
                </a:solidFill>
                <a:latin typeface="Segoe UI"/>
              </a:rPr>
              <a:t>446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55371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Скарби Азії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719072"/>
            <a:ext cx="2670048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8144" y="1792224"/>
            <a:ext cx="2523744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m_wil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544" y="1828800"/>
            <a:ext cx="1620942" cy="188366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483864" y="3785615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Курка в томатному соусі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4133087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429767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315–357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455371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Freeride · MK-Sport · Лєєр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1719072"/>
            <a:ext cx="2670048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1792224"/>
            <a:ext cx="2523744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m_meatball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535" y="1828800"/>
            <a:ext cx="1563936" cy="188366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45352" y="3785615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Тефтелі з басматі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133087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429767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336–466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455371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Freeride · OXO · Лєєр · MK · Palme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87968" y="1719072"/>
            <a:ext cx="2670048" cy="3145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0" y="1792224"/>
            <a:ext cx="2523744" cy="1956815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m_korma4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324" y="1828800"/>
            <a:ext cx="1633334" cy="188366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006840" y="3785615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900" b="1" i="0">
                <a:solidFill>
                  <a:srgbClr val="303A5D"/>
                </a:solidFill>
                <a:latin typeface="Segoe UI"/>
              </a:rPr>
              <a:t>Chicken Korma з рисом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4133087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37A169"/>
                </a:solidFill>
                <a:latin typeface="Segoe UI"/>
              </a:rPr>
              <a:t>ADVENTURE MENU  ·  </a:t>
            </a:r>
            <a:r>
              <a:rPr sz="750" b="0" i="0">
                <a:solidFill>
                  <a:srgbClr val="717890"/>
                </a:solidFill>
                <a:latin typeface="Segoe UI"/>
              </a:rPr>
              <a:t>400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297679"/>
            <a:ext cx="2432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7A169"/>
                </a:solidFill>
                <a:latin typeface="Segoe UI"/>
              </a:rPr>
              <a:t>376–404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4553712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ALANTUR · Modern Shop · MK-Sport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" y="5010912"/>
            <a:ext cx="10954512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03504" y="5010912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175504"/>
            <a:ext cx="10405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04688"/>
            <a:ext cx="1040587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Adventure Menu 400 г READY TO EAT — найбільша упаковка категорії, 315–466 грн, канал туристичний. Clearspring 250 г за 446 грн — найдорожчий пауч ринку: органічна сертифікація й дикий рис.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Ціни з карток Prom.ua 23.09.2026 за одну упаковку.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ФОРМАТ І ГРАМАЖ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Пауч — 26 позицій із 32, масова вага 350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Два формати паковання. Кожен тримає свою вагу — платформи майже не перетинаються.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2578608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1901952"/>
            <a:ext cx="2286000" cy="140817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a_veres_chick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757" y="1956816"/>
            <a:ext cx="1148101" cy="12984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34015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ПАУЧ · РЕТОРТ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75887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675887"/>
            <a:ext cx="1738503" cy="16459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9534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26 позицій · 81 % · 9 брендів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187952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79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УПАКОВКУ, МЕДІАНА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2569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104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00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СЕРЕДНЯ МАСА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9A50B"/>
                </a:solidFill>
                <a:latin typeface="Segoe UI"/>
              </a:rPr>
              <a:t>350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669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45 – 466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412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8756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220 – 400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070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Плаский реторт-пауч. Займає менше місця на полиці, дешевший у логістиці, тримає 24 місяці. Формат, у якому працюють і Ben's, і всі українці.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10712" y="1719072"/>
            <a:ext cx="2578608" cy="4517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10712" y="1719072"/>
            <a:ext cx="2578608" cy="91440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57016" y="1901952"/>
            <a:ext cx="2286000" cy="1408176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ot_bibimba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096" y="1956816"/>
            <a:ext cx="1477838" cy="12984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30168" y="34015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ЧАША · СТАКАН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0168" y="3675887"/>
            <a:ext cx="2139696" cy="164592"/>
          </a:xfrm>
          <a:prstGeom prst="roundRect">
            <a:avLst>
              <a:gd name="adj" fmla="val 50000"/>
            </a:avLst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30168" y="3675887"/>
            <a:ext cx="401193" cy="16459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0168" y="389534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6 позицій · 19 % · 2 бренди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0168" y="4187952"/>
            <a:ext cx="2139696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0168" y="42793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ЗА УПАКОВКУ, МЕДІАНА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442569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252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0168" y="47000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СЕРЕДНЯ МАСА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30168" y="48463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7B5EA7"/>
                </a:solidFill>
                <a:latin typeface="Segoe UI"/>
              </a:rPr>
              <a:t>290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5120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ДІАПАЗОН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0168" y="526694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189 – 356 грн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0168" y="55412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МАСА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0168" y="568756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C2235"/>
                </a:solidFill>
                <a:latin typeface="Segoe UI"/>
              </a:rPr>
              <a:t>210 – 320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30168" y="59070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Жорстка чаша: їсти можна прямо з неї, але вона дорожча й об'ємніша. На українському ринку — тільки корейський імпорт.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1719072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17890"/>
                </a:solidFill>
                <a:latin typeface="Segoe UI"/>
              </a:rPr>
              <a:t>ПОЗИЦІЙ У КОЖНІЙ ВАЗІ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91072" y="3915294"/>
            <a:ext cx="505968" cy="162929"/>
          </a:xfrm>
          <a:prstGeom prst="roundRect">
            <a:avLst>
              <a:gd name="adj" fmla="val 14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91072" y="3695838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210 г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88480" y="3100647"/>
            <a:ext cx="505968" cy="977576"/>
          </a:xfrm>
          <a:prstGeom prst="roundRect">
            <a:avLst>
              <a:gd name="adj" fmla="val 14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88480" y="2881191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8480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220 г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85888" y="3915294"/>
            <a:ext cx="505968" cy="162929"/>
          </a:xfrm>
          <a:prstGeom prst="roundRect">
            <a:avLst>
              <a:gd name="adj" fmla="val 14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85888" y="3695838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Segoe U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85888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247 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83296" y="3100647"/>
            <a:ext cx="505968" cy="977576"/>
          </a:xfrm>
          <a:prstGeom prst="roundRect">
            <a:avLst>
              <a:gd name="adj" fmla="val 14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83296" y="2881191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83296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250 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680703" y="3915294"/>
            <a:ext cx="505968" cy="162929"/>
          </a:xfrm>
          <a:prstGeom prst="roundRect">
            <a:avLst>
              <a:gd name="adj" fmla="val 14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0703" y="3695838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Segoe U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0703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269 г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78112" y="3752365"/>
            <a:ext cx="505968" cy="325858"/>
          </a:xfrm>
          <a:prstGeom prst="roundRect">
            <a:avLst>
              <a:gd name="adj" fmla="val 14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78112" y="3532909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Segoe UI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78112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310 г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75520" y="3915294"/>
            <a:ext cx="505968" cy="162929"/>
          </a:xfrm>
          <a:prstGeom prst="roundRect">
            <a:avLst>
              <a:gd name="adj" fmla="val 14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0" y="3695838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7B5EA7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320 г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72928" y="2286000"/>
            <a:ext cx="505968" cy="1792224"/>
          </a:xfrm>
          <a:prstGeom prst="roundRect">
            <a:avLst>
              <a:gd name="adj" fmla="val 14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72928" y="2066543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72928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350 г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070335" y="3589435"/>
            <a:ext cx="505968" cy="488788"/>
          </a:xfrm>
          <a:prstGeom prst="roundRect">
            <a:avLst>
              <a:gd name="adj" fmla="val 14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070335" y="3369979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9A50B"/>
                </a:solidFill>
                <a:latin typeface="Segoe UI"/>
              </a:rPr>
              <a:t>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070335" y="4133087"/>
            <a:ext cx="5059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1C2235"/>
                </a:solidFill>
                <a:latin typeface="Segoe UI"/>
              </a:rPr>
              <a:t>400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91072" y="4352544"/>
            <a:ext cx="5394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717890"/>
                </a:solidFill>
                <a:latin typeface="Segoe UI"/>
              </a:rPr>
              <a:t>350 г — український реторт-пауч. 250 і 220 г — Ben's Original. 210–320 г — корейська чаша. 400 г — Adventure Menu.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91072" y="4937760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291072" y="4937760"/>
            <a:ext cx="82296" cy="12984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01968" y="5138928"/>
            <a:ext cx="484632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Український пауч стоїть у вазі 350 г, Ben's Original — у 220 і 250 г, корейська чаша — у 210–320 г. Ваги майже не перетинаються.
Вільне вікно — пауч 200–250 г українського виробництва: у цій вазі сьогодні тільки імпортний Ben's Original за 45–179 грн.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Розподіл 32 позицій за типом паковання і масою з карток продавців, 23.09.2026.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ЦІНА ЗА ОДНУ УПАКОВКУ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Від 45 до 466 грн: сходи всіх 11 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Крапка — медіана бренду, смуга — від найдешевшої до найдорожчої його позиції.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10954512" cy="448056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96128" y="1920240"/>
            <a:ext cx="10972" cy="3602736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5596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94576" y="1920240"/>
            <a:ext cx="10972" cy="3602736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5596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920240"/>
            <a:ext cx="10972" cy="3602736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5596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91472" y="1920240"/>
            <a:ext cx="10972" cy="3602736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1" y="5596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400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89920" y="1920240"/>
            <a:ext cx="10972" cy="3602736"/>
          </a:xfrm>
          <a:prstGeom prst="rect">
            <a:avLst/>
          </a:prstGeom>
          <a:solidFill>
            <a:srgbClr val="DC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559612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717890"/>
                </a:solidFill>
                <a:latin typeface="Segoe UI"/>
              </a:rPr>
              <a:t>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188366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1883664"/>
            <a:ext cx="8778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1883664"/>
            <a:ext cx="3108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i="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5961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ГРН ЗА ОДНУ УПАКОВКУ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214884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Portion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16712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21671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4771" y="2208276"/>
            <a:ext cx="176588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37903" y="2162556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11088" y="214426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71 – 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2463393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М'ясниця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2481681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95344" y="2481681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40314" y="2522829"/>
            <a:ext cx="27432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53446" y="2477109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042" y="2458821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88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2777947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Ben's Original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2796235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95344" y="2796235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81981" y="2837383"/>
            <a:ext cx="1739920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379285" y="2791663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31629" y="2773375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45 – 179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3092500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МАКРО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3110788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95344" y="311078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45488" y="3151936"/>
            <a:ext cx="505096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522244" y="3106216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60312" y="308792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96 – 135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3407054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Маркел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3425342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95344" y="342534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36438" y="3466490"/>
            <a:ext cx="831006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54705" y="3420770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77173" y="3402482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80 – 144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3721607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Верес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3739896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95344" y="373989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96128" y="3781044"/>
            <a:ext cx="441472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561197" y="3735324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47328" y="3717035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100 – 134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" y="4036161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Ходорівський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4054449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95344" y="4054449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1050" y="4095597"/>
            <a:ext cx="1220541" cy="82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801410" y="4049877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91319" y="4031589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7A169"/>
                </a:solidFill>
                <a:latin typeface="Segoe UI"/>
              </a:rPr>
              <a:t>105 – 199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4350715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4369003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95344" y="4369003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751746" y="4410151"/>
            <a:ext cx="27432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664878" y="4364431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61474" y="4346143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189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41248" y="4665268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17520" y="4683556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95344" y="4683556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219188" y="4724704"/>
            <a:ext cx="1700966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482900" y="4678984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029882" y="4660696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B5EA7"/>
                </a:solidFill>
                <a:latin typeface="Segoe UI"/>
              </a:rPr>
              <a:t>225 – 356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4979822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Adventure Menu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17520" y="499811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95344" y="499811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87791" y="5039258"/>
            <a:ext cx="1960656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8573597" y="4993538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58175" y="497525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315 – 466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" y="5294376"/>
            <a:ext cx="21396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17520" y="5312664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895344" y="5312664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0088758" y="5353812"/>
            <a:ext cx="27432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001890" y="5308092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98486" y="5289804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E9EA6"/>
                </a:solidFill>
                <a:latin typeface="Segoe UI"/>
              </a:rPr>
              <a:t>446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881981" y="5852160"/>
            <a:ext cx="2012594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81981" y="594360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9A50B"/>
                </a:solidFill>
                <a:latin typeface="Segoe UI"/>
              </a:rPr>
              <a:t>вікно мережевої полиці: 45–200 грн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6676" y="590245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05840" y="5870448"/>
            <a:ext cx="54498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C2235"/>
                </a:solidFill>
                <a:latin typeface="Segoe UI"/>
              </a:rPr>
              <a:t>Гарнір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6250" y="590245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15414" y="5870448"/>
            <a:ext cx="4425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C2235"/>
                </a:solidFill>
                <a:latin typeface="Segoe UI"/>
              </a:rPr>
              <a:t>Чаша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153412" y="590245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322576" y="5870448"/>
            <a:ext cx="5961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C2235"/>
                </a:solidFill>
                <a:latin typeface="Segoe UI"/>
              </a:rPr>
              <a:t>Пауч UA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914192" y="5902451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083356" y="5870448"/>
            <a:ext cx="80101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C2235"/>
                </a:solidFill>
                <a:latin typeface="Segoe UI"/>
              </a:rPr>
              <a:t>Пауч імпорт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Роздрібна ціна за одну упаковку на сайті продавця, 23.09.2026. Оптові пороги (у частини продавців діє нижча ціна від 3–20 шт) у розрахунок не входять.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РИТЕЙЛ-АУДИТ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з готового рису реально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Суцільна перевірка каталогів 9 мереж: Ашан, Сільпо, METRO, NOVUS, МегаМаркет, Ultramarket, ЕКО маркет, Epicentr, Космос — 28.09.2026.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10954512" cy="457200"/>
          </a:xfrm>
          <a:prstGeom prst="roundRect">
            <a:avLst>
              <a:gd name="adj" fmla="val 2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10512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C95C"/>
                </a:solidFill>
                <a:latin typeface="Segoe UI"/>
              </a:rPr>
              <a:t>ЗБЕРІГАННЯ ПРИ КІМНАТНІЙ · НАШ СЕГМЕНТ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13264" y="1810512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Segoe UI"/>
              </a:rPr>
              <a:t>12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2286000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286000"/>
            <a:ext cx="34472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ЩО САМЕ СТОЇТЬ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286000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4424" y="2286000"/>
            <a:ext cx="5212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286000"/>
            <a:ext cx="1344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ЦІНА,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6104" y="2286000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ПОХОДЖЕННЯ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" y="2487168"/>
            <a:ext cx="10954512" cy="365760"/>
          </a:xfrm>
          <a:prstGeom prst="roundRect">
            <a:avLst>
              <a:gd name="adj" fmla="val 3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2542032"/>
            <a:ext cx="220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Сільпо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26664" y="2542032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Ben's Original / Uncle Ben's Express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542032"/>
            <a:ext cx="1380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пауч 220–250 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55864" y="2542032"/>
            <a:ext cx="466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2542032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90–179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67544" y="2542032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Mars · ЄС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2907791"/>
            <a:ext cx="10954512" cy="365760"/>
          </a:xfrm>
          <a:prstGeom prst="roundRect">
            <a:avLst>
              <a:gd name="adj" fmla="val 3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962656"/>
            <a:ext cx="220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303A5D"/>
                </a:solidFill>
                <a:latin typeface="Segoe UI"/>
              </a:rPr>
              <a:t>МегаМаркет · Ultramarket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26664" y="2962656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The Local Food по-тайськи з куркою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2962656"/>
            <a:ext cx="1380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лоток 350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55864" y="2962656"/>
            <a:ext cx="466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0224" y="2962656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207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67544" y="2962656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C2235"/>
                </a:solidFill>
                <a:latin typeface="Segoe UI"/>
              </a:rPr>
              <a:t>Україна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" y="34564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717890"/>
                </a:solidFill>
                <a:latin typeface="Segoe UI"/>
              </a:rPr>
              <a:t>СУМІЖНЕ: ОХОЛОДЖЕНА КУЛІНАРІЯ Й СУМІШІ ПІД ВАРІННЯ — НЕ НАШ ПРОДУКТ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3712463"/>
            <a:ext cx="22037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Ашан · Сільпо · NOVUS · МегаМаркет · Ultramarket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26664" y="3712463"/>
            <a:ext cx="33924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Охолоджена кулінарія 2–5 діб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712463"/>
            <a:ext cx="13807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лоток / кулінарія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55864" y="3712463"/>
            <a:ext cx="4663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50224" y="3712463"/>
            <a:ext cx="1289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75–439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7544" y="3712463"/>
            <a:ext cx="145389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096511"/>
            <a:ext cx="22037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Ашан · NOVUS · МегаМаркет · Сільпо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26664" y="4096511"/>
            <a:ext cx="33924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Суміш під варіння (не готовий продукт)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4096511"/>
            <a:ext cx="138074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пакет 200–500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5864" y="4096511"/>
            <a:ext cx="46634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0224" y="4096511"/>
            <a:ext cx="12893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59–92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544" y="4096511"/>
            <a:ext cx="145389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4535423"/>
            <a:ext cx="220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26664" y="4535423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17890"/>
                </a:solidFill>
                <a:latin typeface="Segoe UI"/>
              </a:rPr>
              <a:t>готового рису немає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4535423"/>
            <a:ext cx="13807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55864" y="4535423"/>
            <a:ext cx="466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0224" y="4535423"/>
            <a:ext cx="12893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67544" y="4535423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717890"/>
                </a:solidFill>
                <a:latin typeface="Segoe UI"/>
              </a:rPr>
              <a:t>лише крупа 1–10 кг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" y="5358384"/>
            <a:ext cx="10954512" cy="932688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03504" y="5358384"/>
            <a:ext cx="82296" cy="93268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4400" y="5559552"/>
            <a:ext cx="1040587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11 із 12 SKU «нашого» сегмента — Ben's Original у «Сільпо». Єдина інша позиція: український лоток The Local Food по-тайськи 350 г за 207 грн у МегаМаркеті. METRO не тримає категорію взагалі — лише крупу під власними марками для HoReCa.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Суцільна перевірка каталогів мереж, 28.09.2026. Охолоджена кулінарія та суміші під варіння показані для контексту — у 32 перевірені позиції не входять.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Дві осі: точка продажу і покупець, який у неї приходить. Вони не збігаються.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00784"/>
            <a:ext cx="10954512" cy="78638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00784"/>
            <a:ext cx="82296" cy="78638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7922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9A50B"/>
                </a:solidFill>
                <a:latin typeface="Segoe UI"/>
              </a:rPr>
              <a:t>МЕРЕЖІ НАЦІОНАЛЬНОГО ПОКРИТТЯ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020824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Сільпо · МегаМаркет · Ultramarket. Решта перевірених мереж категорії не мають.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240280"/>
            <a:ext cx="8595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ПОКУПЕЦЬ: Масовий покупець · щоденне харчування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1904" y="1956816"/>
            <a:ext cx="768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F9A50B"/>
                </a:solidFill>
                <a:latin typeface="Segoe U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2578608"/>
            <a:ext cx="10954512" cy="78638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2578608"/>
            <a:ext cx="82296" cy="786384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6700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E9EA6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2898648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MAUDAU · Rozetka · Prom.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118104"/>
            <a:ext cx="8595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ПОКУПЕЦЬ: Масовий покупець · плановане замовлення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61904" y="2834640"/>
            <a:ext cx="768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1E9EA6"/>
                </a:solidFill>
                <a:latin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3456432"/>
            <a:ext cx="10954512" cy="78638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3504" y="3456432"/>
            <a:ext cx="82296" cy="786384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354787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5EA7"/>
                </a:solidFill>
                <a:latin typeface="Segoe UI"/>
              </a:rPr>
              <a:t>АЗІЙСЬКІ ТА ЕТНІЧНІ МАГАЗИНИ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3776472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Тайякі Март · Апетітаріум · Gurmissimo · Edison Lee · Скарби Азії та ще 11.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3995928"/>
            <a:ext cx="8595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ПОКУПЕЦЬ: Покупець азійської кухні · знає категорію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1904" y="3712463"/>
            <a:ext cx="768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7B5EA7"/>
                </a:solidFill>
                <a:latin typeface="Segoe UI"/>
              </a:rPr>
              <a:t>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4334256"/>
            <a:ext cx="10954512" cy="78638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03504" y="4334256"/>
            <a:ext cx="82296" cy="78638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42569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7A169"/>
                </a:solidFill>
                <a:latin typeface="Segoe UI"/>
              </a:rPr>
              <a:t>ФІРМОВІ МАГАЗИНИ ТА PROM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654296"/>
            <a:ext cx="8595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portion.com.ua · СУХПАЙ · UP Shop · Козуб Маркет · Belorfoods та ще 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4873752"/>
            <a:ext cx="8595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ПОКУПЕЦЬ: Шукає конкретний бренд напряму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1904" y="4590288"/>
            <a:ext cx="768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37A169"/>
                </a:solidFill>
                <a:latin typeface="Segoe UI"/>
              </a:rP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" y="5248656"/>
            <a:ext cx="10954512" cy="969264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3504" y="5248656"/>
            <a:ext cx="82296" cy="969264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13248"/>
            <a:ext cx="10405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42432"/>
            <a:ext cx="1040587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Канал і покупець — різні осі. Азійські фудшопи дають найбільше точок продажу (16), і там уже стоять Ottogi, Bibigo, Henan — прямі конкуренти стакана. Мережевий роздріб — лише 3 мережі з одним Ben's. Український реторт-пауч не представлений у жодній мережі: живе винятково на Prom і у фірмових магазинах.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Перелік мереж і магазинів — за картками продавців і каталогами, 23–28.09.2026.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ПОСТАЧАЛЬНИКИ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Три постачальники в обоймі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BSCM і CM Premium — Таїланд, One's International — Корея. Оцінено за форматом, сертифікацією та ціновою позицією.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3590544" cy="4553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3590544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3334512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p_bscm_pou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068" y="1975104"/>
            <a:ext cx="1371415" cy="1060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096" y="3163824"/>
            <a:ext cx="326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BSCM FOODS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01568"/>
            <a:ext cx="326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639312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F9A50B"/>
                </a:solidFill>
                <a:latin typeface="Segoe UI"/>
              </a:rPr>
              <a:t>ФОРМАТИ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781044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пауч 240 г · 150/200 г · стакан 150 г · подвійний стакан 2×125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146804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F9A50B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4288536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654296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F9A50B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796028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161788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F9A50B"/>
                </a:solidFill>
                <a:latin typeface="Segoe UI"/>
              </a:rPr>
              <a:t>FOB-ДІАПАЗОН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303520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669279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F9A50B"/>
                </a:solidFill>
                <a:latin typeface="Segoe UI"/>
              </a:rPr>
              <a:t>ЧОМУ САМЕ ЦЕЙ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811012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Єдиний постачальник зі стаканом — форматом, яким можна конкурувати з Ottogi за ціною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6108192"/>
            <a:ext cx="326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30" b="0" i="0">
                <a:solidFill>
                  <a:srgbClr val="717890"/>
                </a:solidFill>
                <a:latin typeface="Segoe UI"/>
              </a:rPr>
              <a:t>каталог продукції BSCM Foods, комерційна пропозиція постачальника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85488" y="1719072"/>
            <a:ext cx="3590544" cy="4553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85488" y="1719072"/>
            <a:ext cx="359054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13504" y="1920240"/>
            <a:ext cx="3334512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up_ones_kimch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052" y="1975104"/>
            <a:ext cx="1371415" cy="106070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50080" y="3163824"/>
            <a:ext cx="326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ONE'S INTERNATIONAL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0080" y="3401568"/>
            <a:ext cx="326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Корея · Гурі-сі, бренд KBROS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0080" y="3639312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7B5EA7"/>
                </a:solidFill>
                <a:latin typeface="Segoe UI"/>
              </a:rPr>
              <a:t>ФОРМАТИ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0080" y="3781044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0080" y="4146804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7B5EA7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0080" y="4288536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0080" y="4654296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7B5EA7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0080" y="4796028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HACCP · FSSC 22000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50080" y="5161788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7B5EA7"/>
                </a:solidFill>
                <a:latin typeface="Segoe UI"/>
              </a:rPr>
              <a:t>FOB-ДІАПАЗОН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0080" y="5303520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Не розкрито постачальником. Оцінка із собівартості: ~$0,571 і ~$1,238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0080" y="5669279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7B5EA7"/>
                </a:solidFill>
                <a:latin typeface="Segoe UI"/>
              </a:rPr>
              <a:t>ЧОМУ САМЕ ЦЕЙ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0080" y="5811012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Корейське походження — премія в азійському каналі, де вже є Bibigo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0080" y="6108192"/>
            <a:ext cx="326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30" b="0" i="0">
                <a:solidFill>
                  <a:srgbClr val="717890"/>
                </a:solidFill>
                <a:latin typeface="Segoe UI"/>
              </a:rPr>
              <a:t>Quotation One's International Co., Ltd. (KBROS), FOB Busan, чинна до 31.12.2026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67472" y="1719072"/>
            <a:ext cx="3590544" cy="45537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967472" y="1719072"/>
            <a:ext cx="3590544" cy="8229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95488" y="1920240"/>
            <a:ext cx="3334512" cy="1170432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up_cmpremium_chefre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036" y="1975104"/>
            <a:ext cx="1371415" cy="10607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132064" y="3163824"/>
            <a:ext cx="326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03A5D"/>
                </a:solidFill>
                <a:latin typeface="Segoe UI"/>
              </a:rPr>
              <a:t>CM PREMIUM RICE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2064" y="3401568"/>
            <a:ext cx="326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2064" y="3639312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2064" y="3781044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пауч 250 г органік, бренд Chefrey · 24 шт у коробі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2064" y="4146804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E9EA6"/>
                </a:solidFill>
                <a:latin typeface="Segoe UI"/>
              </a:rPr>
              <a:t>ПОТУЖНІСТЬ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2064" y="4288536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2064" y="4654296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2064" y="4796028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2064" y="5161788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2064" y="5303520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2064" y="5669279"/>
            <a:ext cx="3261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1" i="0">
                <a:solidFill>
                  <a:srgbClr val="1E9EA6"/>
                </a:solidFill>
                <a:latin typeface="Segoe UI"/>
              </a:rPr>
              <a:t>ЧОМУ САМЕ ЦЕЙ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2064" y="5811012"/>
            <a:ext cx="326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30" b="0" i="0">
                <a:solidFill>
                  <a:srgbClr val="1C2235"/>
                </a:solidFill>
                <a:latin typeface="Segoe UI"/>
              </a:rPr>
              <a:t>Сертифікована органіка — інша полиця й інший покупець, ніша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2064" y="6108192"/>
            <a:ext cx="326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30" b="0" i="0">
                <a:solidFill>
                  <a:srgbClr val="717890"/>
                </a:solidFill>
                <a:latin typeface="Segoe UI"/>
              </a:rPr>
              <a:t>корпоративна презентація CM Premium Rice Co., Ltd., сайт cmp-rice.com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Профілі постачальників — за їхніми комерційними пропозиціями та корпоративними матеріалами, вересень 2026.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Полиця = собівартість × 3,5 за поточних умов (курс 45, бонус мережі 25 %, цільова маржа 35 %).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700784"/>
            <a:ext cx="2441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1700784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9824" y="1700784"/>
            <a:ext cx="11612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СС, $/од.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4264" y="1700784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700784"/>
            <a:ext cx="143560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FOB (оцінка)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01784" y="1700784"/>
            <a:ext cx="17830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911096"/>
            <a:ext cx="10954512" cy="384048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" y="1911096"/>
            <a:ext cx="64008" cy="3840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965960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303A5D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1965960"/>
            <a:ext cx="21854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196596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$0.881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196596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9A50B"/>
                </a:solidFill>
                <a:latin typeface="Segoe UI"/>
              </a:rPr>
              <a:t>139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6596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$0.518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196596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Ottogi 255 · Henan 140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" y="2345436"/>
            <a:ext cx="10954512" cy="384048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3504" y="2345436"/>
            <a:ext cx="64008" cy="38404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400300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303A5D"/>
                </a:solidFill>
                <a:latin typeface="Segoe UI"/>
              </a:rPr>
              <a:t>ONE'S лоток 210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400300"/>
            <a:ext cx="21854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40030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$0.972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79" y="240030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7B5EA7"/>
                </a:solidFill>
                <a:latin typeface="Segoe UI"/>
              </a:rPr>
              <a:t>153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40030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$0.571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240030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Bibigo 135–189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" y="2779776"/>
            <a:ext cx="10954512" cy="384048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03504" y="2779776"/>
            <a:ext cx="64008" cy="3840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2834640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303A5D"/>
                </a:solidFill>
                <a:latin typeface="Segoe UI"/>
              </a:rPr>
              <a:t>BSCM пауч 200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2834640"/>
            <a:ext cx="21854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283464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$0.953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79" y="283464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9A50B"/>
                </a:solidFill>
                <a:latin typeface="Segoe UI"/>
              </a:rPr>
              <a:t>150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83464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$0.560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83464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3214116"/>
            <a:ext cx="10954512" cy="384048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03504" y="3214116"/>
            <a:ext cx="64008" cy="3840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3268980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303A5D"/>
                </a:solidFill>
                <a:latin typeface="Segoe UI"/>
              </a:rPr>
              <a:t>BSCM пауч 240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46120" y="3268980"/>
            <a:ext cx="21854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Мережа · друга хвиля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326898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$0.995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79" y="326898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9A50B"/>
                </a:solidFill>
                <a:latin typeface="Segoe UI"/>
              </a:rPr>
              <a:t>157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26898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$0.586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326898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Ben's медіана 90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3504" y="3648456"/>
            <a:ext cx="10954512" cy="384048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03504" y="3648456"/>
            <a:ext cx="64008" cy="384048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3703320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303A5D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6120" y="3703320"/>
            <a:ext cx="21854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Преміум · ніша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370332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$1.133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79" y="370332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1E9EA6"/>
                </a:solidFill>
                <a:latin typeface="Segoe UI"/>
              </a:rPr>
              <a:t>178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370332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$0.666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29800" y="370332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Clearspring 446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3504" y="4082796"/>
            <a:ext cx="10954512" cy="384048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03504" y="4082796"/>
            <a:ext cx="64008" cy="384048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4137660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303A5D"/>
                </a:solidFill>
                <a:latin typeface="Segoe UI"/>
              </a:rPr>
              <a:t>ONE'S Fried Rice 200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4137660"/>
            <a:ext cx="21854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7840" y="413766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$2.105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79" y="413766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7B5EA7"/>
                </a:solidFill>
                <a:latin typeface="Segoe UI"/>
              </a:rPr>
              <a:t>332 грн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13766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$1.238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413766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Ottogi 225–356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3504" y="4517136"/>
            <a:ext cx="10954512" cy="384048"/>
          </a:xfrm>
          <a:prstGeom prst="roundRect">
            <a:avLst>
              <a:gd name="adj" fmla="val 2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4517136"/>
            <a:ext cx="64008" cy="384048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572000"/>
            <a:ext cx="23682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303A5D"/>
                </a:solidFill>
                <a:latin typeface="Segoe UI"/>
              </a:rPr>
              <a:t>BSCM подвійний стакан 2×125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6120" y="4572000"/>
            <a:ext cx="21854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77840" y="4572000"/>
            <a:ext cx="10881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$1.391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2279" y="457200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 i="0">
                <a:solidFill>
                  <a:srgbClr val="F9A50B"/>
                </a:solidFill>
                <a:latin typeface="Segoe UI"/>
              </a:rPr>
              <a:t>219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4572000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$0.818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29800" y="4572000"/>
            <a:ext cx="170992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 i="0">
                <a:solidFill>
                  <a:srgbClr val="1C2235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03504" y="5052059"/>
            <a:ext cx="10954512" cy="1188720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03504" y="5052059"/>
            <a:ext cx="82296" cy="1188720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4400" y="5216651"/>
            <a:ext cx="10405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Що це означає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" y="5545836"/>
            <a:ext cx="104058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Діапазон полиці за поточною собівартістю — від 139 до 332 грн. П'ять із семи товарних груп потрапляють у вікно мережевої полиці 45–200 грн. ONE'S Fried Rice 200 г випадає найсильніше: 332 грн, удвічі дорожче за власний лоток білого рису того самого постачальника — собівартість смаженої страви в лотку більш ніж удвічі вища за решту лінійки. Переглянути ціну або не заводити зараз. Подвійний стакан (219 грн) — кандидат на private label пізніше, не на перший запуск.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Власна фінмодель покупця (аркуші «СС_база» і «Финансовая модель — Ціни»), перевірено поштучно по кожній товарній групі, 05.10.2026.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РЕКОМЕНДАЦІЯ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Що заводити: формат, ціна, постачальник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лише за собівартістю.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359054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3590544" cy="8229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1901952"/>
            <a:ext cx="3224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9A50B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103120"/>
            <a:ext cx="32247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03A5D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560320"/>
            <a:ext cx="3224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9A50B"/>
                </a:solidFill>
                <a:latin typeface="Segoe UI"/>
              </a:rPr>
              <a:t>129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44368"/>
            <a:ext cx="3224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" y="3163824"/>
            <a:ext cx="3224784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55264"/>
            <a:ext cx="3224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419856"/>
            <a:ext cx="3224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639312"/>
            <a:ext cx="3224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−49 % до медіани Ottogi (252 грн). Азійський формат, азійський канал — 16 фудшопів уже продають цю полицю.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315968"/>
            <a:ext cx="3224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Потрібно від BSCM: FOB $0,480 замість поточних $0,500.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488" y="1719072"/>
            <a:ext cx="359054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85488" y="1719072"/>
            <a:ext cx="3590544" cy="8229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8368" y="1901952"/>
            <a:ext cx="3224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8368" y="2103120"/>
            <a:ext cx="32247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03A5D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8368" y="2560320"/>
            <a:ext cx="3224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7B5EA7"/>
                </a:solidFill>
                <a:latin typeface="Segoe UI"/>
              </a:rPr>
              <a:t>153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8368" y="2944368"/>
            <a:ext cx="3224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8368" y="3163824"/>
            <a:ext cx="3224784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8368" y="3255264"/>
            <a:ext cx="3224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8368" y="3419856"/>
            <a:ext cx="3224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8368" y="3639312"/>
            <a:ext cx="3224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Той самий грамаж, ціна в середині діапазону прямого конкурента. Найточніше зіставлення в лінійці.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8368" y="4315968"/>
            <a:ext cx="3224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Ризик: MOQ 200 коробів на SKU, передоплата 100 % T/T, найкоротший термін придатності (12 міс).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67472" y="1719072"/>
            <a:ext cx="3590544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967472" y="1719072"/>
            <a:ext cx="3590544" cy="82296"/>
          </a:xfrm>
          <a:prstGeom prst="roundRect">
            <a:avLst>
              <a:gd name="adj" fmla="val 50000"/>
            </a:avLst>
          </a:prstGeom>
          <a:solidFill>
            <a:srgbClr val="71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0352" y="1901952"/>
            <a:ext cx="3224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717890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50352" y="2103120"/>
            <a:ext cx="322478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 i="0">
                <a:solidFill>
                  <a:srgbClr val="303A5D"/>
                </a:solidFill>
                <a:latin typeface="Segoe UI"/>
              </a:rPr>
              <a:t>ONE'S · FRIED RICE 200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0352" y="2560320"/>
            <a:ext cx="3224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0352" y="2944368"/>
            <a:ext cx="3224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717890"/>
                </a:solidFill>
                <a:latin typeface="Segoe UI"/>
              </a:rPr>
              <a:t>полиця за фінмоделлю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50352" y="3163824"/>
            <a:ext cx="3224784" cy="18288"/>
          </a:xfrm>
          <a:prstGeom prst="rect">
            <a:avLst/>
          </a:prstGeom>
          <a:solidFill>
            <a:srgbClr val="E2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0352" y="3255264"/>
            <a:ext cx="32247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717890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50352" y="3419856"/>
            <a:ext cx="32247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C2235"/>
                </a:solidFill>
                <a:latin typeface="Segoe UI"/>
              </a:rPr>
              <a:t>Ottogi 225–356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50352" y="3639312"/>
            <a:ext cx="32247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Собівартість лотка смаженого рису вдвічі вища за решту лінійки постачальника — полиця виходить за межі вікна 45–200 грн.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0352" y="4315968"/>
            <a:ext cx="3224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717890"/>
                </a:solidFill>
                <a:latin typeface="Segoe UI"/>
              </a:rPr>
              <a:t>Умова входу: FOB ≤ $0,740 (−40 %) або інший, дешевший SKU на заміну.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" y="5065776"/>
            <a:ext cx="10954512" cy="1225296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03504" y="5065776"/>
            <a:ext cx="82296" cy="122529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230368"/>
            <a:ext cx="10405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Послідовність запуску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559552"/>
            <a:ext cx="1040587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BSCM стакан 150 г — герой лінійки, запуск за цільовою ціною 129 грн, тисну на постачальника щодо FOB $0,480.
2. ONE's лоток 210 г — другою хвилею, прямий аналог Bibigo, той самий канал.
3. ONE's Fried Rice 200 г і BSCM подвійний стакан — відкласти: перший потребує перегляду ціни постачальника, другий — кандидат на private label пізніше.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Конкурентні ціни — з карток продавців 23.09.2026. Полиця й FOB — власна фінмодель, 05.10.2026.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969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d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C95C"/>
                </a:solidFill>
                <a:latin typeface="Segoe UI"/>
              </a:rPr>
              <a:t>ВИСНОВКИ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П'ять фактів і три обмеження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48385" y="40233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700" b="1" i="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98448"/>
            <a:ext cx="10881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717890"/>
                </a:solidFill>
                <a:latin typeface="Segoe UI"/>
              </a:rPr>
              <a:t>Усе нижче спирається на ціни, перевірені поштучно 23–28 вересня, і митну базу, вивантажену 28.09.2026.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719072"/>
            <a:ext cx="5358384" cy="95097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3504" y="1719072"/>
            <a:ext cx="82296" cy="950976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81051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1. Організованого імпорту немає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066543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За 16 місяців митниця бачить 0,81 т готового рису для розігріву — одна партія Ben's і сліди ще двох брендів. Нікого, хто возить постійно.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19072"/>
            <a:ext cx="5358384" cy="95097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1719072"/>
            <a:ext cx="82296" cy="950976"/>
          </a:xfrm>
          <a:prstGeom prst="roundRect">
            <a:avLst>
              <a:gd name="adj" fmla="val 50000"/>
            </a:avLst>
          </a:prstGeom>
          <a:solidFill>
            <a:srgbClr val="7B5E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810512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2. Гарнір тримає один бренд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066543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Ben's Original — 11 позицій у «Сільпо» за 45–179 грн, завезені разовою партією через «Фоззі Коммерц». Другого бренду немає.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2761487"/>
            <a:ext cx="5358384" cy="95097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3504" y="2761487"/>
            <a:ext cx="82296" cy="950976"/>
          </a:xfrm>
          <a:prstGeom prst="roundRect">
            <a:avLst>
              <a:gd name="adj" fmla="val 50000"/>
            </a:avLst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852927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3. Українці виграють за ціною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10895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Реторт-пауч 350 г за 71–199 грн, медіана 101 грн. Більша порція за ту саму ціну, що імпортний гарнір 220–250 г.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761487"/>
            <a:ext cx="5358384" cy="95097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9632" y="2761487"/>
            <a:ext cx="82296" cy="950976"/>
          </a:xfrm>
          <a:prstGeom prst="roundRect">
            <a:avLst>
              <a:gd name="adj" fmla="val 50000"/>
            </a:avLst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2852927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4. Мережі закриті для категорії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10895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З 32 позицій у мережі продаються 12 — і 11 з них Ben's. Український пауч живе на Prom і у фірмових магазинах виробників.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" y="3803904"/>
            <a:ext cx="5358384" cy="950976"/>
          </a:xfrm>
          <a:prstGeom prst="roundRect">
            <a:avLst>
              <a:gd name="adj" fmla="val 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3504" y="3803904"/>
            <a:ext cx="82296" cy="950976"/>
          </a:xfrm>
          <a:prstGeom prst="roundRect">
            <a:avLst>
              <a:gd name="adj" fmla="val 5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3895344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303A5D"/>
                </a:solidFill>
                <a:latin typeface="Segoe UI"/>
              </a:rPr>
              <a:t>5. Вхід без прямого конкурента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4151376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C2235"/>
                </a:solidFill>
                <a:latin typeface="Segoe UI"/>
              </a:rPr>
              <a:t>BSCM стакан 150 г за 129 грн заходить у нішу дешевше за Ottogi і Henan — і в категорії без жодного постійного постачальника-імпортера.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" y="4956048"/>
            <a:ext cx="10954512" cy="1426464"/>
          </a:xfrm>
          <a:prstGeom prst="roundRect">
            <a:avLst>
              <a:gd name="adj" fmla="val 6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03504" y="4956048"/>
            <a:ext cx="82296" cy="1426464"/>
          </a:xfrm>
          <a:prstGeom prst="roundRect">
            <a:avLst>
              <a:gd name="adj" fmla="val 50000"/>
            </a:avLst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405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C95C"/>
                </a:solidFill>
                <a:latin typeface="Segoe UI"/>
              </a:rPr>
              <a:t>Чого дані не показують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49824"/>
            <a:ext cx="10405872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D5DBEA"/>
                </a:solidFill>
                <a:latin typeface="Segoe UI"/>
              </a:rPr>
              <a:t>1. Продажів. Ні мережі, ні маркетплейси не віддають обсяги.
2. Обсягу українського виробництва. Верес, «МАКРО», «Маркел», «М'ясниця», Portion виробляють у країні — митниці вони не торкаються.
3. Чому імпорт настільки малий. Митна база фіксує лише офіційні декларації: частина азійського асортименту може заходити дрібними партіями через інші коди чи посередників, яких наша вибірка не охоплює.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" y="647395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0" i="0">
                <a:solidFill>
                  <a:srgbClr val="717890"/>
                </a:solidFill>
                <a:latin typeface="Segoe UI"/>
              </a:rPr>
              <a:t>32 позицій, 11 брендів, 16 продавців. Митна база: код 1904901000, 01.2025–05.2026. Зріз цін: 23–28.09.2026.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