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jp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</p:sldIdLst>
  <p:sldSz cx="12191969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Relationship Id="rId3" Type="http://schemas.openxmlformats.org/officeDocument/2006/relationships/image" Target="../media/image2.png"/><Relationship Id="rId4" Type="http://schemas.openxmlformats.org/officeDocument/2006/relationships/image" Target="../media/image3.jpg"/><Relationship Id="rId5" Type="http://schemas.openxmlformats.org/officeDocument/2006/relationships/image" Target="../media/image4.jpg"/><Relationship Id="rId6" Type="http://schemas.openxmlformats.org/officeDocument/2006/relationships/image" Target="../media/image5.jpg"/><Relationship Id="rId7" Type="http://schemas.openxmlformats.org/officeDocument/2006/relationships/image" Target="../media/image6.jpg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Relationship Id="rId3" Type="http://schemas.openxmlformats.org/officeDocument/2006/relationships/image" Target="../media/image7.jpg"/><Relationship Id="rId4" Type="http://schemas.openxmlformats.org/officeDocument/2006/relationships/image" Target="../media/image3.jpg"/><Relationship Id="rId5" Type="http://schemas.openxmlformats.org/officeDocument/2006/relationships/image" Target="../media/image8.jpg"/><Relationship Id="rId6" Type="http://schemas.openxmlformats.org/officeDocument/2006/relationships/image" Target="../media/image9.jpg"/><Relationship Id="rId7" Type="http://schemas.openxmlformats.org/officeDocument/2006/relationships/image" Target="../media/image10.jpg"/><Relationship Id="rId8" Type="http://schemas.openxmlformats.org/officeDocument/2006/relationships/image" Target="../media/image11.jpg"/><Relationship Id="rId9" Type="http://schemas.openxmlformats.org/officeDocument/2006/relationships/image" Target="../media/image12.jpg"/><Relationship Id="rId10" Type="http://schemas.openxmlformats.org/officeDocument/2006/relationships/image" Target="../media/image13.jpg"/><Relationship Id="rId11" Type="http://schemas.openxmlformats.org/officeDocument/2006/relationships/image" Target="../media/image14.jpg"/><Relationship Id="rId12" Type="http://schemas.openxmlformats.org/officeDocument/2006/relationships/image" Target="../media/image15.jpg"/><Relationship Id="rId13" Type="http://schemas.openxmlformats.org/officeDocument/2006/relationships/image" Target="../media/image16.jpg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Relationship Id="rId3" Type="http://schemas.openxmlformats.org/officeDocument/2006/relationships/image" Target="../media/image17.jpg"/><Relationship Id="rId4" Type="http://schemas.openxmlformats.org/officeDocument/2006/relationships/image" Target="../media/image18.jpg"/><Relationship Id="rId5" Type="http://schemas.openxmlformats.org/officeDocument/2006/relationships/image" Target="../media/image19.jpg"/><Relationship Id="rId6" Type="http://schemas.openxmlformats.org/officeDocument/2006/relationships/image" Target="../media/image20.jpg"/><Relationship Id="rId7" Type="http://schemas.openxmlformats.org/officeDocument/2006/relationships/image" Target="../media/image4.jpg"/><Relationship Id="rId8" Type="http://schemas.openxmlformats.org/officeDocument/2006/relationships/image" Target="../media/image21.jpg"/><Relationship Id="rId9" Type="http://schemas.openxmlformats.org/officeDocument/2006/relationships/image" Target="../media/image22.jpg"/><Relationship Id="rId10" Type="http://schemas.openxmlformats.org/officeDocument/2006/relationships/image" Target="../media/image23.jpg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Relationship Id="rId3" Type="http://schemas.openxmlformats.org/officeDocument/2006/relationships/image" Target="../media/image24.jpg"/><Relationship Id="rId4" Type="http://schemas.openxmlformats.org/officeDocument/2006/relationships/image" Target="../media/image25.jpg"/><Relationship Id="rId5" Type="http://schemas.openxmlformats.org/officeDocument/2006/relationships/image" Target="../media/image26.jpg"/><Relationship Id="rId6" Type="http://schemas.openxmlformats.org/officeDocument/2006/relationships/image" Target="../media/image27.jpg"/><Relationship Id="rId7" Type="http://schemas.openxmlformats.org/officeDocument/2006/relationships/image" Target="../media/image5.jpg"/><Relationship Id="rId8" Type="http://schemas.openxmlformats.org/officeDocument/2006/relationships/image" Target="../media/image28.jpg"/><Relationship Id="rId9" Type="http://schemas.openxmlformats.org/officeDocument/2006/relationships/image" Target="../media/image29.jpg"/><Relationship Id="rId10" Type="http://schemas.openxmlformats.org/officeDocument/2006/relationships/image" Target="../media/image6.jpg"/><Relationship Id="rId11" Type="http://schemas.openxmlformats.org/officeDocument/2006/relationships/image" Target="../media/image30.jpg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Relationship Id="rId3" Type="http://schemas.openxmlformats.org/officeDocument/2006/relationships/image" Target="../media/image31.jpg"/><Relationship Id="rId4" Type="http://schemas.openxmlformats.org/officeDocument/2006/relationships/image" Target="../media/image32.jpg"/><Relationship Id="rId5" Type="http://schemas.openxmlformats.org/officeDocument/2006/relationships/image" Target="../media/image33.jpg"/><Relationship Id="rId6" Type="http://schemas.openxmlformats.org/officeDocument/2006/relationships/image" Target="../media/image34.jpg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Relationship Id="rId3" Type="http://schemas.openxmlformats.org/officeDocument/2006/relationships/image" Target="../media/image5.jpg"/><Relationship Id="rId4" Type="http://schemas.openxmlformats.org/officeDocument/2006/relationships/image" Target="../media/image4.jpg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Relationship Id="rId3" Type="http://schemas.openxmlformats.org/officeDocument/2006/relationships/image" Target="../media/image35.jpg"/><Relationship Id="rId4" Type="http://schemas.openxmlformats.org/officeDocument/2006/relationships/image" Target="../media/image36.jpg"/><Relationship Id="rId5" Type="http://schemas.openxmlformats.org/officeDocument/2006/relationships/image" Target="../media/image37.jpg"/><Relationship Id="rId6" Type="http://schemas.openxmlformats.org/officeDocument/2006/relationships/image" Target="../media/image38.jpg"/><Relationship Id="rId7" Type="http://schemas.openxmlformats.org/officeDocument/2006/relationships/image" Target="../media/image39.jpg"/><Relationship Id="rId8" Type="http://schemas.openxmlformats.org/officeDocument/2006/relationships/image" Target="../media/image40.jpg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969" cy="6858000"/>
          </a:xfrm>
          <a:prstGeom prst="rect">
            <a:avLst/>
          </a:prstGeom>
          <a:solidFill>
            <a:srgbClr val="303A5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md_bg_title.jpg"/>
          <p:cNvPicPr>
            <a:picLocks noChangeAspect="1"/>
          </p:cNvPicPr>
          <p:nvPr/>
        </p:nvPicPr>
        <p:blipFill>
          <a:blip r:embed="rId2"/>
          <a:srcRect l="0" r="0"/>
          <a:stretch>
            <a:fillRect/>
          </a:stretch>
        </p:blipFill>
        <p:spPr>
          <a:xfrm>
            <a:off x="0" y="0"/>
            <a:ext cx="12191969" cy="6858000"/>
          </a:xfrm>
          <a:prstGeom prst="rect">
            <a:avLst/>
          </a:prstGeom>
        </p:spPr>
      </p:pic>
      <p:pic>
        <p:nvPicPr>
          <p:cNvPr id="4" name="Picture 3" descr="md_logo_whit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03504" y="475488"/>
            <a:ext cx="1773936" cy="768096"/>
          </a:xfrm>
          <a:prstGeom prst="rect">
            <a:avLst/>
          </a:prstGeom>
        </p:spPr>
      </p:pic>
      <p:sp>
        <p:nvSpPr>
          <p:cNvPr id="5" name="Rectangle 4"/>
          <p:cNvSpPr/>
          <p:nvPr/>
        </p:nvSpPr>
        <p:spPr>
          <a:xfrm>
            <a:off x="603504" y="1847088"/>
            <a:ext cx="493776" cy="82296"/>
          </a:xfrm>
          <a:prstGeom prst="rect">
            <a:avLst/>
          </a:prstGeom>
          <a:solidFill>
            <a:srgbClr val="F9A5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603504" y="2139696"/>
            <a:ext cx="6400800" cy="3108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150" b="1" i="0">
                <a:solidFill>
                  <a:srgbClr val="FFC95C"/>
                </a:solidFill>
                <a:latin typeface="Segoe UI"/>
              </a:rPr>
              <a:t>ДОСЛІДЖЕННЯ РИНКУ · ВЕРЕСЕНЬ 2026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03504" y="2542032"/>
            <a:ext cx="6583680" cy="15544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4000"/>
              </a:lnSpc>
            </a:pPr>
            <a:r>
              <a:rPr sz="4600" b="1" i="0">
                <a:solidFill>
                  <a:srgbClr val="FFFFFF"/>
                </a:solidFill>
                <a:latin typeface="Segoe UI"/>
              </a:rPr>
              <a:t>Готовий рис
в Україні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03504" y="4133087"/>
            <a:ext cx="6400800" cy="32918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450" b="0" i="0">
                <a:solidFill>
                  <a:srgbClr val="C6CEE2"/>
                </a:solidFill>
                <a:latin typeface="Segoe UI"/>
              </a:rPr>
              <a:t>Кімнатне зберігання · розігрів · без готування</a:t>
            </a:r>
          </a:p>
        </p:txBody>
      </p:sp>
      <p:sp>
        <p:nvSpPr>
          <p:cNvPr id="9" name="Rectangle 8"/>
          <p:cNvSpPr/>
          <p:nvPr/>
        </p:nvSpPr>
        <p:spPr>
          <a:xfrm>
            <a:off x="603504" y="4681728"/>
            <a:ext cx="5394960" cy="50292"/>
          </a:xfrm>
          <a:prstGeom prst="rect">
            <a:avLst/>
          </a:prstGeom>
          <a:solidFill>
            <a:srgbClr val="5560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603504" y="4882896"/>
            <a:ext cx="6309360" cy="78638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150" b="0" i="0">
                <a:solidFill>
                  <a:srgbClr val="9FA9C4"/>
                </a:solidFill>
                <a:latin typeface="Segoe UI"/>
              </a:rPr>
              <a:t>10 брендів · 33 позиції · ціна за одну упаковку
Кожну ціну перевірено на сайті продавця 23 вересня 2026 р.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7552944" y="877824"/>
            <a:ext cx="2148840" cy="219456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2" name="Picture 11" descr="bens_basmati250.jp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7934560" y="1005840"/>
            <a:ext cx="1385606" cy="1938528"/>
          </a:xfrm>
          <a:prstGeom prst="rect">
            <a:avLst/>
          </a:prstGeom>
        </p:spPr>
      </p:pic>
      <p:sp>
        <p:nvSpPr>
          <p:cNvPr id="13" name="Rounded Rectangle 12"/>
          <p:cNvSpPr/>
          <p:nvPr/>
        </p:nvSpPr>
        <p:spPr>
          <a:xfrm>
            <a:off x="9857232" y="877824"/>
            <a:ext cx="2148840" cy="219456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4" name="Picture 13" descr="ot_bibimbap.jp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10003536" y="1159649"/>
            <a:ext cx="1856232" cy="1630909"/>
          </a:xfrm>
          <a:prstGeom prst="rect">
            <a:avLst/>
          </a:prstGeom>
        </p:spPr>
      </p:pic>
      <p:sp>
        <p:nvSpPr>
          <p:cNvPr id="15" name="Rounded Rectangle 14"/>
          <p:cNvSpPr/>
          <p:nvPr/>
        </p:nvSpPr>
        <p:spPr>
          <a:xfrm>
            <a:off x="7552944" y="3200400"/>
            <a:ext cx="2148840" cy="192024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6" name="Picture 15" descr="ua_veres_chicken.jp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7891608" y="3328416"/>
            <a:ext cx="1471510" cy="1664208"/>
          </a:xfrm>
          <a:prstGeom prst="rect">
            <a:avLst/>
          </a:prstGeom>
        </p:spPr>
      </p:pic>
      <p:sp>
        <p:nvSpPr>
          <p:cNvPr id="17" name="Rounded Rectangle 16"/>
          <p:cNvSpPr/>
          <p:nvPr/>
        </p:nvSpPr>
        <p:spPr>
          <a:xfrm>
            <a:off x="9857232" y="3200400"/>
            <a:ext cx="2148840" cy="192024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8" name="Picture 17" descr="ua_makro_beef.jpg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10201371" y="3328416"/>
            <a:ext cx="1460561" cy="1664208"/>
          </a:xfrm>
          <a:prstGeom prst="rect">
            <a:avLst/>
          </a:prstGeom>
        </p:spPr>
      </p:pic>
      <p:sp>
        <p:nvSpPr>
          <p:cNvPr id="19" name="Rounded Rectangle 18"/>
          <p:cNvSpPr/>
          <p:nvPr/>
        </p:nvSpPr>
        <p:spPr>
          <a:xfrm>
            <a:off x="7552944" y="5266944"/>
            <a:ext cx="4453128" cy="932688"/>
          </a:xfrm>
          <a:prstGeom prst="roundRect">
            <a:avLst>
              <a:gd name="adj" fmla="val 14000"/>
            </a:avLst>
          </a:prstGeom>
          <a:solidFill>
            <a:srgbClr val="262F4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7772400" y="5413248"/>
            <a:ext cx="4059936" cy="7132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2000"/>
              </a:lnSpc>
            </a:pPr>
            <a:r>
              <a:rPr sz="950" b="1" i="0">
                <a:solidFill>
                  <a:srgbClr val="FFFFFF"/>
                </a:solidFill>
                <a:latin typeface="Segoe UI"/>
              </a:rPr>
              <a:t>Ben's Original · Ottogi · Bibigo · Portion · Маркел · Верес · МАКРО · Ходорівський · Clearspring · Adventure Menu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969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969" cy="1060704"/>
          </a:xfrm>
          <a:prstGeom prst="rect">
            <a:avLst/>
          </a:prstGeom>
          <a:solidFill>
            <a:srgbClr val="303A5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060704"/>
            <a:ext cx="12191969" cy="50292"/>
          </a:xfrm>
          <a:prstGeom prst="rect">
            <a:avLst/>
          </a:prstGeom>
          <a:solidFill>
            <a:srgbClr val="F9A5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5" name="Picture 4" descr="md_logo_whit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03504" y="237744"/>
            <a:ext cx="1389888" cy="603504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2304288" y="310896"/>
            <a:ext cx="676656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950" b="1" i="0">
                <a:solidFill>
                  <a:srgbClr val="FFC95C"/>
                </a:solidFill>
                <a:latin typeface="Segoe UI"/>
              </a:rPr>
              <a:t>ГОЛОВНЕ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2304288" y="548640"/>
            <a:ext cx="804672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900" b="1" i="0">
                <a:solidFill>
                  <a:srgbClr val="FFFFFF"/>
                </a:solidFill>
                <a:latin typeface="Segoe UI"/>
              </a:rPr>
              <a:t>Шість цифр про категорію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948385" y="402336"/>
            <a:ext cx="640080" cy="32918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/>
            <a:r>
              <a:rPr sz="1700" b="1" i="0">
                <a:solidFill>
                  <a:srgbClr val="465382"/>
                </a:solidFill>
                <a:latin typeface="Segoe UI"/>
              </a:rPr>
              <a:t>02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03504" y="1298448"/>
            <a:ext cx="10881360" cy="3108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200" b="0" i="0">
                <a:solidFill>
                  <a:srgbClr val="717890"/>
                </a:solidFill>
                <a:latin typeface="Segoe UI"/>
              </a:rPr>
              <a:t>Предмет: рис, що зберігається за кімнатної температури і лише розігрівається.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03504" y="1719072"/>
            <a:ext cx="1700784" cy="1755648"/>
          </a:xfrm>
          <a:prstGeom prst="roundRect">
            <a:avLst>
              <a:gd name="adj" fmla="val 8000"/>
            </a:avLst>
          </a:prstGeom>
          <a:solidFill>
            <a:srgbClr val="F1F4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ounded Rectangle 10"/>
          <p:cNvSpPr/>
          <p:nvPr/>
        </p:nvSpPr>
        <p:spPr>
          <a:xfrm>
            <a:off x="603504" y="1719072"/>
            <a:ext cx="1700784" cy="82296"/>
          </a:xfrm>
          <a:prstGeom prst="roundRect">
            <a:avLst>
              <a:gd name="adj" fmla="val 50000"/>
            </a:avLst>
          </a:prstGeom>
          <a:solidFill>
            <a:srgbClr val="F9A5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822960" y="1956815"/>
            <a:ext cx="1261872" cy="2011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850" b="1" i="0">
                <a:solidFill>
                  <a:srgbClr val="717890"/>
                </a:solidFill>
                <a:latin typeface="Segoe UI"/>
              </a:rPr>
              <a:t>ОБСЯГ ІМПОРТУ 2025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822960" y="2176272"/>
            <a:ext cx="1261872" cy="40233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2300" b="1" i="0">
                <a:solidFill>
                  <a:srgbClr val="F9A50B"/>
                </a:solidFill>
                <a:latin typeface="Segoe UI"/>
              </a:rPr>
              <a:t>182 т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822960" y="2633472"/>
            <a:ext cx="1261872" cy="768095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4000"/>
              </a:lnSpc>
            </a:pPr>
            <a:r>
              <a:rPr sz="900" b="0" i="0">
                <a:solidFill>
                  <a:srgbClr val="1C2235"/>
                </a:solidFill>
                <a:latin typeface="Segoe UI"/>
              </a:rPr>
              <a:t>Готовий рис, CN 1904 90 10.
+59 % до 2024 року.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2468880" y="1719072"/>
            <a:ext cx="1700784" cy="1755648"/>
          </a:xfrm>
          <a:prstGeom prst="roundRect">
            <a:avLst>
              <a:gd name="adj" fmla="val 8000"/>
            </a:avLst>
          </a:prstGeom>
          <a:solidFill>
            <a:srgbClr val="F1F4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ounded Rectangle 15"/>
          <p:cNvSpPr/>
          <p:nvPr/>
        </p:nvSpPr>
        <p:spPr>
          <a:xfrm>
            <a:off x="2468880" y="1719072"/>
            <a:ext cx="1700784" cy="82296"/>
          </a:xfrm>
          <a:prstGeom prst="roundRect">
            <a:avLst>
              <a:gd name="adj" fmla="val 50000"/>
            </a:avLst>
          </a:prstGeom>
          <a:solidFill>
            <a:srgbClr val="1E9E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2688336" y="1956815"/>
            <a:ext cx="1261872" cy="2011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850" b="1" i="0">
                <a:solidFill>
                  <a:srgbClr val="717890"/>
                </a:solidFill>
                <a:latin typeface="Segoe UI"/>
              </a:rPr>
              <a:t>ЄМНІСТЬ РОЗДРІБУ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2688336" y="2176272"/>
            <a:ext cx="1261872" cy="40233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2300" b="1" i="0">
                <a:solidFill>
                  <a:srgbClr val="1E9EA6"/>
                </a:solidFill>
                <a:latin typeface="Segoe UI"/>
              </a:rPr>
              <a:t>87–110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2688336" y="2633472"/>
            <a:ext cx="1261872" cy="768095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4000"/>
              </a:lnSpc>
            </a:pPr>
            <a:r>
              <a:rPr sz="900" b="0" i="0">
                <a:solidFill>
                  <a:srgbClr val="1C2235"/>
                </a:solidFill>
                <a:latin typeface="Segoe UI"/>
              </a:rPr>
              <a:t>млн грн на рік — оцінка
за імпортом × 2,2–2,8.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4334256" y="1719072"/>
            <a:ext cx="1700784" cy="1755648"/>
          </a:xfrm>
          <a:prstGeom prst="roundRect">
            <a:avLst>
              <a:gd name="adj" fmla="val 8000"/>
            </a:avLst>
          </a:prstGeom>
          <a:solidFill>
            <a:srgbClr val="F1F4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Rounded Rectangle 20"/>
          <p:cNvSpPr/>
          <p:nvPr/>
        </p:nvSpPr>
        <p:spPr>
          <a:xfrm>
            <a:off x="4334256" y="1719072"/>
            <a:ext cx="1700784" cy="82296"/>
          </a:xfrm>
          <a:prstGeom prst="roundRect">
            <a:avLst>
              <a:gd name="adj" fmla="val 50000"/>
            </a:avLst>
          </a:prstGeom>
          <a:solidFill>
            <a:srgbClr val="C94F7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4553712" y="1956815"/>
            <a:ext cx="1261872" cy="2011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850" b="1" i="0">
                <a:solidFill>
                  <a:srgbClr val="717890"/>
                </a:solidFill>
                <a:latin typeface="Segoe UI"/>
              </a:rPr>
              <a:t>ВІДСТАВАННЯ ВІД ЄС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4553712" y="2176272"/>
            <a:ext cx="1261872" cy="40233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2300" b="1" i="0">
                <a:solidFill>
                  <a:srgbClr val="C94F7C"/>
                </a:solidFill>
                <a:latin typeface="Segoe UI"/>
              </a:rPr>
              <a:t>×20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4553712" y="2633472"/>
            <a:ext cx="1261872" cy="768095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4000"/>
              </a:lnSpc>
            </a:pPr>
            <a:r>
              <a:rPr sz="900" b="0" i="0">
                <a:solidFill>
                  <a:srgbClr val="1C2235"/>
                </a:solidFill>
                <a:latin typeface="Segoe UI"/>
              </a:rPr>
              <a:t>0,07 $ на особу проти
1,43 $ у ЄС.</a:t>
            </a:r>
          </a:p>
        </p:txBody>
      </p:sp>
      <p:sp>
        <p:nvSpPr>
          <p:cNvPr id="25" name="Rounded Rectangle 24"/>
          <p:cNvSpPr/>
          <p:nvPr/>
        </p:nvSpPr>
        <p:spPr>
          <a:xfrm>
            <a:off x="6199632" y="1719072"/>
            <a:ext cx="1700784" cy="1755648"/>
          </a:xfrm>
          <a:prstGeom prst="roundRect">
            <a:avLst>
              <a:gd name="adj" fmla="val 8000"/>
            </a:avLst>
          </a:prstGeom>
          <a:solidFill>
            <a:srgbClr val="F1F4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Rounded Rectangle 25"/>
          <p:cNvSpPr/>
          <p:nvPr/>
        </p:nvSpPr>
        <p:spPr>
          <a:xfrm>
            <a:off x="6199632" y="1719072"/>
            <a:ext cx="1700784" cy="82296"/>
          </a:xfrm>
          <a:prstGeom prst="roundRect">
            <a:avLst>
              <a:gd name="adj" fmla="val 50000"/>
            </a:avLst>
          </a:prstGeom>
          <a:solidFill>
            <a:srgbClr val="7B5EA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6419088" y="1956815"/>
            <a:ext cx="1261872" cy="2011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850" b="1" i="0">
                <a:solidFill>
                  <a:srgbClr val="717890"/>
                </a:solidFill>
                <a:latin typeface="Segoe UI"/>
              </a:rPr>
              <a:t>ПОЗИЦІЙ У ПРОДАЖУ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6419088" y="2176272"/>
            <a:ext cx="1261872" cy="40233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2300" b="1" i="0">
                <a:solidFill>
                  <a:srgbClr val="7B5EA7"/>
                </a:solidFill>
                <a:latin typeface="Segoe UI"/>
              </a:rPr>
              <a:t>33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6419088" y="2633472"/>
            <a:ext cx="1261872" cy="768095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4000"/>
              </a:lnSpc>
            </a:pPr>
            <a:r>
              <a:rPr sz="900" b="0" i="0">
                <a:solidFill>
                  <a:srgbClr val="1C2235"/>
                </a:solidFill>
                <a:latin typeface="Segoe UI"/>
              </a:rPr>
              <a:t>10 брендів. 10 позицій —
українського виробництва.</a:t>
            </a:r>
          </a:p>
        </p:txBody>
      </p:sp>
      <p:sp>
        <p:nvSpPr>
          <p:cNvPr id="30" name="Rounded Rectangle 29"/>
          <p:cNvSpPr/>
          <p:nvPr/>
        </p:nvSpPr>
        <p:spPr>
          <a:xfrm>
            <a:off x="8065008" y="1719072"/>
            <a:ext cx="1700784" cy="1755648"/>
          </a:xfrm>
          <a:prstGeom prst="roundRect">
            <a:avLst>
              <a:gd name="adj" fmla="val 8000"/>
            </a:avLst>
          </a:prstGeom>
          <a:solidFill>
            <a:srgbClr val="F1F4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Rounded Rectangle 30"/>
          <p:cNvSpPr/>
          <p:nvPr/>
        </p:nvSpPr>
        <p:spPr>
          <a:xfrm>
            <a:off x="8065008" y="1719072"/>
            <a:ext cx="1700784" cy="82296"/>
          </a:xfrm>
          <a:prstGeom prst="roundRect">
            <a:avLst>
              <a:gd name="adj" fmla="val 50000"/>
            </a:avLst>
          </a:prstGeom>
          <a:solidFill>
            <a:srgbClr val="37A16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8284464" y="1956815"/>
            <a:ext cx="1261872" cy="2011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850" b="1" i="0">
                <a:solidFill>
                  <a:srgbClr val="717890"/>
                </a:solidFill>
                <a:latin typeface="Segoe UI"/>
              </a:rPr>
              <a:t>МЕДІАНА ЗА УПАКОВКУ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8284464" y="2176272"/>
            <a:ext cx="1261872" cy="40233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2300" b="1" i="0">
                <a:solidFill>
                  <a:srgbClr val="37A169"/>
                </a:solidFill>
                <a:latin typeface="Segoe UI"/>
              </a:rPr>
              <a:t>139 грн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8284464" y="2633472"/>
            <a:ext cx="1261872" cy="768095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4000"/>
              </a:lnSpc>
            </a:pPr>
            <a:r>
              <a:rPr sz="900" b="0" i="0">
                <a:solidFill>
                  <a:srgbClr val="1C2235"/>
                </a:solidFill>
                <a:latin typeface="Segoe UI"/>
              </a:rPr>
              <a:t>За 100 г — 57 грн.
Діапазон 45–446 грн.</a:t>
            </a:r>
          </a:p>
        </p:txBody>
      </p:sp>
      <p:sp>
        <p:nvSpPr>
          <p:cNvPr id="35" name="Rounded Rectangle 34"/>
          <p:cNvSpPr/>
          <p:nvPr/>
        </p:nvSpPr>
        <p:spPr>
          <a:xfrm>
            <a:off x="9930384" y="1719072"/>
            <a:ext cx="1700784" cy="1755648"/>
          </a:xfrm>
          <a:prstGeom prst="roundRect">
            <a:avLst>
              <a:gd name="adj" fmla="val 8000"/>
            </a:avLst>
          </a:prstGeom>
          <a:solidFill>
            <a:srgbClr val="F1F4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Rounded Rectangle 35"/>
          <p:cNvSpPr/>
          <p:nvPr/>
        </p:nvSpPr>
        <p:spPr>
          <a:xfrm>
            <a:off x="9930384" y="1719072"/>
            <a:ext cx="1700784" cy="82296"/>
          </a:xfrm>
          <a:prstGeom prst="roundRect">
            <a:avLst>
              <a:gd name="adj" fmla="val 50000"/>
            </a:avLst>
          </a:prstGeom>
          <a:solidFill>
            <a:srgbClr val="5B6B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TextBox 36"/>
          <p:cNvSpPr txBox="1"/>
          <p:nvPr/>
        </p:nvSpPr>
        <p:spPr>
          <a:xfrm>
            <a:off x="10149840" y="1956815"/>
            <a:ext cx="1261872" cy="2011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850" b="1" i="0">
                <a:solidFill>
                  <a:srgbClr val="717890"/>
                </a:solidFill>
                <a:latin typeface="Segoe UI"/>
              </a:rPr>
              <a:t>МАСОВА ВАГА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10149840" y="2176272"/>
            <a:ext cx="1261872" cy="40233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2300" b="1" i="0">
                <a:solidFill>
                  <a:srgbClr val="5B6B8C"/>
                </a:solidFill>
                <a:latin typeface="Segoe UI"/>
              </a:rPr>
              <a:t>350 г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10149840" y="2633472"/>
            <a:ext cx="1261872" cy="768095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4000"/>
              </a:lnSpc>
            </a:pPr>
            <a:r>
              <a:rPr sz="900" b="0" i="0">
                <a:solidFill>
                  <a:srgbClr val="1C2235"/>
                </a:solidFill>
                <a:latin typeface="Segoe UI"/>
              </a:rPr>
              <a:t>10 позицій. Далі 250 г — 6,
220 г — 6.</a:t>
            </a:r>
          </a:p>
        </p:txBody>
      </p:sp>
      <p:sp>
        <p:nvSpPr>
          <p:cNvPr id="40" name="Rounded Rectangle 39"/>
          <p:cNvSpPr/>
          <p:nvPr/>
        </p:nvSpPr>
        <p:spPr>
          <a:xfrm>
            <a:off x="603504" y="3675887"/>
            <a:ext cx="5358384" cy="2157984"/>
          </a:xfrm>
          <a:prstGeom prst="roundRect">
            <a:avLst>
              <a:gd name="adj" fmla="val 6000"/>
            </a:avLst>
          </a:prstGeom>
          <a:solidFill>
            <a:srgbClr val="303A5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Rounded Rectangle 40"/>
          <p:cNvSpPr/>
          <p:nvPr/>
        </p:nvSpPr>
        <p:spPr>
          <a:xfrm>
            <a:off x="603504" y="3675887"/>
            <a:ext cx="82296" cy="2157984"/>
          </a:xfrm>
          <a:prstGeom prst="roundRect">
            <a:avLst>
              <a:gd name="adj" fmla="val 50000"/>
            </a:avLst>
          </a:prstGeom>
          <a:solidFill>
            <a:srgbClr val="F9A5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2" name="TextBox 41"/>
          <p:cNvSpPr txBox="1"/>
          <p:nvPr/>
        </p:nvSpPr>
        <p:spPr>
          <a:xfrm>
            <a:off x="914400" y="3840479"/>
            <a:ext cx="4809744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250" b="1" i="0">
                <a:solidFill>
                  <a:srgbClr val="FFC95C"/>
                </a:solidFill>
                <a:latin typeface="Segoe UI"/>
              </a:rPr>
              <a:t>Що показало дослідження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914400" y="4169663"/>
            <a:ext cx="4809744" cy="15179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000" b="0" i="0">
                <a:solidFill>
                  <a:srgbClr val="D5DBEA"/>
                </a:solidFill>
                <a:latin typeface="Segoe UI"/>
              </a:rPr>
              <a:t>1. Українське виробництво в категорії вже є — і воно найдешевше за грам: реторт-пауч 350 г за 71–199 грн, це 20–57 грн за 100 г.
2. Ben's Original — єдиний імпортний гарнір у мережі: 10 позицій у «Сільпо» за 45–179 грн.
3. Корейська чаша — найдорожчий формат за грам (91 грн/100 г) і продається лише у трьох азійських магазинах.</a:t>
            </a:r>
          </a:p>
        </p:txBody>
      </p:sp>
      <p:sp>
        <p:nvSpPr>
          <p:cNvPr id="44" name="Rounded Rectangle 43"/>
          <p:cNvSpPr/>
          <p:nvPr/>
        </p:nvSpPr>
        <p:spPr>
          <a:xfrm>
            <a:off x="6199632" y="3675887"/>
            <a:ext cx="5358384" cy="2157984"/>
          </a:xfrm>
          <a:prstGeom prst="roundRect">
            <a:avLst>
              <a:gd name="adj" fmla="val 6000"/>
            </a:avLst>
          </a:prstGeom>
          <a:solidFill>
            <a:srgbClr val="303A5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5" name="Rounded Rectangle 44"/>
          <p:cNvSpPr/>
          <p:nvPr/>
        </p:nvSpPr>
        <p:spPr>
          <a:xfrm>
            <a:off x="6199632" y="3675887"/>
            <a:ext cx="82296" cy="2157984"/>
          </a:xfrm>
          <a:prstGeom prst="roundRect">
            <a:avLst>
              <a:gd name="adj" fmla="val 50000"/>
            </a:avLst>
          </a:prstGeom>
          <a:solidFill>
            <a:srgbClr val="1E9E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6" name="TextBox 45"/>
          <p:cNvSpPr txBox="1"/>
          <p:nvPr/>
        </p:nvSpPr>
        <p:spPr>
          <a:xfrm>
            <a:off x="6510528" y="3840479"/>
            <a:ext cx="4809744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250" b="1" i="0">
                <a:solidFill>
                  <a:srgbClr val="FFC95C"/>
                </a:solidFill>
                <a:latin typeface="Segoe UI"/>
              </a:rPr>
              <a:t>Де порожньо</a:t>
            </a:r>
          </a:p>
        </p:txBody>
      </p:sp>
      <p:sp>
        <p:nvSpPr>
          <p:cNvPr id="47" name="TextBox 46"/>
          <p:cNvSpPr txBox="1"/>
          <p:nvPr/>
        </p:nvSpPr>
        <p:spPr>
          <a:xfrm>
            <a:off x="6510528" y="4169663"/>
            <a:ext cx="4809744" cy="15179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000" b="0" i="0">
                <a:solidFill>
                  <a:srgbClr val="D5DBEA"/>
                </a:solidFill>
                <a:latin typeface="Segoe UI"/>
              </a:rPr>
              <a:t>1. Немає українського гарніру — чистого рису в паучі. Усі 10 українських позицій це рис із м'ясом, тобто повноцінна страва.
2. Немає чаші дешевше 189 грн: Bibigo 189, Ottogi 225–356.
3. Немає жодної позиції категорії в АТБ, Novus, Metro, Varus, Ашан, Fozzy та ще 11 мережах — перевірено через API 17 мереж.</a:t>
            </a:r>
          </a:p>
        </p:txBody>
      </p:sp>
      <p:sp>
        <p:nvSpPr>
          <p:cNvPr id="48" name="TextBox 47"/>
          <p:cNvSpPr txBox="1"/>
          <p:nvPr/>
        </p:nvSpPr>
        <p:spPr>
          <a:xfrm>
            <a:off x="603504" y="6473952"/>
            <a:ext cx="10881360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4000"/>
              </a:lnSpc>
            </a:pPr>
            <a:r>
              <a:rPr sz="800" b="0" i="0">
                <a:solidFill>
                  <a:srgbClr val="717890"/>
                </a:solidFill>
                <a:latin typeface="Segoe UI"/>
              </a:rPr>
              <a:t>Ціни: сайти продавців, 23.09.2026, за одну упаковку в роздріб. Імпорт: Eurostat Comext CN 1904 90 10 + UN Comtrade. Ємність роздрібу — оцінка, метод на слайді 03.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969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969" cy="1060704"/>
          </a:xfrm>
          <a:prstGeom prst="rect">
            <a:avLst/>
          </a:prstGeom>
          <a:solidFill>
            <a:srgbClr val="303A5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060704"/>
            <a:ext cx="12191969" cy="50292"/>
          </a:xfrm>
          <a:prstGeom prst="rect">
            <a:avLst/>
          </a:prstGeom>
          <a:solidFill>
            <a:srgbClr val="F9A5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5" name="Picture 4" descr="md_logo_whit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03504" y="237744"/>
            <a:ext cx="1389888" cy="603504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2304288" y="310896"/>
            <a:ext cx="676656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950" b="1" i="0">
                <a:solidFill>
                  <a:srgbClr val="FFC95C"/>
                </a:solidFill>
                <a:latin typeface="Segoe UI"/>
              </a:rPr>
              <a:t>ОБСЯГ РИНКУ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2304288" y="548640"/>
            <a:ext cx="804672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900" b="1" i="0">
                <a:solidFill>
                  <a:srgbClr val="FFFFFF"/>
                </a:solidFill>
                <a:latin typeface="Segoe UI"/>
              </a:rPr>
              <a:t>182 тонн імпорту, 87–110 млн грн роздрібу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948385" y="402336"/>
            <a:ext cx="640080" cy="32918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/>
            <a:r>
              <a:rPr sz="1700" b="1" i="0">
                <a:solidFill>
                  <a:srgbClr val="465382"/>
                </a:solidFill>
                <a:latin typeface="Segoe UI"/>
              </a:rPr>
              <a:t>03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03504" y="1298448"/>
            <a:ext cx="10881360" cy="3108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200" b="0" i="0">
                <a:solidFill>
                  <a:srgbClr val="717890"/>
                </a:solidFill>
                <a:latin typeface="Segoe UI"/>
              </a:rPr>
              <a:t>Імпорт готового рису відновився: 2025 рік — найбільший за сім років за вартістю.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03504" y="1719072"/>
            <a:ext cx="6675120" cy="3054096"/>
          </a:xfrm>
          <a:prstGeom prst="roundRect">
            <a:avLst>
              <a:gd name="adj" fmla="val 5000"/>
            </a:avLst>
          </a:prstGeom>
          <a:solidFill>
            <a:srgbClr val="F1F4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859536" y="1883664"/>
            <a:ext cx="54864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900" b="1" i="0">
                <a:solidFill>
                  <a:srgbClr val="717890"/>
                </a:solidFill>
                <a:latin typeface="Segoe UI"/>
              </a:rPr>
              <a:t>ІМПОРТ ГОТОВОГО РИСУ З ЄС, ТОНН НА РІК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914400" y="3274133"/>
            <a:ext cx="786384" cy="895530"/>
          </a:xfrm>
          <a:prstGeom prst="roundRect">
            <a:avLst>
              <a:gd name="adj" fmla="val 10000"/>
            </a:avLst>
          </a:prstGeom>
          <a:solidFill>
            <a:srgbClr val="C2C9D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859536" y="3054677"/>
            <a:ext cx="896112" cy="2011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850" b="1" i="0">
                <a:solidFill>
                  <a:srgbClr val="717890"/>
                </a:solidFill>
                <a:latin typeface="Segoe UI"/>
              </a:rPr>
              <a:t>99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859536" y="4224527"/>
            <a:ext cx="896112" cy="2011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850" b="0" i="0">
                <a:solidFill>
                  <a:srgbClr val="1C2235"/>
                </a:solidFill>
                <a:latin typeface="Segoe UI"/>
              </a:rPr>
              <a:t>2019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859536" y="4407407"/>
            <a:ext cx="896112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750" b="0" i="0">
                <a:solidFill>
                  <a:srgbClr val="717890"/>
                </a:solidFill>
                <a:latin typeface="Segoe UI"/>
              </a:rPr>
              <a:t>€294k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1828800" y="2322575"/>
            <a:ext cx="786384" cy="1847088"/>
          </a:xfrm>
          <a:prstGeom prst="roundRect">
            <a:avLst>
              <a:gd name="adj" fmla="val 10000"/>
            </a:avLst>
          </a:prstGeom>
          <a:solidFill>
            <a:srgbClr val="C2C9D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1773936" y="2103120"/>
            <a:ext cx="896112" cy="2011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850" b="1" i="0">
                <a:solidFill>
                  <a:srgbClr val="717890"/>
                </a:solidFill>
                <a:latin typeface="Segoe UI"/>
              </a:rPr>
              <a:t>204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773936" y="4224527"/>
            <a:ext cx="896112" cy="2011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850" b="0" i="0">
                <a:solidFill>
                  <a:srgbClr val="1C2235"/>
                </a:solidFill>
                <a:latin typeface="Segoe UI"/>
              </a:rPr>
              <a:t>2020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773936" y="4407407"/>
            <a:ext cx="896112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750" b="0" i="0">
                <a:solidFill>
                  <a:srgbClr val="717890"/>
                </a:solidFill>
                <a:latin typeface="Segoe UI"/>
              </a:rPr>
              <a:t>€553k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2743200" y="2326190"/>
            <a:ext cx="786384" cy="1843473"/>
          </a:xfrm>
          <a:prstGeom prst="roundRect">
            <a:avLst>
              <a:gd name="adj" fmla="val 10000"/>
            </a:avLst>
          </a:prstGeom>
          <a:solidFill>
            <a:srgbClr val="C2C9D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2688336" y="2106734"/>
            <a:ext cx="896112" cy="2011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850" b="1" i="0">
                <a:solidFill>
                  <a:srgbClr val="717890"/>
                </a:solidFill>
                <a:latin typeface="Segoe UI"/>
              </a:rPr>
              <a:t>204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2688336" y="4224527"/>
            <a:ext cx="896112" cy="2011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850" b="0" i="0">
                <a:solidFill>
                  <a:srgbClr val="1C2235"/>
                </a:solidFill>
                <a:latin typeface="Segoe UI"/>
              </a:rPr>
              <a:t>2021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2688336" y="4407407"/>
            <a:ext cx="896112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750" b="0" i="0">
                <a:solidFill>
                  <a:srgbClr val="717890"/>
                </a:solidFill>
                <a:latin typeface="Segoe UI"/>
              </a:rPr>
              <a:t>€567k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3657600" y="3016589"/>
            <a:ext cx="786384" cy="1153074"/>
          </a:xfrm>
          <a:prstGeom prst="roundRect">
            <a:avLst>
              <a:gd name="adj" fmla="val 10000"/>
            </a:avLst>
          </a:prstGeom>
          <a:solidFill>
            <a:srgbClr val="46538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3602736" y="2797133"/>
            <a:ext cx="896112" cy="2011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850" b="1" i="0">
                <a:solidFill>
                  <a:srgbClr val="717890"/>
                </a:solidFill>
                <a:latin typeface="Segoe UI"/>
              </a:rPr>
              <a:t>128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3602736" y="4224527"/>
            <a:ext cx="896112" cy="2011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850" b="0" i="0">
                <a:solidFill>
                  <a:srgbClr val="1C2235"/>
                </a:solidFill>
                <a:latin typeface="Segoe UI"/>
              </a:rPr>
              <a:t>2022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3602736" y="4407407"/>
            <a:ext cx="896112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750" b="0" i="0">
                <a:solidFill>
                  <a:srgbClr val="717890"/>
                </a:solidFill>
                <a:latin typeface="Segoe UI"/>
              </a:rPr>
              <a:t>€434k</a:t>
            </a:r>
          </a:p>
        </p:txBody>
      </p:sp>
      <p:sp>
        <p:nvSpPr>
          <p:cNvPr id="28" name="Rounded Rectangle 27"/>
          <p:cNvSpPr/>
          <p:nvPr/>
        </p:nvSpPr>
        <p:spPr>
          <a:xfrm>
            <a:off x="4572000" y="3032855"/>
            <a:ext cx="786384" cy="1136808"/>
          </a:xfrm>
          <a:prstGeom prst="roundRect">
            <a:avLst>
              <a:gd name="adj" fmla="val 10000"/>
            </a:avLst>
          </a:prstGeom>
          <a:solidFill>
            <a:srgbClr val="46538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4517136" y="2813399"/>
            <a:ext cx="896112" cy="2011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850" b="1" i="0">
                <a:solidFill>
                  <a:srgbClr val="717890"/>
                </a:solidFill>
                <a:latin typeface="Segoe UI"/>
              </a:rPr>
              <a:t>126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4517136" y="4224527"/>
            <a:ext cx="896112" cy="2011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850" b="0" i="0">
                <a:solidFill>
                  <a:srgbClr val="1C2235"/>
                </a:solidFill>
                <a:latin typeface="Segoe UI"/>
              </a:rPr>
              <a:t>2023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4517136" y="4407407"/>
            <a:ext cx="896112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750" b="0" i="0">
                <a:solidFill>
                  <a:srgbClr val="717890"/>
                </a:solidFill>
                <a:latin typeface="Segoe UI"/>
              </a:rPr>
              <a:t>€428k</a:t>
            </a:r>
          </a:p>
        </p:txBody>
      </p:sp>
      <p:sp>
        <p:nvSpPr>
          <p:cNvPr id="32" name="Rounded Rectangle 31"/>
          <p:cNvSpPr/>
          <p:nvPr/>
        </p:nvSpPr>
        <p:spPr>
          <a:xfrm>
            <a:off x="5486400" y="3166597"/>
            <a:ext cx="786384" cy="1003066"/>
          </a:xfrm>
          <a:prstGeom prst="roundRect">
            <a:avLst>
              <a:gd name="adj" fmla="val 10000"/>
            </a:avLst>
          </a:prstGeom>
          <a:solidFill>
            <a:srgbClr val="46538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5431536" y="2947141"/>
            <a:ext cx="896112" cy="2011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850" b="1" i="0">
                <a:solidFill>
                  <a:srgbClr val="717890"/>
                </a:solidFill>
                <a:latin typeface="Segoe UI"/>
              </a:rPr>
              <a:t>111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5431536" y="4224527"/>
            <a:ext cx="896112" cy="2011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850" b="0" i="0">
                <a:solidFill>
                  <a:srgbClr val="1C2235"/>
                </a:solidFill>
                <a:latin typeface="Segoe UI"/>
              </a:rPr>
              <a:t>2024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5431536" y="4407407"/>
            <a:ext cx="896112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750" b="0" i="0">
                <a:solidFill>
                  <a:srgbClr val="717890"/>
                </a:solidFill>
                <a:latin typeface="Segoe UI"/>
              </a:rPr>
              <a:t>€475k</a:t>
            </a:r>
          </a:p>
        </p:txBody>
      </p:sp>
      <p:sp>
        <p:nvSpPr>
          <p:cNvPr id="36" name="Rounded Rectangle 35"/>
          <p:cNvSpPr/>
          <p:nvPr/>
        </p:nvSpPr>
        <p:spPr>
          <a:xfrm>
            <a:off x="6400800" y="2548491"/>
            <a:ext cx="786384" cy="1621172"/>
          </a:xfrm>
          <a:prstGeom prst="roundRect">
            <a:avLst>
              <a:gd name="adj" fmla="val 10000"/>
            </a:avLst>
          </a:prstGeom>
          <a:solidFill>
            <a:srgbClr val="F9A5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TextBox 36"/>
          <p:cNvSpPr txBox="1"/>
          <p:nvPr/>
        </p:nvSpPr>
        <p:spPr>
          <a:xfrm>
            <a:off x="6345936" y="2329035"/>
            <a:ext cx="896112" cy="2011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850" b="1" i="0">
                <a:solidFill>
                  <a:srgbClr val="F9A50B"/>
                </a:solidFill>
                <a:latin typeface="Segoe UI"/>
              </a:rPr>
              <a:t>179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6345936" y="4224527"/>
            <a:ext cx="896112" cy="2011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850" b="1" i="0">
                <a:solidFill>
                  <a:srgbClr val="1C2235"/>
                </a:solidFill>
                <a:latin typeface="Segoe UI"/>
              </a:rPr>
              <a:t>2025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6345936" y="4407407"/>
            <a:ext cx="896112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750" b="0" i="0">
                <a:solidFill>
                  <a:srgbClr val="717890"/>
                </a:solidFill>
                <a:latin typeface="Segoe UI"/>
              </a:rPr>
              <a:t>€823k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914400" y="4553712"/>
            <a:ext cx="6400800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850" b="0" i="0">
                <a:solidFill>
                  <a:srgbClr val="717890"/>
                </a:solidFill>
                <a:latin typeface="Segoe UI"/>
              </a:rPr>
              <a:t>Вартість 2025 року — 823 тис. € проти 475 тис. € у 2024-му, +73 %.</a:t>
            </a:r>
          </a:p>
        </p:txBody>
      </p:sp>
      <p:sp>
        <p:nvSpPr>
          <p:cNvPr id="41" name="Rounded Rectangle 40"/>
          <p:cNvSpPr/>
          <p:nvPr/>
        </p:nvSpPr>
        <p:spPr>
          <a:xfrm>
            <a:off x="7498079" y="1719072"/>
            <a:ext cx="4059936" cy="3054096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15240">
            <a:solidFill>
              <a:srgbClr val="E2E8F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2" name="TextBox 41"/>
          <p:cNvSpPr txBox="1"/>
          <p:nvPr/>
        </p:nvSpPr>
        <p:spPr>
          <a:xfrm>
            <a:off x="7735823" y="1883664"/>
            <a:ext cx="3584448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900" b="1" i="0">
                <a:solidFill>
                  <a:srgbClr val="717890"/>
                </a:solidFill>
                <a:latin typeface="Segoe UI"/>
              </a:rPr>
              <a:t>ЗВІДКИ ЇДЕ, 2025 РІК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7735823" y="2157984"/>
            <a:ext cx="914400" cy="2011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900" b="0" i="0">
                <a:solidFill>
                  <a:srgbClr val="1C2235"/>
                </a:solidFill>
                <a:latin typeface="Segoe UI"/>
              </a:rPr>
              <a:t>Польща</a:t>
            </a:r>
          </a:p>
        </p:txBody>
      </p:sp>
      <p:sp>
        <p:nvSpPr>
          <p:cNvPr id="44" name="Rounded Rectangle 43"/>
          <p:cNvSpPr/>
          <p:nvPr/>
        </p:nvSpPr>
        <p:spPr>
          <a:xfrm>
            <a:off x="8650224" y="2203703"/>
            <a:ext cx="1380728" cy="118872"/>
          </a:xfrm>
          <a:prstGeom prst="roundRect">
            <a:avLst>
              <a:gd name="adj" fmla="val 50000"/>
            </a:avLst>
          </a:prstGeom>
          <a:solidFill>
            <a:srgbClr val="F9A5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5" name="TextBox 44"/>
          <p:cNvSpPr txBox="1"/>
          <p:nvPr/>
        </p:nvSpPr>
        <p:spPr>
          <a:xfrm>
            <a:off x="10104104" y="2148840"/>
            <a:ext cx="841248" cy="2011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850" b="1" i="0">
                <a:solidFill>
                  <a:srgbClr val="717890"/>
                </a:solidFill>
                <a:latin typeface="Segoe UI"/>
              </a:rPr>
              <a:t>94,4 т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7735823" y="2468879"/>
            <a:ext cx="914400" cy="2011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900" b="0" i="0">
                <a:solidFill>
                  <a:srgbClr val="1C2235"/>
                </a:solidFill>
                <a:latin typeface="Segoe UI"/>
              </a:rPr>
              <a:t>Болгарія</a:t>
            </a:r>
          </a:p>
        </p:txBody>
      </p:sp>
      <p:sp>
        <p:nvSpPr>
          <p:cNvPr id="47" name="Rounded Rectangle 46"/>
          <p:cNvSpPr/>
          <p:nvPr/>
        </p:nvSpPr>
        <p:spPr>
          <a:xfrm>
            <a:off x="8650224" y="2514599"/>
            <a:ext cx="1145244" cy="118872"/>
          </a:xfrm>
          <a:prstGeom prst="roundRect">
            <a:avLst>
              <a:gd name="adj" fmla="val 50000"/>
            </a:avLst>
          </a:prstGeom>
          <a:solidFill>
            <a:srgbClr val="F9A5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" name="TextBox 47"/>
          <p:cNvSpPr txBox="1"/>
          <p:nvPr/>
        </p:nvSpPr>
        <p:spPr>
          <a:xfrm>
            <a:off x="9868620" y="2459736"/>
            <a:ext cx="841248" cy="2011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850" b="1" i="0">
                <a:solidFill>
                  <a:srgbClr val="717890"/>
                </a:solidFill>
                <a:latin typeface="Segoe UI"/>
              </a:rPr>
              <a:t>78,3 т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7735823" y="2779775"/>
            <a:ext cx="914400" cy="2011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900" b="0" i="0">
                <a:solidFill>
                  <a:srgbClr val="1C2235"/>
                </a:solidFill>
                <a:latin typeface="Segoe UI"/>
              </a:rPr>
              <a:t>Італія</a:t>
            </a:r>
          </a:p>
        </p:txBody>
      </p:sp>
      <p:sp>
        <p:nvSpPr>
          <p:cNvPr id="50" name="Rounded Rectangle 49"/>
          <p:cNvSpPr/>
          <p:nvPr/>
        </p:nvSpPr>
        <p:spPr>
          <a:xfrm>
            <a:off x="8650224" y="2825495"/>
            <a:ext cx="81907" cy="118872"/>
          </a:xfrm>
          <a:prstGeom prst="roundRect">
            <a:avLst>
              <a:gd name="adj" fmla="val 50000"/>
            </a:avLst>
          </a:prstGeom>
          <a:solidFill>
            <a:srgbClr val="1E9E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1" name="TextBox 50"/>
          <p:cNvSpPr txBox="1"/>
          <p:nvPr/>
        </p:nvSpPr>
        <p:spPr>
          <a:xfrm>
            <a:off x="8805283" y="2770632"/>
            <a:ext cx="841248" cy="2011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850" b="1" i="0">
                <a:solidFill>
                  <a:srgbClr val="717890"/>
                </a:solidFill>
                <a:latin typeface="Segoe UI"/>
              </a:rPr>
              <a:t>5,6 т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7735823" y="3090671"/>
            <a:ext cx="914400" cy="2011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900" b="0" i="0">
                <a:solidFill>
                  <a:srgbClr val="1C2235"/>
                </a:solidFill>
                <a:latin typeface="Segoe UI"/>
              </a:rPr>
              <a:t>Корея</a:t>
            </a:r>
          </a:p>
        </p:txBody>
      </p:sp>
      <p:sp>
        <p:nvSpPr>
          <p:cNvPr id="53" name="Rounded Rectangle 52"/>
          <p:cNvSpPr/>
          <p:nvPr/>
        </p:nvSpPr>
        <p:spPr>
          <a:xfrm>
            <a:off x="8650224" y="3136391"/>
            <a:ext cx="36576" cy="118872"/>
          </a:xfrm>
          <a:prstGeom prst="roundRect">
            <a:avLst>
              <a:gd name="adj" fmla="val 50000"/>
            </a:avLst>
          </a:prstGeom>
          <a:solidFill>
            <a:srgbClr val="1E9E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4" name="TextBox 53"/>
          <p:cNvSpPr txBox="1"/>
          <p:nvPr/>
        </p:nvSpPr>
        <p:spPr>
          <a:xfrm>
            <a:off x="8759952" y="3081527"/>
            <a:ext cx="841248" cy="2011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850" b="1" i="0">
                <a:solidFill>
                  <a:srgbClr val="717890"/>
                </a:solidFill>
                <a:latin typeface="Segoe UI"/>
              </a:rPr>
              <a:t>2,0 т</a:t>
            </a:r>
          </a:p>
        </p:txBody>
      </p:sp>
      <p:sp>
        <p:nvSpPr>
          <p:cNvPr id="55" name="TextBox 54"/>
          <p:cNvSpPr txBox="1"/>
          <p:nvPr/>
        </p:nvSpPr>
        <p:spPr>
          <a:xfrm>
            <a:off x="7735823" y="3401567"/>
            <a:ext cx="914400" cy="2011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900" b="0" i="0">
                <a:solidFill>
                  <a:srgbClr val="1C2235"/>
                </a:solidFill>
                <a:latin typeface="Segoe UI"/>
              </a:rPr>
              <a:t>Китай</a:t>
            </a:r>
          </a:p>
        </p:txBody>
      </p:sp>
      <p:sp>
        <p:nvSpPr>
          <p:cNvPr id="56" name="Rounded Rectangle 55"/>
          <p:cNvSpPr/>
          <p:nvPr/>
        </p:nvSpPr>
        <p:spPr>
          <a:xfrm>
            <a:off x="8650224" y="3447287"/>
            <a:ext cx="36576" cy="118872"/>
          </a:xfrm>
          <a:prstGeom prst="roundRect">
            <a:avLst>
              <a:gd name="adj" fmla="val 50000"/>
            </a:avLst>
          </a:prstGeom>
          <a:solidFill>
            <a:srgbClr val="1E9E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7" name="TextBox 56"/>
          <p:cNvSpPr txBox="1"/>
          <p:nvPr/>
        </p:nvSpPr>
        <p:spPr>
          <a:xfrm>
            <a:off x="8759952" y="3392423"/>
            <a:ext cx="841248" cy="2011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850" b="1" i="0">
                <a:solidFill>
                  <a:srgbClr val="717890"/>
                </a:solidFill>
                <a:latin typeface="Segoe UI"/>
              </a:rPr>
              <a:t>1,0 т</a:t>
            </a:r>
          </a:p>
        </p:txBody>
      </p:sp>
      <p:sp>
        <p:nvSpPr>
          <p:cNvPr id="58" name="TextBox 57"/>
          <p:cNvSpPr txBox="1"/>
          <p:nvPr/>
        </p:nvSpPr>
        <p:spPr>
          <a:xfrm>
            <a:off x="7735823" y="3767327"/>
            <a:ext cx="3584448" cy="6949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6000"/>
              </a:lnSpc>
            </a:pPr>
            <a:r>
              <a:rPr sz="850" b="0" i="0">
                <a:solidFill>
                  <a:srgbClr val="717890"/>
                </a:solidFill>
                <a:latin typeface="Segoe UI"/>
              </a:rPr>
              <a:t>Польща й Болгарія — 95 % тонажу: це заводи ЄС, що пакують рис у пауч.
Корея і Китай разом 3 т — чаші Ottogi та Bibigo. Україна свій обсяг виробляє на місці, в імпорт він не входить.</a:t>
            </a:r>
          </a:p>
        </p:txBody>
      </p:sp>
      <p:sp>
        <p:nvSpPr>
          <p:cNvPr id="59" name="Rounded Rectangle 58"/>
          <p:cNvSpPr/>
          <p:nvPr/>
        </p:nvSpPr>
        <p:spPr>
          <a:xfrm>
            <a:off x="603504" y="4809744"/>
            <a:ext cx="10954512" cy="1316736"/>
          </a:xfrm>
          <a:prstGeom prst="roundRect">
            <a:avLst>
              <a:gd name="adj" fmla="val 7000"/>
            </a:avLst>
          </a:prstGeom>
          <a:solidFill>
            <a:srgbClr val="303A5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0" name="Rounded Rectangle 59"/>
          <p:cNvSpPr/>
          <p:nvPr/>
        </p:nvSpPr>
        <p:spPr>
          <a:xfrm>
            <a:off x="603504" y="4809744"/>
            <a:ext cx="82296" cy="1316736"/>
          </a:xfrm>
          <a:prstGeom prst="roundRect">
            <a:avLst>
              <a:gd name="adj" fmla="val 50000"/>
            </a:avLst>
          </a:prstGeom>
          <a:solidFill>
            <a:srgbClr val="1E9E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1" name="TextBox 60"/>
          <p:cNvSpPr txBox="1"/>
          <p:nvPr/>
        </p:nvSpPr>
        <p:spPr>
          <a:xfrm>
            <a:off x="914400" y="4956048"/>
            <a:ext cx="3566160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250" b="1" i="0">
                <a:solidFill>
                  <a:srgbClr val="FFC95C"/>
                </a:solidFill>
                <a:latin typeface="Segoe UI"/>
              </a:rPr>
              <a:t>Як рахували ємність</a:t>
            </a:r>
          </a:p>
        </p:txBody>
      </p:sp>
      <p:sp>
        <p:nvSpPr>
          <p:cNvPr id="62" name="TextBox 61"/>
          <p:cNvSpPr txBox="1"/>
          <p:nvPr/>
        </p:nvSpPr>
        <p:spPr>
          <a:xfrm>
            <a:off x="4535424" y="4956048"/>
            <a:ext cx="1353312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200" b="1" i="0">
                <a:solidFill>
                  <a:srgbClr val="FFFFFF"/>
                </a:solidFill>
                <a:latin typeface="Segoe UI"/>
              </a:rPr>
              <a:t>182 т</a:t>
            </a:r>
          </a:p>
        </p:txBody>
      </p:sp>
      <p:sp>
        <p:nvSpPr>
          <p:cNvPr id="63" name="TextBox 62"/>
          <p:cNvSpPr txBox="1"/>
          <p:nvPr/>
        </p:nvSpPr>
        <p:spPr>
          <a:xfrm>
            <a:off x="4535424" y="5212080"/>
            <a:ext cx="1353312" cy="32918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800" b="0" i="0">
                <a:solidFill>
                  <a:srgbClr val="9FA9C4"/>
                </a:solidFill>
                <a:latin typeface="Segoe UI"/>
              </a:rPr>
              <a:t>імпорт 2025</a:t>
            </a:r>
          </a:p>
        </p:txBody>
      </p:sp>
      <p:sp>
        <p:nvSpPr>
          <p:cNvPr id="64" name="TextBox 63"/>
          <p:cNvSpPr txBox="1"/>
          <p:nvPr/>
        </p:nvSpPr>
        <p:spPr>
          <a:xfrm>
            <a:off x="5742432" y="4974336"/>
            <a:ext cx="18288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200" b="1" i="0">
                <a:solidFill>
                  <a:srgbClr val="F9A50B"/>
                </a:solidFill>
                <a:latin typeface="Segoe UI"/>
              </a:rPr>
              <a:t>→</a:t>
            </a:r>
          </a:p>
        </p:txBody>
      </p:sp>
      <p:sp>
        <p:nvSpPr>
          <p:cNvPr id="65" name="TextBox 64"/>
          <p:cNvSpPr txBox="1"/>
          <p:nvPr/>
        </p:nvSpPr>
        <p:spPr>
          <a:xfrm>
            <a:off x="5943600" y="4956048"/>
            <a:ext cx="1353312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200" b="1" i="0">
                <a:solidFill>
                  <a:srgbClr val="FFFFFF"/>
                </a:solidFill>
                <a:latin typeface="Segoe UI"/>
              </a:rPr>
              <a:t>39 млн грн</a:t>
            </a:r>
          </a:p>
        </p:txBody>
      </p:sp>
      <p:sp>
        <p:nvSpPr>
          <p:cNvPr id="66" name="TextBox 65"/>
          <p:cNvSpPr txBox="1"/>
          <p:nvPr/>
        </p:nvSpPr>
        <p:spPr>
          <a:xfrm>
            <a:off x="5943600" y="5212080"/>
            <a:ext cx="1353312" cy="32918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800" b="0" i="0">
                <a:solidFill>
                  <a:srgbClr val="9FA9C4"/>
                </a:solidFill>
                <a:latin typeface="Segoe UI"/>
              </a:rPr>
              <a:t>CIF за курсом НБУ</a:t>
            </a:r>
          </a:p>
        </p:txBody>
      </p:sp>
      <p:sp>
        <p:nvSpPr>
          <p:cNvPr id="67" name="TextBox 66"/>
          <p:cNvSpPr txBox="1"/>
          <p:nvPr/>
        </p:nvSpPr>
        <p:spPr>
          <a:xfrm>
            <a:off x="7150608" y="4974336"/>
            <a:ext cx="18288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200" b="1" i="0">
                <a:solidFill>
                  <a:srgbClr val="F9A50B"/>
                </a:solidFill>
                <a:latin typeface="Segoe UI"/>
              </a:rPr>
              <a:t>→</a:t>
            </a:r>
          </a:p>
        </p:txBody>
      </p:sp>
      <p:sp>
        <p:nvSpPr>
          <p:cNvPr id="68" name="TextBox 67"/>
          <p:cNvSpPr txBox="1"/>
          <p:nvPr/>
        </p:nvSpPr>
        <p:spPr>
          <a:xfrm>
            <a:off x="7351775" y="4956048"/>
            <a:ext cx="1353312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200" b="1" i="0">
                <a:solidFill>
                  <a:srgbClr val="FFFFFF"/>
                </a:solidFill>
                <a:latin typeface="Segoe UI"/>
              </a:rPr>
              <a:t>× 2,2–2,8</a:t>
            </a:r>
          </a:p>
        </p:txBody>
      </p:sp>
      <p:sp>
        <p:nvSpPr>
          <p:cNvPr id="69" name="TextBox 68"/>
          <p:cNvSpPr txBox="1"/>
          <p:nvPr/>
        </p:nvSpPr>
        <p:spPr>
          <a:xfrm>
            <a:off x="7351775" y="5212080"/>
            <a:ext cx="1353312" cy="32918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800" b="0" i="0">
                <a:solidFill>
                  <a:srgbClr val="9FA9C4"/>
                </a:solidFill>
                <a:latin typeface="Segoe UI"/>
              </a:rPr>
              <a:t>мито 0 %, ПДВ, маржа</a:t>
            </a:r>
          </a:p>
        </p:txBody>
      </p:sp>
      <p:sp>
        <p:nvSpPr>
          <p:cNvPr id="70" name="TextBox 69"/>
          <p:cNvSpPr txBox="1"/>
          <p:nvPr/>
        </p:nvSpPr>
        <p:spPr>
          <a:xfrm>
            <a:off x="8558784" y="4974336"/>
            <a:ext cx="18288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200" b="1" i="0">
                <a:solidFill>
                  <a:srgbClr val="F9A50B"/>
                </a:solidFill>
                <a:latin typeface="Segoe UI"/>
              </a:rPr>
              <a:t>→</a:t>
            </a:r>
          </a:p>
        </p:txBody>
      </p:sp>
      <p:sp>
        <p:nvSpPr>
          <p:cNvPr id="71" name="TextBox 70"/>
          <p:cNvSpPr txBox="1"/>
          <p:nvPr/>
        </p:nvSpPr>
        <p:spPr>
          <a:xfrm>
            <a:off x="8759952" y="4956048"/>
            <a:ext cx="1353312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200" b="1" i="0">
                <a:solidFill>
                  <a:srgbClr val="FFFFFF"/>
                </a:solidFill>
                <a:latin typeface="Segoe UI"/>
              </a:rPr>
              <a:t>87–110 млн</a:t>
            </a:r>
          </a:p>
        </p:txBody>
      </p:sp>
      <p:sp>
        <p:nvSpPr>
          <p:cNvPr id="72" name="TextBox 71"/>
          <p:cNvSpPr txBox="1"/>
          <p:nvPr/>
        </p:nvSpPr>
        <p:spPr>
          <a:xfrm>
            <a:off x="8759952" y="5212080"/>
            <a:ext cx="1353312" cy="32918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800" b="0" i="0">
                <a:solidFill>
                  <a:srgbClr val="9FA9C4"/>
                </a:solidFill>
                <a:latin typeface="Segoe UI"/>
              </a:rPr>
              <a:t>роздріб на рік</a:t>
            </a:r>
          </a:p>
        </p:txBody>
      </p:sp>
      <p:sp>
        <p:nvSpPr>
          <p:cNvPr id="73" name="TextBox 72"/>
          <p:cNvSpPr txBox="1"/>
          <p:nvPr/>
        </p:nvSpPr>
        <p:spPr>
          <a:xfrm>
            <a:off x="9966960" y="4974336"/>
            <a:ext cx="18288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200" b="1" i="0">
                <a:solidFill>
                  <a:srgbClr val="F9A50B"/>
                </a:solidFill>
                <a:latin typeface="Segoe UI"/>
              </a:rPr>
              <a:t>→</a:t>
            </a:r>
          </a:p>
        </p:txBody>
      </p:sp>
      <p:sp>
        <p:nvSpPr>
          <p:cNvPr id="74" name="TextBox 73"/>
          <p:cNvSpPr txBox="1"/>
          <p:nvPr/>
        </p:nvSpPr>
        <p:spPr>
          <a:xfrm>
            <a:off x="10168128" y="4956048"/>
            <a:ext cx="1353312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200" b="1" i="0">
                <a:solidFill>
                  <a:srgbClr val="FFFFFF"/>
                </a:solidFill>
                <a:latin typeface="Segoe UI"/>
              </a:rPr>
              <a:t>≈ 608 тис.</a:t>
            </a:r>
          </a:p>
        </p:txBody>
      </p:sp>
      <p:sp>
        <p:nvSpPr>
          <p:cNvPr id="75" name="TextBox 74"/>
          <p:cNvSpPr txBox="1"/>
          <p:nvPr/>
        </p:nvSpPr>
        <p:spPr>
          <a:xfrm>
            <a:off x="10168128" y="5212080"/>
            <a:ext cx="1353312" cy="32918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800" b="0" i="0">
                <a:solidFill>
                  <a:srgbClr val="9FA9C4"/>
                </a:solidFill>
                <a:latin typeface="Segoe UI"/>
              </a:rPr>
              <a:t>упаковок на рік</a:t>
            </a:r>
          </a:p>
        </p:txBody>
      </p:sp>
      <p:sp>
        <p:nvSpPr>
          <p:cNvPr id="76" name="TextBox 75"/>
          <p:cNvSpPr txBox="1"/>
          <p:nvPr/>
        </p:nvSpPr>
        <p:spPr>
          <a:xfrm>
            <a:off x="914400" y="5285232"/>
            <a:ext cx="3438144" cy="7315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6000"/>
              </a:lnSpc>
            </a:pPr>
            <a:r>
              <a:rPr sz="850" b="0" i="0">
                <a:solidFill>
                  <a:srgbClr val="B9C2DA"/>
                </a:solidFill>
                <a:latin typeface="Segoe UI"/>
              </a:rPr>
              <a:t>Це лише імпортна частина. Український реторт-пауч виробляють у країні, і в митну статистику він не потрапляє.</a:t>
            </a:r>
          </a:p>
        </p:txBody>
      </p:sp>
      <p:sp>
        <p:nvSpPr>
          <p:cNvPr id="77" name="TextBox 76"/>
          <p:cNvSpPr txBox="1"/>
          <p:nvPr/>
        </p:nvSpPr>
        <p:spPr>
          <a:xfrm>
            <a:off x="603504" y="6473952"/>
            <a:ext cx="10881360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4000"/>
              </a:lnSpc>
            </a:pPr>
            <a:r>
              <a:rPr sz="800" b="0" i="0">
                <a:solidFill>
                  <a:srgbClr val="717890"/>
                </a:solidFill>
                <a:latin typeface="Segoe UI"/>
              </a:rPr>
              <a:t>Джерела: Eurostat Comext DS-045409, CN 1904 90 10 «рис приготовлений», експорт ЄС→Україна 2019–2025; UN Comtrade (Корея, Китай) за 2025 р.; курс НБУ, середній за 2025 р.: 47,15 грн/€. Ємність роздрібу — ОЦІНКА.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969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969" cy="1060704"/>
          </a:xfrm>
          <a:prstGeom prst="rect">
            <a:avLst/>
          </a:prstGeom>
          <a:solidFill>
            <a:srgbClr val="303A5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060704"/>
            <a:ext cx="12191969" cy="50292"/>
          </a:xfrm>
          <a:prstGeom prst="rect">
            <a:avLst/>
          </a:prstGeom>
          <a:solidFill>
            <a:srgbClr val="F9A5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5" name="Picture 4" descr="md_logo_whit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03504" y="237744"/>
            <a:ext cx="1389888" cy="603504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2304288" y="310896"/>
            <a:ext cx="676656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950" b="1" i="0">
                <a:solidFill>
                  <a:srgbClr val="FFC95C"/>
                </a:solidFill>
                <a:latin typeface="Segoe UI"/>
              </a:rPr>
              <a:t>КАРТА КАТЕГОРІЇ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2304288" y="548640"/>
            <a:ext cx="804672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900" b="1" i="0">
                <a:solidFill>
                  <a:srgbClr val="FFFFFF"/>
                </a:solidFill>
                <a:latin typeface="Segoe UI"/>
              </a:rPr>
              <a:t>Чотири сегменти, десять брендів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948385" y="402336"/>
            <a:ext cx="640080" cy="32918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/>
            <a:r>
              <a:rPr sz="1700" b="1" i="0">
                <a:solidFill>
                  <a:srgbClr val="465382"/>
                </a:solidFill>
                <a:latin typeface="Segoe UI"/>
              </a:rPr>
              <a:t>04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03504" y="1298448"/>
            <a:ext cx="10881360" cy="3108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200" b="0" i="0">
                <a:solidFill>
                  <a:srgbClr val="717890"/>
                </a:solidFill>
                <a:latin typeface="Segoe UI"/>
              </a:rPr>
              <a:t>Усередині категорії — два формати паковання і дві ролі: гарнір або повна страва.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03504" y="1737360"/>
            <a:ext cx="2578608" cy="2798064"/>
          </a:xfrm>
          <a:prstGeom prst="roundRect">
            <a:avLst>
              <a:gd name="adj" fmla="val 6000"/>
            </a:avLst>
          </a:prstGeom>
          <a:solidFill>
            <a:srgbClr val="F1F4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ounded Rectangle 10"/>
          <p:cNvSpPr/>
          <p:nvPr/>
        </p:nvSpPr>
        <p:spPr>
          <a:xfrm>
            <a:off x="603504" y="1737360"/>
            <a:ext cx="2578608" cy="91440"/>
          </a:xfrm>
          <a:prstGeom prst="roundRect">
            <a:avLst>
              <a:gd name="adj" fmla="val 50000"/>
            </a:avLst>
          </a:prstGeom>
          <a:solidFill>
            <a:srgbClr val="F9A5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804672" y="1920240"/>
            <a:ext cx="219456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950" b="1" i="0">
                <a:solidFill>
                  <a:srgbClr val="F9A50B"/>
                </a:solidFill>
                <a:latin typeface="Segoe UI"/>
              </a:rPr>
              <a:t>ГАРНІР У ПАУЧІ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804672" y="2176272"/>
            <a:ext cx="2194560" cy="29260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400" b="1" i="0">
                <a:solidFill>
                  <a:srgbClr val="303A5D"/>
                </a:solidFill>
                <a:latin typeface="Segoe UI"/>
              </a:rPr>
              <a:t>11 позицій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804672" y="2487168"/>
            <a:ext cx="2194560" cy="5669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2000"/>
              </a:lnSpc>
            </a:pPr>
            <a:r>
              <a:rPr sz="900" b="0" i="0">
                <a:solidFill>
                  <a:srgbClr val="1C2235"/>
                </a:solidFill>
                <a:latin typeface="Segoe UI"/>
              </a:rPr>
              <a:t>Ben's Original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804672" y="3090672"/>
            <a:ext cx="2194560" cy="40233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850" b="0" i="0">
                <a:solidFill>
                  <a:srgbClr val="717890"/>
                </a:solidFill>
                <a:latin typeface="Segoe UI"/>
              </a:rPr>
              <a:t>Чистий рис без наповнювача. Мікрохвильовка 90 с.</a:t>
            </a:r>
          </a:p>
        </p:txBody>
      </p:sp>
      <p:sp>
        <p:nvSpPr>
          <p:cNvPr id="16" name="Rectangle 15"/>
          <p:cNvSpPr/>
          <p:nvPr/>
        </p:nvSpPr>
        <p:spPr>
          <a:xfrm>
            <a:off x="804672" y="3547872"/>
            <a:ext cx="2176272" cy="18288"/>
          </a:xfrm>
          <a:prstGeom prst="rect">
            <a:avLst/>
          </a:prstGeom>
          <a:solidFill>
            <a:srgbClr val="E2E8F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804672" y="3639312"/>
            <a:ext cx="2194560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700" b="1" i="0">
                <a:solidFill>
                  <a:srgbClr val="717890"/>
                </a:solidFill>
                <a:latin typeface="Segoe UI"/>
              </a:rPr>
              <a:t>ЗА УПАКОВКУ · МЕДІАНА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804672" y="3803904"/>
            <a:ext cx="21945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500" b="1" i="0">
                <a:solidFill>
                  <a:srgbClr val="F9A50B"/>
                </a:solidFill>
                <a:latin typeface="Segoe UI"/>
              </a:rPr>
              <a:t>90 грн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804672" y="4059936"/>
            <a:ext cx="2194560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850" b="0" i="0">
                <a:solidFill>
                  <a:srgbClr val="717890"/>
                </a:solidFill>
                <a:latin typeface="Segoe UI"/>
              </a:rPr>
              <a:t>45 – 179 грн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804672" y="4242816"/>
            <a:ext cx="2194560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850" b="1" i="0">
                <a:solidFill>
                  <a:srgbClr val="1C2235"/>
                </a:solidFill>
                <a:latin typeface="Segoe UI"/>
              </a:rPr>
              <a:t>за 100 г — 41 грн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3410712" y="1737360"/>
            <a:ext cx="2578608" cy="2798064"/>
          </a:xfrm>
          <a:prstGeom prst="roundRect">
            <a:avLst>
              <a:gd name="adj" fmla="val 6000"/>
            </a:avLst>
          </a:prstGeom>
          <a:solidFill>
            <a:srgbClr val="F1F4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Rounded Rectangle 21"/>
          <p:cNvSpPr/>
          <p:nvPr/>
        </p:nvSpPr>
        <p:spPr>
          <a:xfrm>
            <a:off x="3410712" y="1737360"/>
            <a:ext cx="2578608" cy="91440"/>
          </a:xfrm>
          <a:prstGeom prst="roundRect">
            <a:avLst>
              <a:gd name="adj" fmla="val 50000"/>
            </a:avLst>
          </a:prstGeom>
          <a:solidFill>
            <a:srgbClr val="7B5EA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3611880" y="1920240"/>
            <a:ext cx="219456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950" b="1" i="0">
                <a:solidFill>
                  <a:srgbClr val="7B5EA7"/>
                </a:solidFill>
                <a:latin typeface="Segoe UI"/>
              </a:rPr>
              <a:t>СТРАВА В ЧАШІ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3611880" y="2176272"/>
            <a:ext cx="2194560" cy="29260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400" b="1" i="0">
                <a:solidFill>
                  <a:srgbClr val="303A5D"/>
                </a:solidFill>
                <a:latin typeface="Segoe UI"/>
              </a:rPr>
              <a:t>8 позицій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3611880" y="2487168"/>
            <a:ext cx="2194560" cy="5669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2000"/>
              </a:lnSpc>
            </a:pPr>
            <a:r>
              <a:rPr sz="900" b="0" i="0">
                <a:solidFill>
                  <a:srgbClr val="1C2235"/>
                </a:solidFill>
                <a:latin typeface="Segoe UI"/>
              </a:rPr>
              <a:t>Ottogi · Bibigo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3611880" y="3090672"/>
            <a:ext cx="2194560" cy="40233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850" b="0" i="0">
                <a:solidFill>
                  <a:srgbClr val="717890"/>
                </a:solidFill>
                <a:latin typeface="Segoe UI"/>
              </a:rPr>
              <a:t>Рис із м'ясом у жорсткій чаші. Мікрохвильовка 2 хв.</a:t>
            </a:r>
          </a:p>
        </p:txBody>
      </p:sp>
      <p:sp>
        <p:nvSpPr>
          <p:cNvPr id="27" name="Rectangle 26"/>
          <p:cNvSpPr/>
          <p:nvPr/>
        </p:nvSpPr>
        <p:spPr>
          <a:xfrm>
            <a:off x="3611880" y="3547872"/>
            <a:ext cx="2176272" cy="18288"/>
          </a:xfrm>
          <a:prstGeom prst="rect">
            <a:avLst/>
          </a:prstGeom>
          <a:solidFill>
            <a:srgbClr val="E2E8F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3611880" y="3639312"/>
            <a:ext cx="2194560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700" b="1" i="0">
                <a:solidFill>
                  <a:srgbClr val="717890"/>
                </a:solidFill>
                <a:latin typeface="Segoe UI"/>
              </a:rPr>
              <a:t>ЗА УПАКОВКУ · МЕДІАНА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3611880" y="3803904"/>
            <a:ext cx="21945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500" b="1" i="0">
                <a:solidFill>
                  <a:srgbClr val="7B5EA7"/>
                </a:solidFill>
                <a:latin typeface="Segoe UI"/>
              </a:rPr>
              <a:t>252 грн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3611880" y="4059936"/>
            <a:ext cx="2194560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850" b="0" i="0">
                <a:solidFill>
                  <a:srgbClr val="717890"/>
                </a:solidFill>
                <a:latin typeface="Segoe UI"/>
              </a:rPr>
              <a:t>189 – 356 грн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3611880" y="4242816"/>
            <a:ext cx="2194560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850" b="1" i="0">
                <a:solidFill>
                  <a:srgbClr val="1C2235"/>
                </a:solidFill>
                <a:latin typeface="Segoe UI"/>
              </a:rPr>
              <a:t>за 100 г — 91 грн</a:t>
            </a:r>
          </a:p>
        </p:txBody>
      </p:sp>
      <p:sp>
        <p:nvSpPr>
          <p:cNvPr id="32" name="Rounded Rectangle 31"/>
          <p:cNvSpPr/>
          <p:nvPr/>
        </p:nvSpPr>
        <p:spPr>
          <a:xfrm>
            <a:off x="6217920" y="1737360"/>
            <a:ext cx="2578608" cy="2798064"/>
          </a:xfrm>
          <a:prstGeom prst="roundRect">
            <a:avLst>
              <a:gd name="adj" fmla="val 6000"/>
            </a:avLst>
          </a:prstGeom>
          <a:solidFill>
            <a:srgbClr val="F1F4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Rounded Rectangle 32"/>
          <p:cNvSpPr/>
          <p:nvPr/>
        </p:nvSpPr>
        <p:spPr>
          <a:xfrm>
            <a:off x="6217920" y="1737360"/>
            <a:ext cx="2578608" cy="91440"/>
          </a:xfrm>
          <a:prstGeom prst="roundRect">
            <a:avLst>
              <a:gd name="adj" fmla="val 50000"/>
            </a:avLst>
          </a:prstGeom>
          <a:solidFill>
            <a:srgbClr val="37A16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6419088" y="1920240"/>
            <a:ext cx="219456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950" b="1" i="0">
                <a:solidFill>
                  <a:srgbClr val="37A169"/>
                </a:solidFill>
                <a:latin typeface="Segoe UI"/>
              </a:rPr>
              <a:t>СТРАВА В ПАУЧІ · УКРАЇНА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6419088" y="2176272"/>
            <a:ext cx="2194560" cy="29260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400" b="1" i="0">
                <a:solidFill>
                  <a:srgbClr val="303A5D"/>
                </a:solidFill>
                <a:latin typeface="Segoe UI"/>
              </a:rPr>
              <a:t>10 позицій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6419088" y="2487168"/>
            <a:ext cx="2194560" cy="5669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2000"/>
              </a:lnSpc>
            </a:pPr>
            <a:r>
              <a:rPr sz="900" b="0" i="0">
                <a:solidFill>
                  <a:srgbClr val="1C2235"/>
                </a:solidFill>
                <a:latin typeface="Segoe UI"/>
              </a:rPr>
              <a:t>Portion · Маркел · Верес · МАКРО · Ходорівський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6419088" y="3090672"/>
            <a:ext cx="2194560" cy="40233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850" b="0" i="0">
                <a:solidFill>
                  <a:srgbClr val="717890"/>
                </a:solidFill>
                <a:latin typeface="Segoe UI"/>
              </a:rPr>
              <a:t>Рис із м'ясом у реторт-паучі. Розігрів у воді або НВЧ.</a:t>
            </a:r>
          </a:p>
        </p:txBody>
      </p:sp>
      <p:sp>
        <p:nvSpPr>
          <p:cNvPr id="38" name="Rectangle 37"/>
          <p:cNvSpPr/>
          <p:nvPr/>
        </p:nvSpPr>
        <p:spPr>
          <a:xfrm>
            <a:off x="6419088" y="3547872"/>
            <a:ext cx="2176272" cy="18288"/>
          </a:xfrm>
          <a:prstGeom prst="rect">
            <a:avLst/>
          </a:prstGeom>
          <a:solidFill>
            <a:srgbClr val="E2E8F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" name="TextBox 38"/>
          <p:cNvSpPr txBox="1"/>
          <p:nvPr/>
        </p:nvSpPr>
        <p:spPr>
          <a:xfrm>
            <a:off x="6419088" y="3639312"/>
            <a:ext cx="2194560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700" b="1" i="0">
                <a:solidFill>
                  <a:srgbClr val="717890"/>
                </a:solidFill>
                <a:latin typeface="Segoe UI"/>
              </a:rPr>
              <a:t>ЗА УПАКОВКУ · МЕДІАНА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6419088" y="3803904"/>
            <a:ext cx="21945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500" b="1" i="0">
                <a:solidFill>
                  <a:srgbClr val="37A169"/>
                </a:solidFill>
                <a:latin typeface="Segoe UI"/>
              </a:rPr>
              <a:t>101 грн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6419088" y="4059936"/>
            <a:ext cx="2194560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850" b="0" i="0">
                <a:solidFill>
                  <a:srgbClr val="717890"/>
                </a:solidFill>
                <a:latin typeface="Segoe UI"/>
              </a:rPr>
              <a:t>71 – 199 грн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6419088" y="4242816"/>
            <a:ext cx="2194560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850" b="1" i="0">
                <a:solidFill>
                  <a:srgbClr val="1C2235"/>
                </a:solidFill>
                <a:latin typeface="Segoe UI"/>
              </a:rPr>
              <a:t>за 100 г — 29 грн</a:t>
            </a:r>
          </a:p>
        </p:txBody>
      </p:sp>
      <p:sp>
        <p:nvSpPr>
          <p:cNvPr id="43" name="Rounded Rectangle 42"/>
          <p:cNvSpPr/>
          <p:nvPr/>
        </p:nvSpPr>
        <p:spPr>
          <a:xfrm>
            <a:off x="9025128" y="1737360"/>
            <a:ext cx="2578608" cy="2798064"/>
          </a:xfrm>
          <a:prstGeom prst="roundRect">
            <a:avLst>
              <a:gd name="adj" fmla="val 6000"/>
            </a:avLst>
          </a:prstGeom>
          <a:solidFill>
            <a:srgbClr val="F1F4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4" name="Rounded Rectangle 43"/>
          <p:cNvSpPr/>
          <p:nvPr/>
        </p:nvSpPr>
        <p:spPr>
          <a:xfrm>
            <a:off x="9025128" y="1737360"/>
            <a:ext cx="2578608" cy="91440"/>
          </a:xfrm>
          <a:prstGeom prst="roundRect">
            <a:avLst>
              <a:gd name="adj" fmla="val 50000"/>
            </a:avLst>
          </a:prstGeom>
          <a:solidFill>
            <a:srgbClr val="1E9E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5" name="TextBox 44"/>
          <p:cNvSpPr txBox="1"/>
          <p:nvPr/>
        </p:nvSpPr>
        <p:spPr>
          <a:xfrm>
            <a:off x="9226296" y="1920240"/>
            <a:ext cx="219456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950" b="1" i="0">
                <a:solidFill>
                  <a:srgbClr val="1E9EA6"/>
                </a:solidFill>
                <a:latin typeface="Segoe UI"/>
              </a:rPr>
              <a:t>СТРАВА В ПАУЧІ · ІМПОРТ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9226296" y="2176272"/>
            <a:ext cx="2194560" cy="29260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400" b="1" i="0">
                <a:solidFill>
                  <a:srgbClr val="303A5D"/>
                </a:solidFill>
                <a:latin typeface="Segoe UI"/>
              </a:rPr>
              <a:t>4 позиції</a:t>
            </a:r>
          </a:p>
        </p:txBody>
      </p:sp>
      <p:sp>
        <p:nvSpPr>
          <p:cNvPr id="47" name="TextBox 46"/>
          <p:cNvSpPr txBox="1"/>
          <p:nvPr/>
        </p:nvSpPr>
        <p:spPr>
          <a:xfrm>
            <a:off x="9226296" y="2487168"/>
            <a:ext cx="2194560" cy="5669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2000"/>
              </a:lnSpc>
            </a:pPr>
            <a:r>
              <a:rPr sz="900" b="0" i="0">
                <a:solidFill>
                  <a:srgbClr val="1C2235"/>
                </a:solidFill>
                <a:latin typeface="Segoe UI"/>
              </a:rPr>
              <a:t>Clearspring · Adventure Menu</a:t>
            </a:r>
          </a:p>
        </p:txBody>
      </p:sp>
      <p:sp>
        <p:nvSpPr>
          <p:cNvPr id="48" name="TextBox 47"/>
          <p:cNvSpPr txBox="1"/>
          <p:nvPr/>
        </p:nvSpPr>
        <p:spPr>
          <a:xfrm>
            <a:off x="9226296" y="3090672"/>
            <a:ext cx="2194560" cy="40233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850" b="0" i="0">
                <a:solidFill>
                  <a:srgbClr val="717890"/>
                </a:solidFill>
                <a:latin typeface="Segoe UI"/>
              </a:rPr>
              <a:t>Те саме, але завезене: ЄС, органіка й туристична лінійка.</a:t>
            </a:r>
          </a:p>
        </p:txBody>
      </p:sp>
      <p:sp>
        <p:nvSpPr>
          <p:cNvPr id="49" name="Rectangle 48"/>
          <p:cNvSpPr/>
          <p:nvPr/>
        </p:nvSpPr>
        <p:spPr>
          <a:xfrm>
            <a:off x="9226296" y="3547872"/>
            <a:ext cx="2176272" cy="18288"/>
          </a:xfrm>
          <a:prstGeom prst="rect">
            <a:avLst/>
          </a:prstGeom>
          <a:solidFill>
            <a:srgbClr val="E2E8F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0" name="TextBox 49"/>
          <p:cNvSpPr txBox="1"/>
          <p:nvPr/>
        </p:nvSpPr>
        <p:spPr>
          <a:xfrm>
            <a:off x="9226296" y="3639312"/>
            <a:ext cx="2194560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700" b="1" i="0">
                <a:solidFill>
                  <a:srgbClr val="717890"/>
                </a:solidFill>
                <a:latin typeface="Segoe UI"/>
              </a:rPr>
              <a:t>ЗА УПАКОВКУ · МЕДІАНА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9226296" y="3803904"/>
            <a:ext cx="21945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500" b="1" i="0">
                <a:solidFill>
                  <a:srgbClr val="1E9EA6"/>
                </a:solidFill>
                <a:latin typeface="Segoe UI"/>
              </a:rPr>
              <a:t>356 грн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9226296" y="4059936"/>
            <a:ext cx="2194560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850" b="0" i="0">
                <a:solidFill>
                  <a:srgbClr val="717890"/>
                </a:solidFill>
                <a:latin typeface="Segoe UI"/>
              </a:rPr>
              <a:t>315 – 466 грн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9226296" y="4242816"/>
            <a:ext cx="2194560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850" b="1" i="0">
                <a:solidFill>
                  <a:srgbClr val="1C2235"/>
                </a:solidFill>
                <a:latin typeface="Segoe UI"/>
              </a:rPr>
              <a:t>за 100 г — 89 грн</a:t>
            </a:r>
          </a:p>
        </p:txBody>
      </p:sp>
      <p:sp>
        <p:nvSpPr>
          <p:cNvPr id="54" name="Rounded Rectangle 53"/>
          <p:cNvSpPr/>
          <p:nvPr/>
        </p:nvSpPr>
        <p:spPr>
          <a:xfrm>
            <a:off x="603504" y="4700016"/>
            <a:ext cx="10954512" cy="1298448"/>
          </a:xfrm>
          <a:prstGeom prst="roundRect">
            <a:avLst>
              <a:gd name="adj" fmla="val 6000"/>
            </a:avLst>
          </a:prstGeom>
          <a:solidFill>
            <a:srgbClr val="303A5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5" name="Rounded Rectangle 54"/>
          <p:cNvSpPr/>
          <p:nvPr/>
        </p:nvSpPr>
        <p:spPr>
          <a:xfrm>
            <a:off x="603504" y="4700016"/>
            <a:ext cx="82296" cy="1298448"/>
          </a:xfrm>
          <a:prstGeom prst="roundRect">
            <a:avLst>
              <a:gd name="adj" fmla="val 50000"/>
            </a:avLst>
          </a:prstGeom>
          <a:solidFill>
            <a:srgbClr val="F9A5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6" name="TextBox 55"/>
          <p:cNvSpPr txBox="1"/>
          <p:nvPr/>
        </p:nvSpPr>
        <p:spPr>
          <a:xfrm>
            <a:off x="914400" y="4864607"/>
            <a:ext cx="10405872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250" b="1" i="0">
                <a:solidFill>
                  <a:srgbClr val="FFC95C"/>
                </a:solidFill>
                <a:latin typeface="Segoe UI"/>
              </a:rPr>
              <a:t>Як читати цю карту</a:t>
            </a:r>
          </a:p>
        </p:txBody>
      </p:sp>
      <p:sp>
        <p:nvSpPr>
          <p:cNvPr id="57" name="TextBox 56"/>
          <p:cNvSpPr txBox="1"/>
          <p:nvPr/>
        </p:nvSpPr>
        <p:spPr>
          <a:xfrm>
            <a:off x="914400" y="5193792"/>
            <a:ext cx="10405872" cy="6583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000" b="0" i="0">
                <a:solidFill>
                  <a:srgbClr val="D5DBEA"/>
                </a:solidFill>
                <a:latin typeface="Segoe UI"/>
              </a:rPr>
              <a:t>Український реторт-пауч уже виграє за грам: 29 грн за 100 г проти 41 грн у Ben's Original і 91 грн у корейської чаші. Але це страва з м'ясом, а не гарнір — інша полиця і інший привід.
Ben's Original тримає нішу гарніру сам-один: жодного українського чистого рису в паучі на ринку немає. Корейська чаша — найдорожчий формат і найвужчий канал: три азійські магазини.</a:t>
            </a:r>
          </a:p>
        </p:txBody>
      </p:sp>
      <p:sp>
        <p:nvSpPr>
          <p:cNvPr id="58" name="TextBox 57"/>
          <p:cNvSpPr txBox="1"/>
          <p:nvPr/>
        </p:nvSpPr>
        <p:spPr>
          <a:xfrm>
            <a:off x="603504" y="6473952"/>
            <a:ext cx="10881360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4000"/>
              </a:lnSpc>
            </a:pPr>
            <a:r>
              <a:rPr sz="800" b="0" i="0">
                <a:solidFill>
                  <a:srgbClr val="717890"/>
                </a:solidFill>
                <a:latin typeface="Segoe UI"/>
              </a:rPr>
              <a:t>33 позицій, ціни за одну упаковку, 23.09.2026.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969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969" cy="1060704"/>
          </a:xfrm>
          <a:prstGeom prst="rect">
            <a:avLst/>
          </a:prstGeom>
          <a:solidFill>
            <a:srgbClr val="303A5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060704"/>
            <a:ext cx="12191969" cy="50292"/>
          </a:xfrm>
          <a:prstGeom prst="rect">
            <a:avLst/>
          </a:prstGeom>
          <a:solidFill>
            <a:srgbClr val="F9A5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5" name="Picture 4" descr="md_logo_whit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03504" y="237744"/>
            <a:ext cx="1389888" cy="603504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2304288" y="310896"/>
            <a:ext cx="676656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950" b="1" i="0">
                <a:solidFill>
                  <a:srgbClr val="FFC95C"/>
                </a:solidFill>
                <a:latin typeface="Segoe UI"/>
              </a:rPr>
              <a:t>СЕГМЕНТ 1 · ГАРНІР У ПАУЧІ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2304288" y="548640"/>
            <a:ext cx="804672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900" b="1" i="0">
                <a:solidFill>
                  <a:srgbClr val="FFFFFF"/>
                </a:solidFill>
                <a:latin typeface="Segoe UI"/>
              </a:rPr>
              <a:t>Ben's Original — 11 позицій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948385" y="402336"/>
            <a:ext cx="640080" cy="32918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/>
            <a:r>
              <a:rPr sz="1700" b="1" i="0">
                <a:solidFill>
                  <a:srgbClr val="465382"/>
                </a:solidFill>
                <a:latin typeface="Segoe UI"/>
              </a:rPr>
              <a:t>05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03504" y="1298448"/>
            <a:ext cx="10881360" cy="3108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200" b="0" i="0">
                <a:solidFill>
                  <a:srgbClr val="717890"/>
                </a:solidFill>
                <a:latin typeface="Segoe UI"/>
              </a:rPr>
              <a:t>Єдиний бренд чистого готового рису на ринку. Мікрохвильовка 90 секунд.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03504" y="1572768"/>
            <a:ext cx="10954512" cy="603504"/>
          </a:xfrm>
          <a:prstGeom prst="roundRect">
            <a:avLst>
              <a:gd name="adj" fmla="val 20000"/>
            </a:avLst>
          </a:prstGeom>
          <a:solidFill>
            <a:srgbClr val="F1F4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ounded Rectangle 10"/>
          <p:cNvSpPr/>
          <p:nvPr/>
        </p:nvSpPr>
        <p:spPr>
          <a:xfrm>
            <a:off x="603504" y="1572768"/>
            <a:ext cx="82296" cy="603504"/>
          </a:xfrm>
          <a:prstGeom prst="roundRect">
            <a:avLst>
              <a:gd name="adj" fmla="val 50000"/>
            </a:avLst>
          </a:prstGeom>
          <a:solidFill>
            <a:srgbClr val="F9A5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877824" y="1636776"/>
            <a:ext cx="274320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400" b="1" i="0">
                <a:solidFill>
                  <a:srgbClr val="303A5D"/>
                </a:solidFill>
                <a:latin typeface="Segoe UI"/>
              </a:rPr>
              <a:t>Ben's Original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877824" y="1901952"/>
            <a:ext cx="2743200" cy="2011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850" b="0" i="0">
                <a:solidFill>
                  <a:srgbClr val="717890"/>
                </a:solidFill>
                <a:latin typeface="Segoe UI"/>
              </a:rPr>
              <a:t>Mars · Франція, Німеччина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3895344" y="1655064"/>
            <a:ext cx="1828800" cy="16459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750" b="1" i="0">
                <a:solidFill>
                  <a:srgbClr val="717890"/>
                </a:solidFill>
                <a:latin typeface="Segoe UI"/>
              </a:rPr>
              <a:t>ФОРМАТ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3895344" y="1837943"/>
            <a:ext cx="182880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150" b="1" i="0">
                <a:solidFill>
                  <a:srgbClr val="1C2235"/>
                </a:solidFill>
                <a:latin typeface="Segoe UI"/>
              </a:rPr>
              <a:t>пауч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5815583" y="1655064"/>
            <a:ext cx="1828800" cy="16459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750" b="1" i="0">
                <a:solidFill>
                  <a:srgbClr val="717890"/>
                </a:solidFill>
                <a:latin typeface="Segoe UI"/>
              </a:rPr>
              <a:t>ПОЗИЦІЙ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5815583" y="1837943"/>
            <a:ext cx="182880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150" b="1" i="0">
                <a:solidFill>
                  <a:srgbClr val="1C2235"/>
                </a:solidFill>
                <a:latin typeface="Segoe UI"/>
              </a:rPr>
              <a:t>11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7735824" y="1655064"/>
            <a:ext cx="1828800" cy="16459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750" b="1" i="0">
                <a:solidFill>
                  <a:srgbClr val="717890"/>
                </a:solidFill>
                <a:latin typeface="Segoe UI"/>
              </a:rPr>
              <a:t>ЗА УПАКОВКУ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7735824" y="1837943"/>
            <a:ext cx="182880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150" b="1" i="0">
                <a:solidFill>
                  <a:srgbClr val="F9A50B"/>
                </a:solidFill>
                <a:latin typeface="Segoe UI"/>
              </a:rPr>
              <a:t>45–179 грн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9656064" y="1655064"/>
            <a:ext cx="1828800" cy="16459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750" b="1" i="0">
                <a:solidFill>
                  <a:srgbClr val="717890"/>
                </a:solidFill>
                <a:latin typeface="Segoe UI"/>
              </a:rPr>
              <a:t>ЗА 100 Г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9656064" y="1837943"/>
            <a:ext cx="182880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150" b="1" i="0">
                <a:solidFill>
                  <a:srgbClr val="F9A50B"/>
                </a:solidFill>
                <a:latin typeface="Segoe UI"/>
              </a:rPr>
              <a:t>18–81 грн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603504" y="2286000"/>
            <a:ext cx="1749552" cy="2029968"/>
          </a:xfrm>
          <a:prstGeom prst="roundRect">
            <a:avLst>
              <a:gd name="adj" fmla="val 7000"/>
            </a:avLst>
          </a:prstGeom>
          <a:solidFill>
            <a:srgbClr val="FFFFFF"/>
          </a:solidFill>
          <a:ln w="12700">
            <a:solidFill>
              <a:srgbClr val="E2E8F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Rounded Rectangle 22"/>
          <p:cNvSpPr/>
          <p:nvPr/>
        </p:nvSpPr>
        <p:spPr>
          <a:xfrm>
            <a:off x="676656" y="2359152"/>
            <a:ext cx="1603248" cy="841248"/>
          </a:xfrm>
          <a:prstGeom prst="roundRect">
            <a:avLst>
              <a:gd name="adj" fmla="val 8000"/>
            </a:avLst>
          </a:prstGeom>
          <a:solidFill>
            <a:srgbClr val="F1F4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24" name="Picture 23" descr="bens_longgrain.jp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205082" y="2395728"/>
            <a:ext cx="546395" cy="768096"/>
          </a:xfrm>
          <a:prstGeom prst="rect">
            <a:avLst/>
          </a:prstGeom>
        </p:spPr>
      </p:pic>
      <p:sp>
        <p:nvSpPr>
          <p:cNvPr id="25" name="TextBox 24"/>
          <p:cNvSpPr txBox="1"/>
          <p:nvPr/>
        </p:nvSpPr>
        <p:spPr>
          <a:xfrm>
            <a:off x="722376" y="3236976"/>
            <a:ext cx="1511808" cy="32918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2000"/>
              </a:lnSpc>
            </a:pPr>
            <a:r>
              <a:rPr sz="900" b="1" i="0">
                <a:solidFill>
                  <a:srgbClr val="303A5D"/>
                </a:solidFill>
                <a:latin typeface="Segoe UI"/>
              </a:rPr>
              <a:t>Long Grain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722376" y="3584448"/>
            <a:ext cx="1511808" cy="16459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750" b="1" i="0">
                <a:solidFill>
                  <a:srgbClr val="F9A50B"/>
                </a:solidFill>
                <a:latin typeface="Segoe UI"/>
              </a:rPr>
              <a:t>BEN'S ORIGINAL  ·  </a:t>
            </a:r>
            <a:r>
              <a:rPr sz="750" b="0" i="0">
                <a:solidFill>
                  <a:srgbClr val="717890"/>
                </a:solidFill>
                <a:latin typeface="Segoe UI"/>
              </a:rPr>
              <a:t>250 г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722376" y="3749039"/>
            <a:ext cx="1511808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150" b="1" i="0">
                <a:solidFill>
                  <a:srgbClr val="F9A50B"/>
                </a:solidFill>
                <a:latin typeface="Segoe UI"/>
              </a:rPr>
              <a:t>45 грн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722376" y="3995928"/>
            <a:ext cx="1511808" cy="16459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750" b="1" i="0">
                <a:solidFill>
                  <a:srgbClr val="717890"/>
                </a:solidFill>
                <a:latin typeface="Segoe UI"/>
              </a:rPr>
              <a:t>18 грн/100 г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722376" y="4151376"/>
            <a:ext cx="1511808" cy="16459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700" b="0" i="0">
                <a:solidFill>
                  <a:srgbClr val="717890"/>
                </a:solidFill>
                <a:latin typeface="Segoe UI"/>
              </a:rPr>
              <a:t>Сільпо</a:t>
            </a:r>
          </a:p>
        </p:txBody>
      </p:sp>
      <p:sp>
        <p:nvSpPr>
          <p:cNvPr id="30" name="Rounded Rectangle 29"/>
          <p:cNvSpPr/>
          <p:nvPr/>
        </p:nvSpPr>
        <p:spPr>
          <a:xfrm>
            <a:off x="2444496" y="2286000"/>
            <a:ext cx="1749552" cy="2029968"/>
          </a:xfrm>
          <a:prstGeom prst="roundRect">
            <a:avLst>
              <a:gd name="adj" fmla="val 7000"/>
            </a:avLst>
          </a:prstGeom>
          <a:solidFill>
            <a:srgbClr val="FFFFFF"/>
          </a:solidFill>
          <a:ln w="12700">
            <a:solidFill>
              <a:srgbClr val="E2E8F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Rounded Rectangle 30"/>
          <p:cNvSpPr/>
          <p:nvPr/>
        </p:nvSpPr>
        <p:spPr>
          <a:xfrm>
            <a:off x="2517648" y="2359152"/>
            <a:ext cx="1603248" cy="841248"/>
          </a:xfrm>
          <a:prstGeom prst="roundRect">
            <a:avLst>
              <a:gd name="adj" fmla="val 8000"/>
            </a:avLst>
          </a:prstGeom>
          <a:solidFill>
            <a:srgbClr val="F1F4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2" name="Picture 31" descr="bens_basmati250.jp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3044764" y="2395728"/>
            <a:ext cx="549014" cy="768096"/>
          </a:xfrm>
          <a:prstGeom prst="rect">
            <a:avLst/>
          </a:prstGeom>
        </p:spPr>
      </p:pic>
      <p:sp>
        <p:nvSpPr>
          <p:cNvPr id="33" name="TextBox 32"/>
          <p:cNvSpPr txBox="1"/>
          <p:nvPr/>
        </p:nvSpPr>
        <p:spPr>
          <a:xfrm>
            <a:off x="2563368" y="3236976"/>
            <a:ext cx="1511808" cy="32918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2000"/>
              </a:lnSpc>
            </a:pPr>
            <a:r>
              <a:rPr sz="900" b="1" i="0">
                <a:solidFill>
                  <a:srgbClr val="303A5D"/>
                </a:solidFill>
                <a:latin typeface="Segoe UI"/>
              </a:rPr>
              <a:t>Basmati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2563368" y="3584448"/>
            <a:ext cx="1511808" cy="16459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750" b="1" i="0">
                <a:solidFill>
                  <a:srgbClr val="F9A50B"/>
                </a:solidFill>
                <a:latin typeface="Segoe UI"/>
              </a:rPr>
              <a:t>BEN'S ORIGINAL  ·  </a:t>
            </a:r>
            <a:r>
              <a:rPr sz="750" b="0" i="0">
                <a:solidFill>
                  <a:srgbClr val="717890"/>
                </a:solidFill>
                <a:latin typeface="Segoe UI"/>
              </a:rPr>
              <a:t>250 г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2563368" y="3749039"/>
            <a:ext cx="1511808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150" b="1" i="0">
                <a:solidFill>
                  <a:srgbClr val="F9A50B"/>
                </a:solidFill>
                <a:latin typeface="Segoe UI"/>
              </a:rPr>
              <a:t>90 грн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2563368" y="3995928"/>
            <a:ext cx="1511808" cy="16459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750" b="1" i="0">
                <a:solidFill>
                  <a:srgbClr val="717890"/>
                </a:solidFill>
                <a:latin typeface="Segoe UI"/>
              </a:rPr>
              <a:t>36 грн/100 г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2563368" y="4151376"/>
            <a:ext cx="1511808" cy="16459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700" b="0" i="0">
                <a:solidFill>
                  <a:srgbClr val="717890"/>
                </a:solidFill>
                <a:latin typeface="Segoe UI"/>
              </a:rPr>
              <a:t>Сільпо</a:t>
            </a:r>
          </a:p>
        </p:txBody>
      </p:sp>
      <p:sp>
        <p:nvSpPr>
          <p:cNvPr id="38" name="Rounded Rectangle 37"/>
          <p:cNvSpPr/>
          <p:nvPr/>
        </p:nvSpPr>
        <p:spPr>
          <a:xfrm>
            <a:off x="4285488" y="2286000"/>
            <a:ext cx="1749552" cy="2029968"/>
          </a:xfrm>
          <a:prstGeom prst="roundRect">
            <a:avLst>
              <a:gd name="adj" fmla="val 7000"/>
            </a:avLst>
          </a:prstGeom>
          <a:solidFill>
            <a:srgbClr val="FFFFFF"/>
          </a:solidFill>
          <a:ln w="12700">
            <a:solidFill>
              <a:srgbClr val="E2E8F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" name="Rounded Rectangle 38"/>
          <p:cNvSpPr/>
          <p:nvPr/>
        </p:nvSpPr>
        <p:spPr>
          <a:xfrm>
            <a:off x="4358640" y="2359152"/>
            <a:ext cx="1603248" cy="841248"/>
          </a:xfrm>
          <a:prstGeom prst="roundRect">
            <a:avLst>
              <a:gd name="adj" fmla="val 8000"/>
            </a:avLst>
          </a:prstGeom>
          <a:solidFill>
            <a:srgbClr val="F1F4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40" name="Picture 39" descr="bens_mediterran.jp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4887939" y="2395728"/>
            <a:ext cx="544649" cy="768096"/>
          </a:xfrm>
          <a:prstGeom prst="rect">
            <a:avLst/>
          </a:prstGeom>
        </p:spPr>
      </p:pic>
      <p:sp>
        <p:nvSpPr>
          <p:cNvPr id="41" name="TextBox 40"/>
          <p:cNvSpPr txBox="1"/>
          <p:nvPr/>
        </p:nvSpPr>
        <p:spPr>
          <a:xfrm>
            <a:off x="4404360" y="3236976"/>
            <a:ext cx="1511808" cy="32918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2000"/>
              </a:lnSpc>
            </a:pPr>
            <a:r>
              <a:rPr sz="900" b="1" i="0">
                <a:solidFill>
                  <a:srgbClr val="303A5D"/>
                </a:solidFill>
                <a:latin typeface="Segoe UI"/>
              </a:rPr>
              <a:t>Mediterran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4404360" y="3584448"/>
            <a:ext cx="1511808" cy="16459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750" b="1" i="0">
                <a:solidFill>
                  <a:srgbClr val="F9A50B"/>
                </a:solidFill>
                <a:latin typeface="Segoe UI"/>
              </a:rPr>
              <a:t>BEN'S ORIGINAL  ·  </a:t>
            </a:r>
            <a:r>
              <a:rPr sz="750" b="0" i="0">
                <a:solidFill>
                  <a:srgbClr val="717890"/>
                </a:solidFill>
                <a:latin typeface="Segoe UI"/>
              </a:rPr>
              <a:t>250 г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4404360" y="3749039"/>
            <a:ext cx="1511808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150" b="1" i="0">
                <a:solidFill>
                  <a:srgbClr val="F9A50B"/>
                </a:solidFill>
                <a:latin typeface="Segoe UI"/>
              </a:rPr>
              <a:t>90 грн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4404360" y="3995928"/>
            <a:ext cx="1511808" cy="16459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750" b="1" i="0">
                <a:solidFill>
                  <a:srgbClr val="717890"/>
                </a:solidFill>
                <a:latin typeface="Segoe UI"/>
              </a:rPr>
              <a:t>36 грн/100 г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4404360" y="4151376"/>
            <a:ext cx="1511808" cy="16459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700" b="0" i="0">
                <a:solidFill>
                  <a:srgbClr val="717890"/>
                </a:solidFill>
                <a:latin typeface="Segoe UI"/>
              </a:rPr>
              <a:t>Сільпо</a:t>
            </a:r>
          </a:p>
        </p:txBody>
      </p:sp>
      <p:sp>
        <p:nvSpPr>
          <p:cNvPr id="46" name="Rounded Rectangle 45"/>
          <p:cNvSpPr/>
          <p:nvPr/>
        </p:nvSpPr>
        <p:spPr>
          <a:xfrm>
            <a:off x="6126479" y="2286000"/>
            <a:ext cx="1749552" cy="2029968"/>
          </a:xfrm>
          <a:prstGeom prst="roundRect">
            <a:avLst>
              <a:gd name="adj" fmla="val 7000"/>
            </a:avLst>
          </a:prstGeom>
          <a:solidFill>
            <a:srgbClr val="FFFFFF"/>
          </a:solidFill>
          <a:ln w="12700">
            <a:solidFill>
              <a:srgbClr val="E2E8F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7" name="Rounded Rectangle 46"/>
          <p:cNvSpPr/>
          <p:nvPr/>
        </p:nvSpPr>
        <p:spPr>
          <a:xfrm>
            <a:off x="6199631" y="2359152"/>
            <a:ext cx="1603248" cy="841248"/>
          </a:xfrm>
          <a:prstGeom prst="roundRect">
            <a:avLst>
              <a:gd name="adj" fmla="val 8000"/>
            </a:avLst>
          </a:prstGeom>
          <a:solidFill>
            <a:srgbClr val="F1F4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48" name="Picture 47" descr="bens_risibisi.jp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6728058" y="2395728"/>
            <a:ext cx="546395" cy="768096"/>
          </a:xfrm>
          <a:prstGeom prst="rect">
            <a:avLst/>
          </a:prstGeom>
        </p:spPr>
      </p:pic>
      <p:sp>
        <p:nvSpPr>
          <p:cNvPr id="49" name="TextBox 48"/>
          <p:cNvSpPr txBox="1"/>
          <p:nvPr/>
        </p:nvSpPr>
        <p:spPr>
          <a:xfrm>
            <a:off x="6245351" y="3236976"/>
            <a:ext cx="1511808" cy="32918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2000"/>
              </a:lnSpc>
            </a:pPr>
            <a:r>
              <a:rPr sz="900" b="1" i="0">
                <a:solidFill>
                  <a:srgbClr val="303A5D"/>
                </a:solidFill>
                <a:latin typeface="Segoe UI"/>
              </a:rPr>
              <a:t>Risi Bisi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6245351" y="3584448"/>
            <a:ext cx="1511808" cy="16459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750" b="1" i="0">
                <a:solidFill>
                  <a:srgbClr val="F9A50B"/>
                </a:solidFill>
                <a:latin typeface="Segoe UI"/>
              </a:rPr>
              <a:t>BEN'S ORIGINAL  ·  </a:t>
            </a:r>
            <a:r>
              <a:rPr sz="750" b="0" i="0">
                <a:solidFill>
                  <a:srgbClr val="717890"/>
                </a:solidFill>
                <a:latin typeface="Segoe UI"/>
              </a:rPr>
              <a:t>250 г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6245351" y="3749039"/>
            <a:ext cx="1511808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150" b="1" i="0">
                <a:solidFill>
                  <a:srgbClr val="F9A50B"/>
                </a:solidFill>
                <a:latin typeface="Segoe UI"/>
              </a:rPr>
              <a:t>90 грн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6245351" y="3995928"/>
            <a:ext cx="1511808" cy="16459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750" b="1" i="0">
                <a:solidFill>
                  <a:srgbClr val="717890"/>
                </a:solidFill>
                <a:latin typeface="Segoe UI"/>
              </a:rPr>
              <a:t>36 грн/100 г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6245351" y="4151376"/>
            <a:ext cx="1511808" cy="16459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700" b="0" i="0">
                <a:solidFill>
                  <a:srgbClr val="717890"/>
                </a:solidFill>
                <a:latin typeface="Segoe UI"/>
              </a:rPr>
              <a:t>Сільпо</a:t>
            </a:r>
          </a:p>
        </p:txBody>
      </p:sp>
      <p:sp>
        <p:nvSpPr>
          <p:cNvPr id="54" name="Rounded Rectangle 53"/>
          <p:cNvSpPr/>
          <p:nvPr/>
        </p:nvSpPr>
        <p:spPr>
          <a:xfrm>
            <a:off x="7967472" y="2286000"/>
            <a:ext cx="1749552" cy="2029968"/>
          </a:xfrm>
          <a:prstGeom prst="roundRect">
            <a:avLst>
              <a:gd name="adj" fmla="val 7000"/>
            </a:avLst>
          </a:prstGeom>
          <a:solidFill>
            <a:srgbClr val="FFFFFF"/>
          </a:solidFill>
          <a:ln w="12700">
            <a:solidFill>
              <a:srgbClr val="E2E8F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5" name="Rounded Rectangle 54"/>
          <p:cNvSpPr/>
          <p:nvPr/>
        </p:nvSpPr>
        <p:spPr>
          <a:xfrm>
            <a:off x="8040624" y="2359152"/>
            <a:ext cx="1603248" cy="841248"/>
          </a:xfrm>
          <a:prstGeom prst="roundRect">
            <a:avLst>
              <a:gd name="adj" fmla="val 8000"/>
            </a:avLst>
          </a:prstGeom>
          <a:solidFill>
            <a:srgbClr val="F1F4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56" name="Picture 55" descr="bens_curry_indien.jpg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8563813" y="2395728"/>
            <a:ext cx="556869" cy="768096"/>
          </a:xfrm>
          <a:prstGeom prst="rect">
            <a:avLst/>
          </a:prstGeom>
        </p:spPr>
      </p:pic>
      <p:sp>
        <p:nvSpPr>
          <p:cNvPr id="57" name="TextBox 56"/>
          <p:cNvSpPr txBox="1"/>
          <p:nvPr/>
        </p:nvSpPr>
        <p:spPr>
          <a:xfrm>
            <a:off x="8086344" y="3236976"/>
            <a:ext cx="1511808" cy="32918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2000"/>
              </a:lnSpc>
            </a:pPr>
            <a:r>
              <a:rPr sz="900" b="1" i="0">
                <a:solidFill>
                  <a:srgbClr val="303A5D"/>
                </a:solidFill>
                <a:latin typeface="Segoe UI"/>
              </a:rPr>
              <a:t>Indian Curry</a:t>
            </a:r>
          </a:p>
        </p:txBody>
      </p:sp>
      <p:sp>
        <p:nvSpPr>
          <p:cNvPr id="58" name="TextBox 57"/>
          <p:cNvSpPr txBox="1"/>
          <p:nvPr/>
        </p:nvSpPr>
        <p:spPr>
          <a:xfrm>
            <a:off x="8086344" y="3584448"/>
            <a:ext cx="1511808" cy="16459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750" b="1" i="0">
                <a:solidFill>
                  <a:srgbClr val="F9A50B"/>
                </a:solidFill>
                <a:latin typeface="Segoe UI"/>
              </a:rPr>
              <a:t>BEN'S ORIGINAL  ·  </a:t>
            </a:r>
            <a:r>
              <a:rPr sz="750" b="0" i="0">
                <a:solidFill>
                  <a:srgbClr val="717890"/>
                </a:solidFill>
                <a:latin typeface="Segoe UI"/>
              </a:rPr>
              <a:t>250 г</a:t>
            </a:r>
          </a:p>
        </p:txBody>
      </p:sp>
      <p:sp>
        <p:nvSpPr>
          <p:cNvPr id="59" name="TextBox 58"/>
          <p:cNvSpPr txBox="1"/>
          <p:nvPr/>
        </p:nvSpPr>
        <p:spPr>
          <a:xfrm>
            <a:off x="8086344" y="3749039"/>
            <a:ext cx="1511808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150" b="1" i="0">
                <a:solidFill>
                  <a:srgbClr val="F9A50B"/>
                </a:solidFill>
                <a:latin typeface="Segoe UI"/>
              </a:rPr>
              <a:t>90 грн</a:t>
            </a:r>
          </a:p>
        </p:txBody>
      </p:sp>
      <p:sp>
        <p:nvSpPr>
          <p:cNvPr id="60" name="TextBox 59"/>
          <p:cNvSpPr txBox="1"/>
          <p:nvPr/>
        </p:nvSpPr>
        <p:spPr>
          <a:xfrm>
            <a:off x="8086344" y="3995928"/>
            <a:ext cx="1511808" cy="16459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750" b="1" i="0">
                <a:solidFill>
                  <a:srgbClr val="717890"/>
                </a:solidFill>
                <a:latin typeface="Segoe UI"/>
              </a:rPr>
              <a:t>36 грн/100 г</a:t>
            </a:r>
          </a:p>
        </p:txBody>
      </p:sp>
      <p:sp>
        <p:nvSpPr>
          <p:cNvPr id="61" name="TextBox 60"/>
          <p:cNvSpPr txBox="1"/>
          <p:nvPr/>
        </p:nvSpPr>
        <p:spPr>
          <a:xfrm>
            <a:off x="8086344" y="4151376"/>
            <a:ext cx="1511808" cy="16459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700" b="0" i="0">
                <a:solidFill>
                  <a:srgbClr val="717890"/>
                </a:solidFill>
                <a:latin typeface="Segoe UI"/>
              </a:rPr>
              <a:t>Сільпо</a:t>
            </a:r>
          </a:p>
        </p:txBody>
      </p:sp>
      <p:sp>
        <p:nvSpPr>
          <p:cNvPr id="62" name="Rounded Rectangle 61"/>
          <p:cNvSpPr/>
          <p:nvPr/>
        </p:nvSpPr>
        <p:spPr>
          <a:xfrm>
            <a:off x="9808464" y="2286000"/>
            <a:ext cx="1749552" cy="2029968"/>
          </a:xfrm>
          <a:prstGeom prst="roundRect">
            <a:avLst>
              <a:gd name="adj" fmla="val 7000"/>
            </a:avLst>
          </a:prstGeom>
          <a:solidFill>
            <a:srgbClr val="FFFFFF"/>
          </a:solidFill>
          <a:ln w="12700">
            <a:solidFill>
              <a:srgbClr val="E2E8F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3" name="Rounded Rectangle 62"/>
          <p:cNvSpPr/>
          <p:nvPr/>
        </p:nvSpPr>
        <p:spPr>
          <a:xfrm>
            <a:off x="9881616" y="2359152"/>
            <a:ext cx="1603248" cy="841248"/>
          </a:xfrm>
          <a:prstGeom prst="roundRect">
            <a:avLst>
              <a:gd name="adj" fmla="val 8000"/>
            </a:avLst>
          </a:prstGeom>
          <a:solidFill>
            <a:srgbClr val="F1F4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64" name="Picture 63" descr="bens_curry_linsen.jpg"/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10417461" y="2395728"/>
            <a:ext cx="531557" cy="768096"/>
          </a:xfrm>
          <a:prstGeom prst="rect">
            <a:avLst/>
          </a:prstGeom>
        </p:spPr>
      </p:pic>
      <p:sp>
        <p:nvSpPr>
          <p:cNvPr id="65" name="TextBox 64"/>
          <p:cNvSpPr txBox="1"/>
          <p:nvPr/>
        </p:nvSpPr>
        <p:spPr>
          <a:xfrm>
            <a:off x="9927336" y="3236976"/>
            <a:ext cx="1511808" cy="32918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2000"/>
              </a:lnSpc>
            </a:pPr>
            <a:r>
              <a:rPr sz="900" b="1" i="0">
                <a:solidFill>
                  <a:srgbClr val="303A5D"/>
                </a:solidFill>
                <a:latin typeface="Segoe UI"/>
              </a:rPr>
              <a:t>Curry з сочевицею</a:t>
            </a:r>
          </a:p>
        </p:txBody>
      </p:sp>
      <p:sp>
        <p:nvSpPr>
          <p:cNvPr id="66" name="TextBox 65"/>
          <p:cNvSpPr txBox="1"/>
          <p:nvPr/>
        </p:nvSpPr>
        <p:spPr>
          <a:xfrm>
            <a:off x="9927336" y="3584448"/>
            <a:ext cx="1511808" cy="16459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750" b="1" i="0">
                <a:solidFill>
                  <a:srgbClr val="F9A50B"/>
                </a:solidFill>
                <a:latin typeface="Segoe UI"/>
              </a:rPr>
              <a:t>BEN'S ORIGINAL  ·  </a:t>
            </a:r>
            <a:r>
              <a:rPr sz="750" b="0" i="0">
                <a:solidFill>
                  <a:srgbClr val="717890"/>
                </a:solidFill>
                <a:latin typeface="Segoe UI"/>
              </a:rPr>
              <a:t>220 г</a:t>
            </a:r>
          </a:p>
        </p:txBody>
      </p:sp>
      <p:sp>
        <p:nvSpPr>
          <p:cNvPr id="67" name="TextBox 66"/>
          <p:cNvSpPr txBox="1"/>
          <p:nvPr/>
        </p:nvSpPr>
        <p:spPr>
          <a:xfrm>
            <a:off x="9927336" y="3749039"/>
            <a:ext cx="1511808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150" b="1" i="0">
                <a:solidFill>
                  <a:srgbClr val="F9A50B"/>
                </a:solidFill>
                <a:latin typeface="Segoe UI"/>
              </a:rPr>
              <a:t>90 грн</a:t>
            </a:r>
          </a:p>
        </p:txBody>
      </p:sp>
      <p:sp>
        <p:nvSpPr>
          <p:cNvPr id="68" name="TextBox 67"/>
          <p:cNvSpPr txBox="1"/>
          <p:nvPr/>
        </p:nvSpPr>
        <p:spPr>
          <a:xfrm>
            <a:off x="9927336" y="3995928"/>
            <a:ext cx="1511808" cy="16459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750" b="1" i="0">
                <a:solidFill>
                  <a:srgbClr val="717890"/>
                </a:solidFill>
                <a:latin typeface="Segoe UI"/>
              </a:rPr>
              <a:t>41 грн/100 г</a:t>
            </a:r>
          </a:p>
        </p:txBody>
      </p:sp>
      <p:sp>
        <p:nvSpPr>
          <p:cNvPr id="69" name="TextBox 68"/>
          <p:cNvSpPr txBox="1"/>
          <p:nvPr/>
        </p:nvSpPr>
        <p:spPr>
          <a:xfrm>
            <a:off x="9927336" y="4151376"/>
            <a:ext cx="1511808" cy="16459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700" b="0" i="0">
                <a:solidFill>
                  <a:srgbClr val="717890"/>
                </a:solidFill>
                <a:latin typeface="Segoe UI"/>
              </a:rPr>
              <a:t>Сільпо</a:t>
            </a:r>
          </a:p>
        </p:txBody>
      </p:sp>
      <p:sp>
        <p:nvSpPr>
          <p:cNvPr id="70" name="Rounded Rectangle 69"/>
          <p:cNvSpPr/>
          <p:nvPr/>
        </p:nvSpPr>
        <p:spPr>
          <a:xfrm>
            <a:off x="603504" y="4370832"/>
            <a:ext cx="1749552" cy="2029968"/>
          </a:xfrm>
          <a:prstGeom prst="roundRect">
            <a:avLst>
              <a:gd name="adj" fmla="val 7000"/>
            </a:avLst>
          </a:prstGeom>
          <a:solidFill>
            <a:srgbClr val="FFFFFF"/>
          </a:solidFill>
          <a:ln w="12700">
            <a:solidFill>
              <a:srgbClr val="E2E8F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1" name="Rounded Rectangle 70"/>
          <p:cNvSpPr/>
          <p:nvPr/>
        </p:nvSpPr>
        <p:spPr>
          <a:xfrm>
            <a:off x="676656" y="4443984"/>
            <a:ext cx="1603248" cy="841248"/>
          </a:xfrm>
          <a:prstGeom prst="roundRect">
            <a:avLst>
              <a:gd name="adj" fmla="val 8000"/>
            </a:avLst>
          </a:prstGeom>
          <a:solidFill>
            <a:srgbClr val="F1F4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72" name="Picture 71" descr="bens_mexikanisch.jpg"/>
          <p:cNvPicPr>
            <a:picLocks noChangeAspect="1"/>
          </p:cNvPicPr>
          <p:nvPr/>
        </p:nvPicPr>
        <p:blipFill>
          <a:blip r:embed="rId9"/>
          <a:stretch>
            <a:fillRect/>
          </a:stretch>
        </p:blipFill>
        <p:spPr>
          <a:xfrm>
            <a:off x="1203772" y="4480560"/>
            <a:ext cx="549014" cy="768096"/>
          </a:xfrm>
          <a:prstGeom prst="rect">
            <a:avLst/>
          </a:prstGeom>
        </p:spPr>
      </p:pic>
      <p:sp>
        <p:nvSpPr>
          <p:cNvPr id="73" name="TextBox 72"/>
          <p:cNvSpPr txBox="1"/>
          <p:nvPr/>
        </p:nvSpPr>
        <p:spPr>
          <a:xfrm>
            <a:off x="722376" y="5321808"/>
            <a:ext cx="1511808" cy="32918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2000"/>
              </a:lnSpc>
            </a:pPr>
            <a:r>
              <a:rPr sz="900" b="1" i="0">
                <a:solidFill>
                  <a:srgbClr val="303A5D"/>
                </a:solidFill>
                <a:latin typeface="Segoe UI"/>
              </a:rPr>
              <a:t>Mexikanisch</a:t>
            </a:r>
          </a:p>
        </p:txBody>
      </p:sp>
      <p:sp>
        <p:nvSpPr>
          <p:cNvPr id="74" name="TextBox 73"/>
          <p:cNvSpPr txBox="1"/>
          <p:nvPr/>
        </p:nvSpPr>
        <p:spPr>
          <a:xfrm>
            <a:off x="722376" y="5669280"/>
            <a:ext cx="1511808" cy="16459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750" b="1" i="0">
                <a:solidFill>
                  <a:srgbClr val="F9A50B"/>
                </a:solidFill>
                <a:latin typeface="Segoe UI"/>
              </a:rPr>
              <a:t>BEN'S ORIGINAL  ·  </a:t>
            </a:r>
            <a:r>
              <a:rPr sz="750" b="0" i="0">
                <a:solidFill>
                  <a:srgbClr val="717890"/>
                </a:solidFill>
                <a:latin typeface="Segoe UI"/>
              </a:rPr>
              <a:t>220 г</a:t>
            </a:r>
          </a:p>
        </p:txBody>
      </p:sp>
      <p:sp>
        <p:nvSpPr>
          <p:cNvPr id="75" name="TextBox 74"/>
          <p:cNvSpPr txBox="1"/>
          <p:nvPr/>
        </p:nvSpPr>
        <p:spPr>
          <a:xfrm>
            <a:off x="722376" y="5833872"/>
            <a:ext cx="1511808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150" b="1" i="0">
                <a:solidFill>
                  <a:srgbClr val="F9A50B"/>
                </a:solidFill>
                <a:latin typeface="Segoe UI"/>
              </a:rPr>
              <a:t>109 грн</a:t>
            </a:r>
          </a:p>
        </p:txBody>
      </p:sp>
      <p:sp>
        <p:nvSpPr>
          <p:cNvPr id="76" name="TextBox 75"/>
          <p:cNvSpPr txBox="1"/>
          <p:nvPr/>
        </p:nvSpPr>
        <p:spPr>
          <a:xfrm>
            <a:off x="722376" y="6080760"/>
            <a:ext cx="1511808" cy="16459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750" b="1" i="0">
                <a:solidFill>
                  <a:srgbClr val="717890"/>
                </a:solidFill>
                <a:latin typeface="Segoe UI"/>
              </a:rPr>
              <a:t>50 грн/100 г</a:t>
            </a:r>
          </a:p>
        </p:txBody>
      </p:sp>
      <p:sp>
        <p:nvSpPr>
          <p:cNvPr id="77" name="TextBox 76"/>
          <p:cNvSpPr txBox="1"/>
          <p:nvPr/>
        </p:nvSpPr>
        <p:spPr>
          <a:xfrm>
            <a:off x="722376" y="6236208"/>
            <a:ext cx="1511808" cy="16459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700" b="0" i="0">
                <a:solidFill>
                  <a:srgbClr val="717890"/>
                </a:solidFill>
                <a:latin typeface="Segoe UI"/>
              </a:rPr>
              <a:t>Сільпо</a:t>
            </a:r>
          </a:p>
        </p:txBody>
      </p:sp>
      <p:sp>
        <p:nvSpPr>
          <p:cNvPr id="78" name="Rounded Rectangle 77"/>
          <p:cNvSpPr/>
          <p:nvPr/>
        </p:nvSpPr>
        <p:spPr>
          <a:xfrm>
            <a:off x="2444496" y="4370832"/>
            <a:ext cx="1749552" cy="2029968"/>
          </a:xfrm>
          <a:prstGeom prst="roundRect">
            <a:avLst>
              <a:gd name="adj" fmla="val 7000"/>
            </a:avLst>
          </a:prstGeom>
          <a:solidFill>
            <a:srgbClr val="FFFFFF"/>
          </a:solidFill>
          <a:ln w="12700">
            <a:solidFill>
              <a:srgbClr val="E2E8F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9" name="Rounded Rectangle 78"/>
          <p:cNvSpPr/>
          <p:nvPr/>
        </p:nvSpPr>
        <p:spPr>
          <a:xfrm>
            <a:off x="2517648" y="4443984"/>
            <a:ext cx="1603248" cy="841248"/>
          </a:xfrm>
          <a:prstGeom prst="roundRect">
            <a:avLst>
              <a:gd name="adj" fmla="val 8000"/>
            </a:avLst>
          </a:prstGeom>
          <a:solidFill>
            <a:srgbClr val="F1F4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80" name="Picture 79" descr="bens_curryreis.jpg"/>
          <p:cNvPicPr>
            <a:picLocks noChangeAspect="1"/>
          </p:cNvPicPr>
          <p:nvPr/>
        </p:nvPicPr>
        <p:blipFill>
          <a:blip r:embed="rId10"/>
          <a:stretch>
            <a:fillRect/>
          </a:stretch>
        </p:blipFill>
        <p:spPr>
          <a:xfrm>
            <a:off x="3034290" y="4480560"/>
            <a:ext cx="569962" cy="768096"/>
          </a:xfrm>
          <a:prstGeom prst="rect">
            <a:avLst/>
          </a:prstGeom>
        </p:spPr>
      </p:pic>
      <p:sp>
        <p:nvSpPr>
          <p:cNvPr id="81" name="TextBox 80"/>
          <p:cNvSpPr txBox="1"/>
          <p:nvPr/>
        </p:nvSpPr>
        <p:spPr>
          <a:xfrm>
            <a:off x="2563368" y="5321808"/>
            <a:ext cx="1511808" cy="32918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2000"/>
              </a:lnSpc>
            </a:pPr>
            <a:r>
              <a:rPr sz="900" b="1" i="0">
                <a:solidFill>
                  <a:srgbClr val="303A5D"/>
                </a:solidFill>
                <a:latin typeface="Segoe UI"/>
              </a:rPr>
              <a:t>Curryreis Indien</a:t>
            </a:r>
          </a:p>
        </p:txBody>
      </p:sp>
      <p:sp>
        <p:nvSpPr>
          <p:cNvPr id="82" name="TextBox 81"/>
          <p:cNvSpPr txBox="1"/>
          <p:nvPr/>
        </p:nvSpPr>
        <p:spPr>
          <a:xfrm>
            <a:off x="2563368" y="5669280"/>
            <a:ext cx="1511808" cy="16459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750" b="1" i="0">
                <a:solidFill>
                  <a:srgbClr val="F9A50B"/>
                </a:solidFill>
                <a:latin typeface="Segoe UI"/>
              </a:rPr>
              <a:t>BEN'S ORIGINAL  ·  </a:t>
            </a:r>
            <a:r>
              <a:rPr sz="750" b="0" i="0">
                <a:solidFill>
                  <a:srgbClr val="717890"/>
                </a:solidFill>
                <a:latin typeface="Segoe UI"/>
              </a:rPr>
              <a:t>220 г</a:t>
            </a:r>
          </a:p>
        </p:txBody>
      </p:sp>
      <p:sp>
        <p:nvSpPr>
          <p:cNvPr id="83" name="TextBox 82"/>
          <p:cNvSpPr txBox="1"/>
          <p:nvPr/>
        </p:nvSpPr>
        <p:spPr>
          <a:xfrm>
            <a:off x="2563368" y="5833872"/>
            <a:ext cx="1511808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150" b="1" i="0">
                <a:solidFill>
                  <a:srgbClr val="F9A50B"/>
                </a:solidFill>
                <a:latin typeface="Segoe UI"/>
              </a:rPr>
              <a:t>144 грн</a:t>
            </a:r>
          </a:p>
        </p:txBody>
      </p:sp>
      <p:sp>
        <p:nvSpPr>
          <p:cNvPr id="84" name="TextBox 83"/>
          <p:cNvSpPr txBox="1"/>
          <p:nvPr/>
        </p:nvSpPr>
        <p:spPr>
          <a:xfrm>
            <a:off x="2563368" y="6080760"/>
            <a:ext cx="1511808" cy="16459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750" b="1" i="0">
                <a:solidFill>
                  <a:srgbClr val="717890"/>
                </a:solidFill>
                <a:latin typeface="Segoe UI"/>
              </a:rPr>
              <a:t>65 грн/100 г</a:t>
            </a:r>
          </a:p>
        </p:txBody>
      </p:sp>
      <p:sp>
        <p:nvSpPr>
          <p:cNvPr id="85" name="TextBox 84"/>
          <p:cNvSpPr txBox="1"/>
          <p:nvPr/>
        </p:nvSpPr>
        <p:spPr>
          <a:xfrm>
            <a:off x="2563368" y="6236208"/>
            <a:ext cx="1511808" cy="16459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700" b="0" i="0">
                <a:solidFill>
                  <a:srgbClr val="717890"/>
                </a:solidFill>
                <a:latin typeface="Segoe UI"/>
              </a:rPr>
              <a:t>Сільпо</a:t>
            </a:r>
          </a:p>
        </p:txBody>
      </p:sp>
      <p:sp>
        <p:nvSpPr>
          <p:cNvPr id="86" name="Rounded Rectangle 85"/>
          <p:cNvSpPr/>
          <p:nvPr/>
        </p:nvSpPr>
        <p:spPr>
          <a:xfrm>
            <a:off x="4285488" y="4370832"/>
            <a:ext cx="1749552" cy="2029968"/>
          </a:xfrm>
          <a:prstGeom prst="roundRect">
            <a:avLst>
              <a:gd name="adj" fmla="val 7000"/>
            </a:avLst>
          </a:prstGeom>
          <a:solidFill>
            <a:srgbClr val="FFFFFF"/>
          </a:solidFill>
          <a:ln w="12700">
            <a:solidFill>
              <a:srgbClr val="E2E8F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7" name="Rounded Rectangle 86"/>
          <p:cNvSpPr/>
          <p:nvPr/>
        </p:nvSpPr>
        <p:spPr>
          <a:xfrm>
            <a:off x="4358640" y="4443984"/>
            <a:ext cx="1603248" cy="841248"/>
          </a:xfrm>
          <a:prstGeom prst="roundRect">
            <a:avLst>
              <a:gd name="adj" fmla="val 8000"/>
            </a:avLst>
          </a:prstGeom>
          <a:solidFill>
            <a:srgbClr val="F1F4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88" name="Picture 87" descr="bens_basmati220.jpg"/>
          <p:cNvPicPr>
            <a:picLocks noChangeAspect="1"/>
          </p:cNvPicPr>
          <p:nvPr/>
        </p:nvPicPr>
        <p:blipFill>
          <a:blip r:embed="rId11"/>
          <a:stretch>
            <a:fillRect/>
          </a:stretch>
        </p:blipFill>
        <p:spPr>
          <a:xfrm>
            <a:off x="4883138" y="4480560"/>
            <a:ext cx="554251" cy="768096"/>
          </a:xfrm>
          <a:prstGeom prst="rect">
            <a:avLst/>
          </a:prstGeom>
        </p:spPr>
      </p:pic>
      <p:sp>
        <p:nvSpPr>
          <p:cNvPr id="89" name="TextBox 88"/>
          <p:cNvSpPr txBox="1"/>
          <p:nvPr/>
        </p:nvSpPr>
        <p:spPr>
          <a:xfrm>
            <a:off x="4404360" y="5321808"/>
            <a:ext cx="1511808" cy="32918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2000"/>
              </a:lnSpc>
            </a:pPr>
            <a:r>
              <a:rPr sz="900" b="1" i="0">
                <a:solidFill>
                  <a:srgbClr val="303A5D"/>
                </a:solidFill>
                <a:latin typeface="Segoe UI"/>
              </a:rPr>
              <a:t>Basmati</a:t>
            </a:r>
          </a:p>
        </p:txBody>
      </p:sp>
      <p:sp>
        <p:nvSpPr>
          <p:cNvPr id="90" name="TextBox 89"/>
          <p:cNvSpPr txBox="1"/>
          <p:nvPr/>
        </p:nvSpPr>
        <p:spPr>
          <a:xfrm>
            <a:off x="4404360" y="5669280"/>
            <a:ext cx="1511808" cy="16459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750" b="1" i="0">
                <a:solidFill>
                  <a:srgbClr val="F9A50B"/>
                </a:solidFill>
                <a:latin typeface="Segoe UI"/>
              </a:rPr>
              <a:t>BEN'S ORIGINAL  ·  </a:t>
            </a:r>
            <a:r>
              <a:rPr sz="750" b="0" i="0">
                <a:solidFill>
                  <a:srgbClr val="717890"/>
                </a:solidFill>
                <a:latin typeface="Segoe UI"/>
              </a:rPr>
              <a:t>220 г</a:t>
            </a:r>
          </a:p>
        </p:txBody>
      </p:sp>
      <p:sp>
        <p:nvSpPr>
          <p:cNvPr id="91" name="TextBox 90"/>
          <p:cNvSpPr txBox="1"/>
          <p:nvPr/>
        </p:nvSpPr>
        <p:spPr>
          <a:xfrm>
            <a:off x="4404360" y="5833872"/>
            <a:ext cx="1511808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150" b="1" i="0">
                <a:solidFill>
                  <a:srgbClr val="F9A50B"/>
                </a:solidFill>
                <a:latin typeface="Segoe UI"/>
              </a:rPr>
              <a:t>144 грн</a:t>
            </a:r>
          </a:p>
        </p:txBody>
      </p:sp>
      <p:sp>
        <p:nvSpPr>
          <p:cNvPr id="92" name="TextBox 91"/>
          <p:cNvSpPr txBox="1"/>
          <p:nvPr/>
        </p:nvSpPr>
        <p:spPr>
          <a:xfrm>
            <a:off x="4404360" y="6080760"/>
            <a:ext cx="1511808" cy="16459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750" b="1" i="0">
                <a:solidFill>
                  <a:srgbClr val="717890"/>
                </a:solidFill>
                <a:latin typeface="Segoe UI"/>
              </a:rPr>
              <a:t>65 грн/100 г</a:t>
            </a:r>
          </a:p>
        </p:txBody>
      </p:sp>
      <p:sp>
        <p:nvSpPr>
          <p:cNvPr id="93" name="TextBox 92"/>
          <p:cNvSpPr txBox="1"/>
          <p:nvPr/>
        </p:nvSpPr>
        <p:spPr>
          <a:xfrm>
            <a:off x="4404360" y="6236208"/>
            <a:ext cx="1511808" cy="16459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700" b="0" i="0">
                <a:solidFill>
                  <a:srgbClr val="717890"/>
                </a:solidFill>
                <a:latin typeface="Segoe UI"/>
              </a:rPr>
              <a:t>Сільпо</a:t>
            </a:r>
          </a:p>
        </p:txBody>
      </p:sp>
      <p:sp>
        <p:nvSpPr>
          <p:cNvPr id="94" name="Rounded Rectangle 93"/>
          <p:cNvSpPr/>
          <p:nvPr/>
        </p:nvSpPr>
        <p:spPr>
          <a:xfrm>
            <a:off x="6126479" y="4370832"/>
            <a:ext cx="1749552" cy="2029968"/>
          </a:xfrm>
          <a:prstGeom prst="roundRect">
            <a:avLst>
              <a:gd name="adj" fmla="val 7000"/>
            </a:avLst>
          </a:prstGeom>
          <a:solidFill>
            <a:srgbClr val="FFFFFF"/>
          </a:solidFill>
          <a:ln w="12700">
            <a:solidFill>
              <a:srgbClr val="E2E8F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5" name="Rounded Rectangle 94"/>
          <p:cNvSpPr/>
          <p:nvPr/>
        </p:nvSpPr>
        <p:spPr>
          <a:xfrm>
            <a:off x="6199631" y="4443984"/>
            <a:ext cx="1603248" cy="841248"/>
          </a:xfrm>
          <a:prstGeom prst="roundRect">
            <a:avLst>
              <a:gd name="adj" fmla="val 8000"/>
            </a:avLst>
          </a:prstGeom>
          <a:solidFill>
            <a:srgbClr val="F1F4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96" name="Picture 95" descr="bens_sweetchili.jpg"/>
          <p:cNvPicPr>
            <a:picLocks noChangeAspect="1"/>
          </p:cNvPicPr>
          <p:nvPr/>
        </p:nvPicPr>
        <p:blipFill>
          <a:blip r:embed="rId12"/>
          <a:stretch>
            <a:fillRect/>
          </a:stretch>
        </p:blipFill>
        <p:spPr>
          <a:xfrm>
            <a:off x="6720202" y="4480560"/>
            <a:ext cx="562106" cy="768096"/>
          </a:xfrm>
          <a:prstGeom prst="rect">
            <a:avLst/>
          </a:prstGeom>
        </p:spPr>
      </p:pic>
      <p:sp>
        <p:nvSpPr>
          <p:cNvPr id="97" name="TextBox 96"/>
          <p:cNvSpPr txBox="1"/>
          <p:nvPr/>
        </p:nvSpPr>
        <p:spPr>
          <a:xfrm>
            <a:off x="6245351" y="5321808"/>
            <a:ext cx="1511808" cy="32918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2000"/>
              </a:lnSpc>
            </a:pPr>
            <a:r>
              <a:rPr sz="900" b="1" i="0">
                <a:solidFill>
                  <a:srgbClr val="303A5D"/>
                </a:solidFill>
                <a:latin typeface="Segoe UI"/>
              </a:rPr>
              <a:t>Sweet Chili</a:t>
            </a:r>
          </a:p>
        </p:txBody>
      </p:sp>
      <p:sp>
        <p:nvSpPr>
          <p:cNvPr id="98" name="TextBox 97"/>
          <p:cNvSpPr txBox="1"/>
          <p:nvPr/>
        </p:nvSpPr>
        <p:spPr>
          <a:xfrm>
            <a:off x="6245351" y="5669280"/>
            <a:ext cx="1511808" cy="16459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750" b="1" i="0">
                <a:solidFill>
                  <a:srgbClr val="F9A50B"/>
                </a:solidFill>
                <a:latin typeface="Segoe UI"/>
              </a:rPr>
              <a:t>BEN'S ORIGINAL  ·  </a:t>
            </a:r>
            <a:r>
              <a:rPr sz="750" b="0" i="0">
                <a:solidFill>
                  <a:srgbClr val="717890"/>
                </a:solidFill>
                <a:latin typeface="Segoe UI"/>
              </a:rPr>
              <a:t>220 г</a:t>
            </a:r>
          </a:p>
        </p:txBody>
      </p:sp>
      <p:sp>
        <p:nvSpPr>
          <p:cNvPr id="99" name="TextBox 98"/>
          <p:cNvSpPr txBox="1"/>
          <p:nvPr/>
        </p:nvSpPr>
        <p:spPr>
          <a:xfrm>
            <a:off x="6245351" y="5833872"/>
            <a:ext cx="1511808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150" b="1" i="0">
                <a:solidFill>
                  <a:srgbClr val="F9A50B"/>
                </a:solidFill>
                <a:latin typeface="Segoe UI"/>
              </a:rPr>
              <a:t>179 грн</a:t>
            </a:r>
          </a:p>
        </p:txBody>
      </p:sp>
      <p:sp>
        <p:nvSpPr>
          <p:cNvPr id="100" name="TextBox 99"/>
          <p:cNvSpPr txBox="1"/>
          <p:nvPr/>
        </p:nvSpPr>
        <p:spPr>
          <a:xfrm>
            <a:off x="6245351" y="6080760"/>
            <a:ext cx="1511808" cy="16459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750" b="1" i="0">
                <a:solidFill>
                  <a:srgbClr val="717890"/>
                </a:solidFill>
                <a:latin typeface="Segoe UI"/>
              </a:rPr>
              <a:t>81 грн/100 г</a:t>
            </a:r>
          </a:p>
        </p:txBody>
      </p:sp>
      <p:sp>
        <p:nvSpPr>
          <p:cNvPr id="101" name="TextBox 100"/>
          <p:cNvSpPr txBox="1"/>
          <p:nvPr/>
        </p:nvSpPr>
        <p:spPr>
          <a:xfrm>
            <a:off x="6245351" y="6236208"/>
            <a:ext cx="1511808" cy="16459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700" b="0" i="0">
                <a:solidFill>
                  <a:srgbClr val="717890"/>
                </a:solidFill>
                <a:latin typeface="Segoe UI"/>
              </a:rPr>
              <a:t>Сільпо</a:t>
            </a:r>
          </a:p>
        </p:txBody>
      </p:sp>
      <p:sp>
        <p:nvSpPr>
          <p:cNvPr id="102" name="Rounded Rectangle 101"/>
          <p:cNvSpPr/>
          <p:nvPr/>
        </p:nvSpPr>
        <p:spPr>
          <a:xfrm>
            <a:off x="7967472" y="4370832"/>
            <a:ext cx="1749552" cy="2029968"/>
          </a:xfrm>
          <a:prstGeom prst="roundRect">
            <a:avLst>
              <a:gd name="adj" fmla="val 7000"/>
            </a:avLst>
          </a:prstGeom>
          <a:solidFill>
            <a:srgbClr val="FFFFFF"/>
          </a:solidFill>
          <a:ln w="12700">
            <a:solidFill>
              <a:srgbClr val="E2E8F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3" name="Rounded Rectangle 102"/>
          <p:cNvSpPr/>
          <p:nvPr/>
        </p:nvSpPr>
        <p:spPr>
          <a:xfrm>
            <a:off x="8040624" y="4443984"/>
            <a:ext cx="1603248" cy="841248"/>
          </a:xfrm>
          <a:prstGeom prst="roundRect">
            <a:avLst>
              <a:gd name="adj" fmla="val 8000"/>
            </a:avLst>
          </a:prstGeom>
          <a:solidFill>
            <a:srgbClr val="F1F4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04" name="Picture 103" descr="bens_lang220_single.jpg"/>
          <p:cNvPicPr>
            <a:picLocks noChangeAspect="1"/>
          </p:cNvPicPr>
          <p:nvPr/>
        </p:nvPicPr>
        <p:blipFill>
          <a:blip r:embed="rId13"/>
          <a:stretch>
            <a:fillRect/>
          </a:stretch>
        </p:blipFill>
        <p:spPr>
          <a:xfrm>
            <a:off x="8573414" y="4480560"/>
            <a:ext cx="537667" cy="768096"/>
          </a:xfrm>
          <a:prstGeom prst="rect">
            <a:avLst/>
          </a:prstGeom>
        </p:spPr>
      </p:pic>
      <p:sp>
        <p:nvSpPr>
          <p:cNvPr id="105" name="TextBox 104"/>
          <p:cNvSpPr txBox="1"/>
          <p:nvPr/>
        </p:nvSpPr>
        <p:spPr>
          <a:xfrm>
            <a:off x="8086344" y="5321808"/>
            <a:ext cx="1511808" cy="32918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2000"/>
              </a:lnSpc>
            </a:pPr>
            <a:r>
              <a:rPr sz="900" b="1" i="0">
                <a:solidFill>
                  <a:srgbClr val="303A5D"/>
                </a:solidFill>
                <a:latin typeface="Segoe UI"/>
              </a:rPr>
              <a:t>Long Grain</a:t>
            </a:r>
          </a:p>
        </p:txBody>
      </p:sp>
      <p:sp>
        <p:nvSpPr>
          <p:cNvPr id="106" name="TextBox 105"/>
          <p:cNvSpPr txBox="1"/>
          <p:nvPr/>
        </p:nvSpPr>
        <p:spPr>
          <a:xfrm>
            <a:off x="8086344" y="5669280"/>
            <a:ext cx="1511808" cy="16459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750" b="1" i="0">
                <a:solidFill>
                  <a:srgbClr val="F9A50B"/>
                </a:solidFill>
                <a:latin typeface="Segoe UI"/>
              </a:rPr>
              <a:t>BEN'S ORIGINAL  ·  </a:t>
            </a:r>
            <a:r>
              <a:rPr sz="750" b="0" i="0">
                <a:solidFill>
                  <a:srgbClr val="717890"/>
                </a:solidFill>
                <a:latin typeface="Segoe UI"/>
              </a:rPr>
              <a:t>220 г</a:t>
            </a:r>
          </a:p>
        </p:txBody>
      </p:sp>
      <p:sp>
        <p:nvSpPr>
          <p:cNvPr id="107" name="TextBox 106"/>
          <p:cNvSpPr txBox="1"/>
          <p:nvPr/>
        </p:nvSpPr>
        <p:spPr>
          <a:xfrm>
            <a:off x="8086344" y="5833872"/>
            <a:ext cx="1511808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150" b="1" i="0">
                <a:solidFill>
                  <a:srgbClr val="F9A50B"/>
                </a:solidFill>
                <a:latin typeface="Segoe UI"/>
              </a:rPr>
              <a:t>139 грн</a:t>
            </a:r>
          </a:p>
        </p:txBody>
      </p:sp>
      <p:sp>
        <p:nvSpPr>
          <p:cNvPr id="108" name="TextBox 107"/>
          <p:cNvSpPr txBox="1"/>
          <p:nvPr/>
        </p:nvSpPr>
        <p:spPr>
          <a:xfrm>
            <a:off x="8086344" y="6080760"/>
            <a:ext cx="1511808" cy="16459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750" b="1" i="0">
                <a:solidFill>
                  <a:srgbClr val="717890"/>
                </a:solidFill>
                <a:latin typeface="Segoe UI"/>
              </a:rPr>
              <a:t>63 грн/100 г</a:t>
            </a:r>
          </a:p>
        </p:txBody>
      </p:sp>
      <p:sp>
        <p:nvSpPr>
          <p:cNvPr id="109" name="TextBox 108"/>
          <p:cNvSpPr txBox="1"/>
          <p:nvPr/>
        </p:nvSpPr>
        <p:spPr>
          <a:xfrm>
            <a:off x="8086344" y="6236208"/>
            <a:ext cx="1511808" cy="16459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700" b="0" i="0">
                <a:solidFill>
                  <a:srgbClr val="717890"/>
                </a:solidFill>
                <a:latin typeface="Segoe UI"/>
              </a:rPr>
              <a:t>Edison Lee</a:t>
            </a:r>
          </a:p>
        </p:txBody>
      </p:sp>
      <p:sp>
        <p:nvSpPr>
          <p:cNvPr id="110" name="TextBox 109"/>
          <p:cNvSpPr txBox="1"/>
          <p:nvPr/>
        </p:nvSpPr>
        <p:spPr>
          <a:xfrm>
            <a:off x="603504" y="6473952"/>
            <a:ext cx="10881360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4000"/>
              </a:lnSpc>
            </a:pPr>
            <a:r>
              <a:rPr sz="800" b="0" i="0">
                <a:solidFill>
                  <a:srgbClr val="717890"/>
                </a:solidFill>
                <a:latin typeface="Segoe UI"/>
              </a:rPr>
              <a:t>Ціни каталогу «Сільпо», отримані поштучно з картки кожного товару 23.09.2026; Long Grain 220 г — Edison Lee, у картці зазначено «ціну вказано за одну порцію». Позицію Sticky Bowl 220 г із попередньої редакції знято: у каталозі її немає.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969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969" cy="1060704"/>
          </a:xfrm>
          <a:prstGeom prst="rect">
            <a:avLst/>
          </a:prstGeom>
          <a:solidFill>
            <a:srgbClr val="303A5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060704"/>
            <a:ext cx="12191969" cy="50292"/>
          </a:xfrm>
          <a:prstGeom prst="rect">
            <a:avLst/>
          </a:prstGeom>
          <a:solidFill>
            <a:srgbClr val="F9A5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5" name="Picture 4" descr="md_logo_whit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03504" y="237744"/>
            <a:ext cx="1389888" cy="603504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2304288" y="310896"/>
            <a:ext cx="676656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950" b="1" i="0">
                <a:solidFill>
                  <a:srgbClr val="FFC95C"/>
                </a:solidFill>
                <a:latin typeface="Segoe UI"/>
              </a:rPr>
              <a:t>СЕГМЕНТ 2 · СТРАВА В ЧАШІ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2304288" y="548640"/>
            <a:ext cx="804672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900" b="1" i="0">
                <a:solidFill>
                  <a:srgbClr val="FFFFFF"/>
                </a:solidFill>
                <a:latin typeface="Segoe UI"/>
              </a:rPr>
              <a:t>Ottogi і Bibigo — вісім позицій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948385" y="402336"/>
            <a:ext cx="640080" cy="32918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/>
            <a:r>
              <a:rPr sz="1700" b="1" i="0">
                <a:solidFill>
                  <a:srgbClr val="465382"/>
                </a:solidFill>
                <a:latin typeface="Segoe UI"/>
              </a:rPr>
              <a:t>06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03504" y="1298448"/>
            <a:ext cx="10881360" cy="3108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200" b="0" i="0">
                <a:solidFill>
                  <a:srgbClr val="717890"/>
                </a:solidFill>
                <a:latin typeface="Segoe UI"/>
              </a:rPr>
              <a:t>Рис із наповнювачем у жорсткій чаші. Корея, канал — азійські фудшопи.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03504" y="1719072"/>
            <a:ext cx="2117750" cy="2139696"/>
          </a:xfrm>
          <a:prstGeom prst="roundRect">
            <a:avLst>
              <a:gd name="adj" fmla="val 7000"/>
            </a:avLst>
          </a:prstGeom>
          <a:solidFill>
            <a:srgbClr val="FFFFFF"/>
          </a:solidFill>
          <a:ln w="12700">
            <a:solidFill>
              <a:srgbClr val="E2E8F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ounded Rectangle 10"/>
          <p:cNvSpPr/>
          <p:nvPr/>
        </p:nvSpPr>
        <p:spPr>
          <a:xfrm>
            <a:off x="676656" y="1792224"/>
            <a:ext cx="1971446" cy="950975"/>
          </a:xfrm>
          <a:prstGeom prst="roundRect">
            <a:avLst>
              <a:gd name="adj" fmla="val 8000"/>
            </a:avLst>
          </a:prstGeom>
          <a:solidFill>
            <a:srgbClr val="F1F4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2" name="Picture 11" descr="ot_bulgogi.jp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159940" y="1828800"/>
            <a:ext cx="1004877" cy="877823"/>
          </a:xfrm>
          <a:prstGeom prst="rect">
            <a:avLst/>
          </a:prstGeom>
        </p:spPr>
      </p:pic>
      <p:sp>
        <p:nvSpPr>
          <p:cNvPr id="13" name="TextBox 12"/>
          <p:cNvSpPr txBox="1"/>
          <p:nvPr/>
        </p:nvSpPr>
        <p:spPr>
          <a:xfrm>
            <a:off x="722376" y="2779776"/>
            <a:ext cx="1880006" cy="32918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2000"/>
              </a:lnSpc>
            </a:pPr>
            <a:r>
              <a:rPr sz="900" b="1" i="0">
                <a:solidFill>
                  <a:srgbClr val="303A5D"/>
                </a:solidFill>
                <a:latin typeface="Segoe UI"/>
              </a:rPr>
              <a:t>Бульгогі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722376" y="3127248"/>
            <a:ext cx="1880006" cy="16459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750" b="1" i="0">
                <a:solidFill>
                  <a:srgbClr val="7B5EA7"/>
                </a:solidFill>
                <a:latin typeface="Segoe UI"/>
              </a:rPr>
              <a:t>OTTOGI  ·  </a:t>
            </a:r>
            <a:r>
              <a:rPr sz="750" b="0" i="0">
                <a:solidFill>
                  <a:srgbClr val="717890"/>
                </a:solidFill>
                <a:latin typeface="Segoe UI"/>
              </a:rPr>
              <a:t>320 г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722376" y="3291840"/>
            <a:ext cx="1880006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150" b="1" i="0">
                <a:solidFill>
                  <a:srgbClr val="7B5EA7"/>
                </a:solidFill>
                <a:latin typeface="Segoe UI"/>
              </a:rPr>
              <a:t>252 грн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722376" y="3538728"/>
            <a:ext cx="1880006" cy="16459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750" b="1" i="0">
                <a:solidFill>
                  <a:srgbClr val="717890"/>
                </a:solidFill>
                <a:latin typeface="Segoe UI"/>
              </a:rPr>
              <a:t>79 грн/100 г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722376" y="3694176"/>
            <a:ext cx="1880006" cy="16459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700" b="0" i="0">
                <a:solidFill>
                  <a:srgbClr val="717890"/>
                </a:solidFill>
                <a:latin typeface="Segoe UI"/>
              </a:rPr>
              <a:t>Тайякі Март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2812694" y="1719072"/>
            <a:ext cx="2117750" cy="2139696"/>
          </a:xfrm>
          <a:prstGeom prst="roundRect">
            <a:avLst>
              <a:gd name="adj" fmla="val 7000"/>
            </a:avLst>
          </a:prstGeom>
          <a:solidFill>
            <a:srgbClr val="FFFFFF"/>
          </a:solidFill>
          <a:ln w="12700">
            <a:solidFill>
              <a:srgbClr val="E2E8F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ounded Rectangle 18"/>
          <p:cNvSpPr/>
          <p:nvPr/>
        </p:nvSpPr>
        <p:spPr>
          <a:xfrm>
            <a:off x="2885846" y="1792224"/>
            <a:ext cx="1971446" cy="950975"/>
          </a:xfrm>
          <a:prstGeom prst="roundRect">
            <a:avLst>
              <a:gd name="adj" fmla="val 8000"/>
            </a:avLst>
          </a:prstGeom>
          <a:solidFill>
            <a:srgbClr val="F1F4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20" name="Picture 19" descr="ot_pork310.jp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3369130" y="1828800"/>
            <a:ext cx="1004877" cy="877823"/>
          </a:xfrm>
          <a:prstGeom prst="rect">
            <a:avLst/>
          </a:prstGeom>
        </p:spPr>
      </p:pic>
      <p:sp>
        <p:nvSpPr>
          <p:cNvPr id="21" name="TextBox 20"/>
          <p:cNvSpPr txBox="1"/>
          <p:nvPr/>
        </p:nvSpPr>
        <p:spPr>
          <a:xfrm>
            <a:off x="2931566" y="2779776"/>
            <a:ext cx="1880006" cy="32918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2000"/>
              </a:lnSpc>
            </a:pPr>
            <a:r>
              <a:rPr sz="900" b="1" i="0">
                <a:solidFill>
                  <a:srgbClr val="303A5D"/>
                </a:solidFill>
                <a:latin typeface="Segoe UI"/>
              </a:rPr>
              <a:t>Свинина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2931566" y="3127248"/>
            <a:ext cx="1880006" cy="16459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750" b="1" i="0">
                <a:solidFill>
                  <a:srgbClr val="7B5EA7"/>
                </a:solidFill>
                <a:latin typeface="Segoe UI"/>
              </a:rPr>
              <a:t>OTTOGI  ·  </a:t>
            </a:r>
            <a:r>
              <a:rPr sz="750" b="0" i="0">
                <a:solidFill>
                  <a:srgbClr val="717890"/>
                </a:solidFill>
                <a:latin typeface="Segoe UI"/>
              </a:rPr>
              <a:t>310 г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2931566" y="3291840"/>
            <a:ext cx="1880006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150" b="1" i="0">
                <a:solidFill>
                  <a:srgbClr val="7B5EA7"/>
                </a:solidFill>
                <a:latin typeface="Segoe UI"/>
              </a:rPr>
              <a:t>252 грн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2931566" y="3538728"/>
            <a:ext cx="1880006" cy="16459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750" b="1" i="0">
                <a:solidFill>
                  <a:srgbClr val="717890"/>
                </a:solidFill>
                <a:latin typeface="Segoe UI"/>
              </a:rPr>
              <a:t>81 грн/100 г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2931566" y="3694176"/>
            <a:ext cx="1880006" cy="16459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700" b="0" i="0">
                <a:solidFill>
                  <a:srgbClr val="717890"/>
                </a:solidFill>
                <a:latin typeface="Segoe UI"/>
              </a:rPr>
              <a:t>Тайякі Март</a:t>
            </a:r>
          </a:p>
        </p:txBody>
      </p:sp>
      <p:sp>
        <p:nvSpPr>
          <p:cNvPr id="26" name="Rounded Rectangle 25"/>
          <p:cNvSpPr/>
          <p:nvPr/>
        </p:nvSpPr>
        <p:spPr>
          <a:xfrm>
            <a:off x="5021884" y="1719072"/>
            <a:ext cx="2117750" cy="2139696"/>
          </a:xfrm>
          <a:prstGeom prst="roundRect">
            <a:avLst>
              <a:gd name="adj" fmla="val 7000"/>
            </a:avLst>
          </a:prstGeom>
          <a:solidFill>
            <a:srgbClr val="FFFFFF"/>
          </a:solidFill>
          <a:ln w="12700">
            <a:solidFill>
              <a:srgbClr val="E2E8F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Rounded Rectangle 26"/>
          <p:cNvSpPr/>
          <p:nvPr/>
        </p:nvSpPr>
        <p:spPr>
          <a:xfrm>
            <a:off x="5095036" y="1792224"/>
            <a:ext cx="1971446" cy="950975"/>
          </a:xfrm>
          <a:prstGeom prst="roundRect">
            <a:avLst>
              <a:gd name="adj" fmla="val 8000"/>
            </a:avLst>
          </a:prstGeom>
          <a:solidFill>
            <a:srgbClr val="F1F4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28" name="Picture 27" descr="ot_chicken_rib.jp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5641848" y="1828800"/>
            <a:ext cx="877823" cy="877823"/>
          </a:xfrm>
          <a:prstGeom prst="rect">
            <a:avLst/>
          </a:prstGeom>
        </p:spPr>
      </p:pic>
      <p:sp>
        <p:nvSpPr>
          <p:cNvPr id="29" name="TextBox 28"/>
          <p:cNvSpPr txBox="1"/>
          <p:nvPr/>
        </p:nvSpPr>
        <p:spPr>
          <a:xfrm>
            <a:off x="5140756" y="2779776"/>
            <a:ext cx="1880006" cy="32918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2000"/>
              </a:lnSpc>
            </a:pPr>
            <a:r>
              <a:rPr sz="900" b="1" i="0">
                <a:solidFill>
                  <a:srgbClr val="303A5D"/>
                </a:solidFill>
                <a:latin typeface="Segoe UI"/>
              </a:rPr>
              <a:t>Гострі курячі ребра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5140756" y="3127248"/>
            <a:ext cx="1880006" cy="16459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750" b="1" i="0">
                <a:solidFill>
                  <a:srgbClr val="7B5EA7"/>
                </a:solidFill>
                <a:latin typeface="Segoe UI"/>
              </a:rPr>
              <a:t>OTTOGI  ·  </a:t>
            </a:r>
            <a:r>
              <a:rPr sz="750" b="0" i="0">
                <a:solidFill>
                  <a:srgbClr val="717890"/>
                </a:solidFill>
                <a:latin typeface="Segoe UI"/>
              </a:rPr>
              <a:t>310 г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5140756" y="3291840"/>
            <a:ext cx="1880006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150" b="1" i="0">
                <a:solidFill>
                  <a:srgbClr val="7B5EA7"/>
                </a:solidFill>
                <a:latin typeface="Segoe UI"/>
              </a:rPr>
              <a:t>260–289 грн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5140756" y="3538728"/>
            <a:ext cx="1880006" cy="16459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750" b="1" i="0">
                <a:solidFill>
                  <a:srgbClr val="717890"/>
                </a:solidFill>
                <a:latin typeface="Segoe UI"/>
              </a:rPr>
              <a:t>84–93 грн/100 г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5140756" y="3694176"/>
            <a:ext cx="1880006" cy="16459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700" b="0" i="0">
                <a:solidFill>
                  <a:srgbClr val="717890"/>
                </a:solidFill>
                <a:latin typeface="Segoe UI"/>
              </a:rPr>
              <a:t>Gurmissimo · Апетітаріум</a:t>
            </a:r>
          </a:p>
        </p:txBody>
      </p:sp>
      <p:sp>
        <p:nvSpPr>
          <p:cNvPr id="34" name="Rounded Rectangle 33"/>
          <p:cNvSpPr/>
          <p:nvPr/>
        </p:nvSpPr>
        <p:spPr>
          <a:xfrm>
            <a:off x="7231075" y="1719072"/>
            <a:ext cx="2117750" cy="2139696"/>
          </a:xfrm>
          <a:prstGeom prst="roundRect">
            <a:avLst>
              <a:gd name="adj" fmla="val 7000"/>
            </a:avLst>
          </a:prstGeom>
          <a:solidFill>
            <a:srgbClr val="FFFFFF"/>
          </a:solidFill>
          <a:ln w="12700">
            <a:solidFill>
              <a:srgbClr val="E2E8F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Rounded Rectangle 34"/>
          <p:cNvSpPr/>
          <p:nvPr/>
        </p:nvSpPr>
        <p:spPr>
          <a:xfrm>
            <a:off x="7304227" y="1792224"/>
            <a:ext cx="1971446" cy="950975"/>
          </a:xfrm>
          <a:prstGeom prst="roundRect">
            <a:avLst>
              <a:gd name="adj" fmla="val 8000"/>
            </a:avLst>
          </a:prstGeom>
          <a:solidFill>
            <a:srgbClr val="F1F4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6" name="Picture 35" descr="ot_tuna.jp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7735535" y="1828800"/>
            <a:ext cx="1108830" cy="877823"/>
          </a:xfrm>
          <a:prstGeom prst="rect">
            <a:avLst/>
          </a:prstGeom>
        </p:spPr>
      </p:pic>
      <p:sp>
        <p:nvSpPr>
          <p:cNvPr id="37" name="TextBox 36"/>
          <p:cNvSpPr txBox="1"/>
          <p:nvPr/>
        </p:nvSpPr>
        <p:spPr>
          <a:xfrm>
            <a:off x="7349947" y="2779776"/>
            <a:ext cx="1880006" cy="32918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2000"/>
              </a:lnSpc>
            </a:pPr>
            <a:r>
              <a:rPr sz="900" b="1" i="0">
                <a:solidFill>
                  <a:srgbClr val="303A5D"/>
                </a:solidFill>
                <a:latin typeface="Segoe UI"/>
              </a:rPr>
              <a:t>Тунець і майонез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7349947" y="3127248"/>
            <a:ext cx="1880006" cy="16459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750" b="1" i="0">
                <a:solidFill>
                  <a:srgbClr val="7B5EA7"/>
                </a:solidFill>
                <a:latin typeface="Segoe UI"/>
              </a:rPr>
              <a:t>OTTOGI  ·  </a:t>
            </a:r>
            <a:r>
              <a:rPr sz="750" b="0" i="0">
                <a:solidFill>
                  <a:srgbClr val="717890"/>
                </a:solidFill>
                <a:latin typeface="Segoe UI"/>
              </a:rPr>
              <a:t>247 г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7349947" y="3291840"/>
            <a:ext cx="1880006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150" b="1" i="0">
                <a:solidFill>
                  <a:srgbClr val="7B5EA7"/>
                </a:solidFill>
                <a:latin typeface="Segoe UI"/>
              </a:rPr>
              <a:t>225–356 грн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7349947" y="3538728"/>
            <a:ext cx="1880006" cy="16459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750" b="1" i="0">
                <a:solidFill>
                  <a:srgbClr val="717890"/>
                </a:solidFill>
                <a:latin typeface="Segoe UI"/>
              </a:rPr>
              <a:t>91–144 грн/100 г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7349947" y="3694176"/>
            <a:ext cx="1880006" cy="16459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700" b="0" i="0">
                <a:solidFill>
                  <a:srgbClr val="717890"/>
                </a:solidFill>
                <a:latin typeface="Segoe UI"/>
              </a:rPr>
              <a:t>Тайякі · Gurm. · Апетіт.</a:t>
            </a:r>
          </a:p>
        </p:txBody>
      </p:sp>
      <p:sp>
        <p:nvSpPr>
          <p:cNvPr id="42" name="Rounded Rectangle 41"/>
          <p:cNvSpPr/>
          <p:nvPr/>
        </p:nvSpPr>
        <p:spPr>
          <a:xfrm>
            <a:off x="9440265" y="1719072"/>
            <a:ext cx="2117750" cy="2139696"/>
          </a:xfrm>
          <a:prstGeom prst="roundRect">
            <a:avLst>
              <a:gd name="adj" fmla="val 7000"/>
            </a:avLst>
          </a:prstGeom>
          <a:solidFill>
            <a:srgbClr val="FFFFFF"/>
          </a:solidFill>
          <a:ln w="12700">
            <a:solidFill>
              <a:srgbClr val="E2E8F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3" name="Rounded Rectangle 42"/>
          <p:cNvSpPr/>
          <p:nvPr/>
        </p:nvSpPr>
        <p:spPr>
          <a:xfrm>
            <a:off x="9513417" y="1792224"/>
            <a:ext cx="1971446" cy="950975"/>
          </a:xfrm>
          <a:prstGeom prst="roundRect">
            <a:avLst>
              <a:gd name="adj" fmla="val 8000"/>
            </a:avLst>
          </a:prstGeom>
          <a:solidFill>
            <a:srgbClr val="F1F4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44" name="Picture 43" descr="ot_bibimbap.jpg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9999589" y="1828800"/>
            <a:ext cx="999102" cy="877823"/>
          </a:xfrm>
          <a:prstGeom prst="rect">
            <a:avLst/>
          </a:prstGeom>
        </p:spPr>
      </p:pic>
      <p:sp>
        <p:nvSpPr>
          <p:cNvPr id="45" name="TextBox 44"/>
          <p:cNvSpPr txBox="1"/>
          <p:nvPr/>
        </p:nvSpPr>
        <p:spPr>
          <a:xfrm>
            <a:off x="9559137" y="2779776"/>
            <a:ext cx="1880006" cy="32918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2000"/>
              </a:lnSpc>
            </a:pPr>
            <a:r>
              <a:rPr sz="900" b="1" i="0">
                <a:solidFill>
                  <a:srgbClr val="303A5D"/>
                </a:solidFill>
                <a:latin typeface="Segoe UI"/>
              </a:rPr>
              <a:t>Пібімпаб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9559137" y="3127248"/>
            <a:ext cx="1880006" cy="16459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750" b="1" i="0">
                <a:solidFill>
                  <a:srgbClr val="7B5EA7"/>
                </a:solidFill>
                <a:latin typeface="Segoe UI"/>
              </a:rPr>
              <a:t>OTTOGI  ·  </a:t>
            </a:r>
            <a:r>
              <a:rPr sz="750" b="0" i="0">
                <a:solidFill>
                  <a:srgbClr val="717890"/>
                </a:solidFill>
                <a:latin typeface="Segoe UI"/>
              </a:rPr>
              <a:t>269 г</a:t>
            </a:r>
          </a:p>
        </p:txBody>
      </p:sp>
      <p:sp>
        <p:nvSpPr>
          <p:cNvPr id="47" name="TextBox 46"/>
          <p:cNvSpPr txBox="1"/>
          <p:nvPr/>
        </p:nvSpPr>
        <p:spPr>
          <a:xfrm>
            <a:off x="9559137" y="3291840"/>
            <a:ext cx="1880006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150" b="1" i="0">
                <a:solidFill>
                  <a:srgbClr val="7B5EA7"/>
                </a:solidFill>
                <a:latin typeface="Segoe UI"/>
              </a:rPr>
              <a:t>252–334 грн</a:t>
            </a:r>
          </a:p>
        </p:txBody>
      </p:sp>
      <p:sp>
        <p:nvSpPr>
          <p:cNvPr id="48" name="TextBox 47"/>
          <p:cNvSpPr txBox="1"/>
          <p:nvPr/>
        </p:nvSpPr>
        <p:spPr>
          <a:xfrm>
            <a:off x="9559137" y="3538728"/>
            <a:ext cx="1880006" cy="16459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750" b="1" i="0">
                <a:solidFill>
                  <a:srgbClr val="717890"/>
                </a:solidFill>
                <a:latin typeface="Segoe UI"/>
              </a:rPr>
              <a:t>94–124 грн/100 г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9559137" y="3694176"/>
            <a:ext cx="1880006" cy="16459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700" b="0" i="0">
                <a:solidFill>
                  <a:srgbClr val="717890"/>
                </a:solidFill>
                <a:latin typeface="Segoe UI"/>
              </a:rPr>
              <a:t>Тайякі · Апетітаріум</a:t>
            </a:r>
          </a:p>
        </p:txBody>
      </p:sp>
      <p:sp>
        <p:nvSpPr>
          <p:cNvPr id="50" name="Rounded Rectangle 49"/>
          <p:cNvSpPr/>
          <p:nvPr/>
        </p:nvSpPr>
        <p:spPr>
          <a:xfrm>
            <a:off x="603504" y="3950208"/>
            <a:ext cx="2117750" cy="2139696"/>
          </a:xfrm>
          <a:prstGeom prst="roundRect">
            <a:avLst>
              <a:gd name="adj" fmla="val 7000"/>
            </a:avLst>
          </a:prstGeom>
          <a:solidFill>
            <a:srgbClr val="FFFFFF"/>
          </a:solidFill>
          <a:ln w="12700">
            <a:solidFill>
              <a:srgbClr val="E2E8F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1" name="Rounded Rectangle 50"/>
          <p:cNvSpPr/>
          <p:nvPr/>
        </p:nvSpPr>
        <p:spPr>
          <a:xfrm>
            <a:off x="676656" y="4023360"/>
            <a:ext cx="1971446" cy="950975"/>
          </a:xfrm>
          <a:prstGeom prst="roundRect">
            <a:avLst>
              <a:gd name="adj" fmla="val 8000"/>
            </a:avLst>
          </a:prstGeom>
          <a:solidFill>
            <a:srgbClr val="F1F4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52" name="Picture 51" descr="ot_pork_spicy.jpg"/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1155897" y="4059936"/>
            <a:ext cx="1012962" cy="877823"/>
          </a:xfrm>
          <a:prstGeom prst="rect">
            <a:avLst/>
          </a:prstGeom>
        </p:spPr>
      </p:pic>
      <p:sp>
        <p:nvSpPr>
          <p:cNvPr id="53" name="TextBox 52"/>
          <p:cNvSpPr txBox="1"/>
          <p:nvPr/>
        </p:nvSpPr>
        <p:spPr>
          <a:xfrm>
            <a:off x="722376" y="5010912"/>
            <a:ext cx="1880006" cy="32918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2000"/>
              </a:lnSpc>
            </a:pPr>
            <a:r>
              <a:rPr sz="900" b="1" i="0">
                <a:solidFill>
                  <a:srgbClr val="303A5D"/>
                </a:solidFill>
                <a:latin typeface="Segoe UI"/>
              </a:rPr>
              <a:t>Гостра свинина</a:t>
            </a:r>
          </a:p>
        </p:txBody>
      </p:sp>
      <p:sp>
        <p:nvSpPr>
          <p:cNvPr id="54" name="TextBox 53"/>
          <p:cNvSpPr txBox="1"/>
          <p:nvPr/>
        </p:nvSpPr>
        <p:spPr>
          <a:xfrm>
            <a:off x="722376" y="5358384"/>
            <a:ext cx="1880006" cy="16459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750" b="1" i="0">
                <a:solidFill>
                  <a:srgbClr val="7B5EA7"/>
                </a:solidFill>
                <a:latin typeface="Segoe UI"/>
              </a:rPr>
              <a:t>OTTOGI  ·  </a:t>
            </a:r>
            <a:r>
              <a:rPr sz="750" b="0" i="0">
                <a:solidFill>
                  <a:srgbClr val="717890"/>
                </a:solidFill>
                <a:latin typeface="Segoe UI"/>
              </a:rPr>
              <a:t>269 г</a:t>
            </a:r>
          </a:p>
        </p:txBody>
      </p:sp>
      <p:sp>
        <p:nvSpPr>
          <p:cNvPr id="55" name="TextBox 54"/>
          <p:cNvSpPr txBox="1"/>
          <p:nvPr/>
        </p:nvSpPr>
        <p:spPr>
          <a:xfrm>
            <a:off x="722376" y="5522976"/>
            <a:ext cx="1880006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150" b="1" i="0">
                <a:solidFill>
                  <a:srgbClr val="7B5EA7"/>
                </a:solidFill>
                <a:latin typeface="Segoe UI"/>
              </a:rPr>
              <a:t>334 грн</a:t>
            </a:r>
          </a:p>
        </p:txBody>
      </p:sp>
      <p:sp>
        <p:nvSpPr>
          <p:cNvPr id="56" name="TextBox 55"/>
          <p:cNvSpPr txBox="1"/>
          <p:nvPr/>
        </p:nvSpPr>
        <p:spPr>
          <a:xfrm>
            <a:off x="722376" y="5769864"/>
            <a:ext cx="1880006" cy="16459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750" b="1" i="0">
                <a:solidFill>
                  <a:srgbClr val="717890"/>
                </a:solidFill>
                <a:latin typeface="Segoe UI"/>
              </a:rPr>
              <a:t>124 грн/100 г</a:t>
            </a:r>
          </a:p>
        </p:txBody>
      </p:sp>
      <p:sp>
        <p:nvSpPr>
          <p:cNvPr id="57" name="TextBox 56"/>
          <p:cNvSpPr txBox="1"/>
          <p:nvPr/>
        </p:nvSpPr>
        <p:spPr>
          <a:xfrm>
            <a:off x="722376" y="5925312"/>
            <a:ext cx="1880006" cy="16459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700" b="0" i="0">
                <a:solidFill>
                  <a:srgbClr val="717890"/>
                </a:solidFill>
                <a:latin typeface="Segoe UI"/>
              </a:rPr>
              <a:t>Апетітаріум</a:t>
            </a:r>
          </a:p>
        </p:txBody>
      </p:sp>
      <p:sp>
        <p:nvSpPr>
          <p:cNvPr id="58" name="Rounded Rectangle 57"/>
          <p:cNvSpPr/>
          <p:nvPr/>
        </p:nvSpPr>
        <p:spPr>
          <a:xfrm>
            <a:off x="2812694" y="3950208"/>
            <a:ext cx="2117750" cy="2139696"/>
          </a:xfrm>
          <a:prstGeom prst="roundRect">
            <a:avLst>
              <a:gd name="adj" fmla="val 7000"/>
            </a:avLst>
          </a:prstGeom>
          <a:solidFill>
            <a:srgbClr val="FFFFFF"/>
          </a:solidFill>
          <a:ln w="12700">
            <a:solidFill>
              <a:srgbClr val="E2E8F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9" name="Rounded Rectangle 58"/>
          <p:cNvSpPr/>
          <p:nvPr/>
        </p:nvSpPr>
        <p:spPr>
          <a:xfrm>
            <a:off x="2885846" y="4023360"/>
            <a:ext cx="1971446" cy="950975"/>
          </a:xfrm>
          <a:prstGeom prst="roundRect">
            <a:avLst>
              <a:gd name="adj" fmla="val 8000"/>
            </a:avLst>
          </a:prstGeom>
          <a:solidFill>
            <a:srgbClr val="F1F4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60" name="Picture 59" descr="ot_beef320.jpg"/>
          <p:cNvPicPr>
            <a:picLocks noChangeAspect="1"/>
          </p:cNvPicPr>
          <p:nvPr/>
        </p:nvPicPr>
        <p:blipFill>
          <a:blip r:embed="rId9"/>
          <a:stretch>
            <a:fillRect/>
          </a:stretch>
        </p:blipFill>
        <p:spPr>
          <a:xfrm>
            <a:off x="3432657" y="4059936"/>
            <a:ext cx="877823" cy="877823"/>
          </a:xfrm>
          <a:prstGeom prst="rect">
            <a:avLst/>
          </a:prstGeom>
        </p:spPr>
      </p:pic>
      <p:sp>
        <p:nvSpPr>
          <p:cNvPr id="61" name="TextBox 60"/>
          <p:cNvSpPr txBox="1"/>
          <p:nvPr/>
        </p:nvSpPr>
        <p:spPr>
          <a:xfrm>
            <a:off x="2931566" y="5010912"/>
            <a:ext cx="1880006" cy="32918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2000"/>
              </a:lnSpc>
            </a:pPr>
            <a:r>
              <a:rPr sz="900" b="1" i="0">
                <a:solidFill>
                  <a:srgbClr val="303A5D"/>
                </a:solidFill>
                <a:latin typeface="Segoe UI"/>
              </a:rPr>
              <a:t>Гостра яловичина</a:t>
            </a:r>
          </a:p>
        </p:txBody>
      </p:sp>
      <p:sp>
        <p:nvSpPr>
          <p:cNvPr id="62" name="TextBox 61"/>
          <p:cNvSpPr txBox="1"/>
          <p:nvPr/>
        </p:nvSpPr>
        <p:spPr>
          <a:xfrm>
            <a:off x="2931566" y="5358384"/>
            <a:ext cx="1880006" cy="16459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750" b="1" i="0">
                <a:solidFill>
                  <a:srgbClr val="7B5EA7"/>
                </a:solidFill>
                <a:latin typeface="Segoe UI"/>
              </a:rPr>
              <a:t>OTTOGI  ·  </a:t>
            </a:r>
            <a:r>
              <a:rPr sz="750" b="0" i="0">
                <a:solidFill>
                  <a:srgbClr val="717890"/>
                </a:solidFill>
                <a:latin typeface="Segoe UI"/>
              </a:rPr>
              <a:t>320 г</a:t>
            </a:r>
          </a:p>
        </p:txBody>
      </p:sp>
      <p:sp>
        <p:nvSpPr>
          <p:cNvPr id="63" name="TextBox 62"/>
          <p:cNvSpPr txBox="1"/>
          <p:nvPr/>
        </p:nvSpPr>
        <p:spPr>
          <a:xfrm>
            <a:off x="2931566" y="5522976"/>
            <a:ext cx="1880006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150" b="1" i="0">
                <a:solidFill>
                  <a:srgbClr val="7B5EA7"/>
                </a:solidFill>
                <a:latin typeface="Segoe UI"/>
              </a:rPr>
              <a:t>356 грн</a:t>
            </a:r>
          </a:p>
        </p:txBody>
      </p:sp>
      <p:sp>
        <p:nvSpPr>
          <p:cNvPr id="64" name="TextBox 63"/>
          <p:cNvSpPr txBox="1"/>
          <p:nvPr/>
        </p:nvSpPr>
        <p:spPr>
          <a:xfrm>
            <a:off x="2931566" y="5769864"/>
            <a:ext cx="1880006" cy="16459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750" b="1" i="0">
                <a:solidFill>
                  <a:srgbClr val="717890"/>
                </a:solidFill>
                <a:latin typeface="Segoe UI"/>
              </a:rPr>
              <a:t>111 грн/100 г</a:t>
            </a:r>
          </a:p>
        </p:txBody>
      </p:sp>
      <p:sp>
        <p:nvSpPr>
          <p:cNvPr id="65" name="TextBox 64"/>
          <p:cNvSpPr txBox="1"/>
          <p:nvPr/>
        </p:nvSpPr>
        <p:spPr>
          <a:xfrm>
            <a:off x="2931566" y="5925312"/>
            <a:ext cx="1880006" cy="16459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700" b="0" i="0">
                <a:solidFill>
                  <a:srgbClr val="717890"/>
                </a:solidFill>
                <a:latin typeface="Segoe UI"/>
              </a:rPr>
              <a:t>Апетітаріум</a:t>
            </a:r>
          </a:p>
        </p:txBody>
      </p:sp>
      <p:sp>
        <p:nvSpPr>
          <p:cNvPr id="66" name="Rounded Rectangle 65"/>
          <p:cNvSpPr/>
          <p:nvPr/>
        </p:nvSpPr>
        <p:spPr>
          <a:xfrm>
            <a:off x="5021884" y="3950208"/>
            <a:ext cx="2117750" cy="2139696"/>
          </a:xfrm>
          <a:prstGeom prst="roundRect">
            <a:avLst>
              <a:gd name="adj" fmla="val 7000"/>
            </a:avLst>
          </a:prstGeom>
          <a:solidFill>
            <a:srgbClr val="FFFFFF"/>
          </a:solidFill>
          <a:ln w="12700">
            <a:solidFill>
              <a:srgbClr val="E2E8F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7" name="Rounded Rectangle 66"/>
          <p:cNvSpPr/>
          <p:nvPr/>
        </p:nvSpPr>
        <p:spPr>
          <a:xfrm>
            <a:off x="5095036" y="4023360"/>
            <a:ext cx="1971446" cy="950975"/>
          </a:xfrm>
          <a:prstGeom prst="roundRect">
            <a:avLst>
              <a:gd name="adj" fmla="val 8000"/>
            </a:avLst>
          </a:prstGeom>
          <a:solidFill>
            <a:srgbClr val="F1F4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68" name="Picture 67" descr="bibigo_bowl.jpg"/>
          <p:cNvPicPr>
            <a:picLocks noChangeAspect="1"/>
          </p:cNvPicPr>
          <p:nvPr/>
        </p:nvPicPr>
        <p:blipFill>
          <a:blip r:embed="rId10"/>
          <a:stretch>
            <a:fillRect/>
          </a:stretch>
        </p:blipFill>
        <p:spPr>
          <a:xfrm>
            <a:off x="5643843" y="4059936"/>
            <a:ext cx="873833" cy="877823"/>
          </a:xfrm>
          <a:prstGeom prst="rect">
            <a:avLst/>
          </a:prstGeom>
        </p:spPr>
      </p:pic>
      <p:sp>
        <p:nvSpPr>
          <p:cNvPr id="69" name="TextBox 68"/>
          <p:cNvSpPr txBox="1"/>
          <p:nvPr/>
        </p:nvSpPr>
        <p:spPr>
          <a:xfrm>
            <a:off x="5140756" y="5010912"/>
            <a:ext cx="1880006" cy="32918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2000"/>
              </a:lnSpc>
            </a:pPr>
            <a:r>
              <a:rPr sz="900" b="1" i="0">
                <a:solidFill>
                  <a:srgbClr val="303A5D"/>
                </a:solidFill>
                <a:latin typeface="Segoe UI"/>
              </a:rPr>
              <a:t>Білий рис</a:t>
            </a:r>
          </a:p>
        </p:txBody>
      </p:sp>
      <p:sp>
        <p:nvSpPr>
          <p:cNvPr id="70" name="TextBox 69"/>
          <p:cNvSpPr txBox="1"/>
          <p:nvPr/>
        </p:nvSpPr>
        <p:spPr>
          <a:xfrm>
            <a:off x="5140756" y="5358384"/>
            <a:ext cx="1880006" cy="16459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750" b="1" i="0">
                <a:solidFill>
                  <a:srgbClr val="37A169"/>
                </a:solidFill>
                <a:latin typeface="Segoe UI"/>
              </a:rPr>
              <a:t>BIBIGO  ·  </a:t>
            </a:r>
            <a:r>
              <a:rPr sz="750" b="0" i="0">
                <a:solidFill>
                  <a:srgbClr val="717890"/>
                </a:solidFill>
                <a:latin typeface="Segoe UI"/>
              </a:rPr>
              <a:t>210 г</a:t>
            </a:r>
          </a:p>
        </p:txBody>
      </p:sp>
      <p:sp>
        <p:nvSpPr>
          <p:cNvPr id="71" name="TextBox 70"/>
          <p:cNvSpPr txBox="1"/>
          <p:nvPr/>
        </p:nvSpPr>
        <p:spPr>
          <a:xfrm>
            <a:off x="5140756" y="5522976"/>
            <a:ext cx="1880006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150" b="1" i="0">
                <a:solidFill>
                  <a:srgbClr val="37A169"/>
                </a:solidFill>
                <a:latin typeface="Segoe UI"/>
              </a:rPr>
              <a:t>189 грн</a:t>
            </a:r>
          </a:p>
        </p:txBody>
      </p:sp>
      <p:sp>
        <p:nvSpPr>
          <p:cNvPr id="72" name="TextBox 71"/>
          <p:cNvSpPr txBox="1"/>
          <p:nvPr/>
        </p:nvSpPr>
        <p:spPr>
          <a:xfrm>
            <a:off x="5140756" y="5769864"/>
            <a:ext cx="1880006" cy="16459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750" b="1" i="0">
                <a:solidFill>
                  <a:srgbClr val="717890"/>
                </a:solidFill>
                <a:latin typeface="Segoe UI"/>
              </a:rPr>
              <a:t>90 грн/100 г</a:t>
            </a:r>
          </a:p>
        </p:txBody>
      </p:sp>
      <p:sp>
        <p:nvSpPr>
          <p:cNvPr id="73" name="TextBox 72"/>
          <p:cNvSpPr txBox="1"/>
          <p:nvPr/>
        </p:nvSpPr>
        <p:spPr>
          <a:xfrm>
            <a:off x="5140756" y="5925312"/>
            <a:ext cx="1880006" cy="16459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700" b="0" i="0">
                <a:solidFill>
                  <a:srgbClr val="717890"/>
                </a:solidFill>
                <a:latin typeface="Segoe UI"/>
              </a:rPr>
              <a:t>Тайякі Март</a:t>
            </a:r>
          </a:p>
        </p:txBody>
      </p:sp>
      <p:sp>
        <p:nvSpPr>
          <p:cNvPr id="74" name="Rounded Rectangle 73"/>
          <p:cNvSpPr/>
          <p:nvPr/>
        </p:nvSpPr>
        <p:spPr>
          <a:xfrm>
            <a:off x="7231075" y="3950208"/>
            <a:ext cx="4326940" cy="2139696"/>
          </a:xfrm>
          <a:prstGeom prst="roundRect">
            <a:avLst>
              <a:gd name="adj" fmla="val 6000"/>
            </a:avLst>
          </a:prstGeom>
          <a:solidFill>
            <a:srgbClr val="303A5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5" name="Rounded Rectangle 74"/>
          <p:cNvSpPr/>
          <p:nvPr/>
        </p:nvSpPr>
        <p:spPr>
          <a:xfrm>
            <a:off x="7231075" y="3950208"/>
            <a:ext cx="82296" cy="2139696"/>
          </a:xfrm>
          <a:prstGeom prst="roundRect">
            <a:avLst>
              <a:gd name="adj" fmla="val 50000"/>
            </a:avLst>
          </a:prstGeom>
          <a:solidFill>
            <a:srgbClr val="7B5EA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6" name="TextBox 75"/>
          <p:cNvSpPr txBox="1"/>
          <p:nvPr/>
        </p:nvSpPr>
        <p:spPr>
          <a:xfrm>
            <a:off x="7541971" y="4114800"/>
            <a:ext cx="377830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250" b="1" i="0">
                <a:solidFill>
                  <a:srgbClr val="FFC95C"/>
                </a:solidFill>
                <a:latin typeface="Segoe UI"/>
              </a:rPr>
              <a:t>Що це означає</a:t>
            </a:r>
          </a:p>
        </p:txBody>
      </p:sp>
      <p:sp>
        <p:nvSpPr>
          <p:cNvPr id="77" name="TextBox 76"/>
          <p:cNvSpPr txBox="1"/>
          <p:nvPr/>
        </p:nvSpPr>
        <p:spPr>
          <a:xfrm>
            <a:off x="7541971" y="4443984"/>
            <a:ext cx="3778300" cy="14996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000" b="0" i="0">
                <a:solidFill>
                  <a:srgbClr val="D5DBEA"/>
                </a:solidFill>
                <a:latin typeface="Segoe UI"/>
              </a:rPr>
              <a:t>Найдорожчий формат категорії: 91 грн за 100 г проти 41 у Ben's і 29 в українському паучі. Та сама позиція коштує по-різному: тунець 247 г — 225 грн у «Тайякі Март» і 356 грн в «Апетітаріум», розкид 58 %.</a:t>
            </a:r>
          </a:p>
        </p:txBody>
      </p:sp>
      <p:sp>
        <p:nvSpPr>
          <p:cNvPr id="78" name="TextBox 77"/>
          <p:cNvSpPr txBox="1"/>
          <p:nvPr/>
        </p:nvSpPr>
        <p:spPr>
          <a:xfrm>
            <a:off x="603504" y="6473952"/>
            <a:ext cx="10881360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4000"/>
              </a:lnSpc>
            </a:pPr>
            <a:r>
              <a:rPr sz="800" b="0" i="0">
                <a:solidFill>
                  <a:srgbClr val="717890"/>
                </a:solidFill>
                <a:latin typeface="Segoe UI"/>
              </a:rPr>
              <a:t>Ціни з карток Prom.ua 23.09.2026, роздрібні за одну чашу. У «Тайякі Март» діє нижча ціна від 15–20 шт — вона до розрахунку не бралася. Три позиції Ottogi з попередньої редакції знято: на сайтах продавців їх більше немає.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969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969" cy="1060704"/>
          </a:xfrm>
          <a:prstGeom prst="rect">
            <a:avLst/>
          </a:prstGeom>
          <a:solidFill>
            <a:srgbClr val="303A5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060704"/>
            <a:ext cx="12191969" cy="50292"/>
          </a:xfrm>
          <a:prstGeom prst="rect">
            <a:avLst/>
          </a:prstGeom>
          <a:solidFill>
            <a:srgbClr val="F9A5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5" name="Picture 4" descr="md_logo_whit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03504" y="237744"/>
            <a:ext cx="1389888" cy="603504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2304288" y="310896"/>
            <a:ext cx="676656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950" b="1" i="0">
                <a:solidFill>
                  <a:srgbClr val="FFC95C"/>
                </a:solidFill>
                <a:latin typeface="Segoe UI"/>
              </a:rPr>
              <a:t>СЕГМЕНТ 3 · СТРАВА В ПАУЧІ · УКРАЇНА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2304288" y="548640"/>
            <a:ext cx="804672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900" b="1" i="0">
                <a:solidFill>
                  <a:srgbClr val="FFFFFF"/>
                </a:solidFill>
                <a:latin typeface="Segoe UI"/>
              </a:rPr>
              <a:t>10 позицій п'яти українських виробників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948385" y="402336"/>
            <a:ext cx="640080" cy="32918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/>
            <a:r>
              <a:rPr sz="1700" b="1" i="0">
                <a:solidFill>
                  <a:srgbClr val="465382"/>
                </a:solidFill>
                <a:latin typeface="Segoe UI"/>
              </a:rPr>
              <a:t>07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03504" y="1298448"/>
            <a:ext cx="10881360" cy="3108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200" b="0" i="0">
                <a:solidFill>
                  <a:srgbClr val="717890"/>
                </a:solidFill>
                <a:latin typeface="Segoe UI"/>
              </a:rPr>
              <a:t>Рис із м'ясом у реторт-паучі 350 г. Зберігання 24 місяці, розігрів без готування.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03504" y="1719072"/>
            <a:ext cx="1749552" cy="2139696"/>
          </a:xfrm>
          <a:prstGeom prst="roundRect">
            <a:avLst>
              <a:gd name="adj" fmla="val 7000"/>
            </a:avLst>
          </a:prstGeom>
          <a:solidFill>
            <a:srgbClr val="FFFFFF"/>
          </a:solidFill>
          <a:ln w="12700">
            <a:solidFill>
              <a:srgbClr val="E2E8F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ounded Rectangle 10"/>
          <p:cNvSpPr/>
          <p:nvPr/>
        </p:nvSpPr>
        <p:spPr>
          <a:xfrm>
            <a:off x="676656" y="1792224"/>
            <a:ext cx="1603248" cy="950975"/>
          </a:xfrm>
          <a:prstGeom prst="roundRect">
            <a:avLst>
              <a:gd name="adj" fmla="val 8000"/>
            </a:avLst>
          </a:prstGeom>
          <a:solidFill>
            <a:srgbClr val="F1F4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676656" y="2157984"/>
            <a:ext cx="1603248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800" b="0" i="0">
                <a:solidFill>
                  <a:srgbClr val="717890"/>
                </a:solidFill>
                <a:latin typeface="Segoe UI"/>
              </a:rPr>
              <a:t>фото немає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722376" y="2779776"/>
            <a:ext cx="1511808" cy="32918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2000"/>
              </a:lnSpc>
            </a:pPr>
            <a:r>
              <a:rPr sz="900" b="1" i="0">
                <a:solidFill>
                  <a:srgbClr val="303A5D"/>
                </a:solidFill>
                <a:latin typeface="Segoe UI"/>
              </a:rPr>
              <a:t>Каша рисова з куркою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722376" y="3127248"/>
            <a:ext cx="1511808" cy="16459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750" b="1" i="0">
                <a:solidFill>
                  <a:srgbClr val="C94F7C"/>
                </a:solidFill>
                <a:latin typeface="Segoe UI"/>
              </a:rPr>
              <a:t>PORTION  ·  </a:t>
            </a:r>
            <a:r>
              <a:rPr sz="750" b="0" i="0">
                <a:solidFill>
                  <a:srgbClr val="717890"/>
                </a:solidFill>
                <a:latin typeface="Segoe UI"/>
              </a:rPr>
              <a:t>350 г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722376" y="3291840"/>
            <a:ext cx="1511808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150" b="1" i="0">
                <a:solidFill>
                  <a:srgbClr val="C94F7C"/>
                </a:solidFill>
                <a:latin typeface="Segoe UI"/>
              </a:rPr>
              <a:t>71 грн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722376" y="3538728"/>
            <a:ext cx="1511808" cy="16459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750" b="1" i="0">
                <a:solidFill>
                  <a:srgbClr val="717890"/>
                </a:solidFill>
                <a:latin typeface="Segoe UI"/>
              </a:rPr>
              <a:t>20 грн/100 г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722376" y="3694176"/>
            <a:ext cx="1511808" cy="16459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700" b="0" i="0">
                <a:solidFill>
                  <a:srgbClr val="717890"/>
                </a:solidFill>
                <a:latin typeface="Segoe UI"/>
              </a:rPr>
              <a:t>portion.com.ua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2444496" y="1719072"/>
            <a:ext cx="1749552" cy="2139696"/>
          </a:xfrm>
          <a:prstGeom prst="roundRect">
            <a:avLst>
              <a:gd name="adj" fmla="val 7000"/>
            </a:avLst>
          </a:prstGeom>
          <a:solidFill>
            <a:srgbClr val="FFFFFF"/>
          </a:solidFill>
          <a:ln w="12700">
            <a:solidFill>
              <a:srgbClr val="E2E8F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ounded Rectangle 18"/>
          <p:cNvSpPr/>
          <p:nvPr/>
        </p:nvSpPr>
        <p:spPr>
          <a:xfrm>
            <a:off x="2517648" y="1792224"/>
            <a:ext cx="1603248" cy="950975"/>
          </a:xfrm>
          <a:prstGeom prst="roundRect">
            <a:avLst>
              <a:gd name="adj" fmla="val 8000"/>
            </a:avLst>
          </a:prstGeom>
          <a:solidFill>
            <a:srgbClr val="F1F4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20" name="Picture 19" descr="ua_markel_soy.jp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971029" y="1828800"/>
            <a:ext cx="696484" cy="877823"/>
          </a:xfrm>
          <a:prstGeom prst="rect">
            <a:avLst/>
          </a:prstGeom>
        </p:spPr>
      </p:pic>
      <p:sp>
        <p:nvSpPr>
          <p:cNvPr id="21" name="TextBox 20"/>
          <p:cNvSpPr txBox="1"/>
          <p:nvPr/>
        </p:nvSpPr>
        <p:spPr>
          <a:xfrm>
            <a:off x="2563368" y="2779776"/>
            <a:ext cx="1511808" cy="32918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2000"/>
              </a:lnSpc>
            </a:pPr>
            <a:r>
              <a:rPr sz="900" b="1" i="0">
                <a:solidFill>
                  <a:srgbClr val="303A5D"/>
                </a:solidFill>
                <a:latin typeface="Segoe UI"/>
              </a:rPr>
              <a:t>Рис із соєвим м'ясом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2563368" y="3127248"/>
            <a:ext cx="1511808" cy="16459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750" b="1" i="0">
                <a:solidFill>
                  <a:srgbClr val="5B6B8C"/>
                </a:solidFill>
                <a:latin typeface="Segoe UI"/>
              </a:rPr>
              <a:t>МАРКЕЛ  ·  </a:t>
            </a:r>
            <a:r>
              <a:rPr sz="750" b="0" i="0">
                <a:solidFill>
                  <a:srgbClr val="717890"/>
                </a:solidFill>
                <a:latin typeface="Segoe UI"/>
              </a:rPr>
              <a:t>350 г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2563368" y="3291840"/>
            <a:ext cx="1511808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150" b="1" i="0">
                <a:solidFill>
                  <a:srgbClr val="5B6B8C"/>
                </a:solidFill>
                <a:latin typeface="Segoe UI"/>
              </a:rPr>
              <a:t>80–96 грн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2563368" y="3538728"/>
            <a:ext cx="1511808" cy="16459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750" b="1" i="0">
                <a:solidFill>
                  <a:srgbClr val="717890"/>
                </a:solidFill>
                <a:latin typeface="Segoe UI"/>
              </a:rPr>
              <a:t>23–27 грн/100 г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2563368" y="3694176"/>
            <a:ext cx="1511808" cy="16459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700" b="0" i="0">
                <a:solidFill>
                  <a:srgbClr val="717890"/>
                </a:solidFill>
                <a:latin typeface="Segoe UI"/>
              </a:rPr>
              <a:t>Мартел-shop · СУХПАЙ · UPcompa</a:t>
            </a:r>
          </a:p>
        </p:txBody>
      </p:sp>
      <p:sp>
        <p:nvSpPr>
          <p:cNvPr id="26" name="Rounded Rectangle 25"/>
          <p:cNvSpPr/>
          <p:nvPr/>
        </p:nvSpPr>
        <p:spPr>
          <a:xfrm>
            <a:off x="4285488" y="1719072"/>
            <a:ext cx="1749552" cy="2139696"/>
          </a:xfrm>
          <a:prstGeom prst="roundRect">
            <a:avLst>
              <a:gd name="adj" fmla="val 7000"/>
            </a:avLst>
          </a:prstGeom>
          <a:solidFill>
            <a:srgbClr val="FFFFFF"/>
          </a:solidFill>
          <a:ln w="12700">
            <a:solidFill>
              <a:srgbClr val="E2E8F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Rounded Rectangle 26"/>
          <p:cNvSpPr/>
          <p:nvPr/>
        </p:nvSpPr>
        <p:spPr>
          <a:xfrm>
            <a:off x="4358640" y="1792224"/>
            <a:ext cx="1603248" cy="950975"/>
          </a:xfrm>
          <a:prstGeom prst="roundRect">
            <a:avLst>
              <a:gd name="adj" fmla="val 8000"/>
            </a:avLst>
          </a:prstGeom>
          <a:solidFill>
            <a:srgbClr val="F1F4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28" name="Picture 27" descr="ua_pak_pork.jp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501896" y="1828800"/>
            <a:ext cx="1316735" cy="877823"/>
          </a:xfrm>
          <a:prstGeom prst="rect">
            <a:avLst/>
          </a:prstGeom>
        </p:spPr>
      </p:pic>
      <p:sp>
        <p:nvSpPr>
          <p:cNvPr id="29" name="TextBox 28"/>
          <p:cNvSpPr txBox="1"/>
          <p:nvPr/>
        </p:nvSpPr>
        <p:spPr>
          <a:xfrm>
            <a:off x="4404360" y="2779776"/>
            <a:ext cx="1511808" cy="32918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2000"/>
              </a:lnSpc>
            </a:pPr>
            <a:r>
              <a:rPr sz="900" b="1" i="0">
                <a:solidFill>
                  <a:srgbClr val="303A5D"/>
                </a:solidFill>
                <a:latin typeface="Segoe UI"/>
              </a:rPr>
              <a:t>Каша рисова зі свининою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4404360" y="3127248"/>
            <a:ext cx="1511808" cy="16459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750" b="1" i="0">
                <a:solidFill>
                  <a:srgbClr val="5B6B8C"/>
                </a:solidFill>
                <a:latin typeface="Segoe UI"/>
              </a:rPr>
              <a:t>МАРКЕЛ  ·  </a:t>
            </a:r>
            <a:r>
              <a:rPr sz="750" b="0" i="0">
                <a:solidFill>
                  <a:srgbClr val="717890"/>
                </a:solidFill>
                <a:latin typeface="Segoe UI"/>
              </a:rPr>
              <a:t>350 г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4404360" y="3291840"/>
            <a:ext cx="1511808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150" b="1" i="0">
                <a:solidFill>
                  <a:srgbClr val="5B6B8C"/>
                </a:solidFill>
                <a:latin typeface="Segoe UI"/>
              </a:rPr>
              <a:t>99 грн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4404360" y="3538728"/>
            <a:ext cx="1511808" cy="16459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750" b="1" i="0">
                <a:solidFill>
                  <a:srgbClr val="717890"/>
                </a:solidFill>
                <a:latin typeface="Segoe UI"/>
              </a:rPr>
              <a:t>28 грн/100 г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4404360" y="3694176"/>
            <a:ext cx="1511808" cy="16459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700" b="0" i="0">
                <a:solidFill>
                  <a:srgbClr val="717890"/>
                </a:solidFill>
                <a:latin typeface="Segoe UI"/>
              </a:rPr>
              <a:t>UPcompany</a:t>
            </a:r>
          </a:p>
        </p:txBody>
      </p:sp>
      <p:sp>
        <p:nvSpPr>
          <p:cNvPr id="34" name="Rounded Rectangle 33"/>
          <p:cNvSpPr/>
          <p:nvPr/>
        </p:nvSpPr>
        <p:spPr>
          <a:xfrm>
            <a:off x="6126479" y="1719072"/>
            <a:ext cx="1749552" cy="2139696"/>
          </a:xfrm>
          <a:prstGeom prst="roundRect">
            <a:avLst>
              <a:gd name="adj" fmla="val 7000"/>
            </a:avLst>
          </a:prstGeom>
          <a:solidFill>
            <a:srgbClr val="FFFFFF"/>
          </a:solidFill>
          <a:ln w="12700">
            <a:solidFill>
              <a:srgbClr val="E2E8F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Rounded Rectangle 34"/>
          <p:cNvSpPr/>
          <p:nvPr/>
        </p:nvSpPr>
        <p:spPr>
          <a:xfrm>
            <a:off x="6199631" y="1792224"/>
            <a:ext cx="1603248" cy="950975"/>
          </a:xfrm>
          <a:prstGeom prst="roundRect">
            <a:avLst>
              <a:gd name="adj" fmla="val 8000"/>
            </a:avLst>
          </a:prstGeom>
          <a:solidFill>
            <a:srgbClr val="F1F4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6" name="Picture 35" descr="ua_markel_eat.jp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6661099" y="1828800"/>
            <a:ext cx="680313" cy="877823"/>
          </a:xfrm>
          <a:prstGeom prst="rect">
            <a:avLst/>
          </a:prstGeom>
        </p:spPr>
      </p:pic>
      <p:sp>
        <p:nvSpPr>
          <p:cNvPr id="37" name="TextBox 36"/>
          <p:cNvSpPr txBox="1"/>
          <p:nvPr/>
        </p:nvSpPr>
        <p:spPr>
          <a:xfrm>
            <a:off x="6245351" y="2779776"/>
            <a:ext cx="1511808" cy="32918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2000"/>
              </a:lnSpc>
            </a:pPr>
            <a:r>
              <a:rPr sz="900" b="1" i="0">
                <a:solidFill>
                  <a:srgbClr val="303A5D"/>
                </a:solidFill>
                <a:latin typeface="Segoe UI"/>
              </a:rPr>
              <a:t>Рис із рослинним фаршем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6245351" y="3127248"/>
            <a:ext cx="1511808" cy="16459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750" b="1" i="0">
                <a:solidFill>
                  <a:srgbClr val="5B6B8C"/>
                </a:solidFill>
                <a:latin typeface="Segoe UI"/>
              </a:rPr>
              <a:t>МАРКЕЛ  ·  </a:t>
            </a:r>
            <a:r>
              <a:rPr sz="750" b="0" i="0">
                <a:solidFill>
                  <a:srgbClr val="717890"/>
                </a:solidFill>
                <a:latin typeface="Segoe UI"/>
              </a:rPr>
              <a:t>350 г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6245351" y="3291840"/>
            <a:ext cx="1511808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150" b="1" i="0">
                <a:solidFill>
                  <a:srgbClr val="5B6B8C"/>
                </a:solidFill>
                <a:latin typeface="Segoe UI"/>
              </a:rPr>
              <a:t>127–144 грн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6245351" y="3538728"/>
            <a:ext cx="1511808" cy="16459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750" b="1" i="0">
                <a:solidFill>
                  <a:srgbClr val="717890"/>
                </a:solidFill>
                <a:latin typeface="Segoe UI"/>
              </a:rPr>
              <a:t>36–41 грн/100 г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6245351" y="3694176"/>
            <a:ext cx="1511808" cy="16459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700" b="0" i="0">
                <a:solidFill>
                  <a:srgbClr val="717890"/>
                </a:solidFill>
                <a:latin typeface="Segoe UI"/>
              </a:rPr>
              <a:t>СУХПАЙ · UPcompany</a:t>
            </a:r>
          </a:p>
        </p:txBody>
      </p:sp>
      <p:sp>
        <p:nvSpPr>
          <p:cNvPr id="42" name="Rounded Rectangle 41"/>
          <p:cNvSpPr/>
          <p:nvPr/>
        </p:nvSpPr>
        <p:spPr>
          <a:xfrm>
            <a:off x="7967472" y="1719072"/>
            <a:ext cx="1749552" cy="2139696"/>
          </a:xfrm>
          <a:prstGeom prst="roundRect">
            <a:avLst>
              <a:gd name="adj" fmla="val 7000"/>
            </a:avLst>
          </a:prstGeom>
          <a:solidFill>
            <a:srgbClr val="FFFFFF"/>
          </a:solidFill>
          <a:ln w="12700">
            <a:solidFill>
              <a:srgbClr val="E2E8F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3" name="Rounded Rectangle 42"/>
          <p:cNvSpPr/>
          <p:nvPr/>
        </p:nvSpPr>
        <p:spPr>
          <a:xfrm>
            <a:off x="8040624" y="1792224"/>
            <a:ext cx="1603248" cy="950975"/>
          </a:xfrm>
          <a:prstGeom prst="roundRect">
            <a:avLst>
              <a:gd name="adj" fmla="val 8000"/>
            </a:avLst>
          </a:prstGeom>
          <a:solidFill>
            <a:srgbClr val="F1F4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44" name="Picture 43" descr="ua_veres_pork.jp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8555800" y="1828800"/>
            <a:ext cx="572895" cy="877823"/>
          </a:xfrm>
          <a:prstGeom prst="rect">
            <a:avLst/>
          </a:prstGeom>
        </p:spPr>
      </p:pic>
      <p:sp>
        <p:nvSpPr>
          <p:cNvPr id="45" name="TextBox 44"/>
          <p:cNvSpPr txBox="1"/>
          <p:nvPr/>
        </p:nvSpPr>
        <p:spPr>
          <a:xfrm>
            <a:off x="8086344" y="2779776"/>
            <a:ext cx="1511808" cy="32918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2000"/>
              </a:lnSpc>
            </a:pPr>
            <a:r>
              <a:rPr sz="900" b="1" i="0">
                <a:solidFill>
                  <a:srgbClr val="303A5D"/>
                </a:solidFill>
                <a:latin typeface="Segoe UI"/>
              </a:rPr>
              <a:t>Свинина, горошок, кукурудза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8086344" y="3127248"/>
            <a:ext cx="1511808" cy="16459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750" b="1" i="0">
                <a:solidFill>
                  <a:srgbClr val="37A169"/>
                </a:solidFill>
                <a:latin typeface="Segoe UI"/>
              </a:rPr>
              <a:t>ВЕРЕС  ·  </a:t>
            </a:r>
            <a:r>
              <a:rPr sz="750" b="0" i="0">
                <a:solidFill>
                  <a:srgbClr val="717890"/>
                </a:solidFill>
                <a:latin typeface="Segoe UI"/>
              </a:rPr>
              <a:t>350 г</a:t>
            </a:r>
          </a:p>
        </p:txBody>
      </p:sp>
      <p:sp>
        <p:nvSpPr>
          <p:cNvPr id="47" name="TextBox 46"/>
          <p:cNvSpPr txBox="1"/>
          <p:nvPr/>
        </p:nvSpPr>
        <p:spPr>
          <a:xfrm>
            <a:off x="8086344" y="3291840"/>
            <a:ext cx="1511808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150" b="1" i="0">
                <a:solidFill>
                  <a:srgbClr val="37A169"/>
                </a:solidFill>
                <a:latin typeface="Segoe UI"/>
              </a:rPr>
              <a:t>100 грн</a:t>
            </a:r>
          </a:p>
        </p:txBody>
      </p:sp>
      <p:sp>
        <p:nvSpPr>
          <p:cNvPr id="48" name="TextBox 47"/>
          <p:cNvSpPr txBox="1"/>
          <p:nvPr/>
        </p:nvSpPr>
        <p:spPr>
          <a:xfrm>
            <a:off x="8086344" y="3538728"/>
            <a:ext cx="1511808" cy="16459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750" b="1" i="0">
                <a:solidFill>
                  <a:srgbClr val="717890"/>
                </a:solidFill>
                <a:latin typeface="Segoe UI"/>
              </a:rPr>
              <a:t>29 грн/100 г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8086344" y="3694176"/>
            <a:ext cx="1511808" cy="16459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700" b="0" i="0">
                <a:solidFill>
                  <a:srgbClr val="717890"/>
                </a:solidFill>
                <a:latin typeface="Segoe UI"/>
              </a:rPr>
              <a:t>Prom</a:t>
            </a:r>
          </a:p>
        </p:txBody>
      </p:sp>
      <p:sp>
        <p:nvSpPr>
          <p:cNvPr id="50" name="Rounded Rectangle 49"/>
          <p:cNvSpPr/>
          <p:nvPr/>
        </p:nvSpPr>
        <p:spPr>
          <a:xfrm>
            <a:off x="9808464" y="1719072"/>
            <a:ext cx="1749552" cy="2139696"/>
          </a:xfrm>
          <a:prstGeom prst="roundRect">
            <a:avLst>
              <a:gd name="adj" fmla="val 7000"/>
            </a:avLst>
          </a:prstGeom>
          <a:solidFill>
            <a:srgbClr val="FFFFFF"/>
          </a:solidFill>
          <a:ln w="12700">
            <a:solidFill>
              <a:srgbClr val="E2E8F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1" name="Rounded Rectangle 50"/>
          <p:cNvSpPr/>
          <p:nvPr/>
        </p:nvSpPr>
        <p:spPr>
          <a:xfrm>
            <a:off x="9881616" y="1792224"/>
            <a:ext cx="1603248" cy="950975"/>
          </a:xfrm>
          <a:prstGeom prst="roundRect">
            <a:avLst>
              <a:gd name="adj" fmla="val 8000"/>
            </a:avLst>
          </a:prstGeom>
          <a:solidFill>
            <a:srgbClr val="F1F4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52" name="Picture 51" descr="ua_veres_chicken.jpg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10295149" y="1828800"/>
            <a:ext cx="776181" cy="877823"/>
          </a:xfrm>
          <a:prstGeom prst="rect">
            <a:avLst/>
          </a:prstGeom>
        </p:spPr>
      </p:pic>
      <p:sp>
        <p:nvSpPr>
          <p:cNvPr id="53" name="TextBox 52"/>
          <p:cNvSpPr txBox="1"/>
          <p:nvPr/>
        </p:nvSpPr>
        <p:spPr>
          <a:xfrm>
            <a:off x="9927336" y="2779776"/>
            <a:ext cx="1511808" cy="32918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2000"/>
              </a:lnSpc>
            </a:pPr>
            <a:r>
              <a:rPr sz="900" b="1" i="0">
                <a:solidFill>
                  <a:srgbClr val="303A5D"/>
                </a:solidFill>
                <a:latin typeface="Segoe UI"/>
              </a:rPr>
              <a:t>Каша рисова з куркою</a:t>
            </a:r>
          </a:p>
        </p:txBody>
      </p:sp>
      <p:sp>
        <p:nvSpPr>
          <p:cNvPr id="54" name="TextBox 53"/>
          <p:cNvSpPr txBox="1"/>
          <p:nvPr/>
        </p:nvSpPr>
        <p:spPr>
          <a:xfrm>
            <a:off x="9927336" y="3127248"/>
            <a:ext cx="1511808" cy="16459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750" b="1" i="0">
                <a:solidFill>
                  <a:srgbClr val="37A169"/>
                </a:solidFill>
                <a:latin typeface="Segoe UI"/>
              </a:rPr>
              <a:t>ВЕРЕС  ·  </a:t>
            </a:r>
            <a:r>
              <a:rPr sz="750" b="0" i="0">
                <a:solidFill>
                  <a:srgbClr val="717890"/>
                </a:solidFill>
                <a:latin typeface="Segoe UI"/>
              </a:rPr>
              <a:t>350 г</a:t>
            </a:r>
          </a:p>
        </p:txBody>
      </p:sp>
      <p:sp>
        <p:nvSpPr>
          <p:cNvPr id="55" name="TextBox 54"/>
          <p:cNvSpPr txBox="1"/>
          <p:nvPr/>
        </p:nvSpPr>
        <p:spPr>
          <a:xfrm>
            <a:off x="9927336" y="3291840"/>
            <a:ext cx="1511808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150" b="1" i="0">
                <a:solidFill>
                  <a:srgbClr val="37A169"/>
                </a:solidFill>
                <a:latin typeface="Segoe UI"/>
              </a:rPr>
              <a:t>108–134 грн</a:t>
            </a:r>
          </a:p>
        </p:txBody>
      </p:sp>
      <p:sp>
        <p:nvSpPr>
          <p:cNvPr id="56" name="TextBox 55"/>
          <p:cNvSpPr txBox="1"/>
          <p:nvPr/>
        </p:nvSpPr>
        <p:spPr>
          <a:xfrm>
            <a:off x="9927336" y="3538728"/>
            <a:ext cx="1511808" cy="16459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750" b="1" i="0">
                <a:solidFill>
                  <a:srgbClr val="717890"/>
                </a:solidFill>
                <a:latin typeface="Segoe UI"/>
              </a:rPr>
              <a:t>31–38 грн/100 г</a:t>
            </a:r>
          </a:p>
        </p:txBody>
      </p:sp>
      <p:sp>
        <p:nvSpPr>
          <p:cNvPr id="57" name="TextBox 56"/>
          <p:cNvSpPr txBox="1"/>
          <p:nvPr/>
        </p:nvSpPr>
        <p:spPr>
          <a:xfrm>
            <a:off x="9927336" y="3694176"/>
            <a:ext cx="1511808" cy="16459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700" b="0" i="0">
                <a:solidFill>
                  <a:srgbClr val="717890"/>
                </a:solidFill>
                <a:latin typeface="Segoe UI"/>
              </a:rPr>
              <a:t>Козуб · Смачна адреса · Продук</a:t>
            </a:r>
          </a:p>
        </p:txBody>
      </p:sp>
      <p:sp>
        <p:nvSpPr>
          <p:cNvPr id="58" name="Rounded Rectangle 57"/>
          <p:cNvSpPr/>
          <p:nvPr/>
        </p:nvSpPr>
        <p:spPr>
          <a:xfrm>
            <a:off x="603504" y="3950208"/>
            <a:ext cx="1749552" cy="2139696"/>
          </a:xfrm>
          <a:prstGeom prst="roundRect">
            <a:avLst>
              <a:gd name="adj" fmla="val 7000"/>
            </a:avLst>
          </a:prstGeom>
          <a:solidFill>
            <a:srgbClr val="FFFFFF"/>
          </a:solidFill>
          <a:ln w="12700">
            <a:solidFill>
              <a:srgbClr val="E2E8F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9" name="Rounded Rectangle 58"/>
          <p:cNvSpPr/>
          <p:nvPr/>
        </p:nvSpPr>
        <p:spPr>
          <a:xfrm>
            <a:off x="676656" y="4023360"/>
            <a:ext cx="1603248" cy="950975"/>
          </a:xfrm>
          <a:prstGeom prst="roundRect">
            <a:avLst>
              <a:gd name="adj" fmla="val 8000"/>
            </a:avLst>
          </a:prstGeom>
          <a:solidFill>
            <a:srgbClr val="F1F4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60" name="Picture 59" descr="ua_makro_chicken.jpg"/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1121952" y="4059936"/>
            <a:ext cx="712654" cy="877823"/>
          </a:xfrm>
          <a:prstGeom prst="rect">
            <a:avLst/>
          </a:prstGeom>
        </p:spPr>
      </p:pic>
      <p:sp>
        <p:nvSpPr>
          <p:cNvPr id="61" name="TextBox 60"/>
          <p:cNvSpPr txBox="1"/>
          <p:nvPr/>
        </p:nvSpPr>
        <p:spPr>
          <a:xfrm>
            <a:off x="722376" y="5010912"/>
            <a:ext cx="1511808" cy="32918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2000"/>
              </a:lnSpc>
            </a:pPr>
            <a:r>
              <a:rPr sz="900" b="1" i="0">
                <a:solidFill>
                  <a:srgbClr val="303A5D"/>
                </a:solidFill>
                <a:latin typeface="Segoe UI"/>
              </a:rPr>
              <a:t>Курятина 35 % і овочі</a:t>
            </a:r>
          </a:p>
        </p:txBody>
      </p:sp>
      <p:sp>
        <p:nvSpPr>
          <p:cNvPr id="62" name="TextBox 61"/>
          <p:cNvSpPr txBox="1"/>
          <p:nvPr/>
        </p:nvSpPr>
        <p:spPr>
          <a:xfrm>
            <a:off x="722376" y="5358384"/>
            <a:ext cx="1511808" cy="16459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750" b="1" i="0">
                <a:solidFill>
                  <a:srgbClr val="F9A50B"/>
                </a:solidFill>
                <a:latin typeface="Segoe UI"/>
              </a:rPr>
              <a:t>МАКРО  ·  </a:t>
            </a:r>
            <a:r>
              <a:rPr sz="750" b="0" i="0">
                <a:solidFill>
                  <a:srgbClr val="717890"/>
                </a:solidFill>
                <a:latin typeface="Segoe UI"/>
              </a:rPr>
              <a:t>350 г</a:t>
            </a:r>
          </a:p>
        </p:txBody>
      </p:sp>
      <p:sp>
        <p:nvSpPr>
          <p:cNvPr id="63" name="TextBox 62"/>
          <p:cNvSpPr txBox="1"/>
          <p:nvPr/>
        </p:nvSpPr>
        <p:spPr>
          <a:xfrm>
            <a:off x="722376" y="5522976"/>
            <a:ext cx="1511808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150" b="1" i="0">
                <a:solidFill>
                  <a:srgbClr val="F9A50B"/>
                </a:solidFill>
                <a:latin typeface="Segoe UI"/>
              </a:rPr>
              <a:t>101 грн</a:t>
            </a:r>
          </a:p>
        </p:txBody>
      </p:sp>
      <p:sp>
        <p:nvSpPr>
          <p:cNvPr id="64" name="TextBox 63"/>
          <p:cNvSpPr txBox="1"/>
          <p:nvPr/>
        </p:nvSpPr>
        <p:spPr>
          <a:xfrm>
            <a:off x="722376" y="5769864"/>
            <a:ext cx="1511808" cy="16459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750" b="1" i="0">
                <a:solidFill>
                  <a:srgbClr val="717890"/>
                </a:solidFill>
                <a:latin typeface="Segoe UI"/>
              </a:rPr>
              <a:t>29 грн/100 г</a:t>
            </a:r>
          </a:p>
        </p:txBody>
      </p:sp>
      <p:sp>
        <p:nvSpPr>
          <p:cNvPr id="65" name="TextBox 64"/>
          <p:cNvSpPr txBox="1"/>
          <p:nvPr/>
        </p:nvSpPr>
        <p:spPr>
          <a:xfrm>
            <a:off x="722376" y="5925312"/>
            <a:ext cx="1511808" cy="16459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700" b="0" i="0">
                <a:solidFill>
                  <a:srgbClr val="717890"/>
                </a:solidFill>
                <a:latin typeface="Segoe UI"/>
              </a:rPr>
              <a:t>СУХПАЙ</a:t>
            </a:r>
          </a:p>
        </p:txBody>
      </p:sp>
      <p:sp>
        <p:nvSpPr>
          <p:cNvPr id="66" name="Rounded Rectangle 65"/>
          <p:cNvSpPr/>
          <p:nvPr/>
        </p:nvSpPr>
        <p:spPr>
          <a:xfrm>
            <a:off x="2444496" y="3950208"/>
            <a:ext cx="1749552" cy="2139696"/>
          </a:xfrm>
          <a:prstGeom prst="roundRect">
            <a:avLst>
              <a:gd name="adj" fmla="val 7000"/>
            </a:avLst>
          </a:prstGeom>
          <a:solidFill>
            <a:srgbClr val="FFFFFF"/>
          </a:solidFill>
          <a:ln w="12700">
            <a:solidFill>
              <a:srgbClr val="E2E8F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7" name="Rounded Rectangle 66"/>
          <p:cNvSpPr/>
          <p:nvPr/>
        </p:nvSpPr>
        <p:spPr>
          <a:xfrm>
            <a:off x="2517648" y="4023360"/>
            <a:ext cx="1603248" cy="950975"/>
          </a:xfrm>
          <a:prstGeom prst="roundRect">
            <a:avLst>
              <a:gd name="adj" fmla="val 8000"/>
            </a:avLst>
          </a:prstGeom>
          <a:solidFill>
            <a:srgbClr val="F1F4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68" name="Picture 67" descr="ua_makro_pork.jpg"/>
          <p:cNvPicPr>
            <a:picLocks noChangeAspect="1"/>
          </p:cNvPicPr>
          <p:nvPr/>
        </p:nvPicPr>
        <p:blipFill>
          <a:blip r:embed="rId9"/>
          <a:stretch>
            <a:fillRect/>
          </a:stretch>
        </p:blipFill>
        <p:spPr>
          <a:xfrm>
            <a:off x="2945619" y="4059936"/>
            <a:ext cx="747305" cy="877823"/>
          </a:xfrm>
          <a:prstGeom prst="rect">
            <a:avLst/>
          </a:prstGeom>
        </p:spPr>
      </p:pic>
      <p:sp>
        <p:nvSpPr>
          <p:cNvPr id="69" name="TextBox 68"/>
          <p:cNvSpPr txBox="1"/>
          <p:nvPr/>
        </p:nvSpPr>
        <p:spPr>
          <a:xfrm>
            <a:off x="2563368" y="5010912"/>
            <a:ext cx="1511808" cy="32918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2000"/>
              </a:lnSpc>
            </a:pPr>
            <a:r>
              <a:rPr sz="900" b="1" i="0">
                <a:solidFill>
                  <a:srgbClr val="303A5D"/>
                </a:solidFill>
                <a:latin typeface="Segoe UI"/>
              </a:rPr>
              <a:t>Свинина 35 % і овочі</a:t>
            </a:r>
          </a:p>
        </p:txBody>
      </p:sp>
      <p:sp>
        <p:nvSpPr>
          <p:cNvPr id="70" name="TextBox 69"/>
          <p:cNvSpPr txBox="1"/>
          <p:nvPr/>
        </p:nvSpPr>
        <p:spPr>
          <a:xfrm>
            <a:off x="2563368" y="5358384"/>
            <a:ext cx="1511808" cy="16459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750" b="1" i="0">
                <a:solidFill>
                  <a:srgbClr val="F9A50B"/>
                </a:solidFill>
                <a:latin typeface="Segoe UI"/>
              </a:rPr>
              <a:t>МАКРО  ·  </a:t>
            </a:r>
            <a:r>
              <a:rPr sz="750" b="0" i="0">
                <a:solidFill>
                  <a:srgbClr val="717890"/>
                </a:solidFill>
                <a:latin typeface="Segoe UI"/>
              </a:rPr>
              <a:t>350 г</a:t>
            </a:r>
          </a:p>
        </p:txBody>
      </p:sp>
      <p:sp>
        <p:nvSpPr>
          <p:cNvPr id="71" name="TextBox 70"/>
          <p:cNvSpPr txBox="1"/>
          <p:nvPr/>
        </p:nvSpPr>
        <p:spPr>
          <a:xfrm>
            <a:off x="2563368" y="5522976"/>
            <a:ext cx="1511808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150" b="1" i="0">
                <a:solidFill>
                  <a:srgbClr val="F9A50B"/>
                </a:solidFill>
                <a:latin typeface="Segoe UI"/>
              </a:rPr>
              <a:t>101–135 грн</a:t>
            </a:r>
          </a:p>
        </p:txBody>
      </p:sp>
      <p:sp>
        <p:nvSpPr>
          <p:cNvPr id="72" name="TextBox 71"/>
          <p:cNvSpPr txBox="1"/>
          <p:nvPr/>
        </p:nvSpPr>
        <p:spPr>
          <a:xfrm>
            <a:off x="2563368" y="5769864"/>
            <a:ext cx="1511808" cy="16459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750" b="1" i="0">
                <a:solidFill>
                  <a:srgbClr val="717890"/>
                </a:solidFill>
                <a:latin typeface="Segoe UI"/>
              </a:rPr>
              <a:t>29–39 грн/100 г</a:t>
            </a:r>
          </a:p>
        </p:txBody>
      </p:sp>
      <p:sp>
        <p:nvSpPr>
          <p:cNvPr id="73" name="TextBox 72"/>
          <p:cNvSpPr txBox="1"/>
          <p:nvPr/>
        </p:nvSpPr>
        <p:spPr>
          <a:xfrm>
            <a:off x="2563368" y="5925312"/>
            <a:ext cx="1511808" cy="16459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700" b="0" i="0">
                <a:solidFill>
                  <a:srgbClr val="717890"/>
                </a:solidFill>
                <a:latin typeface="Segoe UI"/>
              </a:rPr>
              <a:t>СУХПАЙ · Euro-komplekt</a:t>
            </a:r>
          </a:p>
        </p:txBody>
      </p:sp>
      <p:sp>
        <p:nvSpPr>
          <p:cNvPr id="74" name="Rounded Rectangle 73"/>
          <p:cNvSpPr/>
          <p:nvPr/>
        </p:nvSpPr>
        <p:spPr>
          <a:xfrm>
            <a:off x="4285488" y="3950208"/>
            <a:ext cx="1749552" cy="2139696"/>
          </a:xfrm>
          <a:prstGeom prst="roundRect">
            <a:avLst>
              <a:gd name="adj" fmla="val 7000"/>
            </a:avLst>
          </a:prstGeom>
          <a:solidFill>
            <a:srgbClr val="FFFFFF"/>
          </a:solidFill>
          <a:ln w="12700">
            <a:solidFill>
              <a:srgbClr val="E2E8F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5" name="Rounded Rectangle 74"/>
          <p:cNvSpPr/>
          <p:nvPr/>
        </p:nvSpPr>
        <p:spPr>
          <a:xfrm>
            <a:off x="4358640" y="4023360"/>
            <a:ext cx="1603248" cy="950975"/>
          </a:xfrm>
          <a:prstGeom prst="roundRect">
            <a:avLst>
              <a:gd name="adj" fmla="val 8000"/>
            </a:avLst>
          </a:prstGeom>
          <a:solidFill>
            <a:srgbClr val="F1F4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76" name="Picture 75" descr="ua_makro_beef.jpg"/>
          <p:cNvPicPr>
            <a:picLocks noChangeAspect="1"/>
          </p:cNvPicPr>
          <p:nvPr/>
        </p:nvPicPr>
        <p:blipFill>
          <a:blip r:embed="rId10"/>
          <a:stretch>
            <a:fillRect/>
          </a:stretch>
        </p:blipFill>
        <p:spPr>
          <a:xfrm>
            <a:off x="4775060" y="4059936"/>
            <a:ext cx="770406" cy="877823"/>
          </a:xfrm>
          <a:prstGeom prst="rect">
            <a:avLst/>
          </a:prstGeom>
        </p:spPr>
      </p:pic>
      <p:sp>
        <p:nvSpPr>
          <p:cNvPr id="77" name="TextBox 76"/>
          <p:cNvSpPr txBox="1"/>
          <p:nvPr/>
        </p:nvSpPr>
        <p:spPr>
          <a:xfrm>
            <a:off x="4404360" y="5010912"/>
            <a:ext cx="1511808" cy="32918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2000"/>
              </a:lnSpc>
            </a:pPr>
            <a:r>
              <a:rPr sz="900" b="1" i="0">
                <a:solidFill>
                  <a:srgbClr val="303A5D"/>
                </a:solidFill>
                <a:latin typeface="Segoe UI"/>
              </a:rPr>
              <a:t>Яловичина 35 % і овочі</a:t>
            </a:r>
          </a:p>
        </p:txBody>
      </p:sp>
      <p:sp>
        <p:nvSpPr>
          <p:cNvPr id="78" name="TextBox 77"/>
          <p:cNvSpPr txBox="1"/>
          <p:nvPr/>
        </p:nvSpPr>
        <p:spPr>
          <a:xfrm>
            <a:off x="4404360" y="5358384"/>
            <a:ext cx="1511808" cy="16459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750" b="1" i="0">
                <a:solidFill>
                  <a:srgbClr val="F9A50B"/>
                </a:solidFill>
                <a:latin typeface="Segoe UI"/>
              </a:rPr>
              <a:t>МАКРО  ·  </a:t>
            </a:r>
            <a:r>
              <a:rPr sz="750" b="0" i="0">
                <a:solidFill>
                  <a:srgbClr val="717890"/>
                </a:solidFill>
                <a:latin typeface="Segoe UI"/>
              </a:rPr>
              <a:t>350 г</a:t>
            </a:r>
          </a:p>
        </p:txBody>
      </p:sp>
      <p:sp>
        <p:nvSpPr>
          <p:cNvPr id="79" name="TextBox 78"/>
          <p:cNvSpPr txBox="1"/>
          <p:nvPr/>
        </p:nvSpPr>
        <p:spPr>
          <a:xfrm>
            <a:off x="4404360" y="5522976"/>
            <a:ext cx="1511808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150" b="1" i="0">
                <a:solidFill>
                  <a:srgbClr val="F9A50B"/>
                </a:solidFill>
                <a:latin typeface="Segoe UI"/>
              </a:rPr>
              <a:t>106–107 грн</a:t>
            </a:r>
          </a:p>
        </p:txBody>
      </p:sp>
      <p:sp>
        <p:nvSpPr>
          <p:cNvPr id="80" name="TextBox 79"/>
          <p:cNvSpPr txBox="1"/>
          <p:nvPr/>
        </p:nvSpPr>
        <p:spPr>
          <a:xfrm>
            <a:off x="4404360" y="5769864"/>
            <a:ext cx="1511808" cy="16459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750" b="1" i="0">
                <a:solidFill>
                  <a:srgbClr val="717890"/>
                </a:solidFill>
                <a:latin typeface="Segoe UI"/>
              </a:rPr>
              <a:t>30–31 грн/100 г</a:t>
            </a:r>
          </a:p>
        </p:txBody>
      </p:sp>
      <p:sp>
        <p:nvSpPr>
          <p:cNvPr id="81" name="TextBox 80"/>
          <p:cNvSpPr txBox="1"/>
          <p:nvPr/>
        </p:nvSpPr>
        <p:spPr>
          <a:xfrm>
            <a:off x="4404360" y="5925312"/>
            <a:ext cx="1511808" cy="16459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700" b="0" i="0">
                <a:solidFill>
                  <a:srgbClr val="717890"/>
                </a:solidFill>
                <a:latin typeface="Segoe UI"/>
              </a:rPr>
              <a:t>СУХПАЙ · UPcompany</a:t>
            </a:r>
          </a:p>
        </p:txBody>
      </p:sp>
      <p:sp>
        <p:nvSpPr>
          <p:cNvPr id="82" name="Rounded Rectangle 81"/>
          <p:cNvSpPr/>
          <p:nvPr/>
        </p:nvSpPr>
        <p:spPr>
          <a:xfrm>
            <a:off x="6126479" y="3950208"/>
            <a:ext cx="1749552" cy="2139696"/>
          </a:xfrm>
          <a:prstGeom prst="roundRect">
            <a:avLst>
              <a:gd name="adj" fmla="val 7000"/>
            </a:avLst>
          </a:prstGeom>
          <a:solidFill>
            <a:srgbClr val="FFFFFF"/>
          </a:solidFill>
          <a:ln w="12700">
            <a:solidFill>
              <a:srgbClr val="E2E8F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3" name="Rounded Rectangle 82"/>
          <p:cNvSpPr/>
          <p:nvPr/>
        </p:nvSpPr>
        <p:spPr>
          <a:xfrm>
            <a:off x="6199631" y="4023360"/>
            <a:ext cx="1603248" cy="950975"/>
          </a:xfrm>
          <a:prstGeom prst="roundRect">
            <a:avLst>
              <a:gd name="adj" fmla="val 8000"/>
            </a:avLst>
          </a:prstGeom>
          <a:solidFill>
            <a:srgbClr val="F1F4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84" name="Picture 83" descr="ua_khodoriv_pork.jpg"/>
          <p:cNvPicPr>
            <a:picLocks noChangeAspect="1"/>
          </p:cNvPicPr>
          <p:nvPr/>
        </p:nvPicPr>
        <p:blipFill>
          <a:blip r:embed="rId11"/>
          <a:stretch>
            <a:fillRect/>
          </a:stretch>
        </p:blipFill>
        <p:spPr>
          <a:xfrm>
            <a:off x="6644351" y="4059936"/>
            <a:ext cx="713809" cy="877823"/>
          </a:xfrm>
          <a:prstGeom prst="rect">
            <a:avLst/>
          </a:prstGeom>
        </p:spPr>
      </p:pic>
      <p:sp>
        <p:nvSpPr>
          <p:cNvPr id="85" name="TextBox 84"/>
          <p:cNvSpPr txBox="1"/>
          <p:nvPr/>
        </p:nvSpPr>
        <p:spPr>
          <a:xfrm>
            <a:off x="6245351" y="5010912"/>
            <a:ext cx="1511808" cy="32918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2000"/>
              </a:lnSpc>
            </a:pPr>
            <a:r>
              <a:rPr sz="900" b="1" i="0">
                <a:solidFill>
                  <a:srgbClr val="303A5D"/>
                </a:solidFill>
                <a:latin typeface="Segoe UI"/>
              </a:rPr>
              <a:t>Свинина, горошок, кукурудза</a:t>
            </a:r>
          </a:p>
        </p:txBody>
      </p:sp>
      <p:sp>
        <p:nvSpPr>
          <p:cNvPr id="86" name="TextBox 85"/>
          <p:cNvSpPr txBox="1"/>
          <p:nvPr/>
        </p:nvSpPr>
        <p:spPr>
          <a:xfrm>
            <a:off x="6245351" y="5358384"/>
            <a:ext cx="1511808" cy="16459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750" b="1" i="0">
                <a:solidFill>
                  <a:srgbClr val="7B5EA7"/>
                </a:solidFill>
                <a:latin typeface="Segoe UI"/>
              </a:rPr>
              <a:t>ХОДОРІВСЬКИЙ  ·  </a:t>
            </a:r>
            <a:r>
              <a:rPr sz="750" b="0" i="0">
                <a:solidFill>
                  <a:srgbClr val="717890"/>
                </a:solidFill>
                <a:latin typeface="Segoe UI"/>
              </a:rPr>
              <a:t>350 г</a:t>
            </a:r>
          </a:p>
        </p:txBody>
      </p:sp>
      <p:sp>
        <p:nvSpPr>
          <p:cNvPr id="87" name="TextBox 86"/>
          <p:cNvSpPr txBox="1"/>
          <p:nvPr/>
        </p:nvSpPr>
        <p:spPr>
          <a:xfrm>
            <a:off x="6245351" y="5522976"/>
            <a:ext cx="1511808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150" b="1" i="0">
                <a:solidFill>
                  <a:srgbClr val="7B5EA7"/>
                </a:solidFill>
                <a:latin typeface="Segoe UI"/>
              </a:rPr>
              <a:t>199 грн</a:t>
            </a:r>
          </a:p>
        </p:txBody>
      </p:sp>
      <p:sp>
        <p:nvSpPr>
          <p:cNvPr id="88" name="TextBox 87"/>
          <p:cNvSpPr txBox="1"/>
          <p:nvPr/>
        </p:nvSpPr>
        <p:spPr>
          <a:xfrm>
            <a:off x="6245351" y="5769864"/>
            <a:ext cx="1511808" cy="16459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750" b="1" i="0">
                <a:solidFill>
                  <a:srgbClr val="717890"/>
                </a:solidFill>
                <a:latin typeface="Segoe UI"/>
              </a:rPr>
              <a:t>57 грн/100 г</a:t>
            </a:r>
          </a:p>
        </p:txBody>
      </p:sp>
      <p:sp>
        <p:nvSpPr>
          <p:cNvPr id="89" name="TextBox 88"/>
          <p:cNvSpPr txBox="1"/>
          <p:nvPr/>
        </p:nvSpPr>
        <p:spPr>
          <a:xfrm>
            <a:off x="6245351" y="5925312"/>
            <a:ext cx="1511808" cy="16459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700" b="0" i="0">
                <a:solidFill>
                  <a:srgbClr val="717890"/>
                </a:solidFill>
                <a:latin typeface="Segoe UI"/>
              </a:rPr>
              <a:t>Prom</a:t>
            </a:r>
          </a:p>
        </p:txBody>
      </p:sp>
      <p:sp>
        <p:nvSpPr>
          <p:cNvPr id="90" name="Rounded Rectangle 89"/>
          <p:cNvSpPr/>
          <p:nvPr/>
        </p:nvSpPr>
        <p:spPr>
          <a:xfrm>
            <a:off x="7967472" y="3950208"/>
            <a:ext cx="3590544" cy="2139696"/>
          </a:xfrm>
          <a:prstGeom prst="roundRect">
            <a:avLst>
              <a:gd name="adj" fmla="val 6000"/>
            </a:avLst>
          </a:prstGeom>
          <a:solidFill>
            <a:srgbClr val="303A5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1" name="Rounded Rectangle 90"/>
          <p:cNvSpPr/>
          <p:nvPr/>
        </p:nvSpPr>
        <p:spPr>
          <a:xfrm>
            <a:off x="7967472" y="3950208"/>
            <a:ext cx="82296" cy="2139696"/>
          </a:xfrm>
          <a:prstGeom prst="roundRect">
            <a:avLst>
              <a:gd name="adj" fmla="val 50000"/>
            </a:avLst>
          </a:prstGeom>
          <a:solidFill>
            <a:srgbClr val="37A16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2" name="TextBox 91"/>
          <p:cNvSpPr txBox="1"/>
          <p:nvPr/>
        </p:nvSpPr>
        <p:spPr>
          <a:xfrm>
            <a:off x="8278367" y="4114800"/>
            <a:ext cx="3041904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250" b="1" i="0">
                <a:solidFill>
                  <a:srgbClr val="FFC95C"/>
                </a:solidFill>
                <a:latin typeface="Segoe UI"/>
              </a:rPr>
              <a:t>Що це означає</a:t>
            </a:r>
          </a:p>
        </p:txBody>
      </p:sp>
      <p:sp>
        <p:nvSpPr>
          <p:cNvPr id="93" name="TextBox 92"/>
          <p:cNvSpPr txBox="1"/>
          <p:nvPr/>
        </p:nvSpPr>
        <p:spPr>
          <a:xfrm>
            <a:off x="8278367" y="4443984"/>
            <a:ext cx="3041904" cy="14996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000" b="0" i="0">
                <a:solidFill>
                  <a:srgbClr val="D5DBEA"/>
                </a:solidFill>
                <a:latin typeface="Segoe UI"/>
              </a:rPr>
              <a:t>Найдешевший грам усієї категорії: 20–57 грн за 100 г. Виробництво українське, тому ці позиції не потрапляють в імпортну статистику на слайді 03 — реальний обсяг категорії більший за 182 тонни.
Канал вузький: Prom і фірмові магазини, у мережах цих брендів немає.</a:t>
            </a:r>
          </a:p>
        </p:txBody>
      </p:sp>
      <p:sp>
        <p:nvSpPr>
          <p:cNvPr id="94" name="TextBox 93"/>
          <p:cNvSpPr txBox="1"/>
          <p:nvPr/>
        </p:nvSpPr>
        <p:spPr>
          <a:xfrm>
            <a:off x="603504" y="6473952"/>
            <a:ext cx="10881360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4000"/>
              </a:lnSpc>
            </a:pPr>
            <a:r>
              <a:rPr sz="800" b="0" i="0">
                <a:solidFill>
                  <a:srgbClr val="717890"/>
                </a:solidFill>
                <a:latin typeface="Segoe UI"/>
              </a:rPr>
              <a:t>Ціни з карток продавців на Prom.ua і з фірмового магазину portion.com.ua, 23.09.2026, за один пауч. Оптові пороги від 3–12 шт не бралися.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969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969" cy="1060704"/>
          </a:xfrm>
          <a:prstGeom prst="rect">
            <a:avLst/>
          </a:prstGeom>
          <a:solidFill>
            <a:srgbClr val="303A5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060704"/>
            <a:ext cx="12191969" cy="50292"/>
          </a:xfrm>
          <a:prstGeom prst="rect">
            <a:avLst/>
          </a:prstGeom>
          <a:solidFill>
            <a:srgbClr val="F9A5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5" name="Picture 4" descr="md_logo_whit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03504" y="237744"/>
            <a:ext cx="1389888" cy="603504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2304288" y="310896"/>
            <a:ext cx="676656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950" b="1" i="0">
                <a:solidFill>
                  <a:srgbClr val="FFC95C"/>
                </a:solidFill>
                <a:latin typeface="Segoe UI"/>
              </a:rPr>
              <a:t>СЕГМЕНТ 4 · СТРАВА В ПАУЧІ · ІМПОРТ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2304288" y="548640"/>
            <a:ext cx="804672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900" b="1" i="0">
                <a:solidFill>
                  <a:srgbClr val="FFFFFF"/>
                </a:solidFill>
                <a:latin typeface="Segoe UI"/>
              </a:rPr>
              <a:t>Clearspring і Adventure Menu — чотири позиції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948385" y="402336"/>
            <a:ext cx="640080" cy="32918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/>
            <a:r>
              <a:rPr sz="1700" b="1" i="0">
                <a:solidFill>
                  <a:srgbClr val="465382"/>
                </a:solidFill>
                <a:latin typeface="Segoe UI"/>
              </a:rPr>
              <a:t>08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03504" y="1298448"/>
            <a:ext cx="10881360" cy="3108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200" b="0" i="0">
                <a:solidFill>
                  <a:srgbClr val="717890"/>
                </a:solidFill>
                <a:latin typeface="Segoe UI"/>
              </a:rPr>
              <a:t>Той самий формат, але завезений: британська органіка й чеська туристична лінійка.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03504" y="1719072"/>
            <a:ext cx="2670048" cy="3145536"/>
          </a:xfrm>
          <a:prstGeom prst="roundRect">
            <a:avLst>
              <a:gd name="adj" fmla="val 7000"/>
            </a:avLst>
          </a:prstGeom>
          <a:solidFill>
            <a:srgbClr val="FFFFFF"/>
          </a:solidFill>
          <a:ln w="12700">
            <a:solidFill>
              <a:srgbClr val="E2E8F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ounded Rectangle 10"/>
          <p:cNvSpPr/>
          <p:nvPr/>
        </p:nvSpPr>
        <p:spPr>
          <a:xfrm>
            <a:off x="676656" y="1792224"/>
            <a:ext cx="2523744" cy="1956815"/>
          </a:xfrm>
          <a:prstGeom prst="roundRect">
            <a:avLst>
              <a:gd name="adj" fmla="val 8000"/>
            </a:avLst>
          </a:prstGeom>
          <a:solidFill>
            <a:srgbClr val="F1F4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2" name="Picture 11" descr="clearspring.jp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150813" y="1828800"/>
            <a:ext cx="1575428" cy="1883663"/>
          </a:xfrm>
          <a:prstGeom prst="rect">
            <a:avLst/>
          </a:prstGeom>
        </p:spPr>
      </p:pic>
      <p:sp>
        <p:nvSpPr>
          <p:cNvPr id="13" name="TextBox 12"/>
          <p:cNvSpPr txBox="1"/>
          <p:nvPr/>
        </p:nvSpPr>
        <p:spPr>
          <a:xfrm>
            <a:off x="722376" y="3785615"/>
            <a:ext cx="2432304" cy="32918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2000"/>
              </a:lnSpc>
            </a:pPr>
            <a:r>
              <a:rPr sz="900" b="1" i="0">
                <a:solidFill>
                  <a:srgbClr val="303A5D"/>
                </a:solidFill>
                <a:latin typeface="Segoe UI"/>
              </a:rPr>
              <a:t>Brown &amp; Wild Rice, тамарі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722376" y="4133087"/>
            <a:ext cx="2432304" cy="16459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750" b="1" i="0">
                <a:solidFill>
                  <a:srgbClr val="1E9EA6"/>
                </a:solidFill>
                <a:latin typeface="Segoe UI"/>
              </a:rPr>
              <a:t>CLEARSPRING  ·  </a:t>
            </a:r>
            <a:r>
              <a:rPr sz="750" b="0" i="0">
                <a:solidFill>
                  <a:srgbClr val="717890"/>
                </a:solidFill>
                <a:latin typeface="Segoe UI"/>
              </a:rPr>
              <a:t>250 г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722376" y="4297679"/>
            <a:ext cx="2432304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150" b="1" i="0">
                <a:solidFill>
                  <a:srgbClr val="1E9EA6"/>
                </a:solidFill>
                <a:latin typeface="Segoe UI"/>
              </a:rPr>
              <a:t>446 грн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722376" y="4544568"/>
            <a:ext cx="2432304" cy="16459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750" b="1" i="0">
                <a:solidFill>
                  <a:srgbClr val="717890"/>
                </a:solidFill>
                <a:latin typeface="Segoe UI"/>
              </a:rPr>
              <a:t>178 грн/100 г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722376" y="4700016"/>
            <a:ext cx="2432304" cy="16459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700" b="0" i="0">
                <a:solidFill>
                  <a:srgbClr val="717890"/>
                </a:solidFill>
                <a:latin typeface="Segoe UI"/>
              </a:rPr>
              <a:t>Скарби Азії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3364992" y="1719072"/>
            <a:ext cx="2670048" cy="3145536"/>
          </a:xfrm>
          <a:prstGeom prst="roundRect">
            <a:avLst>
              <a:gd name="adj" fmla="val 7000"/>
            </a:avLst>
          </a:prstGeom>
          <a:solidFill>
            <a:srgbClr val="FFFFFF"/>
          </a:solidFill>
          <a:ln w="12700">
            <a:solidFill>
              <a:srgbClr val="E2E8F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ounded Rectangle 18"/>
          <p:cNvSpPr/>
          <p:nvPr/>
        </p:nvSpPr>
        <p:spPr>
          <a:xfrm>
            <a:off x="3438144" y="1792224"/>
            <a:ext cx="2523744" cy="1956815"/>
          </a:xfrm>
          <a:prstGeom prst="roundRect">
            <a:avLst>
              <a:gd name="adj" fmla="val 8000"/>
            </a:avLst>
          </a:prstGeom>
          <a:solidFill>
            <a:srgbClr val="F1F4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20" name="Picture 19" descr="am_wild.jp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3889544" y="1828800"/>
            <a:ext cx="1620942" cy="1883663"/>
          </a:xfrm>
          <a:prstGeom prst="rect">
            <a:avLst/>
          </a:prstGeom>
        </p:spPr>
      </p:pic>
      <p:sp>
        <p:nvSpPr>
          <p:cNvPr id="21" name="TextBox 20"/>
          <p:cNvSpPr txBox="1"/>
          <p:nvPr/>
        </p:nvSpPr>
        <p:spPr>
          <a:xfrm>
            <a:off x="3483864" y="3785615"/>
            <a:ext cx="2432304" cy="32918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2000"/>
              </a:lnSpc>
            </a:pPr>
            <a:r>
              <a:rPr sz="900" b="1" i="0">
                <a:solidFill>
                  <a:srgbClr val="303A5D"/>
                </a:solidFill>
                <a:latin typeface="Segoe UI"/>
              </a:rPr>
              <a:t>Курка в томатному соусі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3483864" y="4133087"/>
            <a:ext cx="2432304" cy="16459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750" b="1" i="0">
                <a:solidFill>
                  <a:srgbClr val="37A169"/>
                </a:solidFill>
                <a:latin typeface="Segoe UI"/>
              </a:rPr>
              <a:t>ADVENTURE MENU  ·  </a:t>
            </a:r>
            <a:r>
              <a:rPr sz="750" b="0" i="0">
                <a:solidFill>
                  <a:srgbClr val="717890"/>
                </a:solidFill>
                <a:latin typeface="Segoe UI"/>
              </a:rPr>
              <a:t>400 г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3483864" y="4297679"/>
            <a:ext cx="2432304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150" b="1" i="0">
                <a:solidFill>
                  <a:srgbClr val="37A169"/>
                </a:solidFill>
                <a:latin typeface="Segoe UI"/>
              </a:rPr>
              <a:t>315–357 грн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3483864" y="4544568"/>
            <a:ext cx="2432304" cy="16459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750" b="1" i="0">
                <a:solidFill>
                  <a:srgbClr val="717890"/>
                </a:solidFill>
                <a:latin typeface="Segoe UI"/>
              </a:rPr>
              <a:t>79–89 грн/100 г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3483864" y="4700016"/>
            <a:ext cx="2432304" cy="16459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700" b="0" i="0">
                <a:solidFill>
                  <a:srgbClr val="717890"/>
                </a:solidFill>
                <a:latin typeface="Segoe UI"/>
              </a:rPr>
              <a:t>Freeride · MK-Sport · Лєєр</a:t>
            </a:r>
          </a:p>
        </p:txBody>
      </p:sp>
      <p:sp>
        <p:nvSpPr>
          <p:cNvPr id="26" name="Rounded Rectangle 25"/>
          <p:cNvSpPr/>
          <p:nvPr/>
        </p:nvSpPr>
        <p:spPr>
          <a:xfrm>
            <a:off x="6126480" y="1719072"/>
            <a:ext cx="2670048" cy="3145536"/>
          </a:xfrm>
          <a:prstGeom prst="roundRect">
            <a:avLst>
              <a:gd name="adj" fmla="val 7000"/>
            </a:avLst>
          </a:prstGeom>
          <a:solidFill>
            <a:srgbClr val="FFFFFF"/>
          </a:solidFill>
          <a:ln w="12700">
            <a:solidFill>
              <a:srgbClr val="E2E8F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Rounded Rectangle 26"/>
          <p:cNvSpPr/>
          <p:nvPr/>
        </p:nvSpPr>
        <p:spPr>
          <a:xfrm>
            <a:off x="6199632" y="1792224"/>
            <a:ext cx="2523744" cy="1956815"/>
          </a:xfrm>
          <a:prstGeom prst="roundRect">
            <a:avLst>
              <a:gd name="adj" fmla="val 8000"/>
            </a:avLst>
          </a:prstGeom>
          <a:solidFill>
            <a:srgbClr val="F1F4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28" name="Picture 27" descr="am_meatballs.jp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6679535" y="1828800"/>
            <a:ext cx="1563936" cy="1883663"/>
          </a:xfrm>
          <a:prstGeom prst="rect">
            <a:avLst/>
          </a:prstGeom>
        </p:spPr>
      </p:pic>
      <p:sp>
        <p:nvSpPr>
          <p:cNvPr id="29" name="TextBox 28"/>
          <p:cNvSpPr txBox="1"/>
          <p:nvPr/>
        </p:nvSpPr>
        <p:spPr>
          <a:xfrm>
            <a:off x="6245352" y="3785615"/>
            <a:ext cx="2432304" cy="32918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2000"/>
              </a:lnSpc>
            </a:pPr>
            <a:r>
              <a:rPr sz="900" b="1" i="0">
                <a:solidFill>
                  <a:srgbClr val="303A5D"/>
                </a:solidFill>
                <a:latin typeface="Segoe UI"/>
              </a:rPr>
              <a:t>Тефтелі з басматі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6245352" y="4133087"/>
            <a:ext cx="2432304" cy="16459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750" b="1" i="0">
                <a:solidFill>
                  <a:srgbClr val="37A169"/>
                </a:solidFill>
                <a:latin typeface="Segoe UI"/>
              </a:rPr>
              <a:t>ADVENTURE MENU  ·  </a:t>
            </a:r>
            <a:r>
              <a:rPr sz="750" b="0" i="0">
                <a:solidFill>
                  <a:srgbClr val="717890"/>
                </a:solidFill>
                <a:latin typeface="Segoe UI"/>
              </a:rPr>
              <a:t>400 г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6245352" y="4297679"/>
            <a:ext cx="2432304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150" b="1" i="0">
                <a:solidFill>
                  <a:srgbClr val="37A169"/>
                </a:solidFill>
                <a:latin typeface="Segoe UI"/>
              </a:rPr>
              <a:t>336–466 грн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6245352" y="4544568"/>
            <a:ext cx="2432304" cy="16459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750" b="1" i="0">
                <a:solidFill>
                  <a:srgbClr val="717890"/>
                </a:solidFill>
                <a:latin typeface="Segoe UI"/>
              </a:rPr>
              <a:t>84–116 грн/100 г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6245352" y="4700016"/>
            <a:ext cx="2432304" cy="16459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700" b="0" i="0">
                <a:solidFill>
                  <a:srgbClr val="717890"/>
                </a:solidFill>
                <a:latin typeface="Segoe UI"/>
              </a:rPr>
              <a:t>Freeride · OXO · Лєєр · MK · P</a:t>
            </a:r>
          </a:p>
        </p:txBody>
      </p:sp>
      <p:sp>
        <p:nvSpPr>
          <p:cNvPr id="34" name="Rounded Rectangle 33"/>
          <p:cNvSpPr/>
          <p:nvPr/>
        </p:nvSpPr>
        <p:spPr>
          <a:xfrm>
            <a:off x="8887968" y="1719072"/>
            <a:ext cx="2670048" cy="3145536"/>
          </a:xfrm>
          <a:prstGeom prst="roundRect">
            <a:avLst>
              <a:gd name="adj" fmla="val 7000"/>
            </a:avLst>
          </a:prstGeom>
          <a:solidFill>
            <a:srgbClr val="FFFFFF"/>
          </a:solidFill>
          <a:ln w="12700">
            <a:solidFill>
              <a:srgbClr val="E2E8F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Rounded Rectangle 34"/>
          <p:cNvSpPr/>
          <p:nvPr/>
        </p:nvSpPr>
        <p:spPr>
          <a:xfrm>
            <a:off x="8961120" y="1792224"/>
            <a:ext cx="2523744" cy="1956815"/>
          </a:xfrm>
          <a:prstGeom prst="roundRect">
            <a:avLst>
              <a:gd name="adj" fmla="val 8000"/>
            </a:avLst>
          </a:prstGeom>
          <a:solidFill>
            <a:srgbClr val="F1F4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6" name="Picture 35" descr="am_korma400.jp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9406324" y="1828800"/>
            <a:ext cx="1633334" cy="1883663"/>
          </a:xfrm>
          <a:prstGeom prst="rect">
            <a:avLst/>
          </a:prstGeom>
        </p:spPr>
      </p:pic>
      <p:sp>
        <p:nvSpPr>
          <p:cNvPr id="37" name="TextBox 36"/>
          <p:cNvSpPr txBox="1"/>
          <p:nvPr/>
        </p:nvSpPr>
        <p:spPr>
          <a:xfrm>
            <a:off x="9006840" y="3785615"/>
            <a:ext cx="2432304" cy="32918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2000"/>
              </a:lnSpc>
            </a:pPr>
            <a:r>
              <a:rPr sz="900" b="1" i="0">
                <a:solidFill>
                  <a:srgbClr val="303A5D"/>
                </a:solidFill>
                <a:latin typeface="Segoe UI"/>
              </a:rPr>
              <a:t>Chicken Korma з рисом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9006840" y="4133087"/>
            <a:ext cx="2432304" cy="16459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750" b="1" i="0">
                <a:solidFill>
                  <a:srgbClr val="37A169"/>
                </a:solidFill>
                <a:latin typeface="Segoe UI"/>
              </a:rPr>
              <a:t>ADVENTURE MENU  ·  </a:t>
            </a:r>
            <a:r>
              <a:rPr sz="750" b="0" i="0">
                <a:solidFill>
                  <a:srgbClr val="717890"/>
                </a:solidFill>
                <a:latin typeface="Segoe UI"/>
              </a:rPr>
              <a:t>400 г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9006840" y="4297679"/>
            <a:ext cx="2432304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150" b="1" i="0">
                <a:solidFill>
                  <a:srgbClr val="37A169"/>
                </a:solidFill>
                <a:latin typeface="Segoe UI"/>
              </a:rPr>
              <a:t>376–404 грн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9006840" y="4544568"/>
            <a:ext cx="2432304" cy="16459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750" b="1" i="0">
                <a:solidFill>
                  <a:srgbClr val="717890"/>
                </a:solidFill>
                <a:latin typeface="Segoe UI"/>
              </a:rPr>
              <a:t>94–101 грн/100 г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9006840" y="4700016"/>
            <a:ext cx="2432304" cy="16459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700" b="0" i="0">
                <a:solidFill>
                  <a:srgbClr val="717890"/>
                </a:solidFill>
                <a:latin typeface="Segoe UI"/>
              </a:rPr>
              <a:t>ALANTUR · Modern Shop · MK-Spo</a:t>
            </a:r>
          </a:p>
        </p:txBody>
      </p:sp>
      <p:sp>
        <p:nvSpPr>
          <p:cNvPr id="42" name="Rounded Rectangle 41"/>
          <p:cNvSpPr/>
          <p:nvPr/>
        </p:nvSpPr>
        <p:spPr>
          <a:xfrm>
            <a:off x="603504" y="5010912"/>
            <a:ext cx="10954512" cy="1298448"/>
          </a:xfrm>
          <a:prstGeom prst="roundRect">
            <a:avLst>
              <a:gd name="adj" fmla="val 6000"/>
            </a:avLst>
          </a:prstGeom>
          <a:solidFill>
            <a:srgbClr val="303A5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3" name="Rounded Rectangle 42"/>
          <p:cNvSpPr/>
          <p:nvPr/>
        </p:nvSpPr>
        <p:spPr>
          <a:xfrm>
            <a:off x="603504" y="5010912"/>
            <a:ext cx="82296" cy="1298448"/>
          </a:xfrm>
          <a:prstGeom prst="roundRect">
            <a:avLst>
              <a:gd name="adj" fmla="val 50000"/>
            </a:avLst>
          </a:prstGeom>
          <a:solidFill>
            <a:srgbClr val="1E9E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4" name="TextBox 43"/>
          <p:cNvSpPr txBox="1"/>
          <p:nvPr/>
        </p:nvSpPr>
        <p:spPr>
          <a:xfrm>
            <a:off x="914400" y="5175504"/>
            <a:ext cx="10405872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250" b="1" i="0">
                <a:solidFill>
                  <a:srgbClr val="FFC95C"/>
                </a:solidFill>
                <a:latin typeface="Segoe UI"/>
              </a:rPr>
              <a:t>Що це означає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914400" y="5504688"/>
            <a:ext cx="10405872" cy="6583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000" b="0" i="0">
                <a:solidFill>
                  <a:srgbClr val="D5DBEA"/>
                </a:solidFill>
                <a:latin typeface="Segoe UI"/>
              </a:rPr>
              <a:t>Adventure Menu 400 г READY TO EAT — реторт без води, 79–101 грн за 100 г: той самий коридор, що Ben's Original, але канал туристичний. Clearspring 250 г за 446 грн — 178 грн за 100 г, найдорожчий пауч ринку: органічна сертифікація й дикий рис.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603504" y="6473952"/>
            <a:ext cx="10881360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4000"/>
              </a:lnSpc>
            </a:pPr>
            <a:r>
              <a:rPr sz="800" b="0" i="0">
                <a:solidFill>
                  <a:srgbClr val="717890"/>
                </a:solidFill>
                <a:latin typeface="Segoe UI"/>
              </a:rPr>
              <a:t>Ціни з карток Prom.ua 23.09.2026 за одну упаковку.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969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969" cy="1060704"/>
          </a:xfrm>
          <a:prstGeom prst="rect">
            <a:avLst/>
          </a:prstGeom>
          <a:solidFill>
            <a:srgbClr val="303A5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060704"/>
            <a:ext cx="12191969" cy="50292"/>
          </a:xfrm>
          <a:prstGeom prst="rect">
            <a:avLst/>
          </a:prstGeom>
          <a:solidFill>
            <a:srgbClr val="F9A5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5" name="Picture 4" descr="md_logo_whit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03504" y="237744"/>
            <a:ext cx="1389888" cy="603504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2304288" y="310896"/>
            <a:ext cx="676656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950" b="1" i="0">
                <a:solidFill>
                  <a:srgbClr val="FFC95C"/>
                </a:solidFill>
                <a:latin typeface="Segoe UI"/>
              </a:rPr>
              <a:t>ФОРМАТ І ГРАМАЖ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2304288" y="548640"/>
            <a:ext cx="804672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900" b="1" i="0">
                <a:solidFill>
                  <a:srgbClr val="FFFFFF"/>
                </a:solidFill>
                <a:latin typeface="Segoe UI"/>
              </a:rPr>
              <a:t>Пауч — 25 позицій із 33, масова вага 350 г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948385" y="402336"/>
            <a:ext cx="640080" cy="32918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/>
            <a:r>
              <a:rPr sz="1700" b="1" i="0">
                <a:solidFill>
                  <a:srgbClr val="465382"/>
                </a:solidFill>
                <a:latin typeface="Segoe UI"/>
              </a:rPr>
              <a:t>09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03504" y="1298448"/>
            <a:ext cx="10881360" cy="3108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200" b="0" i="0">
                <a:solidFill>
                  <a:srgbClr val="717890"/>
                </a:solidFill>
                <a:latin typeface="Segoe UI"/>
              </a:rPr>
              <a:t>Два формати паковання. Кожен тримає свою вагу — платформи майже не перетинаються.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03504" y="1719072"/>
            <a:ext cx="2578608" cy="4517136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15240">
            <a:solidFill>
              <a:srgbClr val="E2E8F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ounded Rectangle 10"/>
          <p:cNvSpPr/>
          <p:nvPr/>
        </p:nvSpPr>
        <p:spPr>
          <a:xfrm>
            <a:off x="603504" y="1719072"/>
            <a:ext cx="2578608" cy="91440"/>
          </a:xfrm>
          <a:prstGeom prst="roundRect">
            <a:avLst>
              <a:gd name="adj" fmla="val 50000"/>
            </a:avLst>
          </a:prstGeom>
          <a:solidFill>
            <a:srgbClr val="F9A5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ounded Rectangle 11"/>
          <p:cNvSpPr/>
          <p:nvPr/>
        </p:nvSpPr>
        <p:spPr>
          <a:xfrm>
            <a:off x="749808" y="1901952"/>
            <a:ext cx="2286000" cy="1408176"/>
          </a:xfrm>
          <a:prstGeom prst="roundRect">
            <a:avLst>
              <a:gd name="adj" fmla="val 6000"/>
            </a:avLst>
          </a:prstGeom>
          <a:solidFill>
            <a:srgbClr val="F1F4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3" name="Picture 12" descr="ua_veres_chicken.jp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318757" y="1956816"/>
            <a:ext cx="1148101" cy="1298448"/>
          </a:xfrm>
          <a:prstGeom prst="rect">
            <a:avLst/>
          </a:prstGeom>
        </p:spPr>
      </p:pic>
      <p:sp>
        <p:nvSpPr>
          <p:cNvPr id="14" name="TextBox 13"/>
          <p:cNvSpPr txBox="1"/>
          <p:nvPr/>
        </p:nvSpPr>
        <p:spPr>
          <a:xfrm>
            <a:off x="822960" y="3401568"/>
            <a:ext cx="219456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050" b="1" i="0">
                <a:solidFill>
                  <a:srgbClr val="F9A50B"/>
                </a:solidFill>
                <a:latin typeface="Segoe UI"/>
              </a:rPr>
              <a:t>ПАУЧ · РЕТОРТ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822960" y="3675887"/>
            <a:ext cx="2139696" cy="164592"/>
          </a:xfrm>
          <a:prstGeom prst="roundRect">
            <a:avLst>
              <a:gd name="adj" fmla="val 50000"/>
            </a:avLst>
          </a:prstGeom>
          <a:solidFill>
            <a:srgbClr val="E2E8F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ounded Rectangle 15"/>
          <p:cNvSpPr/>
          <p:nvPr/>
        </p:nvSpPr>
        <p:spPr>
          <a:xfrm>
            <a:off x="822960" y="3675887"/>
            <a:ext cx="1620981" cy="164592"/>
          </a:xfrm>
          <a:prstGeom prst="roundRect">
            <a:avLst>
              <a:gd name="adj" fmla="val 50000"/>
            </a:avLst>
          </a:prstGeom>
          <a:solidFill>
            <a:srgbClr val="F9A5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822960" y="3895344"/>
            <a:ext cx="219456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050" b="1" i="0">
                <a:solidFill>
                  <a:srgbClr val="303A5D"/>
                </a:solidFill>
                <a:latin typeface="Segoe UI"/>
              </a:rPr>
              <a:t>25 позицій · 76 % · 8 брендів</a:t>
            </a:r>
          </a:p>
        </p:txBody>
      </p:sp>
      <p:sp>
        <p:nvSpPr>
          <p:cNvPr id="18" name="Rectangle 17"/>
          <p:cNvSpPr/>
          <p:nvPr/>
        </p:nvSpPr>
        <p:spPr>
          <a:xfrm>
            <a:off x="822960" y="4187952"/>
            <a:ext cx="2139696" cy="18288"/>
          </a:xfrm>
          <a:prstGeom prst="rect">
            <a:avLst/>
          </a:prstGeom>
          <a:solidFill>
            <a:srgbClr val="E2E8F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822960" y="4279392"/>
            <a:ext cx="1737360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700" b="1" i="0">
                <a:solidFill>
                  <a:srgbClr val="717890"/>
                </a:solidFill>
                <a:latin typeface="Segoe UI"/>
              </a:rPr>
              <a:t>ЗА УПАКОВКУ, МЕДІАНА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822960" y="4425696"/>
            <a:ext cx="2194560" cy="2011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050" b="1" i="0">
                <a:solidFill>
                  <a:srgbClr val="F9A50B"/>
                </a:solidFill>
                <a:latin typeface="Segoe UI"/>
              </a:rPr>
              <a:t>106 грн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822960" y="4700016"/>
            <a:ext cx="1737360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700" b="1" i="0">
                <a:solidFill>
                  <a:srgbClr val="717890"/>
                </a:solidFill>
                <a:latin typeface="Segoe UI"/>
              </a:rPr>
              <a:t>ЗА 100 Г, МЕДІАНА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822960" y="4846320"/>
            <a:ext cx="2194560" cy="2011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050" b="1" i="0">
                <a:solidFill>
                  <a:srgbClr val="F9A50B"/>
                </a:solidFill>
                <a:latin typeface="Segoe UI"/>
              </a:rPr>
              <a:t>36 грн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822960" y="5120640"/>
            <a:ext cx="1737360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700" b="1" i="0">
                <a:solidFill>
                  <a:srgbClr val="717890"/>
                </a:solidFill>
                <a:latin typeface="Segoe UI"/>
              </a:rPr>
              <a:t>ДІАПАЗОН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822960" y="5266944"/>
            <a:ext cx="2194560" cy="2011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050" b="1" i="0">
                <a:solidFill>
                  <a:srgbClr val="1C2235"/>
                </a:solidFill>
                <a:latin typeface="Segoe UI"/>
              </a:rPr>
              <a:t>45 – 446 грн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822960" y="5541264"/>
            <a:ext cx="1737360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700" b="1" i="0">
                <a:solidFill>
                  <a:srgbClr val="717890"/>
                </a:solidFill>
                <a:latin typeface="Segoe UI"/>
              </a:rPr>
              <a:t>МАСА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822960" y="5687568"/>
            <a:ext cx="2194560" cy="2011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050" b="1" i="0">
                <a:solidFill>
                  <a:srgbClr val="1C2235"/>
                </a:solidFill>
                <a:latin typeface="Segoe UI"/>
              </a:rPr>
              <a:t>220 – 400 г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822960" y="5907024"/>
            <a:ext cx="219456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2000"/>
              </a:lnSpc>
            </a:pPr>
            <a:r>
              <a:rPr sz="750" b="0" i="0">
                <a:solidFill>
                  <a:srgbClr val="717890"/>
                </a:solidFill>
                <a:latin typeface="Segoe UI"/>
              </a:rPr>
              <a:t>Плаский реторт-пауч. Займає менше місця на полиці, дешевший у логістиці, тримає 24 місяці. Формат, у якому працюють і Ben's, і всі українці.</a:t>
            </a:r>
          </a:p>
        </p:txBody>
      </p:sp>
      <p:sp>
        <p:nvSpPr>
          <p:cNvPr id="28" name="Rounded Rectangle 27"/>
          <p:cNvSpPr/>
          <p:nvPr/>
        </p:nvSpPr>
        <p:spPr>
          <a:xfrm>
            <a:off x="3410712" y="1719072"/>
            <a:ext cx="2578608" cy="4517136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15240">
            <a:solidFill>
              <a:srgbClr val="E2E8F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Rounded Rectangle 28"/>
          <p:cNvSpPr/>
          <p:nvPr/>
        </p:nvSpPr>
        <p:spPr>
          <a:xfrm>
            <a:off x="3410712" y="1719072"/>
            <a:ext cx="2578608" cy="91440"/>
          </a:xfrm>
          <a:prstGeom prst="roundRect">
            <a:avLst>
              <a:gd name="adj" fmla="val 50000"/>
            </a:avLst>
          </a:prstGeom>
          <a:solidFill>
            <a:srgbClr val="7B5EA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Rounded Rectangle 29"/>
          <p:cNvSpPr/>
          <p:nvPr/>
        </p:nvSpPr>
        <p:spPr>
          <a:xfrm>
            <a:off x="3557016" y="1901952"/>
            <a:ext cx="2286000" cy="1408176"/>
          </a:xfrm>
          <a:prstGeom prst="roundRect">
            <a:avLst>
              <a:gd name="adj" fmla="val 6000"/>
            </a:avLst>
          </a:prstGeom>
          <a:solidFill>
            <a:srgbClr val="F1F4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1" name="Picture 30" descr="ot_bibimbap.jp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3961096" y="1956816"/>
            <a:ext cx="1477838" cy="1298448"/>
          </a:xfrm>
          <a:prstGeom prst="rect">
            <a:avLst/>
          </a:prstGeom>
        </p:spPr>
      </p:pic>
      <p:sp>
        <p:nvSpPr>
          <p:cNvPr id="32" name="TextBox 31"/>
          <p:cNvSpPr txBox="1"/>
          <p:nvPr/>
        </p:nvSpPr>
        <p:spPr>
          <a:xfrm>
            <a:off x="3630168" y="3401568"/>
            <a:ext cx="219456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050" b="1" i="0">
                <a:solidFill>
                  <a:srgbClr val="7B5EA7"/>
                </a:solidFill>
                <a:latin typeface="Segoe UI"/>
              </a:rPr>
              <a:t>ЧАША · СТАКАН</a:t>
            </a:r>
          </a:p>
        </p:txBody>
      </p:sp>
      <p:sp>
        <p:nvSpPr>
          <p:cNvPr id="33" name="Rounded Rectangle 32"/>
          <p:cNvSpPr/>
          <p:nvPr/>
        </p:nvSpPr>
        <p:spPr>
          <a:xfrm>
            <a:off x="3630168" y="3675887"/>
            <a:ext cx="2139696" cy="164592"/>
          </a:xfrm>
          <a:prstGeom prst="roundRect">
            <a:avLst>
              <a:gd name="adj" fmla="val 50000"/>
            </a:avLst>
          </a:prstGeom>
          <a:solidFill>
            <a:srgbClr val="E2E8F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Rounded Rectangle 33"/>
          <p:cNvSpPr/>
          <p:nvPr/>
        </p:nvSpPr>
        <p:spPr>
          <a:xfrm>
            <a:off x="3630168" y="3675887"/>
            <a:ext cx="518714" cy="164592"/>
          </a:xfrm>
          <a:prstGeom prst="roundRect">
            <a:avLst>
              <a:gd name="adj" fmla="val 50000"/>
            </a:avLst>
          </a:prstGeom>
          <a:solidFill>
            <a:srgbClr val="7B5EA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TextBox 34"/>
          <p:cNvSpPr txBox="1"/>
          <p:nvPr/>
        </p:nvSpPr>
        <p:spPr>
          <a:xfrm>
            <a:off x="3630168" y="3895344"/>
            <a:ext cx="219456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050" b="1" i="0">
                <a:solidFill>
                  <a:srgbClr val="303A5D"/>
                </a:solidFill>
                <a:latin typeface="Segoe UI"/>
              </a:rPr>
              <a:t>8 позицій · 24 % · 2 бренди</a:t>
            </a:r>
          </a:p>
        </p:txBody>
      </p:sp>
      <p:sp>
        <p:nvSpPr>
          <p:cNvPr id="36" name="Rectangle 35"/>
          <p:cNvSpPr/>
          <p:nvPr/>
        </p:nvSpPr>
        <p:spPr>
          <a:xfrm>
            <a:off x="3630168" y="4187952"/>
            <a:ext cx="2139696" cy="18288"/>
          </a:xfrm>
          <a:prstGeom prst="rect">
            <a:avLst/>
          </a:prstGeom>
          <a:solidFill>
            <a:srgbClr val="E2E8F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TextBox 36"/>
          <p:cNvSpPr txBox="1"/>
          <p:nvPr/>
        </p:nvSpPr>
        <p:spPr>
          <a:xfrm>
            <a:off x="3630168" y="4279392"/>
            <a:ext cx="1737360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700" b="1" i="0">
                <a:solidFill>
                  <a:srgbClr val="717890"/>
                </a:solidFill>
                <a:latin typeface="Segoe UI"/>
              </a:rPr>
              <a:t>ЗА УПАКОВКУ, МЕДІАНА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3630168" y="4425696"/>
            <a:ext cx="2194560" cy="2011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050" b="1" i="0">
                <a:solidFill>
                  <a:srgbClr val="7B5EA7"/>
                </a:solidFill>
                <a:latin typeface="Segoe UI"/>
              </a:rPr>
              <a:t>252 грн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3630168" y="4700016"/>
            <a:ext cx="1737360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700" b="1" i="0">
                <a:solidFill>
                  <a:srgbClr val="717890"/>
                </a:solidFill>
                <a:latin typeface="Segoe UI"/>
              </a:rPr>
              <a:t>ЗА 100 Г, МЕДІАНА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3630168" y="4846320"/>
            <a:ext cx="2194560" cy="2011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050" b="1" i="0">
                <a:solidFill>
                  <a:srgbClr val="7B5EA7"/>
                </a:solidFill>
                <a:latin typeface="Segoe UI"/>
              </a:rPr>
              <a:t>91 грн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3630168" y="5120640"/>
            <a:ext cx="1737360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700" b="1" i="0">
                <a:solidFill>
                  <a:srgbClr val="717890"/>
                </a:solidFill>
                <a:latin typeface="Segoe UI"/>
              </a:rPr>
              <a:t>ДІАПАЗОН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3630168" y="5266944"/>
            <a:ext cx="2194560" cy="2011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050" b="1" i="0">
                <a:solidFill>
                  <a:srgbClr val="1C2235"/>
                </a:solidFill>
                <a:latin typeface="Segoe UI"/>
              </a:rPr>
              <a:t>189 – 356 грн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3630168" y="5541264"/>
            <a:ext cx="1737360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700" b="1" i="0">
                <a:solidFill>
                  <a:srgbClr val="717890"/>
                </a:solidFill>
                <a:latin typeface="Segoe UI"/>
              </a:rPr>
              <a:t>МАСА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3630168" y="5687568"/>
            <a:ext cx="2194560" cy="2011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050" b="1" i="0">
                <a:solidFill>
                  <a:srgbClr val="1C2235"/>
                </a:solidFill>
                <a:latin typeface="Segoe UI"/>
              </a:rPr>
              <a:t>210 – 320 г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3630168" y="5907024"/>
            <a:ext cx="219456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2000"/>
              </a:lnSpc>
            </a:pPr>
            <a:r>
              <a:rPr sz="750" b="0" i="0">
                <a:solidFill>
                  <a:srgbClr val="717890"/>
                </a:solidFill>
                <a:latin typeface="Segoe UI"/>
              </a:rPr>
              <a:t>Жорстка чаша: їсти можна прямо з неї, але вона дорожча й об'ємніша. На українському ринку — тільки корейський імпорт.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6291072" y="1719072"/>
            <a:ext cx="54864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900" b="1" i="0">
                <a:solidFill>
                  <a:srgbClr val="717890"/>
                </a:solidFill>
                <a:latin typeface="Segoe UI"/>
              </a:rPr>
              <a:t>ПОЗИЦІЙ У КОЖНІЙ ВАЗІ</a:t>
            </a:r>
          </a:p>
        </p:txBody>
      </p:sp>
      <p:sp>
        <p:nvSpPr>
          <p:cNvPr id="47" name="Rounded Rectangle 46"/>
          <p:cNvSpPr/>
          <p:nvPr/>
        </p:nvSpPr>
        <p:spPr>
          <a:xfrm>
            <a:off x="6291072" y="3899001"/>
            <a:ext cx="505968" cy="179222"/>
          </a:xfrm>
          <a:prstGeom prst="roundRect">
            <a:avLst>
              <a:gd name="adj" fmla="val 14000"/>
            </a:avLst>
          </a:prstGeom>
          <a:solidFill>
            <a:srgbClr val="7B5EA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" name="TextBox 47"/>
          <p:cNvSpPr txBox="1"/>
          <p:nvPr/>
        </p:nvSpPr>
        <p:spPr>
          <a:xfrm>
            <a:off x="6291072" y="3679545"/>
            <a:ext cx="505968" cy="2011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1100" b="1" i="0">
                <a:solidFill>
                  <a:srgbClr val="7B5EA7"/>
                </a:solidFill>
                <a:latin typeface="Segoe UI"/>
              </a:rPr>
              <a:t>1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6291072" y="4133087"/>
            <a:ext cx="505968" cy="2011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800" b="1" i="0">
                <a:solidFill>
                  <a:srgbClr val="1C2235"/>
                </a:solidFill>
                <a:latin typeface="Segoe UI"/>
              </a:rPr>
              <a:t>210 г</a:t>
            </a:r>
          </a:p>
        </p:txBody>
      </p:sp>
      <p:sp>
        <p:nvSpPr>
          <p:cNvPr id="50" name="Rounded Rectangle 49"/>
          <p:cNvSpPr/>
          <p:nvPr/>
        </p:nvSpPr>
        <p:spPr>
          <a:xfrm>
            <a:off x="6888480" y="3002889"/>
            <a:ext cx="505968" cy="1075334"/>
          </a:xfrm>
          <a:prstGeom prst="roundRect">
            <a:avLst>
              <a:gd name="adj" fmla="val 14000"/>
            </a:avLst>
          </a:prstGeom>
          <a:solidFill>
            <a:srgbClr val="F9A5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1" name="TextBox 50"/>
          <p:cNvSpPr txBox="1"/>
          <p:nvPr/>
        </p:nvSpPr>
        <p:spPr>
          <a:xfrm>
            <a:off x="6888480" y="2783433"/>
            <a:ext cx="505968" cy="2011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1100" b="1" i="0">
                <a:solidFill>
                  <a:srgbClr val="F9A50B"/>
                </a:solidFill>
                <a:latin typeface="Segoe UI"/>
              </a:rPr>
              <a:t>6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6888480" y="4133087"/>
            <a:ext cx="505968" cy="2011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800" b="1" i="0">
                <a:solidFill>
                  <a:srgbClr val="1C2235"/>
                </a:solidFill>
                <a:latin typeface="Segoe UI"/>
              </a:rPr>
              <a:t>220 г</a:t>
            </a:r>
          </a:p>
        </p:txBody>
      </p:sp>
      <p:sp>
        <p:nvSpPr>
          <p:cNvPr id="53" name="Rounded Rectangle 52"/>
          <p:cNvSpPr/>
          <p:nvPr/>
        </p:nvSpPr>
        <p:spPr>
          <a:xfrm>
            <a:off x="7485888" y="3899001"/>
            <a:ext cx="505968" cy="179222"/>
          </a:xfrm>
          <a:prstGeom prst="roundRect">
            <a:avLst>
              <a:gd name="adj" fmla="val 14000"/>
            </a:avLst>
          </a:prstGeom>
          <a:solidFill>
            <a:srgbClr val="7B5EA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4" name="TextBox 53"/>
          <p:cNvSpPr txBox="1"/>
          <p:nvPr/>
        </p:nvSpPr>
        <p:spPr>
          <a:xfrm>
            <a:off x="7485888" y="3679545"/>
            <a:ext cx="505968" cy="2011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1100" b="1" i="0">
                <a:solidFill>
                  <a:srgbClr val="7B5EA7"/>
                </a:solidFill>
                <a:latin typeface="Segoe UI"/>
              </a:rPr>
              <a:t>1</a:t>
            </a:r>
          </a:p>
        </p:txBody>
      </p:sp>
      <p:sp>
        <p:nvSpPr>
          <p:cNvPr id="55" name="TextBox 54"/>
          <p:cNvSpPr txBox="1"/>
          <p:nvPr/>
        </p:nvSpPr>
        <p:spPr>
          <a:xfrm>
            <a:off x="7485888" y="4133087"/>
            <a:ext cx="505968" cy="2011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800" b="1" i="0">
                <a:solidFill>
                  <a:srgbClr val="1C2235"/>
                </a:solidFill>
                <a:latin typeface="Segoe UI"/>
              </a:rPr>
              <a:t>247 г</a:t>
            </a:r>
          </a:p>
        </p:txBody>
      </p:sp>
      <p:sp>
        <p:nvSpPr>
          <p:cNvPr id="56" name="Rounded Rectangle 55"/>
          <p:cNvSpPr/>
          <p:nvPr/>
        </p:nvSpPr>
        <p:spPr>
          <a:xfrm>
            <a:off x="8083296" y="3002889"/>
            <a:ext cx="505968" cy="1075334"/>
          </a:xfrm>
          <a:prstGeom prst="roundRect">
            <a:avLst>
              <a:gd name="adj" fmla="val 14000"/>
            </a:avLst>
          </a:prstGeom>
          <a:solidFill>
            <a:srgbClr val="F9A5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7" name="TextBox 56"/>
          <p:cNvSpPr txBox="1"/>
          <p:nvPr/>
        </p:nvSpPr>
        <p:spPr>
          <a:xfrm>
            <a:off x="8083296" y="2783433"/>
            <a:ext cx="505968" cy="2011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1100" b="1" i="0">
                <a:solidFill>
                  <a:srgbClr val="F9A50B"/>
                </a:solidFill>
                <a:latin typeface="Segoe UI"/>
              </a:rPr>
              <a:t>6</a:t>
            </a:r>
          </a:p>
        </p:txBody>
      </p:sp>
      <p:sp>
        <p:nvSpPr>
          <p:cNvPr id="58" name="TextBox 57"/>
          <p:cNvSpPr txBox="1"/>
          <p:nvPr/>
        </p:nvSpPr>
        <p:spPr>
          <a:xfrm>
            <a:off x="8083296" y="4133087"/>
            <a:ext cx="505968" cy="2011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800" b="1" i="0">
                <a:solidFill>
                  <a:srgbClr val="1C2235"/>
                </a:solidFill>
                <a:latin typeface="Segoe UI"/>
              </a:rPr>
              <a:t>250 г</a:t>
            </a:r>
          </a:p>
        </p:txBody>
      </p:sp>
      <p:sp>
        <p:nvSpPr>
          <p:cNvPr id="59" name="Rounded Rectangle 58"/>
          <p:cNvSpPr/>
          <p:nvPr/>
        </p:nvSpPr>
        <p:spPr>
          <a:xfrm>
            <a:off x="8680703" y="3719779"/>
            <a:ext cx="505968" cy="358444"/>
          </a:xfrm>
          <a:prstGeom prst="roundRect">
            <a:avLst>
              <a:gd name="adj" fmla="val 14000"/>
            </a:avLst>
          </a:prstGeom>
          <a:solidFill>
            <a:srgbClr val="7B5EA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0" name="TextBox 59"/>
          <p:cNvSpPr txBox="1"/>
          <p:nvPr/>
        </p:nvSpPr>
        <p:spPr>
          <a:xfrm>
            <a:off x="8680703" y="3500323"/>
            <a:ext cx="505968" cy="2011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1100" b="1" i="0">
                <a:solidFill>
                  <a:srgbClr val="7B5EA7"/>
                </a:solidFill>
                <a:latin typeface="Segoe UI"/>
              </a:rPr>
              <a:t>2</a:t>
            </a:r>
          </a:p>
        </p:txBody>
      </p:sp>
      <p:sp>
        <p:nvSpPr>
          <p:cNvPr id="61" name="TextBox 60"/>
          <p:cNvSpPr txBox="1"/>
          <p:nvPr/>
        </p:nvSpPr>
        <p:spPr>
          <a:xfrm>
            <a:off x="8680703" y="4133087"/>
            <a:ext cx="505968" cy="2011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800" b="1" i="0">
                <a:solidFill>
                  <a:srgbClr val="1C2235"/>
                </a:solidFill>
                <a:latin typeface="Segoe UI"/>
              </a:rPr>
              <a:t>269 г</a:t>
            </a:r>
          </a:p>
        </p:txBody>
      </p:sp>
      <p:sp>
        <p:nvSpPr>
          <p:cNvPr id="62" name="Rounded Rectangle 61"/>
          <p:cNvSpPr/>
          <p:nvPr/>
        </p:nvSpPr>
        <p:spPr>
          <a:xfrm>
            <a:off x="9278112" y="3719779"/>
            <a:ext cx="505968" cy="358444"/>
          </a:xfrm>
          <a:prstGeom prst="roundRect">
            <a:avLst>
              <a:gd name="adj" fmla="val 14000"/>
            </a:avLst>
          </a:prstGeom>
          <a:solidFill>
            <a:srgbClr val="7B5EA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3" name="TextBox 62"/>
          <p:cNvSpPr txBox="1"/>
          <p:nvPr/>
        </p:nvSpPr>
        <p:spPr>
          <a:xfrm>
            <a:off x="9278112" y="3500323"/>
            <a:ext cx="505968" cy="2011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1100" b="1" i="0">
                <a:solidFill>
                  <a:srgbClr val="7B5EA7"/>
                </a:solidFill>
                <a:latin typeface="Segoe UI"/>
              </a:rPr>
              <a:t>2</a:t>
            </a:r>
          </a:p>
        </p:txBody>
      </p:sp>
      <p:sp>
        <p:nvSpPr>
          <p:cNvPr id="64" name="TextBox 63"/>
          <p:cNvSpPr txBox="1"/>
          <p:nvPr/>
        </p:nvSpPr>
        <p:spPr>
          <a:xfrm>
            <a:off x="9278112" y="4133087"/>
            <a:ext cx="505968" cy="2011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800" b="1" i="0">
                <a:solidFill>
                  <a:srgbClr val="1C2235"/>
                </a:solidFill>
                <a:latin typeface="Segoe UI"/>
              </a:rPr>
              <a:t>310 г</a:t>
            </a:r>
          </a:p>
        </p:txBody>
      </p:sp>
      <p:sp>
        <p:nvSpPr>
          <p:cNvPr id="65" name="Rounded Rectangle 64"/>
          <p:cNvSpPr/>
          <p:nvPr/>
        </p:nvSpPr>
        <p:spPr>
          <a:xfrm>
            <a:off x="9875520" y="3719779"/>
            <a:ext cx="505968" cy="358444"/>
          </a:xfrm>
          <a:prstGeom prst="roundRect">
            <a:avLst>
              <a:gd name="adj" fmla="val 14000"/>
            </a:avLst>
          </a:prstGeom>
          <a:solidFill>
            <a:srgbClr val="7B5EA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6" name="TextBox 65"/>
          <p:cNvSpPr txBox="1"/>
          <p:nvPr/>
        </p:nvSpPr>
        <p:spPr>
          <a:xfrm>
            <a:off x="9875520" y="3500323"/>
            <a:ext cx="505968" cy="2011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1100" b="1" i="0">
                <a:solidFill>
                  <a:srgbClr val="7B5EA7"/>
                </a:solidFill>
                <a:latin typeface="Segoe UI"/>
              </a:rPr>
              <a:t>2</a:t>
            </a:r>
          </a:p>
        </p:txBody>
      </p:sp>
      <p:sp>
        <p:nvSpPr>
          <p:cNvPr id="67" name="TextBox 66"/>
          <p:cNvSpPr txBox="1"/>
          <p:nvPr/>
        </p:nvSpPr>
        <p:spPr>
          <a:xfrm>
            <a:off x="9875520" y="4133087"/>
            <a:ext cx="505968" cy="2011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800" b="1" i="0">
                <a:solidFill>
                  <a:srgbClr val="1C2235"/>
                </a:solidFill>
                <a:latin typeface="Segoe UI"/>
              </a:rPr>
              <a:t>320 г</a:t>
            </a:r>
          </a:p>
        </p:txBody>
      </p:sp>
      <p:sp>
        <p:nvSpPr>
          <p:cNvPr id="68" name="Rounded Rectangle 67"/>
          <p:cNvSpPr/>
          <p:nvPr/>
        </p:nvSpPr>
        <p:spPr>
          <a:xfrm>
            <a:off x="10472928" y="2286000"/>
            <a:ext cx="505968" cy="1792224"/>
          </a:xfrm>
          <a:prstGeom prst="roundRect">
            <a:avLst>
              <a:gd name="adj" fmla="val 14000"/>
            </a:avLst>
          </a:prstGeom>
          <a:solidFill>
            <a:srgbClr val="F9A5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9" name="TextBox 68"/>
          <p:cNvSpPr txBox="1"/>
          <p:nvPr/>
        </p:nvSpPr>
        <p:spPr>
          <a:xfrm>
            <a:off x="10472928" y="2066543"/>
            <a:ext cx="505968" cy="2011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1100" b="1" i="0">
                <a:solidFill>
                  <a:srgbClr val="F9A50B"/>
                </a:solidFill>
                <a:latin typeface="Segoe UI"/>
              </a:rPr>
              <a:t>10</a:t>
            </a:r>
          </a:p>
        </p:txBody>
      </p:sp>
      <p:sp>
        <p:nvSpPr>
          <p:cNvPr id="70" name="TextBox 69"/>
          <p:cNvSpPr txBox="1"/>
          <p:nvPr/>
        </p:nvSpPr>
        <p:spPr>
          <a:xfrm>
            <a:off x="10472928" y="4133087"/>
            <a:ext cx="505968" cy="2011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800" b="1" i="0">
                <a:solidFill>
                  <a:srgbClr val="1C2235"/>
                </a:solidFill>
                <a:latin typeface="Segoe UI"/>
              </a:rPr>
              <a:t>350 г</a:t>
            </a:r>
          </a:p>
        </p:txBody>
      </p:sp>
      <p:sp>
        <p:nvSpPr>
          <p:cNvPr id="71" name="Rounded Rectangle 70"/>
          <p:cNvSpPr/>
          <p:nvPr/>
        </p:nvSpPr>
        <p:spPr>
          <a:xfrm>
            <a:off x="11070335" y="3540556"/>
            <a:ext cx="505968" cy="537667"/>
          </a:xfrm>
          <a:prstGeom prst="roundRect">
            <a:avLst>
              <a:gd name="adj" fmla="val 14000"/>
            </a:avLst>
          </a:prstGeom>
          <a:solidFill>
            <a:srgbClr val="F9A5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2" name="TextBox 71"/>
          <p:cNvSpPr txBox="1"/>
          <p:nvPr/>
        </p:nvSpPr>
        <p:spPr>
          <a:xfrm>
            <a:off x="11070335" y="3321100"/>
            <a:ext cx="505968" cy="2011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1100" b="1" i="0">
                <a:solidFill>
                  <a:srgbClr val="F9A50B"/>
                </a:solidFill>
                <a:latin typeface="Segoe UI"/>
              </a:rPr>
              <a:t>3</a:t>
            </a:r>
          </a:p>
        </p:txBody>
      </p:sp>
      <p:sp>
        <p:nvSpPr>
          <p:cNvPr id="73" name="TextBox 72"/>
          <p:cNvSpPr txBox="1"/>
          <p:nvPr/>
        </p:nvSpPr>
        <p:spPr>
          <a:xfrm>
            <a:off x="11070335" y="4133087"/>
            <a:ext cx="505968" cy="2011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800" b="1" i="0">
                <a:solidFill>
                  <a:srgbClr val="1C2235"/>
                </a:solidFill>
                <a:latin typeface="Segoe UI"/>
              </a:rPr>
              <a:t>400 г</a:t>
            </a:r>
          </a:p>
        </p:txBody>
      </p:sp>
      <p:sp>
        <p:nvSpPr>
          <p:cNvPr id="74" name="TextBox 73"/>
          <p:cNvSpPr txBox="1"/>
          <p:nvPr/>
        </p:nvSpPr>
        <p:spPr>
          <a:xfrm>
            <a:off x="6291072" y="4352544"/>
            <a:ext cx="5394960" cy="40233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4000"/>
              </a:lnSpc>
            </a:pPr>
            <a:r>
              <a:rPr sz="850" b="0" i="0">
                <a:solidFill>
                  <a:srgbClr val="717890"/>
                </a:solidFill>
                <a:latin typeface="Segoe UI"/>
              </a:rPr>
              <a:t>350 г — український реторт-пауч. 250 і 220 г — Ben's Original. 210–320 г — корейська чаша. 400 г — Adventure Menu.</a:t>
            </a:r>
          </a:p>
        </p:txBody>
      </p:sp>
      <p:sp>
        <p:nvSpPr>
          <p:cNvPr id="75" name="Rounded Rectangle 74"/>
          <p:cNvSpPr/>
          <p:nvPr/>
        </p:nvSpPr>
        <p:spPr>
          <a:xfrm>
            <a:off x="6291072" y="4937760"/>
            <a:ext cx="5394960" cy="1298448"/>
          </a:xfrm>
          <a:prstGeom prst="roundRect">
            <a:avLst>
              <a:gd name="adj" fmla="val 6000"/>
            </a:avLst>
          </a:prstGeom>
          <a:solidFill>
            <a:srgbClr val="303A5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6" name="Rounded Rectangle 75"/>
          <p:cNvSpPr/>
          <p:nvPr/>
        </p:nvSpPr>
        <p:spPr>
          <a:xfrm>
            <a:off x="6291072" y="4937760"/>
            <a:ext cx="82296" cy="1298448"/>
          </a:xfrm>
          <a:prstGeom prst="roundRect">
            <a:avLst>
              <a:gd name="adj" fmla="val 50000"/>
            </a:avLst>
          </a:prstGeom>
          <a:solidFill>
            <a:srgbClr val="F9A5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7" name="TextBox 76"/>
          <p:cNvSpPr txBox="1"/>
          <p:nvPr/>
        </p:nvSpPr>
        <p:spPr>
          <a:xfrm>
            <a:off x="6601968" y="5138928"/>
            <a:ext cx="4846320" cy="93268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000" b="0" i="0">
                <a:solidFill>
                  <a:srgbClr val="D5DBEA"/>
                </a:solidFill>
                <a:latin typeface="Segoe UI"/>
              </a:rPr>
              <a:t>Український пауч стоїть у вазі 350 г, Ben's Original — у 220 і 250 г, корейська чаша — у 210–320 г. Ваги майже не перетинаються.
Вільне вікно — пауч 200–250 г українського виробництва: у цій вазі сьогодні тільки імпортний Ben's Original за 45–179 грн.</a:t>
            </a:r>
          </a:p>
        </p:txBody>
      </p:sp>
      <p:sp>
        <p:nvSpPr>
          <p:cNvPr id="78" name="TextBox 77"/>
          <p:cNvSpPr txBox="1"/>
          <p:nvPr/>
        </p:nvSpPr>
        <p:spPr>
          <a:xfrm>
            <a:off x="603504" y="6473952"/>
            <a:ext cx="10881360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4000"/>
              </a:lnSpc>
            </a:pPr>
            <a:r>
              <a:rPr sz="800" b="0" i="0">
                <a:solidFill>
                  <a:srgbClr val="717890"/>
                </a:solidFill>
                <a:latin typeface="Segoe UI"/>
              </a:rPr>
              <a:t>Розподіл 33 позицій за типом паковання і масою з карток продавців, 23.09.2026.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969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969" cy="1060704"/>
          </a:xfrm>
          <a:prstGeom prst="rect">
            <a:avLst/>
          </a:prstGeom>
          <a:solidFill>
            <a:srgbClr val="303A5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060704"/>
            <a:ext cx="12191969" cy="50292"/>
          </a:xfrm>
          <a:prstGeom prst="rect">
            <a:avLst/>
          </a:prstGeom>
          <a:solidFill>
            <a:srgbClr val="F9A5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5" name="Picture 4" descr="md_logo_whit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03504" y="237744"/>
            <a:ext cx="1389888" cy="603504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2304288" y="310896"/>
            <a:ext cx="676656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950" b="1" i="0">
                <a:solidFill>
                  <a:srgbClr val="FFC95C"/>
                </a:solidFill>
                <a:latin typeface="Segoe UI"/>
              </a:rPr>
              <a:t>ЦІНА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2304288" y="548640"/>
            <a:ext cx="804672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900" b="1" i="0">
                <a:solidFill>
                  <a:srgbClr val="FFFFFF"/>
                </a:solidFill>
                <a:latin typeface="Segoe UI"/>
              </a:rPr>
              <a:t>Кожна позиція: за упаковку і за 100 грамів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948385" y="402336"/>
            <a:ext cx="640080" cy="32918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/>
            <a:r>
              <a:rPr sz="1700" b="1" i="0">
                <a:solidFill>
                  <a:srgbClr val="465382"/>
                </a:solidFill>
                <a:latin typeface="Segoe UI"/>
              </a:rPr>
              <a:t>10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03504" y="1298448"/>
            <a:ext cx="10881360" cy="3108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200" b="0" i="0">
                <a:solidFill>
                  <a:srgbClr val="717890"/>
                </a:solidFill>
                <a:latin typeface="Segoe UI"/>
              </a:rPr>
              <a:t>Ліворуч — скільки покупець платить у касі. Праворуч — скільки це коштує за грам.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03504" y="1682496"/>
            <a:ext cx="10954512" cy="4626864"/>
          </a:xfrm>
          <a:prstGeom prst="roundRect">
            <a:avLst>
              <a:gd name="adj" fmla="val 4000"/>
            </a:avLst>
          </a:prstGeom>
          <a:solidFill>
            <a:srgbClr val="F1F4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3968496" y="1956816"/>
            <a:ext cx="10972" cy="3877056"/>
          </a:xfrm>
          <a:prstGeom prst="rect">
            <a:avLst/>
          </a:prstGeom>
          <a:solidFill>
            <a:srgbClr val="DCE2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3657600" y="5907024"/>
            <a:ext cx="621792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750" b="0" i="0">
                <a:solidFill>
                  <a:srgbClr val="717890"/>
                </a:solidFill>
                <a:latin typeface="Segoe UI"/>
              </a:rPr>
              <a:t>0</a:t>
            </a:r>
          </a:p>
        </p:txBody>
      </p:sp>
      <p:sp>
        <p:nvSpPr>
          <p:cNvPr id="13" name="Rectangle 12"/>
          <p:cNvSpPr/>
          <p:nvPr/>
        </p:nvSpPr>
        <p:spPr>
          <a:xfrm>
            <a:off x="4677156" y="1956816"/>
            <a:ext cx="10972" cy="3877056"/>
          </a:xfrm>
          <a:prstGeom prst="rect">
            <a:avLst/>
          </a:prstGeom>
          <a:solidFill>
            <a:srgbClr val="DCE2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4366260" y="5907024"/>
            <a:ext cx="621792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750" b="0" i="0">
                <a:solidFill>
                  <a:srgbClr val="717890"/>
                </a:solidFill>
                <a:latin typeface="Segoe UI"/>
              </a:rPr>
              <a:t>115</a:t>
            </a:r>
          </a:p>
        </p:txBody>
      </p:sp>
      <p:sp>
        <p:nvSpPr>
          <p:cNvPr id="15" name="Rectangle 14"/>
          <p:cNvSpPr/>
          <p:nvPr/>
        </p:nvSpPr>
        <p:spPr>
          <a:xfrm>
            <a:off x="5385816" y="1956816"/>
            <a:ext cx="10972" cy="3877056"/>
          </a:xfrm>
          <a:prstGeom prst="rect">
            <a:avLst/>
          </a:prstGeom>
          <a:solidFill>
            <a:srgbClr val="DCE2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5074920" y="5907024"/>
            <a:ext cx="621792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750" b="0" i="0">
                <a:solidFill>
                  <a:srgbClr val="717890"/>
                </a:solidFill>
                <a:latin typeface="Segoe UI"/>
              </a:rPr>
              <a:t>230</a:t>
            </a:r>
          </a:p>
        </p:txBody>
      </p:sp>
      <p:sp>
        <p:nvSpPr>
          <p:cNvPr id="17" name="Rectangle 16"/>
          <p:cNvSpPr/>
          <p:nvPr/>
        </p:nvSpPr>
        <p:spPr>
          <a:xfrm>
            <a:off x="6094476" y="1956816"/>
            <a:ext cx="10972" cy="3877056"/>
          </a:xfrm>
          <a:prstGeom prst="rect">
            <a:avLst/>
          </a:prstGeom>
          <a:solidFill>
            <a:srgbClr val="DCE2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5783580" y="5907024"/>
            <a:ext cx="621792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750" b="0" i="0">
                <a:solidFill>
                  <a:srgbClr val="717890"/>
                </a:solidFill>
                <a:latin typeface="Segoe UI"/>
              </a:rPr>
              <a:t>345</a:t>
            </a:r>
          </a:p>
        </p:txBody>
      </p:sp>
      <p:sp>
        <p:nvSpPr>
          <p:cNvPr id="19" name="Rectangle 18"/>
          <p:cNvSpPr/>
          <p:nvPr/>
        </p:nvSpPr>
        <p:spPr>
          <a:xfrm>
            <a:off x="6803136" y="1956816"/>
            <a:ext cx="10972" cy="3877056"/>
          </a:xfrm>
          <a:prstGeom prst="rect">
            <a:avLst/>
          </a:prstGeom>
          <a:solidFill>
            <a:srgbClr val="DCE2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6492240" y="5907024"/>
            <a:ext cx="621792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750" b="0" i="0">
                <a:solidFill>
                  <a:srgbClr val="717890"/>
                </a:solidFill>
                <a:latin typeface="Segoe UI"/>
              </a:rPr>
              <a:t>460</a:t>
            </a:r>
          </a:p>
        </p:txBody>
      </p:sp>
      <p:sp>
        <p:nvSpPr>
          <p:cNvPr id="21" name="Rectangle 20"/>
          <p:cNvSpPr/>
          <p:nvPr/>
        </p:nvSpPr>
        <p:spPr>
          <a:xfrm>
            <a:off x="7991856" y="1956816"/>
            <a:ext cx="10972" cy="3877056"/>
          </a:xfrm>
          <a:prstGeom prst="rect">
            <a:avLst/>
          </a:prstGeom>
          <a:solidFill>
            <a:srgbClr val="DCE2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7680960" y="5907024"/>
            <a:ext cx="621792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750" b="0" i="0">
                <a:solidFill>
                  <a:srgbClr val="717890"/>
                </a:solidFill>
                <a:latin typeface="Segoe UI"/>
              </a:rPr>
              <a:t>0</a:t>
            </a:r>
          </a:p>
        </p:txBody>
      </p:sp>
      <p:sp>
        <p:nvSpPr>
          <p:cNvPr id="23" name="Rectangle 22"/>
          <p:cNvSpPr/>
          <p:nvPr/>
        </p:nvSpPr>
        <p:spPr>
          <a:xfrm>
            <a:off x="8689687" y="1956816"/>
            <a:ext cx="10972" cy="3877056"/>
          </a:xfrm>
          <a:prstGeom prst="rect">
            <a:avLst/>
          </a:prstGeom>
          <a:solidFill>
            <a:srgbClr val="DCE2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8378791" y="5907024"/>
            <a:ext cx="621792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750" b="0" i="0">
                <a:solidFill>
                  <a:srgbClr val="717890"/>
                </a:solidFill>
                <a:latin typeface="Segoe UI"/>
              </a:rPr>
              <a:t>50</a:t>
            </a:r>
          </a:p>
        </p:txBody>
      </p:sp>
      <p:sp>
        <p:nvSpPr>
          <p:cNvPr id="25" name="Rectangle 24"/>
          <p:cNvSpPr/>
          <p:nvPr/>
        </p:nvSpPr>
        <p:spPr>
          <a:xfrm>
            <a:off x="9387519" y="1956816"/>
            <a:ext cx="10972" cy="3877056"/>
          </a:xfrm>
          <a:prstGeom prst="rect">
            <a:avLst/>
          </a:prstGeom>
          <a:solidFill>
            <a:srgbClr val="DCE2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9076623" y="5907024"/>
            <a:ext cx="621792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750" b="0" i="0">
                <a:solidFill>
                  <a:srgbClr val="717890"/>
                </a:solidFill>
                <a:latin typeface="Segoe UI"/>
              </a:rPr>
              <a:t>100</a:t>
            </a:r>
          </a:p>
        </p:txBody>
      </p:sp>
      <p:sp>
        <p:nvSpPr>
          <p:cNvPr id="27" name="Rectangle 26"/>
          <p:cNvSpPr/>
          <p:nvPr/>
        </p:nvSpPr>
        <p:spPr>
          <a:xfrm>
            <a:off x="10085350" y="1956816"/>
            <a:ext cx="10972" cy="3877056"/>
          </a:xfrm>
          <a:prstGeom prst="rect">
            <a:avLst/>
          </a:prstGeom>
          <a:solidFill>
            <a:srgbClr val="DCE2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9774454" y="5907024"/>
            <a:ext cx="621792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750" b="0" i="0">
                <a:solidFill>
                  <a:srgbClr val="717890"/>
                </a:solidFill>
                <a:latin typeface="Segoe UI"/>
              </a:rPr>
              <a:t>150</a:t>
            </a:r>
          </a:p>
        </p:txBody>
      </p:sp>
      <p:sp>
        <p:nvSpPr>
          <p:cNvPr id="29" name="Rectangle 28"/>
          <p:cNvSpPr/>
          <p:nvPr/>
        </p:nvSpPr>
        <p:spPr>
          <a:xfrm>
            <a:off x="8785390" y="1956816"/>
            <a:ext cx="18288" cy="3877056"/>
          </a:xfrm>
          <a:prstGeom prst="rect">
            <a:avLst/>
          </a:prstGeom>
          <a:solidFill>
            <a:srgbClr val="46538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822960" y="1810512"/>
            <a:ext cx="2377440" cy="16459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650" b="1" i="0">
                <a:solidFill>
                  <a:srgbClr val="717890"/>
                </a:solidFill>
                <a:latin typeface="Segoe UI"/>
              </a:rPr>
              <a:t>БРЕНД І ПОЗИЦІЯ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3273552" y="1810512"/>
            <a:ext cx="420624" cy="16459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/>
            <a:r>
              <a:rPr sz="650" b="1" i="0">
                <a:solidFill>
                  <a:srgbClr val="717890"/>
                </a:solidFill>
                <a:latin typeface="Segoe UI"/>
              </a:rPr>
              <a:t>МАСА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3968496" y="1810512"/>
            <a:ext cx="2011680" cy="16459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650" b="1" i="0">
                <a:solidFill>
                  <a:srgbClr val="717890"/>
                </a:solidFill>
                <a:latin typeface="Segoe UI"/>
              </a:rPr>
              <a:t>ГРН ЗА УПАКОВКУ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7991856" y="1810512"/>
            <a:ext cx="2011680" cy="16459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650" b="1" i="0">
                <a:solidFill>
                  <a:srgbClr val="717890"/>
                </a:solidFill>
                <a:latin typeface="Segoe UI"/>
              </a:rPr>
              <a:t>ГРН ЗА 100 Г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822960" y="2034539"/>
            <a:ext cx="2395728" cy="15544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750" b="1" i="0">
                <a:solidFill>
                  <a:srgbClr val="303A5D"/>
                </a:solidFill>
                <a:latin typeface="Segoe UI"/>
              </a:rPr>
              <a:t>Ben's Original · </a:t>
            </a:r>
            <a:r>
              <a:rPr sz="750" b="0" i="0">
                <a:solidFill>
                  <a:srgbClr val="717890"/>
                </a:solidFill>
                <a:latin typeface="Segoe UI"/>
              </a:rPr>
              <a:t>Long Grain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3218688" y="2039112"/>
            <a:ext cx="475488" cy="15544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/>
            <a:r>
              <a:rPr sz="700" b="0" i="0">
                <a:solidFill>
                  <a:srgbClr val="717890"/>
                </a:solidFill>
                <a:latin typeface="Segoe UI"/>
              </a:rPr>
              <a:t>250 г</a:t>
            </a:r>
          </a:p>
        </p:txBody>
      </p:sp>
      <p:sp>
        <p:nvSpPr>
          <p:cNvPr id="36" name="Rounded Rectangle 35"/>
          <p:cNvSpPr/>
          <p:nvPr/>
        </p:nvSpPr>
        <p:spPr>
          <a:xfrm>
            <a:off x="4245797" y="2075688"/>
            <a:ext cx="27432" cy="54864"/>
          </a:xfrm>
          <a:prstGeom prst="roundRect">
            <a:avLst>
              <a:gd name="adj" fmla="val 50000"/>
            </a:avLst>
          </a:prstGeom>
          <a:solidFill>
            <a:srgbClr val="F9A5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Rounded Rectangle 36"/>
          <p:cNvSpPr/>
          <p:nvPr/>
        </p:nvSpPr>
        <p:spPr>
          <a:xfrm>
            <a:off x="4193219" y="2050541"/>
            <a:ext cx="105156" cy="105156"/>
          </a:xfrm>
          <a:prstGeom prst="roundRect">
            <a:avLst>
              <a:gd name="adj" fmla="val 50000"/>
            </a:avLst>
          </a:prstGeom>
          <a:solidFill>
            <a:srgbClr val="F9A5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TextBox 37"/>
          <p:cNvSpPr txBox="1"/>
          <p:nvPr/>
        </p:nvSpPr>
        <p:spPr>
          <a:xfrm>
            <a:off x="4309805" y="2025395"/>
            <a:ext cx="731520" cy="16459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700" b="1" i="0">
                <a:solidFill>
                  <a:srgbClr val="F9A50B"/>
                </a:solidFill>
                <a:latin typeface="Segoe UI"/>
              </a:rPr>
              <a:t>45</a:t>
            </a:r>
          </a:p>
        </p:txBody>
      </p:sp>
      <p:sp>
        <p:nvSpPr>
          <p:cNvPr id="39" name="Rounded Rectangle 38"/>
          <p:cNvSpPr/>
          <p:nvPr/>
        </p:nvSpPr>
        <p:spPr>
          <a:xfrm>
            <a:off x="8243075" y="2075688"/>
            <a:ext cx="27432" cy="54864"/>
          </a:xfrm>
          <a:prstGeom prst="roundRect">
            <a:avLst>
              <a:gd name="adj" fmla="val 50000"/>
            </a:avLst>
          </a:prstGeom>
          <a:solidFill>
            <a:srgbClr val="F9A5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" name="Rounded Rectangle 39"/>
          <p:cNvSpPr/>
          <p:nvPr/>
        </p:nvSpPr>
        <p:spPr>
          <a:xfrm>
            <a:off x="8190497" y="2050541"/>
            <a:ext cx="105156" cy="105156"/>
          </a:xfrm>
          <a:prstGeom prst="roundRect">
            <a:avLst>
              <a:gd name="adj" fmla="val 50000"/>
            </a:avLst>
          </a:prstGeom>
          <a:solidFill>
            <a:srgbClr val="F9A5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8307083" y="2025395"/>
            <a:ext cx="731520" cy="16459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700" b="1" i="0">
                <a:solidFill>
                  <a:srgbClr val="F9A50B"/>
                </a:solidFill>
                <a:latin typeface="Segoe UI"/>
              </a:rPr>
              <a:t>18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822960" y="2149754"/>
            <a:ext cx="2395728" cy="15544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750" b="1" i="0">
                <a:solidFill>
                  <a:srgbClr val="303A5D"/>
                </a:solidFill>
                <a:latin typeface="Segoe UI"/>
              </a:rPr>
              <a:t>Portion · </a:t>
            </a:r>
            <a:r>
              <a:rPr sz="750" b="0" i="0">
                <a:solidFill>
                  <a:srgbClr val="717890"/>
                </a:solidFill>
                <a:latin typeface="Segoe UI"/>
              </a:rPr>
              <a:t>Каша рисова з куркою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3218688" y="2154326"/>
            <a:ext cx="475488" cy="15544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/>
            <a:r>
              <a:rPr sz="700" b="0" i="0">
                <a:solidFill>
                  <a:srgbClr val="717890"/>
                </a:solidFill>
                <a:latin typeface="Segoe UI"/>
              </a:rPr>
              <a:t>350 г</a:t>
            </a:r>
          </a:p>
        </p:txBody>
      </p:sp>
      <p:sp>
        <p:nvSpPr>
          <p:cNvPr id="44" name="Rounded Rectangle 43"/>
          <p:cNvSpPr/>
          <p:nvPr/>
        </p:nvSpPr>
        <p:spPr>
          <a:xfrm>
            <a:off x="4408481" y="2190902"/>
            <a:ext cx="27432" cy="54864"/>
          </a:xfrm>
          <a:prstGeom prst="roundRect">
            <a:avLst>
              <a:gd name="adj" fmla="val 50000"/>
            </a:avLst>
          </a:prstGeom>
          <a:solidFill>
            <a:srgbClr val="C94F7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5" name="Rounded Rectangle 44"/>
          <p:cNvSpPr/>
          <p:nvPr/>
        </p:nvSpPr>
        <p:spPr>
          <a:xfrm>
            <a:off x="4355903" y="2165756"/>
            <a:ext cx="105156" cy="105156"/>
          </a:xfrm>
          <a:prstGeom prst="roundRect">
            <a:avLst>
              <a:gd name="adj" fmla="val 50000"/>
            </a:avLst>
          </a:prstGeom>
          <a:solidFill>
            <a:srgbClr val="C94F7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6" name="TextBox 45"/>
          <p:cNvSpPr txBox="1"/>
          <p:nvPr/>
        </p:nvSpPr>
        <p:spPr>
          <a:xfrm>
            <a:off x="4472489" y="2140610"/>
            <a:ext cx="731520" cy="16459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700" b="1" i="0">
                <a:solidFill>
                  <a:srgbClr val="C94F7C"/>
                </a:solidFill>
                <a:latin typeface="Segoe UI"/>
              </a:rPr>
              <a:t>71</a:t>
            </a:r>
          </a:p>
        </p:txBody>
      </p:sp>
      <p:sp>
        <p:nvSpPr>
          <p:cNvPr id="47" name="Rounded Rectangle 46"/>
          <p:cNvSpPr/>
          <p:nvPr/>
        </p:nvSpPr>
        <p:spPr>
          <a:xfrm>
            <a:off x="8276571" y="2190902"/>
            <a:ext cx="27432" cy="54864"/>
          </a:xfrm>
          <a:prstGeom prst="roundRect">
            <a:avLst>
              <a:gd name="adj" fmla="val 50000"/>
            </a:avLst>
          </a:prstGeom>
          <a:solidFill>
            <a:srgbClr val="C94F7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" name="Rounded Rectangle 47"/>
          <p:cNvSpPr/>
          <p:nvPr/>
        </p:nvSpPr>
        <p:spPr>
          <a:xfrm>
            <a:off x="8223993" y="2165756"/>
            <a:ext cx="105156" cy="105156"/>
          </a:xfrm>
          <a:prstGeom prst="roundRect">
            <a:avLst>
              <a:gd name="adj" fmla="val 50000"/>
            </a:avLst>
          </a:prstGeom>
          <a:solidFill>
            <a:srgbClr val="C94F7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9" name="TextBox 48"/>
          <p:cNvSpPr txBox="1"/>
          <p:nvPr/>
        </p:nvSpPr>
        <p:spPr>
          <a:xfrm>
            <a:off x="8340579" y="2140610"/>
            <a:ext cx="731520" cy="16459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700" b="1" i="0">
                <a:solidFill>
                  <a:srgbClr val="C94F7C"/>
                </a:solidFill>
                <a:latin typeface="Segoe UI"/>
              </a:rPr>
              <a:t>20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822960" y="2264968"/>
            <a:ext cx="2395728" cy="15544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750" b="1" i="0">
                <a:solidFill>
                  <a:srgbClr val="303A5D"/>
                </a:solidFill>
                <a:latin typeface="Segoe UI"/>
              </a:rPr>
              <a:t>Маркел · </a:t>
            </a:r>
            <a:r>
              <a:rPr sz="750" b="0" i="0">
                <a:solidFill>
                  <a:srgbClr val="717890"/>
                </a:solidFill>
                <a:latin typeface="Segoe UI"/>
              </a:rPr>
              <a:t>Рис із соєвим м'ясом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3218688" y="2269540"/>
            <a:ext cx="475488" cy="15544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/>
            <a:r>
              <a:rPr sz="700" b="0" i="0">
                <a:solidFill>
                  <a:srgbClr val="717890"/>
                </a:solidFill>
                <a:latin typeface="Segoe UI"/>
              </a:rPr>
              <a:t>350 г</a:t>
            </a:r>
          </a:p>
        </p:txBody>
      </p:sp>
      <p:sp>
        <p:nvSpPr>
          <p:cNvPr id="52" name="Rounded Rectangle 51"/>
          <p:cNvSpPr/>
          <p:nvPr/>
        </p:nvSpPr>
        <p:spPr>
          <a:xfrm>
            <a:off x="4461476" y="2306116"/>
            <a:ext cx="98596" cy="54864"/>
          </a:xfrm>
          <a:prstGeom prst="roundRect">
            <a:avLst>
              <a:gd name="adj" fmla="val 50000"/>
            </a:avLst>
          </a:prstGeom>
          <a:solidFill>
            <a:srgbClr val="5B6B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3" name="Rounded Rectangle 52"/>
          <p:cNvSpPr/>
          <p:nvPr/>
        </p:nvSpPr>
        <p:spPr>
          <a:xfrm>
            <a:off x="4408898" y="2280970"/>
            <a:ext cx="105156" cy="105156"/>
          </a:xfrm>
          <a:prstGeom prst="roundRect">
            <a:avLst>
              <a:gd name="adj" fmla="val 50000"/>
            </a:avLst>
          </a:prstGeom>
          <a:solidFill>
            <a:srgbClr val="5B6B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4" name="TextBox 53"/>
          <p:cNvSpPr txBox="1"/>
          <p:nvPr/>
        </p:nvSpPr>
        <p:spPr>
          <a:xfrm>
            <a:off x="4624081" y="2255824"/>
            <a:ext cx="731520" cy="16459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700" b="1" i="0">
                <a:solidFill>
                  <a:srgbClr val="5B6B8C"/>
                </a:solidFill>
                <a:latin typeface="Segoe UI"/>
              </a:rPr>
              <a:t>80–96</a:t>
            </a:r>
          </a:p>
        </p:txBody>
      </p:sp>
      <p:sp>
        <p:nvSpPr>
          <p:cNvPr id="55" name="Rounded Rectangle 54"/>
          <p:cNvSpPr/>
          <p:nvPr/>
        </p:nvSpPr>
        <p:spPr>
          <a:xfrm>
            <a:off x="8310864" y="2306116"/>
            <a:ext cx="63801" cy="54864"/>
          </a:xfrm>
          <a:prstGeom prst="roundRect">
            <a:avLst>
              <a:gd name="adj" fmla="val 50000"/>
            </a:avLst>
          </a:prstGeom>
          <a:solidFill>
            <a:srgbClr val="5B6B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6" name="Rounded Rectangle 55"/>
          <p:cNvSpPr/>
          <p:nvPr/>
        </p:nvSpPr>
        <p:spPr>
          <a:xfrm>
            <a:off x="8258286" y="2280970"/>
            <a:ext cx="105156" cy="105156"/>
          </a:xfrm>
          <a:prstGeom prst="roundRect">
            <a:avLst>
              <a:gd name="adj" fmla="val 50000"/>
            </a:avLst>
          </a:prstGeom>
          <a:solidFill>
            <a:srgbClr val="5B6B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7" name="TextBox 56"/>
          <p:cNvSpPr txBox="1"/>
          <p:nvPr/>
        </p:nvSpPr>
        <p:spPr>
          <a:xfrm>
            <a:off x="8438674" y="2255824"/>
            <a:ext cx="731520" cy="16459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700" b="1" i="0">
                <a:solidFill>
                  <a:srgbClr val="5B6B8C"/>
                </a:solidFill>
                <a:latin typeface="Segoe UI"/>
              </a:rPr>
              <a:t>23–27</a:t>
            </a:r>
          </a:p>
        </p:txBody>
      </p:sp>
      <p:sp>
        <p:nvSpPr>
          <p:cNvPr id="58" name="TextBox 57"/>
          <p:cNvSpPr txBox="1"/>
          <p:nvPr/>
        </p:nvSpPr>
        <p:spPr>
          <a:xfrm>
            <a:off x="822960" y="2380183"/>
            <a:ext cx="2395728" cy="15544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750" b="1" i="0">
                <a:solidFill>
                  <a:srgbClr val="303A5D"/>
                </a:solidFill>
                <a:latin typeface="Segoe UI"/>
              </a:rPr>
              <a:t>Ben's Original · </a:t>
            </a:r>
            <a:r>
              <a:rPr sz="750" b="0" i="0">
                <a:solidFill>
                  <a:srgbClr val="717890"/>
                </a:solidFill>
                <a:latin typeface="Segoe UI"/>
              </a:rPr>
              <a:t>Basmati</a:t>
            </a:r>
          </a:p>
        </p:txBody>
      </p:sp>
      <p:sp>
        <p:nvSpPr>
          <p:cNvPr id="59" name="TextBox 58"/>
          <p:cNvSpPr txBox="1"/>
          <p:nvPr/>
        </p:nvSpPr>
        <p:spPr>
          <a:xfrm>
            <a:off x="3218688" y="2384755"/>
            <a:ext cx="475488" cy="15544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/>
            <a:r>
              <a:rPr sz="700" b="0" i="0">
                <a:solidFill>
                  <a:srgbClr val="717890"/>
                </a:solidFill>
                <a:latin typeface="Segoe UI"/>
              </a:rPr>
              <a:t>250 г</a:t>
            </a:r>
          </a:p>
        </p:txBody>
      </p:sp>
      <p:sp>
        <p:nvSpPr>
          <p:cNvPr id="60" name="Rounded Rectangle 59"/>
          <p:cNvSpPr/>
          <p:nvPr/>
        </p:nvSpPr>
        <p:spPr>
          <a:xfrm>
            <a:off x="4523037" y="2421331"/>
            <a:ext cx="27432" cy="54864"/>
          </a:xfrm>
          <a:prstGeom prst="roundRect">
            <a:avLst>
              <a:gd name="adj" fmla="val 50000"/>
            </a:avLst>
          </a:prstGeom>
          <a:solidFill>
            <a:srgbClr val="F9A5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1" name="Rounded Rectangle 60"/>
          <p:cNvSpPr/>
          <p:nvPr/>
        </p:nvSpPr>
        <p:spPr>
          <a:xfrm>
            <a:off x="4470459" y="2396185"/>
            <a:ext cx="105156" cy="105156"/>
          </a:xfrm>
          <a:prstGeom prst="roundRect">
            <a:avLst>
              <a:gd name="adj" fmla="val 50000"/>
            </a:avLst>
          </a:prstGeom>
          <a:solidFill>
            <a:srgbClr val="F9A5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2" name="TextBox 61"/>
          <p:cNvSpPr txBox="1"/>
          <p:nvPr/>
        </p:nvSpPr>
        <p:spPr>
          <a:xfrm>
            <a:off x="4587045" y="2371039"/>
            <a:ext cx="731520" cy="16459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700" b="1" i="0">
                <a:solidFill>
                  <a:srgbClr val="F9A50B"/>
                </a:solidFill>
                <a:latin typeface="Segoe UI"/>
              </a:rPr>
              <a:t>90</a:t>
            </a:r>
          </a:p>
        </p:txBody>
      </p:sp>
      <p:sp>
        <p:nvSpPr>
          <p:cNvPr id="63" name="Rounded Rectangle 62"/>
          <p:cNvSpPr/>
          <p:nvPr/>
        </p:nvSpPr>
        <p:spPr>
          <a:xfrm>
            <a:off x="8494238" y="2421331"/>
            <a:ext cx="27432" cy="54864"/>
          </a:xfrm>
          <a:prstGeom prst="roundRect">
            <a:avLst>
              <a:gd name="adj" fmla="val 50000"/>
            </a:avLst>
          </a:prstGeom>
          <a:solidFill>
            <a:srgbClr val="F9A5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4" name="Rounded Rectangle 63"/>
          <p:cNvSpPr/>
          <p:nvPr/>
        </p:nvSpPr>
        <p:spPr>
          <a:xfrm>
            <a:off x="8441660" y="2396185"/>
            <a:ext cx="105156" cy="105156"/>
          </a:xfrm>
          <a:prstGeom prst="roundRect">
            <a:avLst>
              <a:gd name="adj" fmla="val 50000"/>
            </a:avLst>
          </a:prstGeom>
          <a:solidFill>
            <a:srgbClr val="F9A5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5" name="TextBox 64"/>
          <p:cNvSpPr txBox="1"/>
          <p:nvPr/>
        </p:nvSpPr>
        <p:spPr>
          <a:xfrm>
            <a:off x="8558246" y="2371039"/>
            <a:ext cx="731520" cy="16459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700" b="1" i="0">
                <a:solidFill>
                  <a:srgbClr val="F9A50B"/>
                </a:solidFill>
                <a:latin typeface="Segoe UI"/>
              </a:rPr>
              <a:t>36</a:t>
            </a:r>
          </a:p>
        </p:txBody>
      </p:sp>
      <p:sp>
        <p:nvSpPr>
          <p:cNvPr id="66" name="TextBox 65"/>
          <p:cNvSpPr txBox="1"/>
          <p:nvPr/>
        </p:nvSpPr>
        <p:spPr>
          <a:xfrm>
            <a:off x="822960" y="2495397"/>
            <a:ext cx="2395728" cy="15544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750" b="1" i="0">
                <a:solidFill>
                  <a:srgbClr val="303A5D"/>
                </a:solidFill>
                <a:latin typeface="Segoe UI"/>
              </a:rPr>
              <a:t>Ben's Original · </a:t>
            </a:r>
            <a:r>
              <a:rPr sz="750" b="0" i="0">
                <a:solidFill>
                  <a:srgbClr val="717890"/>
                </a:solidFill>
                <a:latin typeface="Segoe UI"/>
              </a:rPr>
              <a:t>Mediterran</a:t>
            </a:r>
          </a:p>
        </p:txBody>
      </p:sp>
      <p:sp>
        <p:nvSpPr>
          <p:cNvPr id="67" name="TextBox 66"/>
          <p:cNvSpPr txBox="1"/>
          <p:nvPr/>
        </p:nvSpPr>
        <p:spPr>
          <a:xfrm>
            <a:off x="3218688" y="2499969"/>
            <a:ext cx="475488" cy="15544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/>
            <a:r>
              <a:rPr sz="700" b="0" i="0">
                <a:solidFill>
                  <a:srgbClr val="717890"/>
                </a:solidFill>
                <a:latin typeface="Segoe UI"/>
              </a:rPr>
              <a:t>250 г</a:t>
            </a:r>
          </a:p>
        </p:txBody>
      </p:sp>
      <p:sp>
        <p:nvSpPr>
          <p:cNvPr id="68" name="Rounded Rectangle 67"/>
          <p:cNvSpPr/>
          <p:nvPr/>
        </p:nvSpPr>
        <p:spPr>
          <a:xfrm>
            <a:off x="4523037" y="2536545"/>
            <a:ext cx="27432" cy="54864"/>
          </a:xfrm>
          <a:prstGeom prst="roundRect">
            <a:avLst>
              <a:gd name="adj" fmla="val 50000"/>
            </a:avLst>
          </a:prstGeom>
          <a:solidFill>
            <a:srgbClr val="F9A5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9" name="Rounded Rectangle 68"/>
          <p:cNvSpPr/>
          <p:nvPr/>
        </p:nvSpPr>
        <p:spPr>
          <a:xfrm>
            <a:off x="4470459" y="2511399"/>
            <a:ext cx="105156" cy="105156"/>
          </a:xfrm>
          <a:prstGeom prst="roundRect">
            <a:avLst>
              <a:gd name="adj" fmla="val 50000"/>
            </a:avLst>
          </a:prstGeom>
          <a:solidFill>
            <a:srgbClr val="F9A5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0" name="TextBox 69"/>
          <p:cNvSpPr txBox="1"/>
          <p:nvPr/>
        </p:nvSpPr>
        <p:spPr>
          <a:xfrm>
            <a:off x="4587045" y="2486253"/>
            <a:ext cx="731520" cy="16459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700" b="1" i="0">
                <a:solidFill>
                  <a:srgbClr val="F9A50B"/>
                </a:solidFill>
                <a:latin typeface="Segoe UI"/>
              </a:rPr>
              <a:t>90</a:t>
            </a:r>
          </a:p>
        </p:txBody>
      </p:sp>
      <p:sp>
        <p:nvSpPr>
          <p:cNvPr id="71" name="Rounded Rectangle 70"/>
          <p:cNvSpPr/>
          <p:nvPr/>
        </p:nvSpPr>
        <p:spPr>
          <a:xfrm>
            <a:off x="8494238" y="2536545"/>
            <a:ext cx="27432" cy="54864"/>
          </a:xfrm>
          <a:prstGeom prst="roundRect">
            <a:avLst>
              <a:gd name="adj" fmla="val 50000"/>
            </a:avLst>
          </a:prstGeom>
          <a:solidFill>
            <a:srgbClr val="F9A5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2" name="Rounded Rectangle 71"/>
          <p:cNvSpPr/>
          <p:nvPr/>
        </p:nvSpPr>
        <p:spPr>
          <a:xfrm>
            <a:off x="8441660" y="2511399"/>
            <a:ext cx="105156" cy="105156"/>
          </a:xfrm>
          <a:prstGeom prst="roundRect">
            <a:avLst>
              <a:gd name="adj" fmla="val 50000"/>
            </a:avLst>
          </a:prstGeom>
          <a:solidFill>
            <a:srgbClr val="F9A5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3" name="TextBox 72"/>
          <p:cNvSpPr txBox="1"/>
          <p:nvPr/>
        </p:nvSpPr>
        <p:spPr>
          <a:xfrm>
            <a:off x="8558246" y="2486253"/>
            <a:ext cx="731520" cy="16459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700" b="1" i="0">
                <a:solidFill>
                  <a:srgbClr val="F9A50B"/>
                </a:solidFill>
                <a:latin typeface="Segoe UI"/>
              </a:rPr>
              <a:t>36</a:t>
            </a:r>
          </a:p>
        </p:txBody>
      </p:sp>
      <p:sp>
        <p:nvSpPr>
          <p:cNvPr id="74" name="TextBox 73"/>
          <p:cNvSpPr txBox="1"/>
          <p:nvPr/>
        </p:nvSpPr>
        <p:spPr>
          <a:xfrm>
            <a:off x="822960" y="2610611"/>
            <a:ext cx="2395728" cy="15544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750" b="1" i="0">
                <a:solidFill>
                  <a:srgbClr val="303A5D"/>
                </a:solidFill>
                <a:latin typeface="Segoe UI"/>
              </a:rPr>
              <a:t>Ben's Original · </a:t>
            </a:r>
            <a:r>
              <a:rPr sz="750" b="0" i="0">
                <a:solidFill>
                  <a:srgbClr val="717890"/>
                </a:solidFill>
                <a:latin typeface="Segoe UI"/>
              </a:rPr>
              <a:t>Risi Bisi</a:t>
            </a:r>
          </a:p>
        </p:txBody>
      </p:sp>
      <p:sp>
        <p:nvSpPr>
          <p:cNvPr id="75" name="TextBox 74"/>
          <p:cNvSpPr txBox="1"/>
          <p:nvPr/>
        </p:nvSpPr>
        <p:spPr>
          <a:xfrm>
            <a:off x="3218688" y="2615183"/>
            <a:ext cx="475488" cy="15544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/>
            <a:r>
              <a:rPr sz="700" b="0" i="0">
                <a:solidFill>
                  <a:srgbClr val="717890"/>
                </a:solidFill>
                <a:latin typeface="Segoe UI"/>
              </a:rPr>
              <a:t>250 г</a:t>
            </a:r>
          </a:p>
        </p:txBody>
      </p:sp>
      <p:sp>
        <p:nvSpPr>
          <p:cNvPr id="76" name="Rounded Rectangle 75"/>
          <p:cNvSpPr/>
          <p:nvPr/>
        </p:nvSpPr>
        <p:spPr>
          <a:xfrm>
            <a:off x="4523037" y="2651759"/>
            <a:ext cx="27432" cy="54864"/>
          </a:xfrm>
          <a:prstGeom prst="roundRect">
            <a:avLst>
              <a:gd name="adj" fmla="val 50000"/>
            </a:avLst>
          </a:prstGeom>
          <a:solidFill>
            <a:srgbClr val="F9A5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7" name="Rounded Rectangle 76"/>
          <p:cNvSpPr/>
          <p:nvPr/>
        </p:nvSpPr>
        <p:spPr>
          <a:xfrm>
            <a:off x="4470459" y="2626613"/>
            <a:ext cx="105156" cy="105156"/>
          </a:xfrm>
          <a:prstGeom prst="roundRect">
            <a:avLst>
              <a:gd name="adj" fmla="val 50000"/>
            </a:avLst>
          </a:prstGeom>
          <a:solidFill>
            <a:srgbClr val="F9A5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8" name="TextBox 77"/>
          <p:cNvSpPr txBox="1"/>
          <p:nvPr/>
        </p:nvSpPr>
        <p:spPr>
          <a:xfrm>
            <a:off x="4587045" y="2601467"/>
            <a:ext cx="731520" cy="16459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700" b="1" i="0">
                <a:solidFill>
                  <a:srgbClr val="F9A50B"/>
                </a:solidFill>
                <a:latin typeface="Segoe UI"/>
              </a:rPr>
              <a:t>90</a:t>
            </a:r>
          </a:p>
        </p:txBody>
      </p:sp>
      <p:sp>
        <p:nvSpPr>
          <p:cNvPr id="79" name="Rounded Rectangle 78"/>
          <p:cNvSpPr/>
          <p:nvPr/>
        </p:nvSpPr>
        <p:spPr>
          <a:xfrm>
            <a:off x="8494238" y="2651759"/>
            <a:ext cx="27432" cy="54864"/>
          </a:xfrm>
          <a:prstGeom prst="roundRect">
            <a:avLst>
              <a:gd name="adj" fmla="val 50000"/>
            </a:avLst>
          </a:prstGeom>
          <a:solidFill>
            <a:srgbClr val="F9A5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0" name="Rounded Rectangle 79"/>
          <p:cNvSpPr/>
          <p:nvPr/>
        </p:nvSpPr>
        <p:spPr>
          <a:xfrm>
            <a:off x="8441660" y="2626613"/>
            <a:ext cx="105156" cy="105156"/>
          </a:xfrm>
          <a:prstGeom prst="roundRect">
            <a:avLst>
              <a:gd name="adj" fmla="val 50000"/>
            </a:avLst>
          </a:prstGeom>
          <a:solidFill>
            <a:srgbClr val="F9A5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1" name="TextBox 80"/>
          <p:cNvSpPr txBox="1"/>
          <p:nvPr/>
        </p:nvSpPr>
        <p:spPr>
          <a:xfrm>
            <a:off x="8558246" y="2601467"/>
            <a:ext cx="731520" cy="16459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700" b="1" i="0">
                <a:solidFill>
                  <a:srgbClr val="F9A50B"/>
                </a:solidFill>
                <a:latin typeface="Segoe UI"/>
              </a:rPr>
              <a:t>36</a:t>
            </a:r>
          </a:p>
        </p:txBody>
      </p:sp>
      <p:sp>
        <p:nvSpPr>
          <p:cNvPr id="82" name="TextBox 81"/>
          <p:cNvSpPr txBox="1"/>
          <p:nvPr/>
        </p:nvSpPr>
        <p:spPr>
          <a:xfrm>
            <a:off x="822960" y="2725826"/>
            <a:ext cx="2395728" cy="15544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750" b="1" i="0">
                <a:solidFill>
                  <a:srgbClr val="303A5D"/>
                </a:solidFill>
                <a:latin typeface="Segoe UI"/>
              </a:rPr>
              <a:t>Ben's Original · </a:t>
            </a:r>
            <a:r>
              <a:rPr sz="750" b="0" i="0">
                <a:solidFill>
                  <a:srgbClr val="717890"/>
                </a:solidFill>
                <a:latin typeface="Segoe UI"/>
              </a:rPr>
              <a:t>Indian Curry</a:t>
            </a:r>
          </a:p>
        </p:txBody>
      </p:sp>
      <p:sp>
        <p:nvSpPr>
          <p:cNvPr id="83" name="TextBox 82"/>
          <p:cNvSpPr txBox="1"/>
          <p:nvPr/>
        </p:nvSpPr>
        <p:spPr>
          <a:xfrm>
            <a:off x="3218688" y="2730398"/>
            <a:ext cx="475488" cy="15544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/>
            <a:r>
              <a:rPr sz="700" b="0" i="0">
                <a:solidFill>
                  <a:srgbClr val="717890"/>
                </a:solidFill>
                <a:latin typeface="Segoe UI"/>
              </a:rPr>
              <a:t>250 г</a:t>
            </a:r>
          </a:p>
        </p:txBody>
      </p:sp>
      <p:sp>
        <p:nvSpPr>
          <p:cNvPr id="84" name="Rounded Rectangle 83"/>
          <p:cNvSpPr/>
          <p:nvPr/>
        </p:nvSpPr>
        <p:spPr>
          <a:xfrm>
            <a:off x="4523037" y="2766974"/>
            <a:ext cx="27432" cy="54864"/>
          </a:xfrm>
          <a:prstGeom prst="roundRect">
            <a:avLst>
              <a:gd name="adj" fmla="val 50000"/>
            </a:avLst>
          </a:prstGeom>
          <a:solidFill>
            <a:srgbClr val="F9A5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5" name="Rounded Rectangle 84"/>
          <p:cNvSpPr/>
          <p:nvPr/>
        </p:nvSpPr>
        <p:spPr>
          <a:xfrm>
            <a:off x="4470459" y="2741828"/>
            <a:ext cx="105156" cy="105156"/>
          </a:xfrm>
          <a:prstGeom prst="roundRect">
            <a:avLst>
              <a:gd name="adj" fmla="val 50000"/>
            </a:avLst>
          </a:prstGeom>
          <a:solidFill>
            <a:srgbClr val="F9A5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6" name="TextBox 85"/>
          <p:cNvSpPr txBox="1"/>
          <p:nvPr/>
        </p:nvSpPr>
        <p:spPr>
          <a:xfrm>
            <a:off x="4587045" y="2716682"/>
            <a:ext cx="731520" cy="16459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700" b="1" i="0">
                <a:solidFill>
                  <a:srgbClr val="F9A50B"/>
                </a:solidFill>
                <a:latin typeface="Segoe UI"/>
              </a:rPr>
              <a:t>90</a:t>
            </a:r>
          </a:p>
        </p:txBody>
      </p:sp>
      <p:sp>
        <p:nvSpPr>
          <p:cNvPr id="87" name="Rounded Rectangle 86"/>
          <p:cNvSpPr/>
          <p:nvPr/>
        </p:nvSpPr>
        <p:spPr>
          <a:xfrm>
            <a:off x="8494238" y="2766974"/>
            <a:ext cx="27432" cy="54864"/>
          </a:xfrm>
          <a:prstGeom prst="roundRect">
            <a:avLst>
              <a:gd name="adj" fmla="val 50000"/>
            </a:avLst>
          </a:prstGeom>
          <a:solidFill>
            <a:srgbClr val="F9A5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8" name="Rounded Rectangle 87"/>
          <p:cNvSpPr/>
          <p:nvPr/>
        </p:nvSpPr>
        <p:spPr>
          <a:xfrm>
            <a:off x="8441660" y="2741828"/>
            <a:ext cx="105156" cy="105156"/>
          </a:xfrm>
          <a:prstGeom prst="roundRect">
            <a:avLst>
              <a:gd name="adj" fmla="val 50000"/>
            </a:avLst>
          </a:prstGeom>
          <a:solidFill>
            <a:srgbClr val="F9A5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9" name="TextBox 88"/>
          <p:cNvSpPr txBox="1"/>
          <p:nvPr/>
        </p:nvSpPr>
        <p:spPr>
          <a:xfrm>
            <a:off x="8558246" y="2716682"/>
            <a:ext cx="731520" cy="16459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700" b="1" i="0">
                <a:solidFill>
                  <a:srgbClr val="F9A50B"/>
                </a:solidFill>
                <a:latin typeface="Segoe UI"/>
              </a:rPr>
              <a:t>36</a:t>
            </a:r>
          </a:p>
        </p:txBody>
      </p:sp>
      <p:sp>
        <p:nvSpPr>
          <p:cNvPr id="90" name="TextBox 89"/>
          <p:cNvSpPr txBox="1"/>
          <p:nvPr/>
        </p:nvSpPr>
        <p:spPr>
          <a:xfrm>
            <a:off x="822960" y="2841040"/>
            <a:ext cx="2395728" cy="15544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750" b="1" i="0">
                <a:solidFill>
                  <a:srgbClr val="303A5D"/>
                </a:solidFill>
                <a:latin typeface="Segoe UI"/>
              </a:rPr>
              <a:t>Ben's Original · </a:t>
            </a:r>
            <a:r>
              <a:rPr sz="750" b="0" i="0">
                <a:solidFill>
                  <a:srgbClr val="717890"/>
                </a:solidFill>
                <a:latin typeface="Segoe UI"/>
              </a:rPr>
              <a:t>Curry з сочевицею</a:t>
            </a:r>
          </a:p>
        </p:txBody>
      </p:sp>
      <p:sp>
        <p:nvSpPr>
          <p:cNvPr id="91" name="TextBox 90"/>
          <p:cNvSpPr txBox="1"/>
          <p:nvPr/>
        </p:nvSpPr>
        <p:spPr>
          <a:xfrm>
            <a:off x="3218688" y="2845612"/>
            <a:ext cx="475488" cy="15544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/>
            <a:r>
              <a:rPr sz="700" b="0" i="0">
                <a:solidFill>
                  <a:srgbClr val="717890"/>
                </a:solidFill>
                <a:latin typeface="Segoe UI"/>
              </a:rPr>
              <a:t>220 г</a:t>
            </a:r>
          </a:p>
        </p:txBody>
      </p:sp>
      <p:sp>
        <p:nvSpPr>
          <p:cNvPr id="92" name="Rounded Rectangle 91"/>
          <p:cNvSpPr/>
          <p:nvPr/>
        </p:nvSpPr>
        <p:spPr>
          <a:xfrm>
            <a:off x="4523037" y="2882188"/>
            <a:ext cx="27432" cy="54864"/>
          </a:xfrm>
          <a:prstGeom prst="roundRect">
            <a:avLst>
              <a:gd name="adj" fmla="val 50000"/>
            </a:avLst>
          </a:prstGeom>
          <a:solidFill>
            <a:srgbClr val="F9A5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3" name="Rounded Rectangle 92"/>
          <p:cNvSpPr/>
          <p:nvPr/>
        </p:nvSpPr>
        <p:spPr>
          <a:xfrm>
            <a:off x="4470459" y="2857042"/>
            <a:ext cx="105156" cy="105156"/>
          </a:xfrm>
          <a:prstGeom prst="roundRect">
            <a:avLst>
              <a:gd name="adj" fmla="val 50000"/>
            </a:avLst>
          </a:prstGeom>
          <a:solidFill>
            <a:srgbClr val="F9A5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4" name="TextBox 93"/>
          <p:cNvSpPr txBox="1"/>
          <p:nvPr/>
        </p:nvSpPr>
        <p:spPr>
          <a:xfrm>
            <a:off x="4587045" y="2831896"/>
            <a:ext cx="731520" cy="16459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700" b="1" i="0">
                <a:solidFill>
                  <a:srgbClr val="F9A50B"/>
                </a:solidFill>
                <a:latin typeface="Segoe UI"/>
              </a:rPr>
              <a:t>90</a:t>
            </a:r>
          </a:p>
        </p:txBody>
      </p:sp>
      <p:sp>
        <p:nvSpPr>
          <p:cNvPr id="95" name="Rounded Rectangle 94"/>
          <p:cNvSpPr/>
          <p:nvPr/>
        </p:nvSpPr>
        <p:spPr>
          <a:xfrm>
            <a:off x="8562745" y="2882188"/>
            <a:ext cx="27432" cy="54864"/>
          </a:xfrm>
          <a:prstGeom prst="roundRect">
            <a:avLst>
              <a:gd name="adj" fmla="val 50000"/>
            </a:avLst>
          </a:prstGeom>
          <a:solidFill>
            <a:srgbClr val="F9A5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6" name="Rounded Rectangle 95"/>
          <p:cNvSpPr/>
          <p:nvPr/>
        </p:nvSpPr>
        <p:spPr>
          <a:xfrm>
            <a:off x="8510167" y="2857042"/>
            <a:ext cx="105156" cy="105156"/>
          </a:xfrm>
          <a:prstGeom prst="roundRect">
            <a:avLst>
              <a:gd name="adj" fmla="val 50000"/>
            </a:avLst>
          </a:prstGeom>
          <a:solidFill>
            <a:srgbClr val="F9A5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7" name="TextBox 96"/>
          <p:cNvSpPr txBox="1"/>
          <p:nvPr/>
        </p:nvSpPr>
        <p:spPr>
          <a:xfrm>
            <a:off x="8626753" y="2831896"/>
            <a:ext cx="731520" cy="16459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700" b="1" i="0">
                <a:solidFill>
                  <a:srgbClr val="F9A50B"/>
                </a:solidFill>
                <a:latin typeface="Segoe UI"/>
              </a:rPr>
              <a:t>41</a:t>
            </a:r>
          </a:p>
        </p:txBody>
      </p:sp>
      <p:sp>
        <p:nvSpPr>
          <p:cNvPr id="98" name="TextBox 97"/>
          <p:cNvSpPr txBox="1"/>
          <p:nvPr/>
        </p:nvSpPr>
        <p:spPr>
          <a:xfrm>
            <a:off x="822960" y="2956255"/>
            <a:ext cx="2395728" cy="15544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750" b="1" i="0">
                <a:solidFill>
                  <a:srgbClr val="303A5D"/>
                </a:solidFill>
                <a:latin typeface="Segoe UI"/>
              </a:rPr>
              <a:t>Маркел · </a:t>
            </a:r>
            <a:r>
              <a:rPr sz="750" b="0" i="0">
                <a:solidFill>
                  <a:srgbClr val="717890"/>
                </a:solidFill>
                <a:latin typeface="Segoe UI"/>
              </a:rPr>
              <a:t>Каша рисова зі свининою</a:t>
            </a:r>
          </a:p>
        </p:txBody>
      </p:sp>
      <p:sp>
        <p:nvSpPr>
          <p:cNvPr id="99" name="TextBox 98"/>
          <p:cNvSpPr txBox="1"/>
          <p:nvPr/>
        </p:nvSpPr>
        <p:spPr>
          <a:xfrm>
            <a:off x="3218688" y="2960827"/>
            <a:ext cx="475488" cy="15544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/>
            <a:r>
              <a:rPr sz="700" b="0" i="0">
                <a:solidFill>
                  <a:srgbClr val="717890"/>
                </a:solidFill>
                <a:latin typeface="Segoe UI"/>
              </a:rPr>
              <a:t>350 г</a:t>
            </a:r>
          </a:p>
        </p:txBody>
      </p:sp>
      <p:sp>
        <p:nvSpPr>
          <p:cNvPr id="100" name="Rounded Rectangle 99"/>
          <p:cNvSpPr/>
          <p:nvPr/>
        </p:nvSpPr>
        <p:spPr>
          <a:xfrm>
            <a:off x="4578559" y="2997403"/>
            <a:ext cx="27432" cy="54864"/>
          </a:xfrm>
          <a:prstGeom prst="roundRect">
            <a:avLst>
              <a:gd name="adj" fmla="val 50000"/>
            </a:avLst>
          </a:prstGeom>
          <a:solidFill>
            <a:srgbClr val="5B6B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1" name="Rounded Rectangle 100"/>
          <p:cNvSpPr/>
          <p:nvPr/>
        </p:nvSpPr>
        <p:spPr>
          <a:xfrm>
            <a:off x="4525981" y="2972257"/>
            <a:ext cx="105156" cy="105156"/>
          </a:xfrm>
          <a:prstGeom prst="roundRect">
            <a:avLst>
              <a:gd name="adj" fmla="val 50000"/>
            </a:avLst>
          </a:prstGeom>
          <a:solidFill>
            <a:srgbClr val="5B6B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2" name="TextBox 101"/>
          <p:cNvSpPr txBox="1"/>
          <p:nvPr/>
        </p:nvSpPr>
        <p:spPr>
          <a:xfrm>
            <a:off x="4642567" y="2947111"/>
            <a:ext cx="731520" cy="16459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700" b="1" i="0">
                <a:solidFill>
                  <a:srgbClr val="5B6B8C"/>
                </a:solidFill>
                <a:latin typeface="Segoe UI"/>
              </a:rPr>
              <a:t>99</a:t>
            </a:r>
          </a:p>
        </p:txBody>
      </p:sp>
      <p:sp>
        <p:nvSpPr>
          <p:cNvPr id="103" name="Rounded Rectangle 102"/>
          <p:cNvSpPr/>
          <p:nvPr/>
        </p:nvSpPr>
        <p:spPr>
          <a:xfrm>
            <a:off x="8386629" y="2997403"/>
            <a:ext cx="27432" cy="54864"/>
          </a:xfrm>
          <a:prstGeom prst="roundRect">
            <a:avLst>
              <a:gd name="adj" fmla="val 50000"/>
            </a:avLst>
          </a:prstGeom>
          <a:solidFill>
            <a:srgbClr val="5B6B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4" name="Rounded Rectangle 103"/>
          <p:cNvSpPr/>
          <p:nvPr/>
        </p:nvSpPr>
        <p:spPr>
          <a:xfrm>
            <a:off x="8334051" y="2972257"/>
            <a:ext cx="105156" cy="105156"/>
          </a:xfrm>
          <a:prstGeom prst="roundRect">
            <a:avLst>
              <a:gd name="adj" fmla="val 50000"/>
            </a:avLst>
          </a:prstGeom>
          <a:solidFill>
            <a:srgbClr val="5B6B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5" name="TextBox 104"/>
          <p:cNvSpPr txBox="1"/>
          <p:nvPr/>
        </p:nvSpPr>
        <p:spPr>
          <a:xfrm>
            <a:off x="8450637" y="2947111"/>
            <a:ext cx="731520" cy="16459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700" b="1" i="0">
                <a:solidFill>
                  <a:srgbClr val="5B6B8C"/>
                </a:solidFill>
                <a:latin typeface="Segoe UI"/>
              </a:rPr>
              <a:t>28</a:t>
            </a:r>
          </a:p>
        </p:txBody>
      </p:sp>
      <p:sp>
        <p:nvSpPr>
          <p:cNvPr id="106" name="TextBox 105"/>
          <p:cNvSpPr txBox="1"/>
          <p:nvPr/>
        </p:nvSpPr>
        <p:spPr>
          <a:xfrm>
            <a:off x="822960" y="3071469"/>
            <a:ext cx="2395728" cy="15544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750" b="1" i="0">
                <a:solidFill>
                  <a:srgbClr val="303A5D"/>
                </a:solidFill>
                <a:latin typeface="Segoe UI"/>
              </a:rPr>
              <a:t>Верес · </a:t>
            </a:r>
            <a:r>
              <a:rPr sz="750" b="0" i="0">
                <a:solidFill>
                  <a:srgbClr val="717890"/>
                </a:solidFill>
                <a:latin typeface="Segoe UI"/>
              </a:rPr>
              <a:t>Свинина, горошок, кукурудза</a:t>
            </a:r>
          </a:p>
        </p:txBody>
      </p:sp>
      <p:sp>
        <p:nvSpPr>
          <p:cNvPr id="107" name="TextBox 106"/>
          <p:cNvSpPr txBox="1"/>
          <p:nvPr/>
        </p:nvSpPr>
        <p:spPr>
          <a:xfrm>
            <a:off x="3218688" y="3076041"/>
            <a:ext cx="475488" cy="15544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/>
            <a:r>
              <a:rPr sz="700" b="0" i="0">
                <a:solidFill>
                  <a:srgbClr val="717890"/>
                </a:solidFill>
                <a:latin typeface="Segoe UI"/>
              </a:rPr>
              <a:t>350 г</a:t>
            </a:r>
          </a:p>
        </p:txBody>
      </p:sp>
      <p:sp>
        <p:nvSpPr>
          <p:cNvPr id="108" name="Rounded Rectangle 107"/>
          <p:cNvSpPr/>
          <p:nvPr/>
        </p:nvSpPr>
        <p:spPr>
          <a:xfrm>
            <a:off x="4584722" y="3112617"/>
            <a:ext cx="27432" cy="54864"/>
          </a:xfrm>
          <a:prstGeom prst="roundRect">
            <a:avLst>
              <a:gd name="adj" fmla="val 50000"/>
            </a:avLst>
          </a:prstGeom>
          <a:solidFill>
            <a:srgbClr val="37A16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9" name="Rounded Rectangle 108"/>
          <p:cNvSpPr/>
          <p:nvPr/>
        </p:nvSpPr>
        <p:spPr>
          <a:xfrm>
            <a:off x="4532144" y="3087471"/>
            <a:ext cx="105156" cy="105156"/>
          </a:xfrm>
          <a:prstGeom prst="roundRect">
            <a:avLst>
              <a:gd name="adj" fmla="val 50000"/>
            </a:avLst>
          </a:prstGeom>
          <a:solidFill>
            <a:srgbClr val="37A16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0" name="TextBox 109"/>
          <p:cNvSpPr txBox="1"/>
          <p:nvPr/>
        </p:nvSpPr>
        <p:spPr>
          <a:xfrm>
            <a:off x="4648730" y="3062325"/>
            <a:ext cx="731520" cy="16459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700" b="1" i="0">
                <a:solidFill>
                  <a:srgbClr val="37A169"/>
                </a:solidFill>
                <a:latin typeface="Segoe UI"/>
              </a:rPr>
              <a:t>100</a:t>
            </a:r>
          </a:p>
        </p:txBody>
      </p:sp>
      <p:sp>
        <p:nvSpPr>
          <p:cNvPr id="111" name="Rounded Rectangle 110"/>
          <p:cNvSpPr/>
          <p:nvPr/>
        </p:nvSpPr>
        <p:spPr>
          <a:xfrm>
            <a:off x="8390616" y="3112617"/>
            <a:ext cx="27432" cy="54864"/>
          </a:xfrm>
          <a:prstGeom prst="roundRect">
            <a:avLst>
              <a:gd name="adj" fmla="val 50000"/>
            </a:avLst>
          </a:prstGeom>
          <a:solidFill>
            <a:srgbClr val="37A16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2" name="Rounded Rectangle 111"/>
          <p:cNvSpPr/>
          <p:nvPr/>
        </p:nvSpPr>
        <p:spPr>
          <a:xfrm>
            <a:off x="8338038" y="3087471"/>
            <a:ext cx="105156" cy="105156"/>
          </a:xfrm>
          <a:prstGeom prst="roundRect">
            <a:avLst>
              <a:gd name="adj" fmla="val 50000"/>
            </a:avLst>
          </a:prstGeom>
          <a:solidFill>
            <a:srgbClr val="37A16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3" name="TextBox 112"/>
          <p:cNvSpPr txBox="1"/>
          <p:nvPr/>
        </p:nvSpPr>
        <p:spPr>
          <a:xfrm>
            <a:off x="8454624" y="3062325"/>
            <a:ext cx="731520" cy="16459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700" b="1" i="0">
                <a:solidFill>
                  <a:srgbClr val="37A169"/>
                </a:solidFill>
                <a:latin typeface="Segoe UI"/>
              </a:rPr>
              <a:t>29</a:t>
            </a:r>
          </a:p>
        </p:txBody>
      </p:sp>
      <p:sp>
        <p:nvSpPr>
          <p:cNvPr id="114" name="TextBox 113"/>
          <p:cNvSpPr txBox="1"/>
          <p:nvPr/>
        </p:nvSpPr>
        <p:spPr>
          <a:xfrm>
            <a:off x="822960" y="3186683"/>
            <a:ext cx="2395728" cy="15544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750" b="1" i="0">
                <a:solidFill>
                  <a:srgbClr val="303A5D"/>
                </a:solidFill>
                <a:latin typeface="Segoe UI"/>
              </a:rPr>
              <a:t>МАКРО · </a:t>
            </a:r>
            <a:r>
              <a:rPr sz="750" b="0" i="0">
                <a:solidFill>
                  <a:srgbClr val="717890"/>
                </a:solidFill>
                <a:latin typeface="Segoe UI"/>
              </a:rPr>
              <a:t>Курятина 35 % і овочі</a:t>
            </a:r>
          </a:p>
        </p:txBody>
      </p:sp>
      <p:sp>
        <p:nvSpPr>
          <p:cNvPr id="115" name="TextBox 114"/>
          <p:cNvSpPr txBox="1"/>
          <p:nvPr/>
        </p:nvSpPr>
        <p:spPr>
          <a:xfrm>
            <a:off x="3218688" y="3191255"/>
            <a:ext cx="475488" cy="15544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/>
            <a:r>
              <a:rPr sz="700" b="0" i="0">
                <a:solidFill>
                  <a:srgbClr val="717890"/>
                </a:solidFill>
                <a:latin typeface="Segoe UI"/>
              </a:rPr>
              <a:t>350 г</a:t>
            </a:r>
          </a:p>
        </p:txBody>
      </p:sp>
      <p:sp>
        <p:nvSpPr>
          <p:cNvPr id="116" name="Rounded Rectangle 115"/>
          <p:cNvSpPr/>
          <p:nvPr/>
        </p:nvSpPr>
        <p:spPr>
          <a:xfrm>
            <a:off x="4590884" y="3227831"/>
            <a:ext cx="27432" cy="54864"/>
          </a:xfrm>
          <a:prstGeom prst="roundRect">
            <a:avLst>
              <a:gd name="adj" fmla="val 50000"/>
            </a:avLst>
          </a:prstGeom>
          <a:solidFill>
            <a:srgbClr val="F9A5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7" name="Rounded Rectangle 116"/>
          <p:cNvSpPr/>
          <p:nvPr/>
        </p:nvSpPr>
        <p:spPr>
          <a:xfrm>
            <a:off x="4538306" y="3202685"/>
            <a:ext cx="105156" cy="105156"/>
          </a:xfrm>
          <a:prstGeom prst="roundRect">
            <a:avLst>
              <a:gd name="adj" fmla="val 50000"/>
            </a:avLst>
          </a:prstGeom>
          <a:solidFill>
            <a:srgbClr val="F9A5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8" name="TextBox 117"/>
          <p:cNvSpPr txBox="1"/>
          <p:nvPr/>
        </p:nvSpPr>
        <p:spPr>
          <a:xfrm>
            <a:off x="4654892" y="3177539"/>
            <a:ext cx="731520" cy="16459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700" b="1" i="0">
                <a:solidFill>
                  <a:srgbClr val="F9A50B"/>
                </a:solidFill>
                <a:latin typeface="Segoe UI"/>
              </a:rPr>
              <a:t>101</a:t>
            </a:r>
          </a:p>
        </p:txBody>
      </p:sp>
      <p:sp>
        <p:nvSpPr>
          <p:cNvPr id="119" name="Rounded Rectangle 118"/>
          <p:cNvSpPr/>
          <p:nvPr/>
        </p:nvSpPr>
        <p:spPr>
          <a:xfrm>
            <a:off x="8394604" y="3227831"/>
            <a:ext cx="27432" cy="54864"/>
          </a:xfrm>
          <a:prstGeom prst="roundRect">
            <a:avLst>
              <a:gd name="adj" fmla="val 50000"/>
            </a:avLst>
          </a:prstGeom>
          <a:solidFill>
            <a:srgbClr val="F9A5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0" name="Rounded Rectangle 119"/>
          <p:cNvSpPr/>
          <p:nvPr/>
        </p:nvSpPr>
        <p:spPr>
          <a:xfrm>
            <a:off x="8342026" y="3202685"/>
            <a:ext cx="105156" cy="105156"/>
          </a:xfrm>
          <a:prstGeom prst="roundRect">
            <a:avLst>
              <a:gd name="adj" fmla="val 50000"/>
            </a:avLst>
          </a:prstGeom>
          <a:solidFill>
            <a:srgbClr val="F9A5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1" name="TextBox 120"/>
          <p:cNvSpPr txBox="1"/>
          <p:nvPr/>
        </p:nvSpPr>
        <p:spPr>
          <a:xfrm>
            <a:off x="8458612" y="3177539"/>
            <a:ext cx="731520" cy="16459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700" b="1" i="0">
                <a:solidFill>
                  <a:srgbClr val="F9A50B"/>
                </a:solidFill>
                <a:latin typeface="Segoe UI"/>
              </a:rPr>
              <a:t>29</a:t>
            </a:r>
          </a:p>
        </p:txBody>
      </p:sp>
      <p:sp>
        <p:nvSpPr>
          <p:cNvPr id="122" name="TextBox 121"/>
          <p:cNvSpPr txBox="1"/>
          <p:nvPr/>
        </p:nvSpPr>
        <p:spPr>
          <a:xfrm>
            <a:off x="822960" y="3301898"/>
            <a:ext cx="2395728" cy="15544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750" b="1" i="0">
                <a:solidFill>
                  <a:srgbClr val="303A5D"/>
                </a:solidFill>
                <a:latin typeface="Segoe UI"/>
              </a:rPr>
              <a:t>МАКРО · </a:t>
            </a:r>
            <a:r>
              <a:rPr sz="750" b="0" i="0">
                <a:solidFill>
                  <a:srgbClr val="717890"/>
                </a:solidFill>
                <a:latin typeface="Segoe UI"/>
              </a:rPr>
              <a:t>Свинина 35 % і овочі</a:t>
            </a:r>
          </a:p>
        </p:txBody>
      </p:sp>
      <p:sp>
        <p:nvSpPr>
          <p:cNvPr id="123" name="TextBox 122"/>
          <p:cNvSpPr txBox="1"/>
          <p:nvPr/>
        </p:nvSpPr>
        <p:spPr>
          <a:xfrm>
            <a:off x="3218688" y="3306470"/>
            <a:ext cx="475488" cy="15544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/>
            <a:r>
              <a:rPr sz="700" b="0" i="0">
                <a:solidFill>
                  <a:srgbClr val="717890"/>
                </a:solidFill>
                <a:latin typeface="Segoe UI"/>
              </a:rPr>
              <a:t>350 г</a:t>
            </a:r>
          </a:p>
        </p:txBody>
      </p:sp>
      <p:sp>
        <p:nvSpPr>
          <p:cNvPr id="124" name="Rounded Rectangle 123"/>
          <p:cNvSpPr/>
          <p:nvPr/>
        </p:nvSpPr>
        <p:spPr>
          <a:xfrm>
            <a:off x="4590884" y="3343046"/>
            <a:ext cx="209516" cy="54864"/>
          </a:xfrm>
          <a:prstGeom prst="roundRect">
            <a:avLst>
              <a:gd name="adj" fmla="val 50000"/>
            </a:avLst>
          </a:prstGeom>
          <a:solidFill>
            <a:srgbClr val="F9A5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5" name="Rounded Rectangle 124"/>
          <p:cNvSpPr/>
          <p:nvPr/>
        </p:nvSpPr>
        <p:spPr>
          <a:xfrm>
            <a:off x="4538306" y="3317900"/>
            <a:ext cx="105156" cy="105156"/>
          </a:xfrm>
          <a:prstGeom prst="roundRect">
            <a:avLst>
              <a:gd name="adj" fmla="val 50000"/>
            </a:avLst>
          </a:prstGeom>
          <a:solidFill>
            <a:srgbClr val="F9A5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6" name="TextBox 125"/>
          <p:cNvSpPr txBox="1"/>
          <p:nvPr/>
        </p:nvSpPr>
        <p:spPr>
          <a:xfrm>
            <a:off x="4864409" y="3292754"/>
            <a:ext cx="731520" cy="16459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700" b="1" i="0">
                <a:solidFill>
                  <a:srgbClr val="F9A50B"/>
                </a:solidFill>
                <a:latin typeface="Segoe UI"/>
              </a:rPr>
              <a:t>101–135</a:t>
            </a:r>
          </a:p>
        </p:txBody>
      </p:sp>
      <p:sp>
        <p:nvSpPr>
          <p:cNvPr id="127" name="Rounded Rectangle 126"/>
          <p:cNvSpPr/>
          <p:nvPr/>
        </p:nvSpPr>
        <p:spPr>
          <a:xfrm>
            <a:off x="8394604" y="3343046"/>
            <a:ext cx="135578" cy="54864"/>
          </a:xfrm>
          <a:prstGeom prst="roundRect">
            <a:avLst>
              <a:gd name="adj" fmla="val 50000"/>
            </a:avLst>
          </a:prstGeom>
          <a:solidFill>
            <a:srgbClr val="F9A5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8" name="Rounded Rectangle 127"/>
          <p:cNvSpPr/>
          <p:nvPr/>
        </p:nvSpPr>
        <p:spPr>
          <a:xfrm>
            <a:off x="8342026" y="3317900"/>
            <a:ext cx="105156" cy="105156"/>
          </a:xfrm>
          <a:prstGeom prst="roundRect">
            <a:avLst>
              <a:gd name="adj" fmla="val 50000"/>
            </a:avLst>
          </a:prstGeom>
          <a:solidFill>
            <a:srgbClr val="F9A5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9" name="TextBox 128"/>
          <p:cNvSpPr txBox="1"/>
          <p:nvPr/>
        </p:nvSpPr>
        <p:spPr>
          <a:xfrm>
            <a:off x="8594191" y="3292754"/>
            <a:ext cx="731520" cy="16459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700" b="1" i="0">
                <a:solidFill>
                  <a:srgbClr val="F9A50B"/>
                </a:solidFill>
                <a:latin typeface="Segoe UI"/>
              </a:rPr>
              <a:t>29–39</a:t>
            </a:r>
          </a:p>
        </p:txBody>
      </p:sp>
      <p:sp>
        <p:nvSpPr>
          <p:cNvPr id="130" name="TextBox 129"/>
          <p:cNvSpPr txBox="1"/>
          <p:nvPr/>
        </p:nvSpPr>
        <p:spPr>
          <a:xfrm>
            <a:off x="822960" y="3417112"/>
            <a:ext cx="2395728" cy="15544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750" b="1" i="0">
                <a:solidFill>
                  <a:srgbClr val="303A5D"/>
                </a:solidFill>
                <a:latin typeface="Segoe UI"/>
              </a:rPr>
              <a:t>МАКРО · </a:t>
            </a:r>
            <a:r>
              <a:rPr sz="750" b="0" i="0">
                <a:solidFill>
                  <a:srgbClr val="717890"/>
                </a:solidFill>
                <a:latin typeface="Segoe UI"/>
              </a:rPr>
              <a:t>Яловичина 35 % і овочі</a:t>
            </a:r>
          </a:p>
        </p:txBody>
      </p:sp>
      <p:sp>
        <p:nvSpPr>
          <p:cNvPr id="131" name="TextBox 130"/>
          <p:cNvSpPr txBox="1"/>
          <p:nvPr/>
        </p:nvSpPr>
        <p:spPr>
          <a:xfrm>
            <a:off x="3218688" y="3421684"/>
            <a:ext cx="475488" cy="15544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/>
            <a:r>
              <a:rPr sz="700" b="0" i="0">
                <a:solidFill>
                  <a:srgbClr val="717890"/>
                </a:solidFill>
                <a:latin typeface="Segoe UI"/>
              </a:rPr>
              <a:t>350 г</a:t>
            </a:r>
          </a:p>
        </p:txBody>
      </p:sp>
      <p:sp>
        <p:nvSpPr>
          <p:cNvPr id="132" name="Rounded Rectangle 131"/>
          <p:cNvSpPr/>
          <p:nvPr/>
        </p:nvSpPr>
        <p:spPr>
          <a:xfrm>
            <a:off x="4621695" y="3458260"/>
            <a:ext cx="27432" cy="54864"/>
          </a:xfrm>
          <a:prstGeom prst="roundRect">
            <a:avLst>
              <a:gd name="adj" fmla="val 50000"/>
            </a:avLst>
          </a:prstGeom>
          <a:solidFill>
            <a:srgbClr val="F9A5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3" name="Rounded Rectangle 132"/>
          <p:cNvSpPr/>
          <p:nvPr/>
        </p:nvSpPr>
        <p:spPr>
          <a:xfrm>
            <a:off x="4569117" y="3433114"/>
            <a:ext cx="105156" cy="105156"/>
          </a:xfrm>
          <a:prstGeom prst="roundRect">
            <a:avLst>
              <a:gd name="adj" fmla="val 50000"/>
            </a:avLst>
          </a:prstGeom>
          <a:solidFill>
            <a:srgbClr val="F9A5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4" name="TextBox 133"/>
          <p:cNvSpPr txBox="1"/>
          <p:nvPr/>
        </p:nvSpPr>
        <p:spPr>
          <a:xfrm>
            <a:off x="4691865" y="3407968"/>
            <a:ext cx="731520" cy="16459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700" b="1" i="0">
                <a:solidFill>
                  <a:srgbClr val="F9A50B"/>
                </a:solidFill>
                <a:latin typeface="Segoe UI"/>
              </a:rPr>
              <a:t>106–107</a:t>
            </a:r>
          </a:p>
        </p:txBody>
      </p:sp>
      <p:sp>
        <p:nvSpPr>
          <p:cNvPr id="135" name="Rounded Rectangle 134"/>
          <p:cNvSpPr/>
          <p:nvPr/>
        </p:nvSpPr>
        <p:spPr>
          <a:xfrm>
            <a:off x="8414542" y="3458260"/>
            <a:ext cx="27432" cy="54864"/>
          </a:xfrm>
          <a:prstGeom prst="roundRect">
            <a:avLst>
              <a:gd name="adj" fmla="val 50000"/>
            </a:avLst>
          </a:prstGeom>
          <a:solidFill>
            <a:srgbClr val="F9A5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6" name="Rounded Rectangle 135"/>
          <p:cNvSpPr/>
          <p:nvPr/>
        </p:nvSpPr>
        <p:spPr>
          <a:xfrm>
            <a:off x="8361964" y="3433114"/>
            <a:ext cx="105156" cy="105156"/>
          </a:xfrm>
          <a:prstGeom prst="roundRect">
            <a:avLst>
              <a:gd name="adj" fmla="val 50000"/>
            </a:avLst>
          </a:prstGeom>
          <a:solidFill>
            <a:srgbClr val="F9A5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7" name="TextBox 136"/>
          <p:cNvSpPr txBox="1"/>
          <p:nvPr/>
        </p:nvSpPr>
        <p:spPr>
          <a:xfrm>
            <a:off x="8482538" y="3407968"/>
            <a:ext cx="731520" cy="16459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700" b="1" i="0">
                <a:solidFill>
                  <a:srgbClr val="F9A50B"/>
                </a:solidFill>
                <a:latin typeface="Segoe UI"/>
              </a:rPr>
              <a:t>30–31</a:t>
            </a:r>
          </a:p>
        </p:txBody>
      </p:sp>
      <p:sp>
        <p:nvSpPr>
          <p:cNvPr id="138" name="TextBox 137"/>
          <p:cNvSpPr txBox="1"/>
          <p:nvPr/>
        </p:nvSpPr>
        <p:spPr>
          <a:xfrm>
            <a:off x="822960" y="3532327"/>
            <a:ext cx="2395728" cy="15544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750" b="1" i="0">
                <a:solidFill>
                  <a:srgbClr val="303A5D"/>
                </a:solidFill>
                <a:latin typeface="Segoe UI"/>
              </a:rPr>
              <a:t>Верес · </a:t>
            </a:r>
            <a:r>
              <a:rPr sz="750" b="0" i="0">
                <a:solidFill>
                  <a:srgbClr val="717890"/>
                </a:solidFill>
                <a:latin typeface="Segoe UI"/>
              </a:rPr>
              <a:t>Каша рисова з куркою</a:t>
            </a:r>
          </a:p>
        </p:txBody>
      </p:sp>
      <p:sp>
        <p:nvSpPr>
          <p:cNvPr id="139" name="TextBox 138"/>
          <p:cNvSpPr txBox="1"/>
          <p:nvPr/>
        </p:nvSpPr>
        <p:spPr>
          <a:xfrm>
            <a:off x="3218688" y="3536899"/>
            <a:ext cx="475488" cy="15544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/>
            <a:r>
              <a:rPr sz="700" b="0" i="0">
                <a:solidFill>
                  <a:srgbClr val="717890"/>
                </a:solidFill>
                <a:latin typeface="Segoe UI"/>
              </a:rPr>
              <a:t>350 г</a:t>
            </a:r>
          </a:p>
        </p:txBody>
      </p:sp>
      <p:sp>
        <p:nvSpPr>
          <p:cNvPr id="140" name="Rounded Rectangle 139"/>
          <p:cNvSpPr/>
          <p:nvPr/>
        </p:nvSpPr>
        <p:spPr>
          <a:xfrm>
            <a:off x="4634020" y="3573475"/>
            <a:ext cx="160218" cy="54864"/>
          </a:xfrm>
          <a:prstGeom prst="roundRect">
            <a:avLst>
              <a:gd name="adj" fmla="val 50000"/>
            </a:avLst>
          </a:prstGeom>
          <a:solidFill>
            <a:srgbClr val="37A16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1" name="Rounded Rectangle 140"/>
          <p:cNvSpPr/>
          <p:nvPr/>
        </p:nvSpPr>
        <p:spPr>
          <a:xfrm>
            <a:off x="4581442" y="3548329"/>
            <a:ext cx="105156" cy="105156"/>
          </a:xfrm>
          <a:prstGeom prst="roundRect">
            <a:avLst>
              <a:gd name="adj" fmla="val 50000"/>
            </a:avLst>
          </a:prstGeom>
          <a:solidFill>
            <a:srgbClr val="37A16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2" name="TextBox 141"/>
          <p:cNvSpPr txBox="1"/>
          <p:nvPr/>
        </p:nvSpPr>
        <p:spPr>
          <a:xfrm>
            <a:off x="4858246" y="3523183"/>
            <a:ext cx="731520" cy="16459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700" b="1" i="0">
                <a:solidFill>
                  <a:srgbClr val="37A169"/>
                </a:solidFill>
                <a:latin typeface="Segoe UI"/>
              </a:rPr>
              <a:t>108–134</a:t>
            </a:r>
          </a:p>
        </p:txBody>
      </p:sp>
      <p:sp>
        <p:nvSpPr>
          <p:cNvPr id="143" name="Rounded Rectangle 142"/>
          <p:cNvSpPr/>
          <p:nvPr/>
        </p:nvSpPr>
        <p:spPr>
          <a:xfrm>
            <a:off x="8422517" y="3573475"/>
            <a:ext cx="103677" cy="54864"/>
          </a:xfrm>
          <a:prstGeom prst="roundRect">
            <a:avLst>
              <a:gd name="adj" fmla="val 50000"/>
            </a:avLst>
          </a:prstGeom>
          <a:solidFill>
            <a:srgbClr val="37A16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4" name="Rounded Rectangle 143"/>
          <p:cNvSpPr/>
          <p:nvPr/>
        </p:nvSpPr>
        <p:spPr>
          <a:xfrm>
            <a:off x="8369939" y="3548329"/>
            <a:ext cx="105156" cy="105156"/>
          </a:xfrm>
          <a:prstGeom prst="roundRect">
            <a:avLst>
              <a:gd name="adj" fmla="val 50000"/>
            </a:avLst>
          </a:prstGeom>
          <a:solidFill>
            <a:srgbClr val="37A16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5" name="TextBox 144"/>
          <p:cNvSpPr txBox="1"/>
          <p:nvPr/>
        </p:nvSpPr>
        <p:spPr>
          <a:xfrm>
            <a:off x="8590203" y="3523183"/>
            <a:ext cx="731520" cy="16459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700" b="1" i="0">
                <a:solidFill>
                  <a:srgbClr val="37A169"/>
                </a:solidFill>
                <a:latin typeface="Segoe UI"/>
              </a:rPr>
              <a:t>31–38</a:t>
            </a:r>
          </a:p>
        </p:txBody>
      </p:sp>
      <p:sp>
        <p:nvSpPr>
          <p:cNvPr id="146" name="TextBox 145"/>
          <p:cNvSpPr txBox="1"/>
          <p:nvPr/>
        </p:nvSpPr>
        <p:spPr>
          <a:xfrm>
            <a:off x="822960" y="3647541"/>
            <a:ext cx="2395728" cy="15544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750" b="1" i="0">
                <a:solidFill>
                  <a:srgbClr val="303A5D"/>
                </a:solidFill>
                <a:latin typeface="Segoe UI"/>
              </a:rPr>
              <a:t>Ben's Original · </a:t>
            </a:r>
            <a:r>
              <a:rPr sz="750" b="0" i="0">
                <a:solidFill>
                  <a:srgbClr val="717890"/>
                </a:solidFill>
                <a:latin typeface="Segoe UI"/>
              </a:rPr>
              <a:t>Mexikanisch</a:t>
            </a:r>
          </a:p>
        </p:txBody>
      </p:sp>
      <p:sp>
        <p:nvSpPr>
          <p:cNvPr id="147" name="TextBox 146"/>
          <p:cNvSpPr txBox="1"/>
          <p:nvPr/>
        </p:nvSpPr>
        <p:spPr>
          <a:xfrm>
            <a:off x="3218688" y="3652113"/>
            <a:ext cx="475488" cy="15544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/>
            <a:r>
              <a:rPr sz="700" b="0" i="0">
                <a:solidFill>
                  <a:srgbClr val="717890"/>
                </a:solidFill>
                <a:latin typeface="Segoe UI"/>
              </a:rPr>
              <a:t>220 г</a:t>
            </a:r>
          </a:p>
        </p:txBody>
      </p:sp>
      <p:sp>
        <p:nvSpPr>
          <p:cNvPr id="148" name="Rounded Rectangle 147"/>
          <p:cNvSpPr/>
          <p:nvPr/>
        </p:nvSpPr>
        <p:spPr>
          <a:xfrm>
            <a:off x="4640182" y="3688689"/>
            <a:ext cx="27432" cy="54864"/>
          </a:xfrm>
          <a:prstGeom prst="roundRect">
            <a:avLst>
              <a:gd name="adj" fmla="val 50000"/>
            </a:avLst>
          </a:prstGeom>
          <a:solidFill>
            <a:srgbClr val="F9A5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9" name="Rounded Rectangle 148"/>
          <p:cNvSpPr/>
          <p:nvPr/>
        </p:nvSpPr>
        <p:spPr>
          <a:xfrm>
            <a:off x="4587604" y="3663543"/>
            <a:ext cx="105156" cy="105156"/>
          </a:xfrm>
          <a:prstGeom prst="roundRect">
            <a:avLst>
              <a:gd name="adj" fmla="val 50000"/>
            </a:avLst>
          </a:prstGeom>
          <a:solidFill>
            <a:srgbClr val="F9A5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0" name="TextBox 149"/>
          <p:cNvSpPr txBox="1"/>
          <p:nvPr/>
        </p:nvSpPr>
        <p:spPr>
          <a:xfrm>
            <a:off x="4704190" y="3638397"/>
            <a:ext cx="731520" cy="16459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700" b="1" i="0">
                <a:solidFill>
                  <a:srgbClr val="F9A50B"/>
                </a:solidFill>
                <a:latin typeface="Segoe UI"/>
              </a:rPr>
              <a:t>109</a:t>
            </a:r>
          </a:p>
        </p:txBody>
      </p:sp>
      <p:sp>
        <p:nvSpPr>
          <p:cNvPr id="151" name="Rounded Rectangle 150"/>
          <p:cNvSpPr/>
          <p:nvPr/>
        </p:nvSpPr>
        <p:spPr>
          <a:xfrm>
            <a:off x="8683343" y="3688689"/>
            <a:ext cx="27432" cy="54864"/>
          </a:xfrm>
          <a:prstGeom prst="roundRect">
            <a:avLst>
              <a:gd name="adj" fmla="val 50000"/>
            </a:avLst>
          </a:prstGeom>
          <a:solidFill>
            <a:srgbClr val="F9A5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2" name="Rounded Rectangle 151"/>
          <p:cNvSpPr/>
          <p:nvPr/>
        </p:nvSpPr>
        <p:spPr>
          <a:xfrm>
            <a:off x="8630765" y="3663543"/>
            <a:ext cx="105156" cy="105156"/>
          </a:xfrm>
          <a:prstGeom prst="roundRect">
            <a:avLst>
              <a:gd name="adj" fmla="val 50000"/>
            </a:avLst>
          </a:prstGeom>
          <a:solidFill>
            <a:srgbClr val="F9A5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3" name="TextBox 152"/>
          <p:cNvSpPr txBox="1"/>
          <p:nvPr/>
        </p:nvSpPr>
        <p:spPr>
          <a:xfrm>
            <a:off x="8747351" y="3638397"/>
            <a:ext cx="731520" cy="16459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700" b="1" i="0">
                <a:solidFill>
                  <a:srgbClr val="F9A50B"/>
                </a:solidFill>
                <a:latin typeface="Segoe UI"/>
              </a:rPr>
              <a:t>50</a:t>
            </a:r>
          </a:p>
        </p:txBody>
      </p:sp>
      <p:sp>
        <p:nvSpPr>
          <p:cNvPr id="154" name="TextBox 153"/>
          <p:cNvSpPr txBox="1"/>
          <p:nvPr/>
        </p:nvSpPr>
        <p:spPr>
          <a:xfrm>
            <a:off x="822960" y="3762755"/>
            <a:ext cx="2395728" cy="15544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750" b="1" i="0">
                <a:solidFill>
                  <a:srgbClr val="303A5D"/>
                </a:solidFill>
                <a:latin typeface="Segoe UI"/>
              </a:rPr>
              <a:t>Маркел · </a:t>
            </a:r>
            <a:r>
              <a:rPr sz="750" b="0" i="0">
                <a:solidFill>
                  <a:srgbClr val="717890"/>
                </a:solidFill>
                <a:latin typeface="Segoe UI"/>
              </a:rPr>
              <a:t>Рис із рослинним фаршем</a:t>
            </a:r>
          </a:p>
        </p:txBody>
      </p:sp>
      <p:sp>
        <p:nvSpPr>
          <p:cNvPr id="155" name="TextBox 154"/>
          <p:cNvSpPr txBox="1"/>
          <p:nvPr/>
        </p:nvSpPr>
        <p:spPr>
          <a:xfrm>
            <a:off x="3218688" y="3767327"/>
            <a:ext cx="475488" cy="15544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/>
            <a:r>
              <a:rPr sz="700" b="0" i="0">
                <a:solidFill>
                  <a:srgbClr val="717890"/>
                </a:solidFill>
                <a:latin typeface="Segoe UI"/>
              </a:rPr>
              <a:t>350 г</a:t>
            </a:r>
          </a:p>
        </p:txBody>
      </p:sp>
      <p:sp>
        <p:nvSpPr>
          <p:cNvPr id="156" name="Rounded Rectangle 155"/>
          <p:cNvSpPr/>
          <p:nvPr/>
        </p:nvSpPr>
        <p:spPr>
          <a:xfrm>
            <a:off x="4751103" y="3803903"/>
            <a:ext cx="104758" cy="54864"/>
          </a:xfrm>
          <a:prstGeom prst="roundRect">
            <a:avLst>
              <a:gd name="adj" fmla="val 50000"/>
            </a:avLst>
          </a:prstGeom>
          <a:solidFill>
            <a:srgbClr val="5B6B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7" name="Rounded Rectangle 156"/>
          <p:cNvSpPr/>
          <p:nvPr/>
        </p:nvSpPr>
        <p:spPr>
          <a:xfrm>
            <a:off x="4698525" y="3778757"/>
            <a:ext cx="105156" cy="105156"/>
          </a:xfrm>
          <a:prstGeom prst="roundRect">
            <a:avLst>
              <a:gd name="adj" fmla="val 50000"/>
            </a:avLst>
          </a:prstGeom>
          <a:solidFill>
            <a:srgbClr val="5B6B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8" name="TextBox 157"/>
          <p:cNvSpPr txBox="1"/>
          <p:nvPr/>
        </p:nvSpPr>
        <p:spPr>
          <a:xfrm>
            <a:off x="4919869" y="3753611"/>
            <a:ext cx="731520" cy="16459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700" b="1" i="0">
                <a:solidFill>
                  <a:srgbClr val="5B6B8C"/>
                </a:solidFill>
                <a:latin typeface="Segoe UI"/>
              </a:rPr>
              <a:t>127–144</a:t>
            </a:r>
          </a:p>
        </p:txBody>
      </p:sp>
      <p:sp>
        <p:nvSpPr>
          <p:cNvPr id="159" name="Rounded Rectangle 158"/>
          <p:cNvSpPr/>
          <p:nvPr/>
        </p:nvSpPr>
        <p:spPr>
          <a:xfrm>
            <a:off x="8498282" y="3803903"/>
            <a:ext cx="67789" cy="54864"/>
          </a:xfrm>
          <a:prstGeom prst="roundRect">
            <a:avLst>
              <a:gd name="adj" fmla="val 50000"/>
            </a:avLst>
          </a:prstGeom>
          <a:solidFill>
            <a:srgbClr val="5B6B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0" name="Rounded Rectangle 159"/>
          <p:cNvSpPr/>
          <p:nvPr/>
        </p:nvSpPr>
        <p:spPr>
          <a:xfrm>
            <a:off x="8445704" y="3778757"/>
            <a:ext cx="105156" cy="105156"/>
          </a:xfrm>
          <a:prstGeom prst="roundRect">
            <a:avLst>
              <a:gd name="adj" fmla="val 50000"/>
            </a:avLst>
          </a:prstGeom>
          <a:solidFill>
            <a:srgbClr val="5B6B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1" name="TextBox 160"/>
          <p:cNvSpPr txBox="1"/>
          <p:nvPr/>
        </p:nvSpPr>
        <p:spPr>
          <a:xfrm>
            <a:off x="8630079" y="3753611"/>
            <a:ext cx="731520" cy="16459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700" b="1" i="0">
                <a:solidFill>
                  <a:srgbClr val="5B6B8C"/>
                </a:solidFill>
                <a:latin typeface="Segoe UI"/>
              </a:rPr>
              <a:t>36–41</a:t>
            </a:r>
          </a:p>
        </p:txBody>
      </p:sp>
      <p:sp>
        <p:nvSpPr>
          <p:cNvPr id="162" name="TextBox 161"/>
          <p:cNvSpPr txBox="1"/>
          <p:nvPr/>
        </p:nvSpPr>
        <p:spPr>
          <a:xfrm>
            <a:off x="822960" y="3877970"/>
            <a:ext cx="2395728" cy="15544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750" b="1" i="0">
                <a:solidFill>
                  <a:srgbClr val="303A5D"/>
                </a:solidFill>
                <a:latin typeface="Segoe UI"/>
              </a:rPr>
              <a:t>Ben's Original · </a:t>
            </a:r>
            <a:r>
              <a:rPr sz="750" b="0" i="0">
                <a:solidFill>
                  <a:srgbClr val="717890"/>
                </a:solidFill>
                <a:latin typeface="Segoe UI"/>
              </a:rPr>
              <a:t>Long Grain</a:t>
            </a:r>
          </a:p>
        </p:txBody>
      </p:sp>
      <p:sp>
        <p:nvSpPr>
          <p:cNvPr id="163" name="TextBox 162"/>
          <p:cNvSpPr txBox="1"/>
          <p:nvPr/>
        </p:nvSpPr>
        <p:spPr>
          <a:xfrm>
            <a:off x="3218688" y="3882542"/>
            <a:ext cx="475488" cy="15544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/>
            <a:r>
              <a:rPr sz="700" b="0" i="0">
                <a:solidFill>
                  <a:srgbClr val="717890"/>
                </a:solidFill>
                <a:latin typeface="Segoe UI"/>
              </a:rPr>
              <a:t>220 г</a:t>
            </a:r>
          </a:p>
        </p:txBody>
      </p:sp>
      <p:sp>
        <p:nvSpPr>
          <p:cNvPr id="164" name="Rounded Rectangle 163"/>
          <p:cNvSpPr/>
          <p:nvPr/>
        </p:nvSpPr>
        <p:spPr>
          <a:xfrm>
            <a:off x="4825050" y="3919118"/>
            <a:ext cx="27432" cy="54864"/>
          </a:xfrm>
          <a:prstGeom prst="roundRect">
            <a:avLst>
              <a:gd name="adj" fmla="val 50000"/>
            </a:avLst>
          </a:prstGeom>
          <a:solidFill>
            <a:srgbClr val="F9A5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5" name="Rounded Rectangle 164"/>
          <p:cNvSpPr/>
          <p:nvPr/>
        </p:nvSpPr>
        <p:spPr>
          <a:xfrm>
            <a:off x="4772472" y="3893972"/>
            <a:ext cx="105156" cy="105156"/>
          </a:xfrm>
          <a:prstGeom prst="roundRect">
            <a:avLst>
              <a:gd name="adj" fmla="val 50000"/>
            </a:avLst>
          </a:prstGeom>
          <a:solidFill>
            <a:srgbClr val="F9A5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6" name="TextBox 165"/>
          <p:cNvSpPr txBox="1"/>
          <p:nvPr/>
        </p:nvSpPr>
        <p:spPr>
          <a:xfrm>
            <a:off x="4889058" y="3868826"/>
            <a:ext cx="731520" cy="16459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700" b="1" i="0">
                <a:solidFill>
                  <a:srgbClr val="F9A50B"/>
                </a:solidFill>
                <a:latin typeface="Segoe UI"/>
              </a:rPr>
              <a:t>139</a:t>
            </a:r>
          </a:p>
        </p:txBody>
      </p:sp>
      <p:sp>
        <p:nvSpPr>
          <p:cNvPr id="167" name="Rounded Rectangle 166"/>
          <p:cNvSpPr/>
          <p:nvPr/>
        </p:nvSpPr>
        <p:spPr>
          <a:xfrm>
            <a:off x="8873661" y="3919118"/>
            <a:ext cx="27432" cy="54864"/>
          </a:xfrm>
          <a:prstGeom prst="roundRect">
            <a:avLst>
              <a:gd name="adj" fmla="val 50000"/>
            </a:avLst>
          </a:prstGeom>
          <a:solidFill>
            <a:srgbClr val="F9A5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8" name="Rounded Rectangle 167"/>
          <p:cNvSpPr/>
          <p:nvPr/>
        </p:nvSpPr>
        <p:spPr>
          <a:xfrm>
            <a:off x="8821083" y="3893972"/>
            <a:ext cx="105156" cy="105156"/>
          </a:xfrm>
          <a:prstGeom prst="roundRect">
            <a:avLst>
              <a:gd name="adj" fmla="val 50000"/>
            </a:avLst>
          </a:prstGeom>
          <a:solidFill>
            <a:srgbClr val="F9A5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9" name="TextBox 168"/>
          <p:cNvSpPr txBox="1"/>
          <p:nvPr/>
        </p:nvSpPr>
        <p:spPr>
          <a:xfrm>
            <a:off x="8937669" y="3868826"/>
            <a:ext cx="731520" cy="16459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700" b="1" i="0">
                <a:solidFill>
                  <a:srgbClr val="F9A50B"/>
                </a:solidFill>
                <a:latin typeface="Segoe UI"/>
              </a:rPr>
              <a:t>63</a:t>
            </a:r>
          </a:p>
        </p:txBody>
      </p:sp>
      <p:sp>
        <p:nvSpPr>
          <p:cNvPr id="170" name="TextBox 169"/>
          <p:cNvSpPr txBox="1"/>
          <p:nvPr/>
        </p:nvSpPr>
        <p:spPr>
          <a:xfrm>
            <a:off x="822960" y="3993184"/>
            <a:ext cx="2395728" cy="15544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750" b="1" i="0">
                <a:solidFill>
                  <a:srgbClr val="303A5D"/>
                </a:solidFill>
                <a:latin typeface="Segoe UI"/>
              </a:rPr>
              <a:t>Ben's Original · </a:t>
            </a:r>
            <a:r>
              <a:rPr sz="750" b="0" i="0">
                <a:solidFill>
                  <a:srgbClr val="717890"/>
                </a:solidFill>
                <a:latin typeface="Segoe UI"/>
              </a:rPr>
              <a:t>Curryreis Indien</a:t>
            </a:r>
          </a:p>
        </p:txBody>
      </p:sp>
      <p:sp>
        <p:nvSpPr>
          <p:cNvPr id="171" name="TextBox 170"/>
          <p:cNvSpPr txBox="1"/>
          <p:nvPr/>
        </p:nvSpPr>
        <p:spPr>
          <a:xfrm>
            <a:off x="3218688" y="3997756"/>
            <a:ext cx="475488" cy="15544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/>
            <a:r>
              <a:rPr sz="700" b="0" i="0">
                <a:solidFill>
                  <a:srgbClr val="717890"/>
                </a:solidFill>
                <a:latin typeface="Segoe UI"/>
              </a:rPr>
              <a:t>220 г</a:t>
            </a:r>
          </a:p>
        </p:txBody>
      </p:sp>
      <p:sp>
        <p:nvSpPr>
          <p:cNvPr id="172" name="Rounded Rectangle 171"/>
          <p:cNvSpPr/>
          <p:nvPr/>
        </p:nvSpPr>
        <p:spPr>
          <a:xfrm>
            <a:off x="4855861" y="4034332"/>
            <a:ext cx="27432" cy="54864"/>
          </a:xfrm>
          <a:prstGeom prst="roundRect">
            <a:avLst>
              <a:gd name="adj" fmla="val 50000"/>
            </a:avLst>
          </a:prstGeom>
          <a:solidFill>
            <a:srgbClr val="F9A5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3" name="Rounded Rectangle 172"/>
          <p:cNvSpPr/>
          <p:nvPr/>
        </p:nvSpPr>
        <p:spPr>
          <a:xfrm>
            <a:off x="4803283" y="4009186"/>
            <a:ext cx="105156" cy="105156"/>
          </a:xfrm>
          <a:prstGeom prst="roundRect">
            <a:avLst>
              <a:gd name="adj" fmla="val 50000"/>
            </a:avLst>
          </a:prstGeom>
          <a:solidFill>
            <a:srgbClr val="F9A5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4" name="TextBox 173"/>
          <p:cNvSpPr txBox="1"/>
          <p:nvPr/>
        </p:nvSpPr>
        <p:spPr>
          <a:xfrm>
            <a:off x="4919869" y="3984040"/>
            <a:ext cx="731520" cy="16459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700" b="1" i="0">
                <a:solidFill>
                  <a:srgbClr val="F9A50B"/>
                </a:solidFill>
                <a:latin typeface="Segoe UI"/>
              </a:rPr>
              <a:t>144</a:t>
            </a:r>
          </a:p>
        </p:txBody>
      </p:sp>
      <p:sp>
        <p:nvSpPr>
          <p:cNvPr id="175" name="Rounded Rectangle 174"/>
          <p:cNvSpPr/>
          <p:nvPr/>
        </p:nvSpPr>
        <p:spPr>
          <a:xfrm>
            <a:off x="8905380" y="4034332"/>
            <a:ext cx="27432" cy="54864"/>
          </a:xfrm>
          <a:prstGeom prst="roundRect">
            <a:avLst>
              <a:gd name="adj" fmla="val 50000"/>
            </a:avLst>
          </a:prstGeom>
          <a:solidFill>
            <a:srgbClr val="F9A5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6" name="Rounded Rectangle 175"/>
          <p:cNvSpPr/>
          <p:nvPr/>
        </p:nvSpPr>
        <p:spPr>
          <a:xfrm>
            <a:off x="8852802" y="4009186"/>
            <a:ext cx="105156" cy="105156"/>
          </a:xfrm>
          <a:prstGeom prst="roundRect">
            <a:avLst>
              <a:gd name="adj" fmla="val 50000"/>
            </a:avLst>
          </a:prstGeom>
          <a:solidFill>
            <a:srgbClr val="F9A5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7" name="TextBox 176"/>
          <p:cNvSpPr txBox="1"/>
          <p:nvPr/>
        </p:nvSpPr>
        <p:spPr>
          <a:xfrm>
            <a:off x="8969388" y="3984040"/>
            <a:ext cx="731520" cy="16459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700" b="1" i="0">
                <a:solidFill>
                  <a:srgbClr val="F9A50B"/>
                </a:solidFill>
                <a:latin typeface="Segoe UI"/>
              </a:rPr>
              <a:t>65</a:t>
            </a:r>
          </a:p>
        </p:txBody>
      </p:sp>
      <p:sp>
        <p:nvSpPr>
          <p:cNvPr id="178" name="TextBox 177"/>
          <p:cNvSpPr txBox="1"/>
          <p:nvPr/>
        </p:nvSpPr>
        <p:spPr>
          <a:xfrm>
            <a:off x="822960" y="4108399"/>
            <a:ext cx="2395728" cy="15544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750" b="1" i="0">
                <a:solidFill>
                  <a:srgbClr val="303A5D"/>
                </a:solidFill>
                <a:latin typeface="Segoe UI"/>
              </a:rPr>
              <a:t>Ben's Original · </a:t>
            </a:r>
            <a:r>
              <a:rPr sz="750" b="0" i="0">
                <a:solidFill>
                  <a:srgbClr val="717890"/>
                </a:solidFill>
                <a:latin typeface="Segoe UI"/>
              </a:rPr>
              <a:t>Basmati</a:t>
            </a:r>
          </a:p>
        </p:txBody>
      </p:sp>
      <p:sp>
        <p:nvSpPr>
          <p:cNvPr id="179" name="TextBox 178"/>
          <p:cNvSpPr txBox="1"/>
          <p:nvPr/>
        </p:nvSpPr>
        <p:spPr>
          <a:xfrm>
            <a:off x="3218688" y="4112971"/>
            <a:ext cx="475488" cy="15544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/>
            <a:r>
              <a:rPr sz="700" b="0" i="0">
                <a:solidFill>
                  <a:srgbClr val="717890"/>
                </a:solidFill>
                <a:latin typeface="Segoe UI"/>
              </a:rPr>
              <a:t>220 г</a:t>
            </a:r>
          </a:p>
        </p:txBody>
      </p:sp>
      <p:sp>
        <p:nvSpPr>
          <p:cNvPr id="180" name="Rounded Rectangle 179"/>
          <p:cNvSpPr/>
          <p:nvPr/>
        </p:nvSpPr>
        <p:spPr>
          <a:xfrm>
            <a:off x="4855861" y="4149547"/>
            <a:ext cx="27432" cy="54864"/>
          </a:xfrm>
          <a:prstGeom prst="roundRect">
            <a:avLst>
              <a:gd name="adj" fmla="val 50000"/>
            </a:avLst>
          </a:prstGeom>
          <a:solidFill>
            <a:srgbClr val="F9A5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1" name="Rounded Rectangle 180"/>
          <p:cNvSpPr/>
          <p:nvPr/>
        </p:nvSpPr>
        <p:spPr>
          <a:xfrm>
            <a:off x="4803283" y="4124401"/>
            <a:ext cx="105156" cy="105156"/>
          </a:xfrm>
          <a:prstGeom prst="roundRect">
            <a:avLst>
              <a:gd name="adj" fmla="val 50000"/>
            </a:avLst>
          </a:prstGeom>
          <a:solidFill>
            <a:srgbClr val="F9A5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2" name="TextBox 181"/>
          <p:cNvSpPr txBox="1"/>
          <p:nvPr/>
        </p:nvSpPr>
        <p:spPr>
          <a:xfrm>
            <a:off x="4919869" y="4099255"/>
            <a:ext cx="731520" cy="16459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700" b="1" i="0">
                <a:solidFill>
                  <a:srgbClr val="F9A50B"/>
                </a:solidFill>
                <a:latin typeface="Segoe UI"/>
              </a:rPr>
              <a:t>144</a:t>
            </a:r>
          </a:p>
        </p:txBody>
      </p:sp>
      <p:sp>
        <p:nvSpPr>
          <p:cNvPr id="183" name="Rounded Rectangle 182"/>
          <p:cNvSpPr/>
          <p:nvPr/>
        </p:nvSpPr>
        <p:spPr>
          <a:xfrm>
            <a:off x="8905380" y="4149547"/>
            <a:ext cx="27432" cy="54864"/>
          </a:xfrm>
          <a:prstGeom prst="roundRect">
            <a:avLst>
              <a:gd name="adj" fmla="val 50000"/>
            </a:avLst>
          </a:prstGeom>
          <a:solidFill>
            <a:srgbClr val="F9A5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4" name="Rounded Rectangle 183"/>
          <p:cNvSpPr/>
          <p:nvPr/>
        </p:nvSpPr>
        <p:spPr>
          <a:xfrm>
            <a:off x="8852802" y="4124401"/>
            <a:ext cx="105156" cy="105156"/>
          </a:xfrm>
          <a:prstGeom prst="roundRect">
            <a:avLst>
              <a:gd name="adj" fmla="val 50000"/>
            </a:avLst>
          </a:prstGeom>
          <a:solidFill>
            <a:srgbClr val="F9A5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5" name="TextBox 184"/>
          <p:cNvSpPr txBox="1"/>
          <p:nvPr/>
        </p:nvSpPr>
        <p:spPr>
          <a:xfrm>
            <a:off x="8969388" y="4099255"/>
            <a:ext cx="731520" cy="16459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700" b="1" i="0">
                <a:solidFill>
                  <a:srgbClr val="F9A50B"/>
                </a:solidFill>
                <a:latin typeface="Segoe UI"/>
              </a:rPr>
              <a:t>65</a:t>
            </a:r>
          </a:p>
        </p:txBody>
      </p:sp>
      <p:sp>
        <p:nvSpPr>
          <p:cNvPr id="186" name="TextBox 185"/>
          <p:cNvSpPr txBox="1"/>
          <p:nvPr/>
        </p:nvSpPr>
        <p:spPr>
          <a:xfrm>
            <a:off x="822960" y="4223613"/>
            <a:ext cx="2395728" cy="15544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750" b="1" i="0">
                <a:solidFill>
                  <a:srgbClr val="303A5D"/>
                </a:solidFill>
                <a:latin typeface="Segoe UI"/>
              </a:rPr>
              <a:t>Ben's Original · </a:t>
            </a:r>
            <a:r>
              <a:rPr sz="750" b="0" i="0">
                <a:solidFill>
                  <a:srgbClr val="717890"/>
                </a:solidFill>
                <a:latin typeface="Segoe UI"/>
              </a:rPr>
              <a:t>Sweet Chili</a:t>
            </a:r>
          </a:p>
        </p:txBody>
      </p:sp>
      <p:sp>
        <p:nvSpPr>
          <p:cNvPr id="187" name="TextBox 186"/>
          <p:cNvSpPr txBox="1"/>
          <p:nvPr/>
        </p:nvSpPr>
        <p:spPr>
          <a:xfrm>
            <a:off x="3218688" y="4228185"/>
            <a:ext cx="475488" cy="15544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/>
            <a:r>
              <a:rPr sz="700" b="0" i="0">
                <a:solidFill>
                  <a:srgbClr val="717890"/>
                </a:solidFill>
                <a:latin typeface="Segoe UI"/>
              </a:rPr>
              <a:t>220 г</a:t>
            </a:r>
          </a:p>
        </p:txBody>
      </p:sp>
      <p:sp>
        <p:nvSpPr>
          <p:cNvPr id="188" name="Rounded Rectangle 187"/>
          <p:cNvSpPr/>
          <p:nvPr/>
        </p:nvSpPr>
        <p:spPr>
          <a:xfrm>
            <a:off x="5071540" y="4264761"/>
            <a:ext cx="27432" cy="54864"/>
          </a:xfrm>
          <a:prstGeom prst="roundRect">
            <a:avLst>
              <a:gd name="adj" fmla="val 50000"/>
            </a:avLst>
          </a:prstGeom>
          <a:solidFill>
            <a:srgbClr val="F9A5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9" name="Rounded Rectangle 188"/>
          <p:cNvSpPr/>
          <p:nvPr/>
        </p:nvSpPr>
        <p:spPr>
          <a:xfrm>
            <a:off x="5018962" y="4239615"/>
            <a:ext cx="105156" cy="105156"/>
          </a:xfrm>
          <a:prstGeom prst="roundRect">
            <a:avLst>
              <a:gd name="adj" fmla="val 50000"/>
            </a:avLst>
          </a:prstGeom>
          <a:solidFill>
            <a:srgbClr val="F9A5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0" name="TextBox 189"/>
          <p:cNvSpPr txBox="1"/>
          <p:nvPr/>
        </p:nvSpPr>
        <p:spPr>
          <a:xfrm>
            <a:off x="5135548" y="4214469"/>
            <a:ext cx="731520" cy="16459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700" b="1" i="0">
                <a:solidFill>
                  <a:srgbClr val="F9A50B"/>
                </a:solidFill>
                <a:latin typeface="Segoe UI"/>
              </a:rPr>
              <a:t>179</a:t>
            </a:r>
          </a:p>
        </p:txBody>
      </p:sp>
      <p:sp>
        <p:nvSpPr>
          <p:cNvPr id="191" name="Rounded Rectangle 190"/>
          <p:cNvSpPr/>
          <p:nvPr/>
        </p:nvSpPr>
        <p:spPr>
          <a:xfrm>
            <a:off x="9127418" y="4264761"/>
            <a:ext cx="27432" cy="54864"/>
          </a:xfrm>
          <a:prstGeom prst="roundRect">
            <a:avLst>
              <a:gd name="adj" fmla="val 50000"/>
            </a:avLst>
          </a:prstGeom>
          <a:solidFill>
            <a:srgbClr val="F9A5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2" name="Rounded Rectangle 191"/>
          <p:cNvSpPr/>
          <p:nvPr/>
        </p:nvSpPr>
        <p:spPr>
          <a:xfrm>
            <a:off x="9074840" y="4239615"/>
            <a:ext cx="105156" cy="105156"/>
          </a:xfrm>
          <a:prstGeom prst="roundRect">
            <a:avLst>
              <a:gd name="adj" fmla="val 50000"/>
            </a:avLst>
          </a:prstGeom>
          <a:solidFill>
            <a:srgbClr val="F9A5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3" name="TextBox 192"/>
          <p:cNvSpPr txBox="1"/>
          <p:nvPr/>
        </p:nvSpPr>
        <p:spPr>
          <a:xfrm>
            <a:off x="9191426" y="4214469"/>
            <a:ext cx="731520" cy="16459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700" b="1" i="0">
                <a:solidFill>
                  <a:srgbClr val="F9A50B"/>
                </a:solidFill>
                <a:latin typeface="Segoe UI"/>
              </a:rPr>
              <a:t>81</a:t>
            </a:r>
          </a:p>
        </p:txBody>
      </p:sp>
      <p:sp>
        <p:nvSpPr>
          <p:cNvPr id="194" name="TextBox 193"/>
          <p:cNvSpPr txBox="1"/>
          <p:nvPr/>
        </p:nvSpPr>
        <p:spPr>
          <a:xfrm>
            <a:off x="822960" y="4338828"/>
            <a:ext cx="2395728" cy="15544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750" b="1" i="0">
                <a:solidFill>
                  <a:srgbClr val="303A5D"/>
                </a:solidFill>
                <a:latin typeface="Segoe UI"/>
              </a:rPr>
              <a:t>Bibigo · </a:t>
            </a:r>
            <a:r>
              <a:rPr sz="750" b="0" i="0">
                <a:solidFill>
                  <a:srgbClr val="717890"/>
                </a:solidFill>
                <a:latin typeface="Segoe UI"/>
              </a:rPr>
              <a:t>Білий рис</a:t>
            </a:r>
          </a:p>
        </p:txBody>
      </p:sp>
      <p:sp>
        <p:nvSpPr>
          <p:cNvPr id="195" name="TextBox 194"/>
          <p:cNvSpPr txBox="1"/>
          <p:nvPr/>
        </p:nvSpPr>
        <p:spPr>
          <a:xfrm>
            <a:off x="3218688" y="4343400"/>
            <a:ext cx="475488" cy="15544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/>
            <a:r>
              <a:rPr sz="700" b="0" i="0">
                <a:solidFill>
                  <a:srgbClr val="717890"/>
                </a:solidFill>
                <a:latin typeface="Segoe UI"/>
              </a:rPr>
              <a:t>210 г</a:t>
            </a:r>
          </a:p>
        </p:txBody>
      </p:sp>
      <p:sp>
        <p:nvSpPr>
          <p:cNvPr id="196" name="Rounded Rectangle 195"/>
          <p:cNvSpPr/>
          <p:nvPr/>
        </p:nvSpPr>
        <p:spPr>
          <a:xfrm>
            <a:off x="5133163" y="4379976"/>
            <a:ext cx="27432" cy="54864"/>
          </a:xfrm>
          <a:prstGeom prst="roundRect">
            <a:avLst>
              <a:gd name="adj" fmla="val 50000"/>
            </a:avLst>
          </a:prstGeom>
          <a:solidFill>
            <a:srgbClr val="37A16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7" name="Rounded Rectangle 196"/>
          <p:cNvSpPr/>
          <p:nvPr/>
        </p:nvSpPr>
        <p:spPr>
          <a:xfrm>
            <a:off x="5080585" y="4354830"/>
            <a:ext cx="105156" cy="105156"/>
          </a:xfrm>
          <a:prstGeom prst="roundRect">
            <a:avLst>
              <a:gd name="adj" fmla="val 50000"/>
            </a:avLst>
          </a:prstGeom>
          <a:solidFill>
            <a:srgbClr val="37A16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8" name="TextBox 197"/>
          <p:cNvSpPr txBox="1"/>
          <p:nvPr/>
        </p:nvSpPr>
        <p:spPr>
          <a:xfrm>
            <a:off x="5197171" y="4329684"/>
            <a:ext cx="731520" cy="16459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700" b="1" i="0">
                <a:solidFill>
                  <a:srgbClr val="37A169"/>
                </a:solidFill>
                <a:latin typeface="Segoe UI"/>
              </a:rPr>
              <a:t>189</a:t>
            </a:r>
          </a:p>
        </p:txBody>
      </p:sp>
      <p:sp>
        <p:nvSpPr>
          <p:cNvPr id="199" name="Rounded Rectangle 198"/>
          <p:cNvSpPr/>
          <p:nvPr/>
        </p:nvSpPr>
        <p:spPr>
          <a:xfrm>
            <a:off x="9247952" y="4379976"/>
            <a:ext cx="27432" cy="54864"/>
          </a:xfrm>
          <a:prstGeom prst="roundRect">
            <a:avLst>
              <a:gd name="adj" fmla="val 50000"/>
            </a:avLst>
          </a:prstGeom>
          <a:solidFill>
            <a:srgbClr val="37A16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0" name="Rounded Rectangle 199"/>
          <p:cNvSpPr/>
          <p:nvPr/>
        </p:nvSpPr>
        <p:spPr>
          <a:xfrm>
            <a:off x="9195374" y="4354830"/>
            <a:ext cx="105156" cy="105156"/>
          </a:xfrm>
          <a:prstGeom prst="roundRect">
            <a:avLst>
              <a:gd name="adj" fmla="val 50000"/>
            </a:avLst>
          </a:prstGeom>
          <a:solidFill>
            <a:srgbClr val="37A16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1" name="TextBox 200"/>
          <p:cNvSpPr txBox="1"/>
          <p:nvPr/>
        </p:nvSpPr>
        <p:spPr>
          <a:xfrm>
            <a:off x="9311960" y="4329684"/>
            <a:ext cx="731520" cy="16459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700" b="1" i="0">
                <a:solidFill>
                  <a:srgbClr val="37A169"/>
                </a:solidFill>
                <a:latin typeface="Segoe UI"/>
              </a:rPr>
              <a:t>90</a:t>
            </a:r>
          </a:p>
        </p:txBody>
      </p:sp>
      <p:sp>
        <p:nvSpPr>
          <p:cNvPr id="202" name="TextBox 201"/>
          <p:cNvSpPr txBox="1"/>
          <p:nvPr/>
        </p:nvSpPr>
        <p:spPr>
          <a:xfrm>
            <a:off x="822960" y="4454042"/>
            <a:ext cx="2395728" cy="15544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750" b="1" i="0">
                <a:solidFill>
                  <a:srgbClr val="303A5D"/>
                </a:solidFill>
                <a:latin typeface="Segoe UI"/>
              </a:rPr>
              <a:t>Ходорівський · </a:t>
            </a:r>
            <a:r>
              <a:rPr sz="750" b="0" i="0">
                <a:solidFill>
                  <a:srgbClr val="717890"/>
                </a:solidFill>
                <a:latin typeface="Segoe UI"/>
              </a:rPr>
              <a:t>Свинина, горошок, кукурудза</a:t>
            </a:r>
          </a:p>
        </p:txBody>
      </p:sp>
      <p:sp>
        <p:nvSpPr>
          <p:cNvPr id="203" name="TextBox 202"/>
          <p:cNvSpPr txBox="1"/>
          <p:nvPr/>
        </p:nvSpPr>
        <p:spPr>
          <a:xfrm>
            <a:off x="3218688" y="4458614"/>
            <a:ext cx="475488" cy="15544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/>
            <a:r>
              <a:rPr sz="700" b="0" i="0">
                <a:solidFill>
                  <a:srgbClr val="717890"/>
                </a:solidFill>
                <a:latin typeface="Segoe UI"/>
              </a:rPr>
              <a:t>350 г</a:t>
            </a:r>
          </a:p>
        </p:txBody>
      </p:sp>
      <p:sp>
        <p:nvSpPr>
          <p:cNvPr id="204" name="Rounded Rectangle 203"/>
          <p:cNvSpPr/>
          <p:nvPr/>
        </p:nvSpPr>
        <p:spPr>
          <a:xfrm>
            <a:off x="5194785" y="4495190"/>
            <a:ext cx="27432" cy="54864"/>
          </a:xfrm>
          <a:prstGeom prst="roundRect">
            <a:avLst>
              <a:gd name="adj" fmla="val 50000"/>
            </a:avLst>
          </a:prstGeom>
          <a:solidFill>
            <a:srgbClr val="7B5EA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5" name="Rounded Rectangle 204"/>
          <p:cNvSpPr/>
          <p:nvPr/>
        </p:nvSpPr>
        <p:spPr>
          <a:xfrm>
            <a:off x="5142207" y="4470044"/>
            <a:ext cx="105156" cy="105156"/>
          </a:xfrm>
          <a:prstGeom prst="roundRect">
            <a:avLst>
              <a:gd name="adj" fmla="val 50000"/>
            </a:avLst>
          </a:prstGeom>
          <a:solidFill>
            <a:srgbClr val="7B5EA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6" name="TextBox 205"/>
          <p:cNvSpPr txBox="1"/>
          <p:nvPr/>
        </p:nvSpPr>
        <p:spPr>
          <a:xfrm>
            <a:off x="5258793" y="4444898"/>
            <a:ext cx="731520" cy="16459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700" b="1" i="0">
                <a:solidFill>
                  <a:srgbClr val="7B5EA7"/>
                </a:solidFill>
                <a:latin typeface="Segoe UI"/>
              </a:rPr>
              <a:t>199</a:t>
            </a:r>
          </a:p>
        </p:txBody>
      </p:sp>
      <p:sp>
        <p:nvSpPr>
          <p:cNvPr id="207" name="Rounded Rectangle 206"/>
          <p:cNvSpPr/>
          <p:nvPr/>
        </p:nvSpPr>
        <p:spPr>
          <a:xfrm>
            <a:off x="8785390" y="4495190"/>
            <a:ext cx="27432" cy="54864"/>
          </a:xfrm>
          <a:prstGeom prst="roundRect">
            <a:avLst>
              <a:gd name="adj" fmla="val 50000"/>
            </a:avLst>
          </a:prstGeom>
          <a:solidFill>
            <a:srgbClr val="7B5EA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8" name="Rounded Rectangle 207"/>
          <p:cNvSpPr/>
          <p:nvPr/>
        </p:nvSpPr>
        <p:spPr>
          <a:xfrm>
            <a:off x="8732812" y="4470044"/>
            <a:ext cx="105156" cy="105156"/>
          </a:xfrm>
          <a:prstGeom prst="roundRect">
            <a:avLst>
              <a:gd name="adj" fmla="val 50000"/>
            </a:avLst>
          </a:prstGeom>
          <a:solidFill>
            <a:srgbClr val="7B5EA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9" name="TextBox 208"/>
          <p:cNvSpPr txBox="1"/>
          <p:nvPr/>
        </p:nvSpPr>
        <p:spPr>
          <a:xfrm>
            <a:off x="8849398" y="4444898"/>
            <a:ext cx="731520" cy="16459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700" b="1" i="0">
                <a:solidFill>
                  <a:srgbClr val="7B5EA7"/>
                </a:solidFill>
                <a:latin typeface="Segoe UI"/>
              </a:rPr>
              <a:t>57</a:t>
            </a:r>
          </a:p>
        </p:txBody>
      </p:sp>
      <p:sp>
        <p:nvSpPr>
          <p:cNvPr id="210" name="TextBox 209"/>
          <p:cNvSpPr txBox="1"/>
          <p:nvPr/>
        </p:nvSpPr>
        <p:spPr>
          <a:xfrm>
            <a:off x="822960" y="4569256"/>
            <a:ext cx="2395728" cy="15544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750" b="1" i="0">
                <a:solidFill>
                  <a:srgbClr val="303A5D"/>
                </a:solidFill>
                <a:latin typeface="Segoe UI"/>
              </a:rPr>
              <a:t>Ottogi · </a:t>
            </a:r>
            <a:r>
              <a:rPr sz="750" b="0" i="0">
                <a:solidFill>
                  <a:srgbClr val="717890"/>
                </a:solidFill>
                <a:latin typeface="Segoe UI"/>
              </a:rPr>
              <a:t>Тунець і майонез</a:t>
            </a:r>
          </a:p>
        </p:txBody>
      </p:sp>
      <p:sp>
        <p:nvSpPr>
          <p:cNvPr id="211" name="TextBox 210"/>
          <p:cNvSpPr txBox="1"/>
          <p:nvPr/>
        </p:nvSpPr>
        <p:spPr>
          <a:xfrm>
            <a:off x="3218688" y="4573828"/>
            <a:ext cx="475488" cy="15544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/>
            <a:r>
              <a:rPr sz="700" b="0" i="0">
                <a:solidFill>
                  <a:srgbClr val="717890"/>
                </a:solidFill>
                <a:latin typeface="Segoe UI"/>
              </a:rPr>
              <a:t>247 г</a:t>
            </a:r>
          </a:p>
        </p:txBody>
      </p:sp>
      <p:sp>
        <p:nvSpPr>
          <p:cNvPr id="212" name="Rounded Rectangle 211"/>
          <p:cNvSpPr/>
          <p:nvPr/>
        </p:nvSpPr>
        <p:spPr>
          <a:xfrm>
            <a:off x="5355004" y="4610404"/>
            <a:ext cx="807256" cy="54864"/>
          </a:xfrm>
          <a:prstGeom prst="roundRect">
            <a:avLst>
              <a:gd name="adj" fmla="val 50000"/>
            </a:avLst>
          </a:prstGeom>
          <a:solidFill>
            <a:srgbClr val="7B5EA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3" name="Rounded Rectangle 212"/>
          <p:cNvSpPr/>
          <p:nvPr/>
        </p:nvSpPr>
        <p:spPr>
          <a:xfrm>
            <a:off x="5302426" y="4585258"/>
            <a:ext cx="105156" cy="105156"/>
          </a:xfrm>
          <a:prstGeom prst="roundRect">
            <a:avLst>
              <a:gd name="adj" fmla="val 50000"/>
            </a:avLst>
          </a:prstGeom>
          <a:solidFill>
            <a:srgbClr val="7B5EA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4" name="TextBox 213"/>
          <p:cNvSpPr txBox="1"/>
          <p:nvPr/>
        </p:nvSpPr>
        <p:spPr>
          <a:xfrm>
            <a:off x="6226268" y="4560112"/>
            <a:ext cx="731520" cy="16459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700" b="1" i="0">
                <a:solidFill>
                  <a:srgbClr val="7B5EA7"/>
                </a:solidFill>
                <a:latin typeface="Segoe UI"/>
              </a:rPr>
              <a:t>225–356</a:t>
            </a:r>
          </a:p>
        </p:txBody>
      </p:sp>
      <p:sp>
        <p:nvSpPr>
          <p:cNvPr id="215" name="Rounded Rectangle 214"/>
          <p:cNvSpPr/>
          <p:nvPr/>
        </p:nvSpPr>
        <p:spPr>
          <a:xfrm>
            <a:off x="9263209" y="4610404"/>
            <a:ext cx="740210" cy="54864"/>
          </a:xfrm>
          <a:prstGeom prst="roundRect">
            <a:avLst>
              <a:gd name="adj" fmla="val 50000"/>
            </a:avLst>
          </a:prstGeom>
          <a:solidFill>
            <a:srgbClr val="7B5EA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6" name="Rounded Rectangle 215"/>
          <p:cNvSpPr/>
          <p:nvPr/>
        </p:nvSpPr>
        <p:spPr>
          <a:xfrm>
            <a:off x="9210631" y="4585258"/>
            <a:ext cx="105156" cy="105156"/>
          </a:xfrm>
          <a:prstGeom prst="roundRect">
            <a:avLst>
              <a:gd name="adj" fmla="val 50000"/>
            </a:avLst>
          </a:prstGeom>
          <a:solidFill>
            <a:srgbClr val="7B5EA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7" name="TextBox 216"/>
          <p:cNvSpPr txBox="1"/>
          <p:nvPr/>
        </p:nvSpPr>
        <p:spPr>
          <a:xfrm>
            <a:off x="10067427" y="4560112"/>
            <a:ext cx="731520" cy="16459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700" b="1" i="0">
                <a:solidFill>
                  <a:srgbClr val="7B5EA7"/>
                </a:solidFill>
                <a:latin typeface="Segoe UI"/>
              </a:rPr>
              <a:t>91–144</a:t>
            </a:r>
          </a:p>
        </p:txBody>
      </p:sp>
      <p:sp>
        <p:nvSpPr>
          <p:cNvPr id="218" name="TextBox 217"/>
          <p:cNvSpPr txBox="1"/>
          <p:nvPr/>
        </p:nvSpPr>
        <p:spPr>
          <a:xfrm>
            <a:off x="822960" y="4684471"/>
            <a:ext cx="2395728" cy="15544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750" b="1" i="0">
                <a:solidFill>
                  <a:srgbClr val="303A5D"/>
                </a:solidFill>
                <a:latin typeface="Segoe UI"/>
              </a:rPr>
              <a:t>Ottogi · </a:t>
            </a:r>
            <a:r>
              <a:rPr sz="750" b="0" i="0">
                <a:solidFill>
                  <a:srgbClr val="717890"/>
                </a:solidFill>
                <a:latin typeface="Segoe UI"/>
              </a:rPr>
              <a:t>Бульгогі</a:t>
            </a:r>
          </a:p>
        </p:txBody>
      </p:sp>
      <p:sp>
        <p:nvSpPr>
          <p:cNvPr id="219" name="TextBox 218"/>
          <p:cNvSpPr txBox="1"/>
          <p:nvPr/>
        </p:nvSpPr>
        <p:spPr>
          <a:xfrm>
            <a:off x="3218688" y="4689043"/>
            <a:ext cx="475488" cy="15544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/>
            <a:r>
              <a:rPr sz="700" b="0" i="0">
                <a:solidFill>
                  <a:srgbClr val="717890"/>
                </a:solidFill>
                <a:latin typeface="Segoe UI"/>
              </a:rPr>
              <a:t>320 г</a:t>
            </a:r>
          </a:p>
        </p:txBody>
      </p:sp>
      <p:sp>
        <p:nvSpPr>
          <p:cNvPr id="220" name="Rounded Rectangle 219"/>
          <p:cNvSpPr/>
          <p:nvPr/>
        </p:nvSpPr>
        <p:spPr>
          <a:xfrm>
            <a:off x="5521385" y="4725619"/>
            <a:ext cx="27432" cy="54864"/>
          </a:xfrm>
          <a:prstGeom prst="roundRect">
            <a:avLst>
              <a:gd name="adj" fmla="val 50000"/>
            </a:avLst>
          </a:prstGeom>
          <a:solidFill>
            <a:srgbClr val="7B5EA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1" name="Rounded Rectangle 220"/>
          <p:cNvSpPr/>
          <p:nvPr/>
        </p:nvSpPr>
        <p:spPr>
          <a:xfrm>
            <a:off x="5468807" y="4700473"/>
            <a:ext cx="105156" cy="105156"/>
          </a:xfrm>
          <a:prstGeom prst="roundRect">
            <a:avLst>
              <a:gd name="adj" fmla="val 50000"/>
            </a:avLst>
          </a:prstGeom>
          <a:solidFill>
            <a:srgbClr val="7B5EA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2" name="TextBox 221"/>
          <p:cNvSpPr txBox="1"/>
          <p:nvPr/>
        </p:nvSpPr>
        <p:spPr>
          <a:xfrm>
            <a:off x="5585393" y="4675327"/>
            <a:ext cx="731520" cy="16459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700" b="1" i="0">
                <a:solidFill>
                  <a:srgbClr val="7B5EA7"/>
                </a:solidFill>
                <a:latin typeface="Segoe UI"/>
              </a:rPr>
              <a:t>252</a:t>
            </a:r>
          </a:p>
        </p:txBody>
      </p:sp>
      <p:sp>
        <p:nvSpPr>
          <p:cNvPr id="223" name="Rounded Rectangle 222"/>
          <p:cNvSpPr/>
          <p:nvPr/>
        </p:nvSpPr>
        <p:spPr>
          <a:xfrm>
            <a:off x="9090940" y="4725619"/>
            <a:ext cx="27432" cy="54864"/>
          </a:xfrm>
          <a:prstGeom prst="roundRect">
            <a:avLst>
              <a:gd name="adj" fmla="val 50000"/>
            </a:avLst>
          </a:prstGeom>
          <a:solidFill>
            <a:srgbClr val="7B5EA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4" name="Rounded Rectangle 223"/>
          <p:cNvSpPr/>
          <p:nvPr/>
        </p:nvSpPr>
        <p:spPr>
          <a:xfrm>
            <a:off x="9038362" y="4700473"/>
            <a:ext cx="105156" cy="105156"/>
          </a:xfrm>
          <a:prstGeom prst="roundRect">
            <a:avLst>
              <a:gd name="adj" fmla="val 50000"/>
            </a:avLst>
          </a:prstGeom>
          <a:solidFill>
            <a:srgbClr val="7B5EA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5" name="TextBox 224"/>
          <p:cNvSpPr txBox="1"/>
          <p:nvPr/>
        </p:nvSpPr>
        <p:spPr>
          <a:xfrm>
            <a:off x="9154948" y="4675327"/>
            <a:ext cx="731520" cy="16459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700" b="1" i="0">
                <a:solidFill>
                  <a:srgbClr val="7B5EA7"/>
                </a:solidFill>
                <a:latin typeface="Segoe UI"/>
              </a:rPr>
              <a:t>79</a:t>
            </a:r>
          </a:p>
        </p:txBody>
      </p:sp>
      <p:sp>
        <p:nvSpPr>
          <p:cNvPr id="226" name="TextBox 225"/>
          <p:cNvSpPr txBox="1"/>
          <p:nvPr/>
        </p:nvSpPr>
        <p:spPr>
          <a:xfrm>
            <a:off x="822960" y="4799685"/>
            <a:ext cx="2395728" cy="15544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750" b="1" i="0">
                <a:solidFill>
                  <a:srgbClr val="303A5D"/>
                </a:solidFill>
                <a:latin typeface="Segoe UI"/>
              </a:rPr>
              <a:t>Ottogi · </a:t>
            </a:r>
            <a:r>
              <a:rPr sz="750" b="0" i="0">
                <a:solidFill>
                  <a:srgbClr val="717890"/>
                </a:solidFill>
                <a:latin typeface="Segoe UI"/>
              </a:rPr>
              <a:t>Свинина</a:t>
            </a:r>
          </a:p>
        </p:txBody>
      </p:sp>
      <p:sp>
        <p:nvSpPr>
          <p:cNvPr id="227" name="TextBox 226"/>
          <p:cNvSpPr txBox="1"/>
          <p:nvPr/>
        </p:nvSpPr>
        <p:spPr>
          <a:xfrm>
            <a:off x="3218688" y="4804257"/>
            <a:ext cx="475488" cy="15544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/>
            <a:r>
              <a:rPr sz="700" b="0" i="0">
                <a:solidFill>
                  <a:srgbClr val="717890"/>
                </a:solidFill>
                <a:latin typeface="Segoe UI"/>
              </a:rPr>
              <a:t>310 г</a:t>
            </a:r>
          </a:p>
        </p:txBody>
      </p:sp>
      <p:sp>
        <p:nvSpPr>
          <p:cNvPr id="228" name="Rounded Rectangle 227"/>
          <p:cNvSpPr/>
          <p:nvPr/>
        </p:nvSpPr>
        <p:spPr>
          <a:xfrm>
            <a:off x="5521385" y="4840833"/>
            <a:ext cx="27432" cy="54864"/>
          </a:xfrm>
          <a:prstGeom prst="roundRect">
            <a:avLst>
              <a:gd name="adj" fmla="val 50000"/>
            </a:avLst>
          </a:prstGeom>
          <a:solidFill>
            <a:srgbClr val="7B5EA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9" name="Rounded Rectangle 228"/>
          <p:cNvSpPr/>
          <p:nvPr/>
        </p:nvSpPr>
        <p:spPr>
          <a:xfrm>
            <a:off x="5468807" y="4815687"/>
            <a:ext cx="105156" cy="105156"/>
          </a:xfrm>
          <a:prstGeom prst="roundRect">
            <a:avLst>
              <a:gd name="adj" fmla="val 50000"/>
            </a:avLst>
          </a:prstGeom>
          <a:solidFill>
            <a:srgbClr val="7B5EA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0" name="TextBox 229"/>
          <p:cNvSpPr txBox="1"/>
          <p:nvPr/>
        </p:nvSpPr>
        <p:spPr>
          <a:xfrm>
            <a:off x="5585393" y="4790541"/>
            <a:ext cx="731520" cy="16459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700" b="1" i="0">
                <a:solidFill>
                  <a:srgbClr val="7B5EA7"/>
                </a:solidFill>
                <a:latin typeface="Segoe UI"/>
              </a:rPr>
              <a:t>252</a:t>
            </a:r>
          </a:p>
        </p:txBody>
      </p:sp>
      <p:sp>
        <p:nvSpPr>
          <p:cNvPr id="231" name="Rounded Rectangle 230"/>
          <p:cNvSpPr/>
          <p:nvPr/>
        </p:nvSpPr>
        <p:spPr>
          <a:xfrm>
            <a:off x="9126395" y="4840833"/>
            <a:ext cx="27432" cy="54864"/>
          </a:xfrm>
          <a:prstGeom prst="roundRect">
            <a:avLst>
              <a:gd name="adj" fmla="val 50000"/>
            </a:avLst>
          </a:prstGeom>
          <a:solidFill>
            <a:srgbClr val="7B5EA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2" name="Rounded Rectangle 231"/>
          <p:cNvSpPr/>
          <p:nvPr/>
        </p:nvSpPr>
        <p:spPr>
          <a:xfrm>
            <a:off x="9073817" y="4815687"/>
            <a:ext cx="105156" cy="105156"/>
          </a:xfrm>
          <a:prstGeom prst="roundRect">
            <a:avLst>
              <a:gd name="adj" fmla="val 50000"/>
            </a:avLst>
          </a:prstGeom>
          <a:solidFill>
            <a:srgbClr val="7B5EA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3" name="TextBox 232"/>
          <p:cNvSpPr txBox="1"/>
          <p:nvPr/>
        </p:nvSpPr>
        <p:spPr>
          <a:xfrm>
            <a:off x="9190403" y="4790541"/>
            <a:ext cx="731520" cy="16459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700" b="1" i="0">
                <a:solidFill>
                  <a:srgbClr val="7B5EA7"/>
                </a:solidFill>
                <a:latin typeface="Segoe UI"/>
              </a:rPr>
              <a:t>81</a:t>
            </a:r>
          </a:p>
        </p:txBody>
      </p:sp>
      <p:sp>
        <p:nvSpPr>
          <p:cNvPr id="234" name="TextBox 233"/>
          <p:cNvSpPr txBox="1"/>
          <p:nvPr/>
        </p:nvSpPr>
        <p:spPr>
          <a:xfrm>
            <a:off x="822960" y="4914900"/>
            <a:ext cx="2395728" cy="15544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750" b="1" i="0">
                <a:solidFill>
                  <a:srgbClr val="303A5D"/>
                </a:solidFill>
                <a:latin typeface="Segoe UI"/>
              </a:rPr>
              <a:t>Ottogi · </a:t>
            </a:r>
            <a:r>
              <a:rPr sz="750" b="0" i="0">
                <a:solidFill>
                  <a:srgbClr val="717890"/>
                </a:solidFill>
                <a:latin typeface="Segoe UI"/>
              </a:rPr>
              <a:t>Пібімпаб</a:t>
            </a:r>
          </a:p>
        </p:txBody>
      </p:sp>
      <p:sp>
        <p:nvSpPr>
          <p:cNvPr id="235" name="TextBox 234"/>
          <p:cNvSpPr txBox="1"/>
          <p:nvPr/>
        </p:nvSpPr>
        <p:spPr>
          <a:xfrm>
            <a:off x="3218688" y="4919472"/>
            <a:ext cx="475488" cy="15544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/>
            <a:r>
              <a:rPr sz="700" b="0" i="0">
                <a:solidFill>
                  <a:srgbClr val="717890"/>
                </a:solidFill>
                <a:latin typeface="Segoe UI"/>
              </a:rPr>
              <a:t>269 г</a:t>
            </a:r>
          </a:p>
        </p:txBody>
      </p:sp>
      <p:sp>
        <p:nvSpPr>
          <p:cNvPr id="236" name="Rounded Rectangle 235"/>
          <p:cNvSpPr/>
          <p:nvPr/>
        </p:nvSpPr>
        <p:spPr>
          <a:xfrm>
            <a:off x="5521385" y="4956048"/>
            <a:ext cx="505305" cy="54864"/>
          </a:xfrm>
          <a:prstGeom prst="roundRect">
            <a:avLst>
              <a:gd name="adj" fmla="val 50000"/>
            </a:avLst>
          </a:prstGeom>
          <a:solidFill>
            <a:srgbClr val="7B5EA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7" name="Rounded Rectangle 236"/>
          <p:cNvSpPr/>
          <p:nvPr/>
        </p:nvSpPr>
        <p:spPr>
          <a:xfrm>
            <a:off x="5468807" y="4930902"/>
            <a:ext cx="105156" cy="105156"/>
          </a:xfrm>
          <a:prstGeom prst="roundRect">
            <a:avLst>
              <a:gd name="adj" fmla="val 50000"/>
            </a:avLst>
          </a:prstGeom>
          <a:solidFill>
            <a:srgbClr val="7B5EA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8" name="TextBox 237"/>
          <p:cNvSpPr txBox="1"/>
          <p:nvPr/>
        </p:nvSpPr>
        <p:spPr>
          <a:xfrm>
            <a:off x="6090699" y="4905756"/>
            <a:ext cx="731520" cy="16459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700" b="1" i="0">
                <a:solidFill>
                  <a:srgbClr val="7B5EA7"/>
                </a:solidFill>
                <a:latin typeface="Segoe UI"/>
              </a:rPr>
              <a:t>252–334</a:t>
            </a:r>
          </a:p>
        </p:txBody>
      </p:sp>
      <p:sp>
        <p:nvSpPr>
          <p:cNvPr id="239" name="Rounded Rectangle 238"/>
          <p:cNvSpPr/>
          <p:nvPr/>
        </p:nvSpPr>
        <p:spPr>
          <a:xfrm>
            <a:off x="9299317" y="4956048"/>
            <a:ext cx="425443" cy="54864"/>
          </a:xfrm>
          <a:prstGeom prst="roundRect">
            <a:avLst>
              <a:gd name="adj" fmla="val 50000"/>
            </a:avLst>
          </a:prstGeom>
          <a:solidFill>
            <a:srgbClr val="7B5EA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0" name="Rounded Rectangle 239"/>
          <p:cNvSpPr/>
          <p:nvPr/>
        </p:nvSpPr>
        <p:spPr>
          <a:xfrm>
            <a:off x="9246739" y="4930902"/>
            <a:ext cx="105156" cy="105156"/>
          </a:xfrm>
          <a:prstGeom prst="roundRect">
            <a:avLst>
              <a:gd name="adj" fmla="val 50000"/>
            </a:avLst>
          </a:prstGeom>
          <a:solidFill>
            <a:srgbClr val="7B5EA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1" name="TextBox 240"/>
          <p:cNvSpPr txBox="1"/>
          <p:nvPr/>
        </p:nvSpPr>
        <p:spPr>
          <a:xfrm>
            <a:off x="9788769" y="4905756"/>
            <a:ext cx="731520" cy="16459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700" b="1" i="0">
                <a:solidFill>
                  <a:srgbClr val="7B5EA7"/>
                </a:solidFill>
                <a:latin typeface="Segoe UI"/>
              </a:rPr>
              <a:t>94–124</a:t>
            </a:r>
          </a:p>
        </p:txBody>
      </p:sp>
      <p:sp>
        <p:nvSpPr>
          <p:cNvPr id="242" name="TextBox 241"/>
          <p:cNvSpPr txBox="1"/>
          <p:nvPr/>
        </p:nvSpPr>
        <p:spPr>
          <a:xfrm>
            <a:off x="822960" y="5030114"/>
            <a:ext cx="2395728" cy="15544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750" b="1" i="0">
                <a:solidFill>
                  <a:srgbClr val="303A5D"/>
                </a:solidFill>
                <a:latin typeface="Segoe UI"/>
              </a:rPr>
              <a:t>Ottogi · </a:t>
            </a:r>
            <a:r>
              <a:rPr sz="750" b="0" i="0">
                <a:solidFill>
                  <a:srgbClr val="717890"/>
                </a:solidFill>
                <a:latin typeface="Segoe UI"/>
              </a:rPr>
              <a:t>Гострі курячі ребра</a:t>
            </a:r>
          </a:p>
        </p:txBody>
      </p:sp>
      <p:sp>
        <p:nvSpPr>
          <p:cNvPr id="243" name="TextBox 242"/>
          <p:cNvSpPr txBox="1"/>
          <p:nvPr/>
        </p:nvSpPr>
        <p:spPr>
          <a:xfrm>
            <a:off x="3218688" y="5034686"/>
            <a:ext cx="475488" cy="15544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/>
            <a:r>
              <a:rPr sz="700" b="0" i="0">
                <a:solidFill>
                  <a:srgbClr val="717890"/>
                </a:solidFill>
                <a:latin typeface="Segoe UI"/>
              </a:rPr>
              <a:t>310 г</a:t>
            </a:r>
          </a:p>
        </p:txBody>
      </p:sp>
      <p:sp>
        <p:nvSpPr>
          <p:cNvPr id="244" name="Rounded Rectangle 243"/>
          <p:cNvSpPr/>
          <p:nvPr/>
        </p:nvSpPr>
        <p:spPr>
          <a:xfrm>
            <a:off x="5570683" y="5071262"/>
            <a:ext cx="178705" cy="54864"/>
          </a:xfrm>
          <a:prstGeom prst="roundRect">
            <a:avLst>
              <a:gd name="adj" fmla="val 50000"/>
            </a:avLst>
          </a:prstGeom>
          <a:solidFill>
            <a:srgbClr val="7B5EA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5" name="Rounded Rectangle 244"/>
          <p:cNvSpPr/>
          <p:nvPr/>
        </p:nvSpPr>
        <p:spPr>
          <a:xfrm>
            <a:off x="5518105" y="5046116"/>
            <a:ext cx="105156" cy="105156"/>
          </a:xfrm>
          <a:prstGeom prst="roundRect">
            <a:avLst>
              <a:gd name="adj" fmla="val 50000"/>
            </a:avLst>
          </a:prstGeom>
          <a:solidFill>
            <a:srgbClr val="7B5EA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6" name="TextBox 245"/>
          <p:cNvSpPr txBox="1"/>
          <p:nvPr/>
        </p:nvSpPr>
        <p:spPr>
          <a:xfrm>
            <a:off x="5813397" y="5020970"/>
            <a:ext cx="731520" cy="16459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700" b="1" i="0">
                <a:solidFill>
                  <a:srgbClr val="7B5EA7"/>
                </a:solidFill>
                <a:latin typeface="Segoe UI"/>
              </a:rPr>
              <a:t>260–289</a:t>
            </a:r>
          </a:p>
        </p:txBody>
      </p:sp>
      <p:sp>
        <p:nvSpPr>
          <p:cNvPr id="247" name="Rounded Rectangle 246"/>
          <p:cNvSpPr/>
          <p:nvPr/>
        </p:nvSpPr>
        <p:spPr>
          <a:xfrm>
            <a:off x="9162412" y="5071262"/>
            <a:ext cx="130562" cy="54864"/>
          </a:xfrm>
          <a:prstGeom prst="roundRect">
            <a:avLst>
              <a:gd name="adj" fmla="val 50000"/>
            </a:avLst>
          </a:prstGeom>
          <a:solidFill>
            <a:srgbClr val="7B5EA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8" name="Rounded Rectangle 247"/>
          <p:cNvSpPr/>
          <p:nvPr/>
        </p:nvSpPr>
        <p:spPr>
          <a:xfrm>
            <a:off x="9109834" y="5046116"/>
            <a:ext cx="105156" cy="105156"/>
          </a:xfrm>
          <a:prstGeom prst="roundRect">
            <a:avLst>
              <a:gd name="adj" fmla="val 50000"/>
            </a:avLst>
          </a:prstGeom>
          <a:solidFill>
            <a:srgbClr val="7B5EA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9" name="TextBox 248"/>
          <p:cNvSpPr txBox="1"/>
          <p:nvPr/>
        </p:nvSpPr>
        <p:spPr>
          <a:xfrm>
            <a:off x="9356982" y="5020970"/>
            <a:ext cx="731520" cy="16459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700" b="1" i="0">
                <a:solidFill>
                  <a:srgbClr val="7B5EA7"/>
                </a:solidFill>
                <a:latin typeface="Segoe UI"/>
              </a:rPr>
              <a:t>84–93</a:t>
            </a:r>
          </a:p>
        </p:txBody>
      </p:sp>
      <p:sp>
        <p:nvSpPr>
          <p:cNvPr id="250" name="TextBox 249"/>
          <p:cNvSpPr txBox="1"/>
          <p:nvPr/>
        </p:nvSpPr>
        <p:spPr>
          <a:xfrm>
            <a:off x="822960" y="5145328"/>
            <a:ext cx="2395728" cy="15544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750" b="1" i="0">
                <a:solidFill>
                  <a:srgbClr val="303A5D"/>
                </a:solidFill>
                <a:latin typeface="Segoe UI"/>
              </a:rPr>
              <a:t>Adventure Menu · </a:t>
            </a:r>
            <a:r>
              <a:rPr sz="750" b="0" i="0">
                <a:solidFill>
                  <a:srgbClr val="717890"/>
                </a:solidFill>
                <a:latin typeface="Segoe UI"/>
              </a:rPr>
              <a:t>Курка в томатному соусі</a:t>
            </a:r>
          </a:p>
        </p:txBody>
      </p:sp>
      <p:sp>
        <p:nvSpPr>
          <p:cNvPr id="251" name="TextBox 250"/>
          <p:cNvSpPr txBox="1"/>
          <p:nvPr/>
        </p:nvSpPr>
        <p:spPr>
          <a:xfrm>
            <a:off x="3218688" y="5149900"/>
            <a:ext cx="475488" cy="15544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/>
            <a:r>
              <a:rPr sz="700" b="0" i="0">
                <a:solidFill>
                  <a:srgbClr val="717890"/>
                </a:solidFill>
                <a:latin typeface="Segoe UI"/>
              </a:rPr>
              <a:t>400 г</a:t>
            </a:r>
          </a:p>
        </p:txBody>
      </p:sp>
      <p:sp>
        <p:nvSpPr>
          <p:cNvPr id="252" name="Rounded Rectangle 251"/>
          <p:cNvSpPr/>
          <p:nvPr/>
        </p:nvSpPr>
        <p:spPr>
          <a:xfrm>
            <a:off x="5909608" y="5186476"/>
            <a:ext cx="258814" cy="54864"/>
          </a:xfrm>
          <a:prstGeom prst="roundRect">
            <a:avLst>
              <a:gd name="adj" fmla="val 50000"/>
            </a:avLst>
          </a:prstGeom>
          <a:solidFill>
            <a:srgbClr val="37A16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3" name="Rounded Rectangle 252"/>
          <p:cNvSpPr/>
          <p:nvPr/>
        </p:nvSpPr>
        <p:spPr>
          <a:xfrm>
            <a:off x="5857030" y="5161330"/>
            <a:ext cx="105156" cy="105156"/>
          </a:xfrm>
          <a:prstGeom prst="roundRect">
            <a:avLst>
              <a:gd name="adj" fmla="val 50000"/>
            </a:avLst>
          </a:prstGeom>
          <a:solidFill>
            <a:srgbClr val="37A16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4" name="TextBox 253"/>
          <p:cNvSpPr txBox="1"/>
          <p:nvPr/>
        </p:nvSpPr>
        <p:spPr>
          <a:xfrm>
            <a:off x="6232431" y="5136184"/>
            <a:ext cx="731520" cy="16459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700" b="1" i="0">
                <a:solidFill>
                  <a:srgbClr val="37A169"/>
                </a:solidFill>
                <a:latin typeface="Segoe UI"/>
              </a:rPr>
              <a:t>315–357</a:t>
            </a:r>
          </a:p>
        </p:txBody>
      </p:sp>
      <p:sp>
        <p:nvSpPr>
          <p:cNvPr id="255" name="Rounded Rectangle 254"/>
          <p:cNvSpPr/>
          <p:nvPr/>
        </p:nvSpPr>
        <p:spPr>
          <a:xfrm>
            <a:off x="9090940" y="5186476"/>
            <a:ext cx="146544" cy="54864"/>
          </a:xfrm>
          <a:prstGeom prst="roundRect">
            <a:avLst>
              <a:gd name="adj" fmla="val 50000"/>
            </a:avLst>
          </a:prstGeom>
          <a:solidFill>
            <a:srgbClr val="37A16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6" name="Rounded Rectangle 255"/>
          <p:cNvSpPr/>
          <p:nvPr/>
        </p:nvSpPr>
        <p:spPr>
          <a:xfrm>
            <a:off x="9038362" y="5161330"/>
            <a:ext cx="105156" cy="105156"/>
          </a:xfrm>
          <a:prstGeom prst="roundRect">
            <a:avLst>
              <a:gd name="adj" fmla="val 50000"/>
            </a:avLst>
          </a:prstGeom>
          <a:solidFill>
            <a:srgbClr val="37A16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7" name="TextBox 256"/>
          <p:cNvSpPr txBox="1"/>
          <p:nvPr/>
        </p:nvSpPr>
        <p:spPr>
          <a:xfrm>
            <a:off x="9301493" y="5136184"/>
            <a:ext cx="731520" cy="16459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700" b="1" i="0">
                <a:solidFill>
                  <a:srgbClr val="37A169"/>
                </a:solidFill>
                <a:latin typeface="Segoe UI"/>
              </a:rPr>
              <a:t>79–89</a:t>
            </a:r>
          </a:p>
        </p:txBody>
      </p:sp>
      <p:sp>
        <p:nvSpPr>
          <p:cNvPr id="258" name="TextBox 257"/>
          <p:cNvSpPr txBox="1"/>
          <p:nvPr/>
        </p:nvSpPr>
        <p:spPr>
          <a:xfrm>
            <a:off x="822960" y="5260543"/>
            <a:ext cx="2395728" cy="15544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750" b="1" i="0">
                <a:solidFill>
                  <a:srgbClr val="303A5D"/>
                </a:solidFill>
                <a:latin typeface="Segoe UI"/>
              </a:rPr>
              <a:t>Ottogi · </a:t>
            </a:r>
            <a:r>
              <a:rPr sz="750" b="0" i="0">
                <a:solidFill>
                  <a:srgbClr val="717890"/>
                </a:solidFill>
                <a:latin typeface="Segoe UI"/>
              </a:rPr>
              <a:t>Гостра свинина</a:t>
            </a:r>
          </a:p>
        </p:txBody>
      </p:sp>
      <p:sp>
        <p:nvSpPr>
          <p:cNvPr id="259" name="TextBox 258"/>
          <p:cNvSpPr txBox="1"/>
          <p:nvPr/>
        </p:nvSpPr>
        <p:spPr>
          <a:xfrm>
            <a:off x="3218688" y="5265115"/>
            <a:ext cx="475488" cy="15544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/>
            <a:r>
              <a:rPr sz="700" b="0" i="0">
                <a:solidFill>
                  <a:srgbClr val="717890"/>
                </a:solidFill>
                <a:latin typeface="Segoe UI"/>
              </a:rPr>
              <a:t>269 г</a:t>
            </a:r>
          </a:p>
        </p:txBody>
      </p:sp>
      <p:sp>
        <p:nvSpPr>
          <p:cNvPr id="260" name="Rounded Rectangle 259"/>
          <p:cNvSpPr/>
          <p:nvPr/>
        </p:nvSpPr>
        <p:spPr>
          <a:xfrm>
            <a:off x="6026691" y="5301691"/>
            <a:ext cx="27432" cy="54864"/>
          </a:xfrm>
          <a:prstGeom prst="roundRect">
            <a:avLst>
              <a:gd name="adj" fmla="val 50000"/>
            </a:avLst>
          </a:prstGeom>
          <a:solidFill>
            <a:srgbClr val="7B5EA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1" name="Rounded Rectangle 260"/>
          <p:cNvSpPr/>
          <p:nvPr/>
        </p:nvSpPr>
        <p:spPr>
          <a:xfrm>
            <a:off x="5974113" y="5276545"/>
            <a:ext cx="105156" cy="105156"/>
          </a:xfrm>
          <a:prstGeom prst="roundRect">
            <a:avLst>
              <a:gd name="adj" fmla="val 50000"/>
            </a:avLst>
          </a:prstGeom>
          <a:solidFill>
            <a:srgbClr val="7B5EA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2" name="TextBox 261"/>
          <p:cNvSpPr txBox="1"/>
          <p:nvPr/>
        </p:nvSpPr>
        <p:spPr>
          <a:xfrm>
            <a:off x="6090699" y="5251399"/>
            <a:ext cx="731520" cy="16459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700" b="1" i="0">
                <a:solidFill>
                  <a:srgbClr val="7B5EA7"/>
                </a:solidFill>
                <a:latin typeface="Segoe UI"/>
              </a:rPr>
              <a:t>334</a:t>
            </a:r>
          </a:p>
        </p:txBody>
      </p:sp>
      <p:sp>
        <p:nvSpPr>
          <p:cNvPr id="263" name="Rounded Rectangle 262"/>
          <p:cNvSpPr/>
          <p:nvPr/>
        </p:nvSpPr>
        <p:spPr>
          <a:xfrm>
            <a:off x="9724761" y="5301691"/>
            <a:ext cx="27432" cy="54864"/>
          </a:xfrm>
          <a:prstGeom prst="roundRect">
            <a:avLst>
              <a:gd name="adj" fmla="val 50000"/>
            </a:avLst>
          </a:prstGeom>
          <a:solidFill>
            <a:srgbClr val="7B5EA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4" name="Rounded Rectangle 263"/>
          <p:cNvSpPr/>
          <p:nvPr/>
        </p:nvSpPr>
        <p:spPr>
          <a:xfrm>
            <a:off x="9672183" y="5276545"/>
            <a:ext cx="105156" cy="105156"/>
          </a:xfrm>
          <a:prstGeom prst="roundRect">
            <a:avLst>
              <a:gd name="adj" fmla="val 50000"/>
            </a:avLst>
          </a:prstGeom>
          <a:solidFill>
            <a:srgbClr val="7B5EA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5" name="TextBox 264"/>
          <p:cNvSpPr txBox="1"/>
          <p:nvPr/>
        </p:nvSpPr>
        <p:spPr>
          <a:xfrm>
            <a:off x="9788769" y="5251399"/>
            <a:ext cx="731520" cy="16459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700" b="1" i="0">
                <a:solidFill>
                  <a:srgbClr val="7B5EA7"/>
                </a:solidFill>
                <a:latin typeface="Segoe UI"/>
              </a:rPr>
              <a:t>124</a:t>
            </a:r>
          </a:p>
        </p:txBody>
      </p:sp>
      <p:sp>
        <p:nvSpPr>
          <p:cNvPr id="266" name="TextBox 265"/>
          <p:cNvSpPr txBox="1"/>
          <p:nvPr/>
        </p:nvSpPr>
        <p:spPr>
          <a:xfrm>
            <a:off x="822960" y="5375757"/>
            <a:ext cx="2395728" cy="15544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750" b="1" i="0">
                <a:solidFill>
                  <a:srgbClr val="303A5D"/>
                </a:solidFill>
                <a:latin typeface="Segoe UI"/>
              </a:rPr>
              <a:t>Adventure Menu · </a:t>
            </a:r>
            <a:r>
              <a:rPr sz="750" b="0" i="0">
                <a:solidFill>
                  <a:srgbClr val="717890"/>
                </a:solidFill>
                <a:latin typeface="Segoe UI"/>
              </a:rPr>
              <a:t>Тефтелі з басматі</a:t>
            </a:r>
          </a:p>
        </p:txBody>
      </p:sp>
      <p:sp>
        <p:nvSpPr>
          <p:cNvPr id="267" name="TextBox 266"/>
          <p:cNvSpPr txBox="1"/>
          <p:nvPr/>
        </p:nvSpPr>
        <p:spPr>
          <a:xfrm>
            <a:off x="3218688" y="5380329"/>
            <a:ext cx="475488" cy="15544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/>
            <a:r>
              <a:rPr sz="700" b="0" i="0">
                <a:solidFill>
                  <a:srgbClr val="717890"/>
                </a:solidFill>
                <a:latin typeface="Segoe UI"/>
              </a:rPr>
              <a:t>400 г</a:t>
            </a:r>
          </a:p>
        </p:txBody>
      </p:sp>
      <p:sp>
        <p:nvSpPr>
          <p:cNvPr id="268" name="Rounded Rectangle 267"/>
          <p:cNvSpPr/>
          <p:nvPr/>
        </p:nvSpPr>
        <p:spPr>
          <a:xfrm>
            <a:off x="6039015" y="5416905"/>
            <a:ext cx="801093" cy="54864"/>
          </a:xfrm>
          <a:prstGeom prst="roundRect">
            <a:avLst>
              <a:gd name="adj" fmla="val 50000"/>
            </a:avLst>
          </a:prstGeom>
          <a:solidFill>
            <a:srgbClr val="37A16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9" name="Rounded Rectangle 268"/>
          <p:cNvSpPr/>
          <p:nvPr/>
        </p:nvSpPr>
        <p:spPr>
          <a:xfrm>
            <a:off x="5986437" y="5391759"/>
            <a:ext cx="105156" cy="105156"/>
          </a:xfrm>
          <a:prstGeom prst="roundRect">
            <a:avLst>
              <a:gd name="adj" fmla="val 50000"/>
            </a:avLst>
          </a:prstGeom>
          <a:solidFill>
            <a:srgbClr val="37A16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0" name="TextBox 269"/>
          <p:cNvSpPr txBox="1"/>
          <p:nvPr/>
        </p:nvSpPr>
        <p:spPr>
          <a:xfrm>
            <a:off x="6904117" y="5366613"/>
            <a:ext cx="731520" cy="16459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700" b="1" i="0">
                <a:solidFill>
                  <a:srgbClr val="37A169"/>
                </a:solidFill>
                <a:latin typeface="Segoe UI"/>
              </a:rPr>
              <a:t>336–466</a:t>
            </a:r>
          </a:p>
        </p:txBody>
      </p:sp>
      <p:sp>
        <p:nvSpPr>
          <p:cNvPr id="271" name="Rounded Rectangle 270"/>
          <p:cNvSpPr/>
          <p:nvPr/>
        </p:nvSpPr>
        <p:spPr>
          <a:xfrm>
            <a:off x="9164213" y="5416905"/>
            <a:ext cx="453590" cy="54864"/>
          </a:xfrm>
          <a:prstGeom prst="roundRect">
            <a:avLst>
              <a:gd name="adj" fmla="val 50000"/>
            </a:avLst>
          </a:prstGeom>
          <a:solidFill>
            <a:srgbClr val="37A16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2" name="Rounded Rectangle 271"/>
          <p:cNvSpPr/>
          <p:nvPr/>
        </p:nvSpPr>
        <p:spPr>
          <a:xfrm>
            <a:off x="9111635" y="5391759"/>
            <a:ext cx="105156" cy="105156"/>
          </a:xfrm>
          <a:prstGeom prst="roundRect">
            <a:avLst>
              <a:gd name="adj" fmla="val 50000"/>
            </a:avLst>
          </a:prstGeom>
          <a:solidFill>
            <a:srgbClr val="37A16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3" name="TextBox 272"/>
          <p:cNvSpPr txBox="1"/>
          <p:nvPr/>
        </p:nvSpPr>
        <p:spPr>
          <a:xfrm>
            <a:off x="9681811" y="5366613"/>
            <a:ext cx="731520" cy="16459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700" b="1" i="0">
                <a:solidFill>
                  <a:srgbClr val="37A169"/>
                </a:solidFill>
                <a:latin typeface="Segoe UI"/>
              </a:rPr>
              <a:t>84–116</a:t>
            </a:r>
          </a:p>
        </p:txBody>
      </p:sp>
      <p:sp>
        <p:nvSpPr>
          <p:cNvPr id="274" name="TextBox 273"/>
          <p:cNvSpPr txBox="1"/>
          <p:nvPr/>
        </p:nvSpPr>
        <p:spPr>
          <a:xfrm>
            <a:off x="822960" y="5490972"/>
            <a:ext cx="2395728" cy="15544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750" b="1" i="0">
                <a:solidFill>
                  <a:srgbClr val="303A5D"/>
                </a:solidFill>
                <a:latin typeface="Segoe UI"/>
              </a:rPr>
              <a:t>Ottogi · </a:t>
            </a:r>
            <a:r>
              <a:rPr sz="750" b="0" i="0">
                <a:solidFill>
                  <a:srgbClr val="717890"/>
                </a:solidFill>
                <a:latin typeface="Segoe UI"/>
              </a:rPr>
              <a:t>Гостра яловичина</a:t>
            </a:r>
          </a:p>
        </p:txBody>
      </p:sp>
      <p:sp>
        <p:nvSpPr>
          <p:cNvPr id="275" name="TextBox 274"/>
          <p:cNvSpPr txBox="1"/>
          <p:nvPr/>
        </p:nvSpPr>
        <p:spPr>
          <a:xfrm>
            <a:off x="3218688" y="5495544"/>
            <a:ext cx="475488" cy="15544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/>
            <a:r>
              <a:rPr sz="700" b="0" i="0">
                <a:solidFill>
                  <a:srgbClr val="717890"/>
                </a:solidFill>
                <a:latin typeface="Segoe UI"/>
              </a:rPr>
              <a:t>320 г</a:t>
            </a:r>
          </a:p>
        </p:txBody>
      </p:sp>
      <p:sp>
        <p:nvSpPr>
          <p:cNvPr id="276" name="Rounded Rectangle 275"/>
          <p:cNvSpPr/>
          <p:nvPr/>
        </p:nvSpPr>
        <p:spPr>
          <a:xfrm>
            <a:off x="6162260" y="5532120"/>
            <a:ext cx="27432" cy="54864"/>
          </a:xfrm>
          <a:prstGeom prst="roundRect">
            <a:avLst>
              <a:gd name="adj" fmla="val 50000"/>
            </a:avLst>
          </a:prstGeom>
          <a:solidFill>
            <a:srgbClr val="7B5EA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7" name="Rounded Rectangle 276"/>
          <p:cNvSpPr/>
          <p:nvPr/>
        </p:nvSpPr>
        <p:spPr>
          <a:xfrm>
            <a:off x="6109682" y="5506974"/>
            <a:ext cx="105156" cy="105156"/>
          </a:xfrm>
          <a:prstGeom prst="roundRect">
            <a:avLst>
              <a:gd name="adj" fmla="val 50000"/>
            </a:avLst>
          </a:prstGeom>
          <a:solidFill>
            <a:srgbClr val="7B5EA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8" name="TextBox 277"/>
          <p:cNvSpPr txBox="1"/>
          <p:nvPr/>
        </p:nvSpPr>
        <p:spPr>
          <a:xfrm>
            <a:off x="6226268" y="5481828"/>
            <a:ext cx="731520" cy="16459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700" b="1" i="0">
                <a:solidFill>
                  <a:srgbClr val="7B5EA7"/>
                </a:solidFill>
                <a:latin typeface="Segoe UI"/>
              </a:rPr>
              <a:t>356</a:t>
            </a:r>
          </a:p>
        </p:txBody>
      </p:sp>
      <p:sp>
        <p:nvSpPr>
          <p:cNvPr id="279" name="Rounded Rectangle 278"/>
          <p:cNvSpPr/>
          <p:nvPr/>
        </p:nvSpPr>
        <p:spPr>
          <a:xfrm>
            <a:off x="9544531" y="5532120"/>
            <a:ext cx="27432" cy="54864"/>
          </a:xfrm>
          <a:prstGeom prst="roundRect">
            <a:avLst>
              <a:gd name="adj" fmla="val 50000"/>
            </a:avLst>
          </a:prstGeom>
          <a:solidFill>
            <a:srgbClr val="7B5EA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0" name="Rounded Rectangle 279"/>
          <p:cNvSpPr/>
          <p:nvPr/>
        </p:nvSpPr>
        <p:spPr>
          <a:xfrm>
            <a:off x="9491953" y="5506974"/>
            <a:ext cx="105156" cy="105156"/>
          </a:xfrm>
          <a:prstGeom prst="roundRect">
            <a:avLst>
              <a:gd name="adj" fmla="val 50000"/>
            </a:avLst>
          </a:prstGeom>
          <a:solidFill>
            <a:srgbClr val="7B5EA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1" name="TextBox 280"/>
          <p:cNvSpPr txBox="1"/>
          <p:nvPr/>
        </p:nvSpPr>
        <p:spPr>
          <a:xfrm>
            <a:off x="9608539" y="5481828"/>
            <a:ext cx="731520" cy="16459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700" b="1" i="0">
                <a:solidFill>
                  <a:srgbClr val="7B5EA7"/>
                </a:solidFill>
                <a:latin typeface="Segoe UI"/>
              </a:rPr>
              <a:t>111</a:t>
            </a:r>
          </a:p>
        </p:txBody>
      </p:sp>
      <p:sp>
        <p:nvSpPr>
          <p:cNvPr id="282" name="TextBox 281"/>
          <p:cNvSpPr txBox="1"/>
          <p:nvPr/>
        </p:nvSpPr>
        <p:spPr>
          <a:xfrm>
            <a:off x="822960" y="5606186"/>
            <a:ext cx="2395728" cy="15544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750" b="1" i="0">
                <a:solidFill>
                  <a:srgbClr val="303A5D"/>
                </a:solidFill>
                <a:latin typeface="Segoe UI"/>
              </a:rPr>
              <a:t>Adventure Menu · </a:t>
            </a:r>
            <a:r>
              <a:rPr sz="750" b="0" i="0">
                <a:solidFill>
                  <a:srgbClr val="717890"/>
                </a:solidFill>
                <a:latin typeface="Segoe UI"/>
              </a:rPr>
              <a:t>Chicken Korma з рисом</a:t>
            </a:r>
          </a:p>
        </p:txBody>
      </p:sp>
      <p:sp>
        <p:nvSpPr>
          <p:cNvPr id="283" name="TextBox 282"/>
          <p:cNvSpPr txBox="1"/>
          <p:nvPr/>
        </p:nvSpPr>
        <p:spPr>
          <a:xfrm>
            <a:off x="3218688" y="5610758"/>
            <a:ext cx="475488" cy="15544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/>
            <a:r>
              <a:rPr sz="700" b="0" i="0">
                <a:solidFill>
                  <a:srgbClr val="717890"/>
                </a:solidFill>
                <a:latin typeface="Segoe UI"/>
              </a:rPr>
              <a:t>400 г</a:t>
            </a:r>
          </a:p>
        </p:txBody>
      </p:sp>
      <p:sp>
        <p:nvSpPr>
          <p:cNvPr id="284" name="Rounded Rectangle 283"/>
          <p:cNvSpPr/>
          <p:nvPr/>
        </p:nvSpPr>
        <p:spPr>
          <a:xfrm>
            <a:off x="6285506" y="5647334"/>
            <a:ext cx="172543" cy="54864"/>
          </a:xfrm>
          <a:prstGeom prst="roundRect">
            <a:avLst>
              <a:gd name="adj" fmla="val 50000"/>
            </a:avLst>
          </a:prstGeom>
          <a:solidFill>
            <a:srgbClr val="37A16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5" name="Rounded Rectangle 284"/>
          <p:cNvSpPr/>
          <p:nvPr/>
        </p:nvSpPr>
        <p:spPr>
          <a:xfrm>
            <a:off x="6232928" y="5622188"/>
            <a:ext cx="105156" cy="105156"/>
          </a:xfrm>
          <a:prstGeom prst="roundRect">
            <a:avLst>
              <a:gd name="adj" fmla="val 50000"/>
            </a:avLst>
          </a:prstGeom>
          <a:solidFill>
            <a:srgbClr val="37A16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6" name="TextBox 285"/>
          <p:cNvSpPr txBox="1"/>
          <p:nvPr/>
        </p:nvSpPr>
        <p:spPr>
          <a:xfrm>
            <a:off x="6522057" y="5597042"/>
            <a:ext cx="731520" cy="16459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700" b="1" i="0">
                <a:solidFill>
                  <a:srgbClr val="37A169"/>
                </a:solidFill>
                <a:latin typeface="Segoe UI"/>
              </a:rPr>
              <a:t>376–404</a:t>
            </a:r>
          </a:p>
        </p:txBody>
      </p:sp>
      <p:sp>
        <p:nvSpPr>
          <p:cNvPr id="287" name="Rounded Rectangle 286"/>
          <p:cNvSpPr/>
          <p:nvPr/>
        </p:nvSpPr>
        <p:spPr>
          <a:xfrm>
            <a:off x="9303779" y="5647334"/>
            <a:ext cx="97696" cy="54864"/>
          </a:xfrm>
          <a:prstGeom prst="roundRect">
            <a:avLst>
              <a:gd name="adj" fmla="val 50000"/>
            </a:avLst>
          </a:prstGeom>
          <a:solidFill>
            <a:srgbClr val="37A16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8" name="Rounded Rectangle 287"/>
          <p:cNvSpPr/>
          <p:nvPr/>
        </p:nvSpPr>
        <p:spPr>
          <a:xfrm>
            <a:off x="9251201" y="5622188"/>
            <a:ext cx="105156" cy="105156"/>
          </a:xfrm>
          <a:prstGeom prst="roundRect">
            <a:avLst>
              <a:gd name="adj" fmla="val 50000"/>
            </a:avLst>
          </a:prstGeom>
          <a:solidFill>
            <a:srgbClr val="37A16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9" name="TextBox 288"/>
          <p:cNvSpPr txBox="1"/>
          <p:nvPr/>
        </p:nvSpPr>
        <p:spPr>
          <a:xfrm>
            <a:off x="9465483" y="5597042"/>
            <a:ext cx="731520" cy="16459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700" b="1" i="0">
                <a:solidFill>
                  <a:srgbClr val="37A169"/>
                </a:solidFill>
                <a:latin typeface="Segoe UI"/>
              </a:rPr>
              <a:t>94–101</a:t>
            </a:r>
          </a:p>
        </p:txBody>
      </p:sp>
      <p:sp>
        <p:nvSpPr>
          <p:cNvPr id="290" name="TextBox 289"/>
          <p:cNvSpPr txBox="1"/>
          <p:nvPr/>
        </p:nvSpPr>
        <p:spPr>
          <a:xfrm>
            <a:off x="822960" y="5721400"/>
            <a:ext cx="2395728" cy="15544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750" b="1" i="0">
                <a:solidFill>
                  <a:srgbClr val="303A5D"/>
                </a:solidFill>
                <a:latin typeface="Segoe UI"/>
              </a:rPr>
              <a:t>Clearspring · </a:t>
            </a:r>
            <a:r>
              <a:rPr sz="750" b="0" i="0">
                <a:solidFill>
                  <a:srgbClr val="717890"/>
                </a:solidFill>
                <a:latin typeface="Segoe UI"/>
              </a:rPr>
              <a:t>Brown &amp; Wild Rice, тамарі</a:t>
            </a:r>
          </a:p>
        </p:txBody>
      </p:sp>
      <p:sp>
        <p:nvSpPr>
          <p:cNvPr id="291" name="TextBox 290"/>
          <p:cNvSpPr txBox="1"/>
          <p:nvPr/>
        </p:nvSpPr>
        <p:spPr>
          <a:xfrm>
            <a:off x="3218688" y="5725972"/>
            <a:ext cx="475488" cy="15544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/>
            <a:r>
              <a:rPr sz="700" b="0" i="0">
                <a:solidFill>
                  <a:srgbClr val="717890"/>
                </a:solidFill>
                <a:latin typeface="Segoe UI"/>
              </a:rPr>
              <a:t>250 г</a:t>
            </a:r>
          </a:p>
        </p:txBody>
      </p:sp>
      <p:sp>
        <p:nvSpPr>
          <p:cNvPr id="292" name="Rounded Rectangle 291"/>
          <p:cNvSpPr/>
          <p:nvPr/>
        </p:nvSpPr>
        <p:spPr>
          <a:xfrm>
            <a:off x="6716864" y="5762548"/>
            <a:ext cx="27432" cy="54864"/>
          </a:xfrm>
          <a:prstGeom prst="roundRect">
            <a:avLst>
              <a:gd name="adj" fmla="val 50000"/>
            </a:avLst>
          </a:prstGeom>
          <a:solidFill>
            <a:srgbClr val="1E9E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3" name="Rounded Rectangle 292"/>
          <p:cNvSpPr/>
          <p:nvPr/>
        </p:nvSpPr>
        <p:spPr>
          <a:xfrm>
            <a:off x="6664286" y="5737402"/>
            <a:ext cx="105156" cy="105156"/>
          </a:xfrm>
          <a:prstGeom prst="roundRect">
            <a:avLst>
              <a:gd name="adj" fmla="val 50000"/>
            </a:avLst>
          </a:prstGeom>
          <a:solidFill>
            <a:srgbClr val="1E9E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4" name="TextBox 293"/>
          <p:cNvSpPr txBox="1"/>
          <p:nvPr/>
        </p:nvSpPr>
        <p:spPr>
          <a:xfrm>
            <a:off x="6780872" y="5712256"/>
            <a:ext cx="731520" cy="16459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700" b="1" i="0">
                <a:solidFill>
                  <a:srgbClr val="1E9EA6"/>
                </a:solidFill>
                <a:latin typeface="Segoe UI"/>
              </a:rPr>
              <a:t>446</a:t>
            </a:r>
          </a:p>
        </p:txBody>
      </p:sp>
      <p:sp>
        <p:nvSpPr>
          <p:cNvPr id="295" name="Rounded Rectangle 294"/>
          <p:cNvSpPr/>
          <p:nvPr/>
        </p:nvSpPr>
        <p:spPr>
          <a:xfrm>
            <a:off x="10481719" y="5762548"/>
            <a:ext cx="27432" cy="54864"/>
          </a:xfrm>
          <a:prstGeom prst="roundRect">
            <a:avLst>
              <a:gd name="adj" fmla="val 50000"/>
            </a:avLst>
          </a:prstGeom>
          <a:solidFill>
            <a:srgbClr val="1E9E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6" name="Rounded Rectangle 295"/>
          <p:cNvSpPr/>
          <p:nvPr/>
        </p:nvSpPr>
        <p:spPr>
          <a:xfrm>
            <a:off x="10429141" y="5737402"/>
            <a:ext cx="105156" cy="105156"/>
          </a:xfrm>
          <a:prstGeom prst="roundRect">
            <a:avLst>
              <a:gd name="adj" fmla="val 50000"/>
            </a:avLst>
          </a:prstGeom>
          <a:solidFill>
            <a:srgbClr val="1E9E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7" name="TextBox 296"/>
          <p:cNvSpPr txBox="1"/>
          <p:nvPr/>
        </p:nvSpPr>
        <p:spPr>
          <a:xfrm>
            <a:off x="10545727" y="5712256"/>
            <a:ext cx="731520" cy="16459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700" b="1" i="0">
                <a:solidFill>
                  <a:srgbClr val="1E9EA6"/>
                </a:solidFill>
                <a:latin typeface="Segoe UI"/>
              </a:rPr>
              <a:t>178</a:t>
            </a:r>
          </a:p>
        </p:txBody>
      </p:sp>
      <p:sp>
        <p:nvSpPr>
          <p:cNvPr id="298" name="TextBox 297"/>
          <p:cNvSpPr txBox="1"/>
          <p:nvPr/>
        </p:nvSpPr>
        <p:spPr>
          <a:xfrm>
            <a:off x="8145310" y="6071616"/>
            <a:ext cx="1463040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750" b="1" i="0">
                <a:solidFill>
                  <a:srgbClr val="465382"/>
                </a:solidFill>
                <a:latin typeface="Segoe UI"/>
              </a:rPr>
              <a:t>медіана 57 грн</a:t>
            </a:r>
          </a:p>
        </p:txBody>
      </p:sp>
      <p:sp>
        <p:nvSpPr>
          <p:cNvPr id="299" name="TextBox 298"/>
          <p:cNvSpPr txBox="1"/>
          <p:nvPr/>
        </p:nvSpPr>
        <p:spPr>
          <a:xfrm>
            <a:off x="603504" y="6473952"/>
            <a:ext cx="10881360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4000"/>
              </a:lnSpc>
            </a:pPr>
            <a:r>
              <a:rPr sz="800" b="0" i="0">
                <a:solidFill>
                  <a:srgbClr val="717890"/>
                </a:solidFill>
                <a:latin typeface="Segoe UI"/>
              </a:rPr>
              <a:t>Роздрібна ціна за одну упаковку на сайті продавця, 23.09.2026. Де продавців кілька — показано діапазон. Оптові пороги від 3–20 шт у розрахунок не входять.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969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969" cy="1060704"/>
          </a:xfrm>
          <a:prstGeom prst="rect">
            <a:avLst/>
          </a:prstGeom>
          <a:solidFill>
            <a:srgbClr val="303A5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060704"/>
            <a:ext cx="12191969" cy="50292"/>
          </a:xfrm>
          <a:prstGeom prst="rect">
            <a:avLst/>
          </a:prstGeom>
          <a:solidFill>
            <a:srgbClr val="F9A5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5" name="Picture 4" descr="md_logo_whit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03504" y="237744"/>
            <a:ext cx="1389888" cy="603504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2304288" y="310896"/>
            <a:ext cx="676656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950" b="1" i="0">
                <a:solidFill>
                  <a:srgbClr val="FFC95C"/>
                </a:solidFill>
                <a:latin typeface="Segoe UI"/>
              </a:rPr>
              <a:t>ЩО СТОЇТЬ У МЕРЕЖІ ЗАМІСТЬ НАС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2304288" y="548640"/>
            <a:ext cx="804672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900" b="1" i="0">
                <a:solidFill>
                  <a:srgbClr val="FFFFFF"/>
                </a:solidFill>
                <a:latin typeface="Segoe UI"/>
              </a:rPr>
              <a:t>Рис із м'ясом на полиці є — але в бляшанці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948385" y="402336"/>
            <a:ext cx="640080" cy="32918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/>
            <a:r>
              <a:rPr sz="1700" b="1" i="0">
                <a:solidFill>
                  <a:srgbClr val="465382"/>
                </a:solidFill>
                <a:latin typeface="Segoe UI"/>
              </a:rPr>
              <a:t>11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03504" y="1298448"/>
            <a:ext cx="10881360" cy="3108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200" b="0" i="0">
                <a:solidFill>
                  <a:srgbClr val="717890"/>
                </a:solidFill>
                <a:latin typeface="Segoe UI"/>
              </a:rPr>
              <a:t>Мережі не мають жодного пауча з готовим рисом. Натомість мають консерву за 63–160 грн.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03504" y="1719072"/>
            <a:ext cx="1755648" cy="2615184"/>
          </a:xfrm>
          <a:prstGeom prst="roundRect">
            <a:avLst>
              <a:gd name="adj" fmla="val 7000"/>
            </a:avLst>
          </a:prstGeom>
          <a:solidFill>
            <a:srgbClr val="FFFFFF"/>
          </a:solidFill>
          <a:ln w="12700">
            <a:solidFill>
              <a:srgbClr val="E2E8F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ounded Rectangle 10"/>
          <p:cNvSpPr/>
          <p:nvPr/>
        </p:nvSpPr>
        <p:spPr>
          <a:xfrm>
            <a:off x="676656" y="1792224"/>
            <a:ext cx="1609344" cy="1426463"/>
          </a:xfrm>
          <a:prstGeom prst="roundRect">
            <a:avLst>
              <a:gd name="adj" fmla="val 8000"/>
            </a:avLst>
          </a:prstGeom>
          <a:solidFill>
            <a:srgbClr val="F1F4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2" name="Picture 11" descr="ch_hapay_rice.jp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018352" y="1828800"/>
            <a:ext cx="925950" cy="1353311"/>
          </a:xfrm>
          <a:prstGeom prst="rect">
            <a:avLst/>
          </a:prstGeom>
        </p:spPr>
      </p:pic>
      <p:sp>
        <p:nvSpPr>
          <p:cNvPr id="13" name="TextBox 12"/>
          <p:cNvSpPr txBox="1"/>
          <p:nvPr/>
        </p:nvSpPr>
        <p:spPr>
          <a:xfrm>
            <a:off x="722376" y="3255263"/>
            <a:ext cx="1517904" cy="32918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2000"/>
              </a:lnSpc>
            </a:pPr>
            <a:r>
              <a:rPr sz="900" b="1" i="0">
                <a:solidFill>
                  <a:srgbClr val="303A5D"/>
                </a:solidFill>
                <a:latin typeface="Segoe UI"/>
              </a:rPr>
              <a:t>Каша рисова зі свининою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722376" y="3602735"/>
            <a:ext cx="1517904" cy="16459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750" b="1" i="0">
                <a:solidFill>
                  <a:srgbClr val="37A169"/>
                </a:solidFill>
                <a:latin typeface="Segoe UI"/>
              </a:rPr>
              <a:t>HAPAY!  ·  </a:t>
            </a:r>
            <a:r>
              <a:rPr sz="750" b="0" i="0">
                <a:solidFill>
                  <a:srgbClr val="717890"/>
                </a:solidFill>
                <a:latin typeface="Segoe UI"/>
              </a:rPr>
              <a:t>340 г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722376" y="3767327"/>
            <a:ext cx="1517904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150" b="1" i="0">
                <a:solidFill>
                  <a:srgbClr val="37A169"/>
                </a:solidFill>
                <a:latin typeface="Segoe UI"/>
              </a:rPr>
              <a:t>63 грн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722376" y="4014215"/>
            <a:ext cx="1517904" cy="16459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750" b="1" i="0">
                <a:solidFill>
                  <a:srgbClr val="717890"/>
                </a:solidFill>
                <a:latin typeface="Segoe UI"/>
              </a:rPr>
              <a:t>18 грн/100 г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722376" y="4169663"/>
            <a:ext cx="1517904" cy="16459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700" b="0" i="0">
                <a:solidFill>
                  <a:srgbClr val="717890"/>
                </a:solidFill>
                <a:latin typeface="Segoe UI"/>
              </a:rPr>
              <a:t>Ашан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2450592" y="1719072"/>
            <a:ext cx="1755648" cy="2615184"/>
          </a:xfrm>
          <a:prstGeom prst="roundRect">
            <a:avLst>
              <a:gd name="adj" fmla="val 7000"/>
            </a:avLst>
          </a:prstGeom>
          <a:solidFill>
            <a:srgbClr val="FFFFFF"/>
          </a:solidFill>
          <a:ln w="12700">
            <a:solidFill>
              <a:srgbClr val="E2E8F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ounded Rectangle 18"/>
          <p:cNvSpPr/>
          <p:nvPr/>
        </p:nvSpPr>
        <p:spPr>
          <a:xfrm>
            <a:off x="2523744" y="1792224"/>
            <a:ext cx="1609344" cy="1426463"/>
          </a:xfrm>
          <a:prstGeom prst="roundRect">
            <a:avLst>
              <a:gd name="adj" fmla="val 8000"/>
            </a:avLst>
          </a:prstGeom>
          <a:solidFill>
            <a:srgbClr val="F1F4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20" name="Picture 19" descr="ch_lappetit_pork.jp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2847634" y="1828800"/>
            <a:ext cx="961563" cy="1353311"/>
          </a:xfrm>
          <a:prstGeom prst="rect">
            <a:avLst/>
          </a:prstGeom>
        </p:spPr>
      </p:pic>
      <p:sp>
        <p:nvSpPr>
          <p:cNvPr id="21" name="TextBox 20"/>
          <p:cNvSpPr txBox="1"/>
          <p:nvPr/>
        </p:nvSpPr>
        <p:spPr>
          <a:xfrm>
            <a:off x="2569464" y="3255263"/>
            <a:ext cx="1517904" cy="32918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2000"/>
              </a:lnSpc>
            </a:pPr>
            <a:r>
              <a:rPr sz="900" b="1" i="0">
                <a:solidFill>
                  <a:srgbClr val="303A5D"/>
                </a:solidFill>
                <a:latin typeface="Segoe UI"/>
              </a:rPr>
              <a:t>Каша рисова зі свининою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2569464" y="3602735"/>
            <a:ext cx="1517904" cy="16459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750" b="1" i="0">
                <a:solidFill>
                  <a:srgbClr val="F9A50B"/>
                </a:solidFill>
                <a:latin typeface="Segoe UI"/>
              </a:rPr>
              <a:t>L'APPETIT  ·  </a:t>
            </a:r>
            <a:r>
              <a:rPr sz="750" b="0" i="0">
                <a:solidFill>
                  <a:srgbClr val="717890"/>
                </a:solidFill>
                <a:latin typeface="Segoe UI"/>
              </a:rPr>
              <a:t>340 г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2569464" y="3767327"/>
            <a:ext cx="1517904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150" b="1" i="0">
                <a:solidFill>
                  <a:srgbClr val="F9A50B"/>
                </a:solidFill>
                <a:latin typeface="Segoe UI"/>
              </a:rPr>
              <a:t>120 грн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2569464" y="4014215"/>
            <a:ext cx="1517904" cy="16459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750" b="1" i="0">
                <a:solidFill>
                  <a:srgbClr val="717890"/>
                </a:solidFill>
                <a:latin typeface="Segoe UI"/>
              </a:rPr>
              <a:t>35 грн/100 г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2569464" y="4169663"/>
            <a:ext cx="1517904" cy="16459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700" b="0" i="0">
                <a:solidFill>
                  <a:srgbClr val="717890"/>
                </a:solidFill>
                <a:latin typeface="Segoe UI"/>
              </a:rPr>
              <a:t>Ашан</a:t>
            </a:r>
          </a:p>
        </p:txBody>
      </p:sp>
      <p:sp>
        <p:nvSpPr>
          <p:cNvPr id="26" name="Rounded Rectangle 25"/>
          <p:cNvSpPr/>
          <p:nvPr/>
        </p:nvSpPr>
        <p:spPr>
          <a:xfrm>
            <a:off x="4297680" y="1719072"/>
            <a:ext cx="1755648" cy="2615184"/>
          </a:xfrm>
          <a:prstGeom prst="roundRect">
            <a:avLst>
              <a:gd name="adj" fmla="val 7000"/>
            </a:avLst>
          </a:prstGeom>
          <a:solidFill>
            <a:srgbClr val="FFFFFF"/>
          </a:solidFill>
          <a:ln w="12700">
            <a:solidFill>
              <a:srgbClr val="E2E8F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Rounded Rectangle 26"/>
          <p:cNvSpPr/>
          <p:nvPr/>
        </p:nvSpPr>
        <p:spPr>
          <a:xfrm>
            <a:off x="4370832" y="1792224"/>
            <a:ext cx="1609344" cy="1426463"/>
          </a:xfrm>
          <a:prstGeom prst="roundRect">
            <a:avLst>
              <a:gd name="adj" fmla="val 8000"/>
            </a:avLst>
          </a:prstGeom>
          <a:solidFill>
            <a:srgbClr val="F1F4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28" name="Picture 27" descr="ch_lappetit_beef.jp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4725883" y="1828800"/>
            <a:ext cx="899240" cy="1353311"/>
          </a:xfrm>
          <a:prstGeom prst="rect">
            <a:avLst/>
          </a:prstGeom>
        </p:spPr>
      </p:pic>
      <p:sp>
        <p:nvSpPr>
          <p:cNvPr id="29" name="TextBox 28"/>
          <p:cNvSpPr txBox="1"/>
          <p:nvPr/>
        </p:nvSpPr>
        <p:spPr>
          <a:xfrm>
            <a:off x="4416552" y="3255263"/>
            <a:ext cx="1517904" cy="32918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2000"/>
              </a:lnSpc>
            </a:pPr>
            <a:r>
              <a:rPr sz="900" b="1" i="0">
                <a:solidFill>
                  <a:srgbClr val="303A5D"/>
                </a:solidFill>
                <a:latin typeface="Segoe UI"/>
              </a:rPr>
              <a:t>Каша рисова з яловичиною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4416552" y="3602735"/>
            <a:ext cx="1517904" cy="16459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750" b="1" i="0">
                <a:solidFill>
                  <a:srgbClr val="F9A50B"/>
                </a:solidFill>
                <a:latin typeface="Segoe UI"/>
              </a:rPr>
              <a:t>L'APPETIT  ·  </a:t>
            </a:r>
            <a:r>
              <a:rPr sz="750" b="0" i="0">
                <a:solidFill>
                  <a:srgbClr val="717890"/>
                </a:solidFill>
                <a:latin typeface="Segoe UI"/>
              </a:rPr>
              <a:t>340 г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4416552" y="3767327"/>
            <a:ext cx="1517904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150" b="1" i="0">
                <a:solidFill>
                  <a:srgbClr val="F9A50B"/>
                </a:solidFill>
                <a:latin typeface="Segoe UI"/>
              </a:rPr>
              <a:t>126 грн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4416552" y="4014215"/>
            <a:ext cx="1517904" cy="16459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750" b="1" i="0">
                <a:solidFill>
                  <a:srgbClr val="717890"/>
                </a:solidFill>
                <a:latin typeface="Segoe UI"/>
              </a:rPr>
              <a:t>37 грн/100 г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4416552" y="4169663"/>
            <a:ext cx="1517904" cy="16459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700" b="0" i="0">
                <a:solidFill>
                  <a:srgbClr val="717890"/>
                </a:solidFill>
                <a:latin typeface="Segoe UI"/>
              </a:rPr>
              <a:t>Ашан</a:t>
            </a:r>
          </a:p>
        </p:txBody>
      </p:sp>
      <p:sp>
        <p:nvSpPr>
          <p:cNvPr id="34" name="Rounded Rectangle 33"/>
          <p:cNvSpPr/>
          <p:nvPr/>
        </p:nvSpPr>
        <p:spPr>
          <a:xfrm>
            <a:off x="6144768" y="1719072"/>
            <a:ext cx="1755648" cy="2615184"/>
          </a:xfrm>
          <a:prstGeom prst="roundRect">
            <a:avLst>
              <a:gd name="adj" fmla="val 7000"/>
            </a:avLst>
          </a:prstGeom>
          <a:solidFill>
            <a:srgbClr val="FFFFFF"/>
          </a:solidFill>
          <a:ln w="12700">
            <a:solidFill>
              <a:srgbClr val="E2E8F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Rounded Rectangle 34"/>
          <p:cNvSpPr/>
          <p:nvPr/>
        </p:nvSpPr>
        <p:spPr>
          <a:xfrm>
            <a:off x="6217920" y="1792224"/>
            <a:ext cx="1609344" cy="1426463"/>
          </a:xfrm>
          <a:prstGeom prst="roundRect">
            <a:avLst>
              <a:gd name="adj" fmla="val 8000"/>
            </a:avLst>
          </a:prstGeom>
          <a:solidFill>
            <a:srgbClr val="F1F4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6" name="Picture 35" descr="ch_hapay_plov.jp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6528455" y="1828800"/>
            <a:ext cx="988273" cy="1353311"/>
          </a:xfrm>
          <a:prstGeom prst="rect">
            <a:avLst/>
          </a:prstGeom>
        </p:spPr>
      </p:pic>
      <p:sp>
        <p:nvSpPr>
          <p:cNvPr id="37" name="TextBox 36"/>
          <p:cNvSpPr txBox="1"/>
          <p:nvPr/>
        </p:nvSpPr>
        <p:spPr>
          <a:xfrm>
            <a:off x="6263640" y="3255263"/>
            <a:ext cx="1517904" cy="32918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2000"/>
              </a:lnSpc>
            </a:pPr>
            <a:r>
              <a:rPr sz="900" b="1" i="0">
                <a:solidFill>
                  <a:srgbClr val="303A5D"/>
                </a:solidFill>
                <a:latin typeface="Segoe UI"/>
              </a:rPr>
              <a:t>Плов з качки та булгуру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6263640" y="3602735"/>
            <a:ext cx="1517904" cy="16459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750" b="1" i="0">
                <a:solidFill>
                  <a:srgbClr val="37A169"/>
                </a:solidFill>
                <a:latin typeface="Segoe UI"/>
              </a:rPr>
              <a:t>HAPAY!  ·  </a:t>
            </a:r>
            <a:r>
              <a:rPr sz="750" b="0" i="0">
                <a:solidFill>
                  <a:srgbClr val="717890"/>
                </a:solidFill>
                <a:latin typeface="Segoe UI"/>
              </a:rPr>
              <a:t>340 г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6263640" y="3767327"/>
            <a:ext cx="1517904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150" b="1" i="0">
                <a:solidFill>
                  <a:srgbClr val="37A169"/>
                </a:solidFill>
                <a:latin typeface="Segoe UI"/>
              </a:rPr>
              <a:t>117 грн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6263640" y="4014215"/>
            <a:ext cx="1517904" cy="16459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750" b="1" i="0">
                <a:solidFill>
                  <a:srgbClr val="717890"/>
                </a:solidFill>
                <a:latin typeface="Segoe UI"/>
              </a:rPr>
              <a:t>34 грн/100 г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6263640" y="4169663"/>
            <a:ext cx="1517904" cy="16459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700" b="0" i="0">
                <a:solidFill>
                  <a:srgbClr val="717890"/>
                </a:solidFill>
                <a:latin typeface="Segoe UI"/>
              </a:rPr>
              <a:t>Ашан</a:t>
            </a:r>
          </a:p>
        </p:txBody>
      </p:sp>
      <p:sp>
        <p:nvSpPr>
          <p:cNvPr id="42" name="Rounded Rectangle 41"/>
          <p:cNvSpPr/>
          <p:nvPr/>
        </p:nvSpPr>
        <p:spPr>
          <a:xfrm>
            <a:off x="7991856" y="1719072"/>
            <a:ext cx="1755648" cy="2615184"/>
          </a:xfrm>
          <a:prstGeom prst="roundRect">
            <a:avLst>
              <a:gd name="adj" fmla="val 7000"/>
            </a:avLst>
          </a:prstGeom>
          <a:solidFill>
            <a:srgbClr val="FFFFFF"/>
          </a:solidFill>
          <a:ln w="12700">
            <a:solidFill>
              <a:srgbClr val="E2E8F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3" name="Rounded Rectangle 42"/>
          <p:cNvSpPr/>
          <p:nvPr/>
        </p:nvSpPr>
        <p:spPr>
          <a:xfrm>
            <a:off x="8065008" y="1792224"/>
            <a:ext cx="1609344" cy="1426463"/>
          </a:xfrm>
          <a:prstGeom prst="roundRect">
            <a:avLst>
              <a:gd name="adj" fmla="val 8000"/>
            </a:avLst>
          </a:prstGeom>
          <a:solidFill>
            <a:srgbClr val="F1F4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44" name="Picture 43" descr="ch_foodfabrika.jpg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8119872" y="2099287"/>
            <a:ext cx="1499616" cy="812336"/>
          </a:xfrm>
          <a:prstGeom prst="rect">
            <a:avLst/>
          </a:prstGeom>
        </p:spPr>
      </p:pic>
      <p:sp>
        <p:nvSpPr>
          <p:cNvPr id="45" name="TextBox 44"/>
          <p:cNvSpPr txBox="1"/>
          <p:nvPr/>
        </p:nvSpPr>
        <p:spPr>
          <a:xfrm>
            <a:off x="8110728" y="3255263"/>
            <a:ext cx="1517904" cy="32918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2000"/>
              </a:lnSpc>
            </a:pPr>
            <a:r>
              <a:rPr sz="900" b="1" i="0">
                <a:solidFill>
                  <a:srgbClr val="303A5D"/>
                </a:solidFill>
                <a:latin typeface="Segoe UI"/>
              </a:rPr>
              <a:t>Плов з куркою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8110728" y="3602735"/>
            <a:ext cx="1517904" cy="16459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750" b="1" i="0">
                <a:solidFill>
                  <a:srgbClr val="7B5EA7"/>
                </a:solidFill>
                <a:latin typeface="Segoe UI"/>
              </a:rPr>
              <a:t>FOOD FABRIKA  ·  </a:t>
            </a:r>
            <a:r>
              <a:rPr sz="750" b="0" i="0">
                <a:solidFill>
                  <a:srgbClr val="717890"/>
                </a:solidFill>
                <a:latin typeface="Segoe UI"/>
              </a:rPr>
              <a:t>250 г</a:t>
            </a:r>
          </a:p>
        </p:txBody>
      </p:sp>
      <p:sp>
        <p:nvSpPr>
          <p:cNvPr id="47" name="TextBox 46"/>
          <p:cNvSpPr txBox="1"/>
          <p:nvPr/>
        </p:nvSpPr>
        <p:spPr>
          <a:xfrm>
            <a:off x="8110728" y="3767327"/>
            <a:ext cx="1517904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150" b="1" i="0">
                <a:solidFill>
                  <a:srgbClr val="7B5EA7"/>
                </a:solidFill>
                <a:latin typeface="Segoe UI"/>
              </a:rPr>
              <a:t>119 грн</a:t>
            </a:r>
          </a:p>
        </p:txBody>
      </p:sp>
      <p:sp>
        <p:nvSpPr>
          <p:cNvPr id="48" name="TextBox 47"/>
          <p:cNvSpPr txBox="1"/>
          <p:nvPr/>
        </p:nvSpPr>
        <p:spPr>
          <a:xfrm>
            <a:off x="8110728" y="4014215"/>
            <a:ext cx="1517904" cy="16459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750" b="1" i="0">
                <a:solidFill>
                  <a:srgbClr val="717890"/>
                </a:solidFill>
                <a:latin typeface="Segoe UI"/>
              </a:rPr>
              <a:t>48 грн/100 г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8110728" y="4169663"/>
            <a:ext cx="1517904" cy="16459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700" b="0" i="0">
                <a:solidFill>
                  <a:srgbClr val="717890"/>
                </a:solidFill>
                <a:latin typeface="Segoe UI"/>
              </a:rPr>
              <a:t>Восторг</a:t>
            </a:r>
          </a:p>
        </p:txBody>
      </p:sp>
      <p:sp>
        <p:nvSpPr>
          <p:cNvPr id="50" name="Rounded Rectangle 49"/>
          <p:cNvSpPr/>
          <p:nvPr/>
        </p:nvSpPr>
        <p:spPr>
          <a:xfrm>
            <a:off x="9838944" y="1719072"/>
            <a:ext cx="1755648" cy="2615184"/>
          </a:xfrm>
          <a:prstGeom prst="roundRect">
            <a:avLst>
              <a:gd name="adj" fmla="val 7000"/>
            </a:avLst>
          </a:prstGeom>
          <a:solidFill>
            <a:srgbClr val="FFFFFF"/>
          </a:solidFill>
          <a:ln w="12700">
            <a:solidFill>
              <a:srgbClr val="E2E8F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1" name="Rounded Rectangle 50"/>
          <p:cNvSpPr/>
          <p:nvPr/>
        </p:nvSpPr>
        <p:spPr>
          <a:xfrm>
            <a:off x="9912096" y="1792224"/>
            <a:ext cx="1609344" cy="1426463"/>
          </a:xfrm>
          <a:prstGeom prst="roundRect">
            <a:avLst>
              <a:gd name="adj" fmla="val 8000"/>
            </a:avLst>
          </a:prstGeom>
          <a:solidFill>
            <a:srgbClr val="F1F4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52" name="Picture 51" descr="ch_myastoria.jpg"/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9966960" y="1951661"/>
            <a:ext cx="1499616" cy="1107588"/>
          </a:xfrm>
          <a:prstGeom prst="rect">
            <a:avLst/>
          </a:prstGeom>
        </p:spPr>
      </p:pic>
      <p:sp>
        <p:nvSpPr>
          <p:cNvPr id="53" name="TextBox 52"/>
          <p:cNvSpPr txBox="1"/>
          <p:nvPr/>
        </p:nvSpPr>
        <p:spPr>
          <a:xfrm>
            <a:off x="9957816" y="3255263"/>
            <a:ext cx="1517904" cy="32918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2000"/>
              </a:lnSpc>
            </a:pPr>
            <a:r>
              <a:rPr sz="900" b="1" i="0">
                <a:solidFill>
                  <a:srgbClr val="303A5D"/>
                </a:solidFill>
                <a:latin typeface="Segoe UI"/>
              </a:rPr>
              <a:t>Плов з куркою та родзинками</a:t>
            </a:r>
          </a:p>
        </p:txBody>
      </p:sp>
      <p:sp>
        <p:nvSpPr>
          <p:cNvPr id="54" name="TextBox 53"/>
          <p:cNvSpPr txBox="1"/>
          <p:nvPr/>
        </p:nvSpPr>
        <p:spPr>
          <a:xfrm>
            <a:off x="9957816" y="3602735"/>
            <a:ext cx="1517904" cy="16459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750" b="1" i="0">
                <a:solidFill>
                  <a:srgbClr val="C94F7C"/>
                </a:solidFill>
                <a:latin typeface="Segoe UI"/>
              </a:rPr>
              <a:t>М'ЯСТОРІЯ  ·  </a:t>
            </a:r>
            <a:r>
              <a:rPr sz="750" b="0" i="0">
                <a:solidFill>
                  <a:srgbClr val="717890"/>
                </a:solidFill>
                <a:latin typeface="Segoe UI"/>
              </a:rPr>
              <a:t>350 г</a:t>
            </a:r>
          </a:p>
        </p:txBody>
      </p:sp>
      <p:sp>
        <p:nvSpPr>
          <p:cNvPr id="55" name="TextBox 54"/>
          <p:cNvSpPr txBox="1"/>
          <p:nvPr/>
        </p:nvSpPr>
        <p:spPr>
          <a:xfrm>
            <a:off x="9957816" y="3767327"/>
            <a:ext cx="1517904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150" b="1" i="0">
                <a:solidFill>
                  <a:srgbClr val="C94F7C"/>
                </a:solidFill>
                <a:latin typeface="Segoe UI"/>
              </a:rPr>
              <a:t>147–160 грн</a:t>
            </a:r>
          </a:p>
        </p:txBody>
      </p:sp>
      <p:sp>
        <p:nvSpPr>
          <p:cNvPr id="56" name="TextBox 55"/>
          <p:cNvSpPr txBox="1"/>
          <p:nvPr/>
        </p:nvSpPr>
        <p:spPr>
          <a:xfrm>
            <a:off x="9957816" y="4014215"/>
            <a:ext cx="1517904" cy="16459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750" b="1" i="0">
                <a:solidFill>
                  <a:srgbClr val="717890"/>
                </a:solidFill>
                <a:latin typeface="Segoe UI"/>
              </a:rPr>
              <a:t>42–46 грн/100 г</a:t>
            </a:r>
          </a:p>
        </p:txBody>
      </p:sp>
      <p:sp>
        <p:nvSpPr>
          <p:cNvPr id="57" name="TextBox 56"/>
          <p:cNvSpPr txBox="1"/>
          <p:nvPr/>
        </p:nvSpPr>
        <p:spPr>
          <a:xfrm>
            <a:off x="9957816" y="4169663"/>
            <a:ext cx="1517904" cy="16459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700" b="0" i="0">
                <a:solidFill>
                  <a:srgbClr val="717890"/>
                </a:solidFill>
                <a:latin typeface="Segoe UI"/>
              </a:rPr>
              <a:t>Novus · МегаМаркет · Космос</a:t>
            </a:r>
          </a:p>
        </p:txBody>
      </p:sp>
      <p:sp>
        <p:nvSpPr>
          <p:cNvPr id="58" name="Rounded Rectangle 57"/>
          <p:cNvSpPr/>
          <p:nvPr/>
        </p:nvSpPr>
        <p:spPr>
          <a:xfrm>
            <a:off x="603504" y="4517136"/>
            <a:ext cx="5358384" cy="1773936"/>
          </a:xfrm>
          <a:prstGeom prst="roundRect">
            <a:avLst>
              <a:gd name="adj" fmla="val 6000"/>
            </a:avLst>
          </a:prstGeom>
          <a:solidFill>
            <a:srgbClr val="303A5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9" name="Rounded Rectangle 58"/>
          <p:cNvSpPr/>
          <p:nvPr/>
        </p:nvSpPr>
        <p:spPr>
          <a:xfrm>
            <a:off x="603504" y="4517136"/>
            <a:ext cx="82296" cy="1773936"/>
          </a:xfrm>
          <a:prstGeom prst="roundRect">
            <a:avLst>
              <a:gd name="adj" fmla="val 50000"/>
            </a:avLst>
          </a:prstGeom>
          <a:solidFill>
            <a:srgbClr val="C94F7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0" name="TextBox 59"/>
          <p:cNvSpPr txBox="1"/>
          <p:nvPr/>
        </p:nvSpPr>
        <p:spPr>
          <a:xfrm>
            <a:off x="914400" y="4681728"/>
            <a:ext cx="4809744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250" b="1" i="0">
                <a:solidFill>
                  <a:srgbClr val="FFC95C"/>
                </a:solidFill>
                <a:latin typeface="Segoe UI"/>
              </a:rPr>
              <a:t>Чому це важливо</a:t>
            </a:r>
          </a:p>
        </p:txBody>
      </p:sp>
      <p:sp>
        <p:nvSpPr>
          <p:cNvPr id="61" name="TextBox 60"/>
          <p:cNvSpPr txBox="1"/>
          <p:nvPr/>
        </p:nvSpPr>
        <p:spPr>
          <a:xfrm>
            <a:off x="914400" y="5010912"/>
            <a:ext cx="4809744" cy="11338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000" b="0" i="0">
                <a:solidFill>
                  <a:srgbClr val="D5DBEA"/>
                </a:solidFill>
                <a:latin typeface="Segoe UI"/>
              </a:rPr>
              <a:t>Це прямий конкурент за той самий привід: гаряча страва з рисом і м'ясом без готування, уже на полиці мережі, з українським виробником.
Бляшанку не можна поставити в мікрохвильовку — у цьому перевага пауча. Але орієнтир ціни задає саме вона, а не Ottogi за 252 грн.</a:t>
            </a:r>
          </a:p>
        </p:txBody>
      </p:sp>
      <p:sp>
        <p:nvSpPr>
          <p:cNvPr id="62" name="Rounded Rectangle 61"/>
          <p:cNvSpPr/>
          <p:nvPr/>
        </p:nvSpPr>
        <p:spPr>
          <a:xfrm>
            <a:off x="6199632" y="4517136"/>
            <a:ext cx="5358384" cy="1773936"/>
          </a:xfrm>
          <a:prstGeom prst="roundRect">
            <a:avLst>
              <a:gd name="adj" fmla="val 6000"/>
            </a:avLst>
          </a:prstGeom>
          <a:solidFill>
            <a:srgbClr val="F1F4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3" name="TextBox 62"/>
          <p:cNvSpPr txBox="1"/>
          <p:nvPr/>
        </p:nvSpPr>
        <p:spPr>
          <a:xfrm>
            <a:off x="6455664" y="4663440"/>
            <a:ext cx="4846320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200" b="1" i="0">
                <a:solidFill>
                  <a:srgbClr val="303A5D"/>
                </a:solidFill>
                <a:latin typeface="Segoe UI"/>
              </a:rPr>
              <a:t>Порівняння за 100 г</a:t>
            </a:r>
          </a:p>
        </p:txBody>
      </p:sp>
      <p:sp>
        <p:nvSpPr>
          <p:cNvPr id="64" name="TextBox 63"/>
          <p:cNvSpPr txBox="1"/>
          <p:nvPr/>
        </p:nvSpPr>
        <p:spPr>
          <a:xfrm>
            <a:off x="6455664" y="4937760"/>
            <a:ext cx="2468880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850" b="0" i="0">
                <a:solidFill>
                  <a:srgbClr val="1C2235"/>
                </a:solidFill>
                <a:latin typeface="Segoe UI"/>
              </a:rPr>
              <a:t>Каша рисова hapay! 340 г · бляшанка</a:t>
            </a:r>
          </a:p>
        </p:txBody>
      </p:sp>
      <p:sp>
        <p:nvSpPr>
          <p:cNvPr id="65" name="Rounded Rectangle 64"/>
          <p:cNvSpPr/>
          <p:nvPr/>
        </p:nvSpPr>
        <p:spPr>
          <a:xfrm>
            <a:off x="9015984" y="4983480"/>
            <a:ext cx="353199" cy="118872"/>
          </a:xfrm>
          <a:prstGeom prst="roundRect">
            <a:avLst>
              <a:gd name="adj" fmla="val 50000"/>
            </a:avLst>
          </a:prstGeom>
          <a:solidFill>
            <a:srgbClr val="37A16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6" name="TextBox 65"/>
          <p:cNvSpPr txBox="1"/>
          <p:nvPr/>
        </p:nvSpPr>
        <p:spPr>
          <a:xfrm>
            <a:off x="9442335" y="4928616"/>
            <a:ext cx="731520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800" b="1" i="0">
                <a:solidFill>
                  <a:srgbClr val="37A169"/>
                </a:solidFill>
                <a:latin typeface="Segoe UI"/>
              </a:rPr>
              <a:t>18,5 грн</a:t>
            </a:r>
          </a:p>
        </p:txBody>
      </p:sp>
      <p:sp>
        <p:nvSpPr>
          <p:cNvPr id="67" name="TextBox 66"/>
          <p:cNvSpPr txBox="1"/>
          <p:nvPr/>
        </p:nvSpPr>
        <p:spPr>
          <a:xfrm>
            <a:off x="6455664" y="5193792"/>
            <a:ext cx="2468880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850" b="0" i="0">
                <a:solidFill>
                  <a:srgbClr val="1C2235"/>
                </a:solidFill>
                <a:latin typeface="Segoe UI"/>
              </a:rPr>
              <a:t>Український пауч 350 г · медіана</a:t>
            </a:r>
          </a:p>
        </p:txBody>
      </p:sp>
      <p:sp>
        <p:nvSpPr>
          <p:cNvPr id="68" name="Rounded Rectangle 67"/>
          <p:cNvSpPr/>
          <p:nvPr/>
        </p:nvSpPr>
        <p:spPr>
          <a:xfrm>
            <a:off x="9015984" y="5239512"/>
            <a:ext cx="553664" cy="118872"/>
          </a:xfrm>
          <a:prstGeom prst="roundRect">
            <a:avLst>
              <a:gd name="adj" fmla="val 50000"/>
            </a:avLst>
          </a:prstGeom>
          <a:solidFill>
            <a:srgbClr val="F9A5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9" name="TextBox 68"/>
          <p:cNvSpPr txBox="1"/>
          <p:nvPr/>
        </p:nvSpPr>
        <p:spPr>
          <a:xfrm>
            <a:off x="9642800" y="5184648"/>
            <a:ext cx="731520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800" b="1" i="0">
                <a:solidFill>
                  <a:srgbClr val="F9A50B"/>
                </a:solidFill>
                <a:latin typeface="Segoe UI"/>
              </a:rPr>
              <a:t>29,0 грн</a:t>
            </a:r>
          </a:p>
        </p:txBody>
      </p:sp>
      <p:sp>
        <p:nvSpPr>
          <p:cNvPr id="70" name="TextBox 69"/>
          <p:cNvSpPr txBox="1"/>
          <p:nvPr/>
        </p:nvSpPr>
        <p:spPr>
          <a:xfrm>
            <a:off x="6455664" y="5449824"/>
            <a:ext cx="2468880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850" b="0" i="0">
                <a:solidFill>
                  <a:srgbClr val="1C2235"/>
                </a:solidFill>
                <a:latin typeface="Segoe UI"/>
              </a:rPr>
              <a:t>Ben's Original · медіана</a:t>
            </a:r>
          </a:p>
        </p:txBody>
      </p:sp>
      <p:sp>
        <p:nvSpPr>
          <p:cNvPr id="71" name="Rounded Rectangle 70"/>
          <p:cNvSpPr/>
          <p:nvPr/>
        </p:nvSpPr>
        <p:spPr>
          <a:xfrm>
            <a:off x="9015984" y="5495544"/>
            <a:ext cx="782766" cy="118872"/>
          </a:xfrm>
          <a:prstGeom prst="roundRect">
            <a:avLst>
              <a:gd name="adj" fmla="val 50000"/>
            </a:avLst>
          </a:prstGeom>
          <a:solidFill>
            <a:srgbClr val="7B5EA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2" name="TextBox 71"/>
          <p:cNvSpPr txBox="1"/>
          <p:nvPr/>
        </p:nvSpPr>
        <p:spPr>
          <a:xfrm>
            <a:off x="9871902" y="5440680"/>
            <a:ext cx="731520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800" b="1" i="0">
                <a:solidFill>
                  <a:srgbClr val="7B5EA7"/>
                </a:solidFill>
                <a:latin typeface="Segoe UI"/>
              </a:rPr>
              <a:t>41,0 грн</a:t>
            </a:r>
          </a:p>
        </p:txBody>
      </p:sp>
      <p:sp>
        <p:nvSpPr>
          <p:cNvPr id="73" name="TextBox 72"/>
          <p:cNvSpPr txBox="1"/>
          <p:nvPr/>
        </p:nvSpPr>
        <p:spPr>
          <a:xfrm>
            <a:off x="6455664" y="5705856"/>
            <a:ext cx="2468880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850" b="0" i="0">
                <a:solidFill>
                  <a:srgbClr val="1C2235"/>
                </a:solidFill>
                <a:latin typeface="Segoe UI"/>
              </a:rPr>
              <a:t>Плов М'ясторія 350 г · лоток</a:t>
            </a:r>
          </a:p>
        </p:txBody>
      </p:sp>
      <p:sp>
        <p:nvSpPr>
          <p:cNvPr id="74" name="Rounded Rectangle 73"/>
          <p:cNvSpPr/>
          <p:nvPr/>
        </p:nvSpPr>
        <p:spPr>
          <a:xfrm>
            <a:off x="9015984" y="5751576"/>
            <a:ext cx="872498" cy="118872"/>
          </a:xfrm>
          <a:prstGeom prst="roundRect">
            <a:avLst>
              <a:gd name="adj" fmla="val 50000"/>
            </a:avLst>
          </a:prstGeom>
          <a:solidFill>
            <a:srgbClr val="C94F7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5" name="TextBox 74"/>
          <p:cNvSpPr txBox="1"/>
          <p:nvPr/>
        </p:nvSpPr>
        <p:spPr>
          <a:xfrm>
            <a:off x="9961634" y="5696712"/>
            <a:ext cx="731520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800" b="1" i="0">
                <a:solidFill>
                  <a:srgbClr val="C94F7C"/>
                </a:solidFill>
                <a:latin typeface="Segoe UI"/>
              </a:rPr>
              <a:t>45,7 грн</a:t>
            </a:r>
          </a:p>
        </p:txBody>
      </p:sp>
      <p:sp>
        <p:nvSpPr>
          <p:cNvPr id="76" name="TextBox 75"/>
          <p:cNvSpPr txBox="1"/>
          <p:nvPr/>
        </p:nvSpPr>
        <p:spPr>
          <a:xfrm>
            <a:off x="6455664" y="5961888"/>
            <a:ext cx="2468880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850" b="0" i="0">
                <a:solidFill>
                  <a:srgbClr val="1C2235"/>
                </a:solidFill>
                <a:latin typeface="Segoe UI"/>
              </a:rPr>
              <a:t>Ottogi · медіана</a:t>
            </a:r>
          </a:p>
        </p:txBody>
      </p:sp>
      <p:sp>
        <p:nvSpPr>
          <p:cNvPr id="77" name="Rounded Rectangle 76"/>
          <p:cNvSpPr/>
          <p:nvPr/>
        </p:nvSpPr>
        <p:spPr>
          <a:xfrm>
            <a:off x="9015984" y="6007608"/>
            <a:ext cx="1737360" cy="118872"/>
          </a:xfrm>
          <a:prstGeom prst="roundRect">
            <a:avLst>
              <a:gd name="adj" fmla="val 50000"/>
            </a:avLst>
          </a:prstGeom>
          <a:solidFill>
            <a:srgbClr val="5B6B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8" name="TextBox 77"/>
          <p:cNvSpPr txBox="1"/>
          <p:nvPr/>
        </p:nvSpPr>
        <p:spPr>
          <a:xfrm>
            <a:off x="10826496" y="5952744"/>
            <a:ext cx="731520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800" b="1" i="0">
                <a:solidFill>
                  <a:srgbClr val="5B6B8C"/>
                </a:solidFill>
                <a:latin typeface="Segoe UI"/>
              </a:rPr>
              <a:t>91,0 грн</a:t>
            </a:r>
          </a:p>
        </p:txBody>
      </p:sp>
      <p:sp>
        <p:nvSpPr>
          <p:cNvPr id="79" name="TextBox 78"/>
          <p:cNvSpPr txBox="1"/>
          <p:nvPr/>
        </p:nvSpPr>
        <p:spPr>
          <a:xfrm>
            <a:off x="603504" y="6473952"/>
            <a:ext cx="10881360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4000"/>
              </a:lnSpc>
            </a:pPr>
            <a:r>
              <a:rPr sz="800" b="0" i="0">
                <a:solidFill>
                  <a:srgbClr val="717890"/>
                </a:solidFill>
                <a:latin typeface="Segoe UI"/>
              </a:rPr>
              <a:t>Джерело: API 17 мереж zakaz.ua, 23.09.2026. Ці шість позицій — суміжна категорія, у 33 позицій дослідження вони не входять: бляшанку не розігрівають у мікрохвильовці.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969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969" cy="1060704"/>
          </a:xfrm>
          <a:prstGeom prst="rect">
            <a:avLst/>
          </a:prstGeom>
          <a:solidFill>
            <a:srgbClr val="303A5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060704"/>
            <a:ext cx="12191969" cy="50292"/>
          </a:xfrm>
          <a:prstGeom prst="rect">
            <a:avLst/>
          </a:prstGeom>
          <a:solidFill>
            <a:srgbClr val="F9A5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5" name="Picture 4" descr="md_logo_whit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03504" y="237744"/>
            <a:ext cx="1389888" cy="603504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2304288" y="310896"/>
            <a:ext cx="676656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950" b="1" i="0">
                <a:solidFill>
                  <a:srgbClr val="FFC95C"/>
                </a:solidFill>
                <a:latin typeface="Segoe UI"/>
              </a:rPr>
              <a:t>ДЕ ПРЕДСТАВЛЕНО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2304288" y="548640"/>
            <a:ext cx="804672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900" b="1" i="0">
                <a:solidFill>
                  <a:srgbClr val="FFFFFF"/>
                </a:solidFill>
                <a:latin typeface="Segoe UI"/>
              </a:rPr>
              <a:t>Три типи каналів, 16 продавців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948385" y="402336"/>
            <a:ext cx="640080" cy="32918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/>
            <a:r>
              <a:rPr sz="1700" b="1" i="0">
                <a:solidFill>
                  <a:srgbClr val="465382"/>
                </a:solidFill>
                <a:latin typeface="Segoe UI"/>
              </a:rPr>
              <a:t>12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03504" y="1298448"/>
            <a:ext cx="10881360" cy="3108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200" b="0" i="0">
                <a:solidFill>
                  <a:srgbClr val="717890"/>
                </a:solidFill>
                <a:latin typeface="Segoe UI"/>
              </a:rPr>
              <a:t>Мережа є лише в одного бренду. Українське виробництво в мережі не представлене взагалі.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03504" y="1737360"/>
            <a:ext cx="10954512" cy="786384"/>
          </a:xfrm>
          <a:prstGeom prst="roundRect">
            <a:avLst>
              <a:gd name="adj" fmla="val 12000"/>
            </a:avLst>
          </a:prstGeom>
          <a:solidFill>
            <a:srgbClr val="F1F4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ounded Rectangle 10"/>
          <p:cNvSpPr/>
          <p:nvPr/>
        </p:nvSpPr>
        <p:spPr>
          <a:xfrm>
            <a:off x="603504" y="1737360"/>
            <a:ext cx="82296" cy="786384"/>
          </a:xfrm>
          <a:prstGeom prst="roundRect">
            <a:avLst>
              <a:gd name="adj" fmla="val 50000"/>
            </a:avLst>
          </a:prstGeom>
          <a:solidFill>
            <a:srgbClr val="F9A5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877824" y="1865376"/>
            <a:ext cx="3383280" cy="2011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950" b="1" i="0">
                <a:solidFill>
                  <a:srgbClr val="F9A50B"/>
                </a:solidFill>
                <a:latin typeface="Segoe UI"/>
              </a:rPr>
              <a:t>МЕРЕЖЕВИЙ РОЗДРІБ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877824" y="2103120"/>
            <a:ext cx="3383280" cy="51206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850" b="0" i="0">
                <a:solidFill>
                  <a:srgbClr val="717890"/>
                </a:solidFill>
                <a:latin typeface="Segoe UI"/>
              </a:rPr>
              <a:t>Ben's Original — 10 позицій. Інших брендів категорії немає.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4443984" y="1883664"/>
            <a:ext cx="592531" cy="237744"/>
          </a:xfrm>
          <a:prstGeom prst="roundRect">
            <a:avLst>
              <a:gd name="adj" fmla="val 50000"/>
            </a:avLst>
          </a:prstGeom>
          <a:solidFill>
            <a:srgbClr val="F9A5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4443984" y="1883664"/>
            <a:ext cx="592531" cy="23774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850" b="1" i="0">
                <a:solidFill>
                  <a:srgbClr val="FFFFFF"/>
                </a:solidFill>
                <a:latin typeface="Segoe UI"/>
              </a:rPr>
              <a:t>Сільпо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0899648" y="1975104"/>
            <a:ext cx="512064" cy="3108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/>
            <a:r>
              <a:rPr sz="1600" b="1" i="0">
                <a:solidFill>
                  <a:srgbClr val="F9A50B"/>
                </a:solidFill>
                <a:latin typeface="Segoe UI"/>
              </a:rPr>
              <a:t>1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603504" y="2615184"/>
            <a:ext cx="10954512" cy="786384"/>
          </a:xfrm>
          <a:prstGeom prst="roundRect">
            <a:avLst>
              <a:gd name="adj" fmla="val 12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ounded Rectangle 17"/>
          <p:cNvSpPr/>
          <p:nvPr/>
        </p:nvSpPr>
        <p:spPr>
          <a:xfrm>
            <a:off x="603504" y="2615184"/>
            <a:ext cx="82296" cy="786384"/>
          </a:xfrm>
          <a:prstGeom prst="roundRect">
            <a:avLst>
              <a:gd name="adj" fmla="val 50000"/>
            </a:avLst>
          </a:prstGeom>
          <a:solidFill>
            <a:srgbClr val="7B5EA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877824" y="2743200"/>
            <a:ext cx="3383280" cy="2011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950" b="1" i="0">
                <a:solidFill>
                  <a:srgbClr val="7B5EA7"/>
                </a:solidFill>
                <a:latin typeface="Segoe UI"/>
              </a:rPr>
              <a:t>АЗІЙСЬКІ ФУДШОПИ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877824" y="2980944"/>
            <a:ext cx="3383280" cy="51206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850" b="0" i="0">
                <a:solidFill>
                  <a:srgbClr val="717890"/>
                </a:solidFill>
                <a:latin typeface="Segoe UI"/>
              </a:rPr>
              <a:t>Ottogi, Bibigo, Clearspring. Вузький канал, висока ціна.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4443984" y="2761488"/>
            <a:ext cx="903427" cy="237744"/>
          </a:xfrm>
          <a:prstGeom prst="roundRect">
            <a:avLst>
              <a:gd name="adj" fmla="val 50000"/>
            </a:avLst>
          </a:prstGeom>
          <a:solidFill>
            <a:srgbClr val="7B5EA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4443984" y="2761488"/>
            <a:ext cx="903427" cy="23774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850" b="1" i="0">
                <a:solidFill>
                  <a:srgbClr val="FFFFFF"/>
                </a:solidFill>
                <a:latin typeface="Segoe UI"/>
              </a:rPr>
              <a:t>Тайякі Март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5457139" y="2761488"/>
            <a:ext cx="903427" cy="237744"/>
          </a:xfrm>
          <a:prstGeom prst="roundRect">
            <a:avLst>
              <a:gd name="adj" fmla="val 50000"/>
            </a:avLst>
          </a:prstGeom>
          <a:solidFill>
            <a:srgbClr val="7B5EA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5457139" y="2761488"/>
            <a:ext cx="903427" cy="23774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850" b="1" i="0">
                <a:solidFill>
                  <a:srgbClr val="FFFFFF"/>
                </a:solidFill>
                <a:latin typeface="Segoe UI"/>
              </a:rPr>
              <a:t>Апетітаріум</a:t>
            </a:r>
          </a:p>
        </p:txBody>
      </p:sp>
      <p:sp>
        <p:nvSpPr>
          <p:cNvPr id="25" name="Rounded Rectangle 24"/>
          <p:cNvSpPr/>
          <p:nvPr/>
        </p:nvSpPr>
        <p:spPr>
          <a:xfrm>
            <a:off x="6470294" y="2761488"/>
            <a:ext cx="841248" cy="237744"/>
          </a:xfrm>
          <a:prstGeom prst="roundRect">
            <a:avLst>
              <a:gd name="adj" fmla="val 50000"/>
            </a:avLst>
          </a:prstGeom>
          <a:solidFill>
            <a:srgbClr val="7B5EA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6470294" y="2761488"/>
            <a:ext cx="841248" cy="23774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850" b="1" i="0">
                <a:solidFill>
                  <a:srgbClr val="FFFFFF"/>
                </a:solidFill>
                <a:latin typeface="Segoe UI"/>
              </a:rPr>
              <a:t>Gurmissimo</a:t>
            </a:r>
          </a:p>
        </p:txBody>
      </p:sp>
      <p:sp>
        <p:nvSpPr>
          <p:cNvPr id="27" name="Rounded Rectangle 26"/>
          <p:cNvSpPr/>
          <p:nvPr/>
        </p:nvSpPr>
        <p:spPr>
          <a:xfrm>
            <a:off x="7421270" y="2761488"/>
            <a:ext cx="903427" cy="237744"/>
          </a:xfrm>
          <a:prstGeom prst="roundRect">
            <a:avLst>
              <a:gd name="adj" fmla="val 50000"/>
            </a:avLst>
          </a:prstGeom>
          <a:solidFill>
            <a:srgbClr val="7B5EA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7421270" y="2761488"/>
            <a:ext cx="903427" cy="23774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850" b="1" i="0">
                <a:solidFill>
                  <a:srgbClr val="FFFFFF"/>
                </a:solidFill>
                <a:latin typeface="Segoe UI"/>
              </a:rPr>
              <a:t>Скарби Азії</a:t>
            </a:r>
          </a:p>
        </p:txBody>
      </p:sp>
      <p:sp>
        <p:nvSpPr>
          <p:cNvPr id="29" name="Rounded Rectangle 28"/>
          <p:cNvSpPr/>
          <p:nvPr/>
        </p:nvSpPr>
        <p:spPr>
          <a:xfrm>
            <a:off x="8434425" y="2761488"/>
            <a:ext cx="841248" cy="237744"/>
          </a:xfrm>
          <a:prstGeom prst="roundRect">
            <a:avLst>
              <a:gd name="adj" fmla="val 50000"/>
            </a:avLst>
          </a:prstGeom>
          <a:solidFill>
            <a:srgbClr val="7B5EA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8434425" y="2761488"/>
            <a:ext cx="841248" cy="23774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850" b="1" i="0">
                <a:solidFill>
                  <a:srgbClr val="FFFFFF"/>
                </a:solidFill>
                <a:latin typeface="Segoe UI"/>
              </a:rPr>
              <a:t>Edison Lee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10899648" y="2852928"/>
            <a:ext cx="512064" cy="3108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/>
            <a:r>
              <a:rPr sz="1600" b="1" i="0">
                <a:solidFill>
                  <a:srgbClr val="7B5EA7"/>
                </a:solidFill>
                <a:latin typeface="Segoe UI"/>
              </a:rPr>
              <a:t>5</a:t>
            </a:r>
          </a:p>
        </p:txBody>
      </p:sp>
      <p:sp>
        <p:nvSpPr>
          <p:cNvPr id="32" name="Rounded Rectangle 31"/>
          <p:cNvSpPr/>
          <p:nvPr/>
        </p:nvSpPr>
        <p:spPr>
          <a:xfrm>
            <a:off x="603504" y="3493008"/>
            <a:ext cx="10954512" cy="1042415"/>
          </a:xfrm>
          <a:prstGeom prst="roundRect">
            <a:avLst>
              <a:gd name="adj" fmla="val 12000"/>
            </a:avLst>
          </a:prstGeom>
          <a:solidFill>
            <a:srgbClr val="F1F4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Rounded Rectangle 32"/>
          <p:cNvSpPr/>
          <p:nvPr/>
        </p:nvSpPr>
        <p:spPr>
          <a:xfrm>
            <a:off x="603504" y="3493008"/>
            <a:ext cx="82296" cy="1042415"/>
          </a:xfrm>
          <a:prstGeom prst="roundRect">
            <a:avLst>
              <a:gd name="adj" fmla="val 50000"/>
            </a:avLst>
          </a:prstGeom>
          <a:solidFill>
            <a:srgbClr val="37A16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877824" y="3621024"/>
            <a:ext cx="3383280" cy="2011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950" b="1" i="0">
                <a:solidFill>
                  <a:srgbClr val="37A169"/>
                </a:solidFill>
                <a:latin typeface="Segoe UI"/>
              </a:rPr>
              <a:t>PROM ТА ФІРМОВІ МАГАЗИНИ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877824" y="3858768"/>
            <a:ext cx="3383280" cy="51206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850" b="0" i="0">
                <a:solidFill>
                  <a:srgbClr val="717890"/>
                </a:solidFill>
                <a:latin typeface="Segoe UI"/>
              </a:rPr>
              <a:t>Увесь український реторт-пауч і Adventure Menu.</a:t>
            </a:r>
          </a:p>
        </p:txBody>
      </p:sp>
      <p:sp>
        <p:nvSpPr>
          <p:cNvPr id="36" name="Rounded Rectangle 35"/>
          <p:cNvSpPr/>
          <p:nvPr/>
        </p:nvSpPr>
        <p:spPr>
          <a:xfrm>
            <a:off x="4443984" y="3639312"/>
            <a:ext cx="1089964" cy="237744"/>
          </a:xfrm>
          <a:prstGeom prst="roundRect">
            <a:avLst>
              <a:gd name="adj" fmla="val 50000"/>
            </a:avLst>
          </a:prstGeom>
          <a:solidFill>
            <a:srgbClr val="37A16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TextBox 36"/>
          <p:cNvSpPr txBox="1"/>
          <p:nvPr/>
        </p:nvSpPr>
        <p:spPr>
          <a:xfrm>
            <a:off x="4443984" y="3639312"/>
            <a:ext cx="1089964" cy="23774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850" b="1" i="0">
                <a:solidFill>
                  <a:srgbClr val="FFFFFF"/>
                </a:solidFill>
                <a:latin typeface="Segoe UI"/>
              </a:rPr>
              <a:t>portion.com.ua</a:t>
            </a:r>
          </a:p>
        </p:txBody>
      </p:sp>
      <p:sp>
        <p:nvSpPr>
          <p:cNvPr id="38" name="Rounded Rectangle 37"/>
          <p:cNvSpPr/>
          <p:nvPr/>
        </p:nvSpPr>
        <p:spPr>
          <a:xfrm>
            <a:off x="5643676" y="3639312"/>
            <a:ext cx="592531" cy="237744"/>
          </a:xfrm>
          <a:prstGeom prst="roundRect">
            <a:avLst>
              <a:gd name="adj" fmla="val 50000"/>
            </a:avLst>
          </a:prstGeom>
          <a:solidFill>
            <a:srgbClr val="37A16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" name="TextBox 38"/>
          <p:cNvSpPr txBox="1"/>
          <p:nvPr/>
        </p:nvSpPr>
        <p:spPr>
          <a:xfrm>
            <a:off x="5643676" y="3639312"/>
            <a:ext cx="592531" cy="23774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850" b="1" i="0">
                <a:solidFill>
                  <a:srgbClr val="FFFFFF"/>
                </a:solidFill>
                <a:latin typeface="Segoe UI"/>
              </a:rPr>
              <a:t>СУХПАЙ</a:t>
            </a:r>
          </a:p>
        </p:txBody>
      </p:sp>
      <p:sp>
        <p:nvSpPr>
          <p:cNvPr id="40" name="Rounded Rectangle 39"/>
          <p:cNvSpPr/>
          <p:nvPr/>
        </p:nvSpPr>
        <p:spPr>
          <a:xfrm>
            <a:off x="6345936" y="3639312"/>
            <a:ext cx="779068" cy="237744"/>
          </a:xfrm>
          <a:prstGeom prst="roundRect">
            <a:avLst>
              <a:gd name="adj" fmla="val 50000"/>
            </a:avLst>
          </a:prstGeom>
          <a:solidFill>
            <a:srgbClr val="37A16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6345936" y="3639312"/>
            <a:ext cx="779068" cy="23774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850" b="1" i="0">
                <a:solidFill>
                  <a:srgbClr val="FFFFFF"/>
                </a:solidFill>
                <a:latin typeface="Segoe UI"/>
              </a:rPr>
              <a:t>UPcompany</a:t>
            </a:r>
          </a:p>
        </p:txBody>
      </p:sp>
      <p:sp>
        <p:nvSpPr>
          <p:cNvPr id="42" name="Rounded Rectangle 41"/>
          <p:cNvSpPr/>
          <p:nvPr/>
        </p:nvSpPr>
        <p:spPr>
          <a:xfrm>
            <a:off x="7234732" y="3639312"/>
            <a:ext cx="903427" cy="237744"/>
          </a:xfrm>
          <a:prstGeom prst="roundRect">
            <a:avLst>
              <a:gd name="adj" fmla="val 50000"/>
            </a:avLst>
          </a:prstGeom>
          <a:solidFill>
            <a:srgbClr val="37A16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3" name="TextBox 42"/>
          <p:cNvSpPr txBox="1"/>
          <p:nvPr/>
        </p:nvSpPr>
        <p:spPr>
          <a:xfrm>
            <a:off x="7234732" y="3639312"/>
            <a:ext cx="903427" cy="23774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850" b="1" i="0">
                <a:solidFill>
                  <a:srgbClr val="FFFFFF"/>
                </a:solidFill>
                <a:latin typeface="Segoe UI"/>
              </a:rPr>
              <a:t>Мартел-shop</a:t>
            </a:r>
          </a:p>
        </p:txBody>
      </p:sp>
      <p:sp>
        <p:nvSpPr>
          <p:cNvPr id="44" name="Rounded Rectangle 43"/>
          <p:cNvSpPr/>
          <p:nvPr/>
        </p:nvSpPr>
        <p:spPr>
          <a:xfrm>
            <a:off x="8247888" y="3639312"/>
            <a:ext cx="965606" cy="237744"/>
          </a:xfrm>
          <a:prstGeom prst="roundRect">
            <a:avLst>
              <a:gd name="adj" fmla="val 50000"/>
            </a:avLst>
          </a:prstGeom>
          <a:solidFill>
            <a:srgbClr val="37A16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5" name="TextBox 44"/>
          <p:cNvSpPr txBox="1"/>
          <p:nvPr/>
        </p:nvSpPr>
        <p:spPr>
          <a:xfrm>
            <a:off x="8247888" y="3639312"/>
            <a:ext cx="965606" cy="23774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850" b="1" i="0">
                <a:solidFill>
                  <a:srgbClr val="FFFFFF"/>
                </a:solidFill>
                <a:latin typeface="Segoe UI"/>
              </a:rPr>
              <a:t>Козуб Маркет</a:t>
            </a:r>
          </a:p>
        </p:txBody>
      </p:sp>
      <p:sp>
        <p:nvSpPr>
          <p:cNvPr id="46" name="Rounded Rectangle 45"/>
          <p:cNvSpPr/>
          <p:nvPr/>
        </p:nvSpPr>
        <p:spPr>
          <a:xfrm>
            <a:off x="9323222" y="3639312"/>
            <a:ext cx="1027785" cy="237744"/>
          </a:xfrm>
          <a:prstGeom prst="roundRect">
            <a:avLst>
              <a:gd name="adj" fmla="val 50000"/>
            </a:avLst>
          </a:prstGeom>
          <a:solidFill>
            <a:srgbClr val="37A16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7" name="TextBox 46"/>
          <p:cNvSpPr txBox="1"/>
          <p:nvPr/>
        </p:nvSpPr>
        <p:spPr>
          <a:xfrm>
            <a:off x="9323222" y="3639312"/>
            <a:ext cx="1027785" cy="23774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850" b="1" i="0">
                <a:solidFill>
                  <a:srgbClr val="FFFFFF"/>
                </a:solidFill>
                <a:latin typeface="Segoe UI"/>
              </a:rPr>
              <a:t>Смачна адреса</a:t>
            </a:r>
          </a:p>
        </p:txBody>
      </p:sp>
      <p:sp>
        <p:nvSpPr>
          <p:cNvPr id="48" name="Rounded Rectangle 47"/>
          <p:cNvSpPr/>
          <p:nvPr/>
        </p:nvSpPr>
        <p:spPr>
          <a:xfrm>
            <a:off x="4443984" y="3950208"/>
            <a:ext cx="965606" cy="237744"/>
          </a:xfrm>
          <a:prstGeom prst="roundRect">
            <a:avLst>
              <a:gd name="adj" fmla="val 50000"/>
            </a:avLst>
          </a:prstGeom>
          <a:solidFill>
            <a:srgbClr val="37A16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9" name="TextBox 48"/>
          <p:cNvSpPr txBox="1"/>
          <p:nvPr/>
        </p:nvSpPr>
        <p:spPr>
          <a:xfrm>
            <a:off x="4443984" y="3950208"/>
            <a:ext cx="965606" cy="23774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850" b="1" i="0">
                <a:solidFill>
                  <a:srgbClr val="FFFFFF"/>
                </a:solidFill>
                <a:latin typeface="Segoe UI"/>
              </a:rPr>
              <a:t>Продукт-Shop</a:t>
            </a:r>
          </a:p>
        </p:txBody>
      </p:sp>
      <p:sp>
        <p:nvSpPr>
          <p:cNvPr id="50" name="Rounded Rectangle 49"/>
          <p:cNvSpPr/>
          <p:nvPr/>
        </p:nvSpPr>
        <p:spPr>
          <a:xfrm>
            <a:off x="5519318" y="3950208"/>
            <a:ext cx="1027785" cy="237744"/>
          </a:xfrm>
          <a:prstGeom prst="roundRect">
            <a:avLst>
              <a:gd name="adj" fmla="val 50000"/>
            </a:avLst>
          </a:prstGeom>
          <a:solidFill>
            <a:srgbClr val="37A16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1" name="TextBox 50"/>
          <p:cNvSpPr txBox="1"/>
          <p:nvPr/>
        </p:nvSpPr>
        <p:spPr>
          <a:xfrm>
            <a:off x="5519318" y="3950208"/>
            <a:ext cx="1027785" cy="23774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850" b="1" i="0">
                <a:solidFill>
                  <a:srgbClr val="FFFFFF"/>
                </a:solidFill>
                <a:latin typeface="Segoe UI"/>
              </a:rPr>
              <a:t>Euro-komplekt</a:t>
            </a:r>
          </a:p>
        </p:txBody>
      </p:sp>
      <p:sp>
        <p:nvSpPr>
          <p:cNvPr id="52" name="Rounded Rectangle 51"/>
          <p:cNvSpPr/>
          <p:nvPr/>
        </p:nvSpPr>
        <p:spPr>
          <a:xfrm>
            <a:off x="6656832" y="3950208"/>
            <a:ext cx="654710" cy="237744"/>
          </a:xfrm>
          <a:prstGeom prst="roundRect">
            <a:avLst>
              <a:gd name="adj" fmla="val 50000"/>
            </a:avLst>
          </a:prstGeom>
          <a:solidFill>
            <a:srgbClr val="37A16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3" name="TextBox 52"/>
          <p:cNvSpPr txBox="1"/>
          <p:nvPr/>
        </p:nvSpPr>
        <p:spPr>
          <a:xfrm>
            <a:off x="6656832" y="3950208"/>
            <a:ext cx="654710" cy="23774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850" b="1" i="0">
                <a:solidFill>
                  <a:srgbClr val="FFFFFF"/>
                </a:solidFill>
                <a:latin typeface="Segoe UI"/>
              </a:rPr>
              <a:t>ALANTUR</a:t>
            </a:r>
          </a:p>
        </p:txBody>
      </p:sp>
      <p:sp>
        <p:nvSpPr>
          <p:cNvPr id="54" name="Rounded Rectangle 53"/>
          <p:cNvSpPr/>
          <p:nvPr/>
        </p:nvSpPr>
        <p:spPr>
          <a:xfrm>
            <a:off x="7421270" y="3950208"/>
            <a:ext cx="716889" cy="237744"/>
          </a:xfrm>
          <a:prstGeom prst="roundRect">
            <a:avLst>
              <a:gd name="adj" fmla="val 50000"/>
            </a:avLst>
          </a:prstGeom>
          <a:solidFill>
            <a:srgbClr val="37A16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5" name="TextBox 54"/>
          <p:cNvSpPr txBox="1"/>
          <p:nvPr/>
        </p:nvSpPr>
        <p:spPr>
          <a:xfrm>
            <a:off x="7421270" y="3950208"/>
            <a:ext cx="716889" cy="23774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850" b="1" i="0">
                <a:solidFill>
                  <a:srgbClr val="FFFFFF"/>
                </a:solidFill>
                <a:latin typeface="Segoe UI"/>
              </a:rPr>
              <a:t>MK-Sport</a:t>
            </a:r>
          </a:p>
        </p:txBody>
      </p:sp>
      <p:sp>
        <p:nvSpPr>
          <p:cNvPr id="56" name="TextBox 55"/>
          <p:cNvSpPr txBox="1"/>
          <p:nvPr/>
        </p:nvSpPr>
        <p:spPr>
          <a:xfrm>
            <a:off x="10899648" y="3858768"/>
            <a:ext cx="512064" cy="3108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/>
            <a:r>
              <a:rPr sz="1600" b="1" i="0">
                <a:solidFill>
                  <a:srgbClr val="37A169"/>
                </a:solidFill>
                <a:latin typeface="Segoe UI"/>
              </a:rPr>
              <a:t>10</a:t>
            </a:r>
          </a:p>
        </p:txBody>
      </p:sp>
      <p:sp>
        <p:nvSpPr>
          <p:cNvPr id="57" name="Rounded Rectangle 56"/>
          <p:cNvSpPr/>
          <p:nvPr/>
        </p:nvSpPr>
        <p:spPr>
          <a:xfrm>
            <a:off x="603504" y="4700016"/>
            <a:ext cx="5358384" cy="932688"/>
          </a:xfrm>
          <a:prstGeom prst="roundRect">
            <a:avLst>
              <a:gd name="adj" fmla="val 10000"/>
            </a:avLst>
          </a:prstGeom>
          <a:solidFill>
            <a:srgbClr val="F1F4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8" name="TextBox 57"/>
          <p:cNvSpPr txBox="1"/>
          <p:nvPr/>
        </p:nvSpPr>
        <p:spPr>
          <a:xfrm>
            <a:off x="841248" y="4828032"/>
            <a:ext cx="4882896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100" b="1" i="0">
                <a:solidFill>
                  <a:srgbClr val="303A5D"/>
                </a:solidFill>
                <a:latin typeface="Segoe UI"/>
              </a:rPr>
              <a:t>Мережі без жодної позиції категорії</a:t>
            </a:r>
          </a:p>
        </p:txBody>
      </p:sp>
      <p:sp>
        <p:nvSpPr>
          <p:cNvPr id="59" name="TextBox 58"/>
          <p:cNvSpPr txBox="1"/>
          <p:nvPr/>
        </p:nvSpPr>
        <p:spPr>
          <a:xfrm>
            <a:off x="841248" y="5065776"/>
            <a:ext cx="4882896" cy="51206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4000"/>
              </a:lnSpc>
            </a:pPr>
            <a:r>
              <a:rPr sz="850" b="0" i="0">
                <a:solidFill>
                  <a:srgbClr val="1C2235"/>
                </a:solidFill>
                <a:latin typeface="Segoe UI"/>
              </a:rPr>
              <a:t>АТБ, Novus, Metro, Varus, Ашан, Fozzy, «Таврія В», МегаМаркет, ЕКО маркет, Ultramarket та ще 7 мереж — перевірено через API zakaz.ua 23.09.2026.</a:t>
            </a:r>
          </a:p>
        </p:txBody>
      </p:sp>
      <p:sp>
        <p:nvSpPr>
          <p:cNvPr id="60" name="Rounded Rectangle 59"/>
          <p:cNvSpPr/>
          <p:nvPr/>
        </p:nvSpPr>
        <p:spPr>
          <a:xfrm>
            <a:off x="6199632" y="4700016"/>
            <a:ext cx="5358384" cy="932688"/>
          </a:xfrm>
          <a:prstGeom prst="roundRect">
            <a:avLst>
              <a:gd name="adj" fmla="val 10000"/>
            </a:avLst>
          </a:prstGeom>
          <a:solidFill>
            <a:srgbClr val="F1F4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1" name="TextBox 60"/>
          <p:cNvSpPr txBox="1"/>
          <p:nvPr/>
        </p:nvSpPr>
        <p:spPr>
          <a:xfrm>
            <a:off x="6437376" y="4828032"/>
            <a:ext cx="4882896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100" b="1" i="0">
                <a:solidFill>
                  <a:srgbClr val="303A5D"/>
                </a:solidFill>
                <a:latin typeface="Segoe UI"/>
              </a:rPr>
              <a:t>Що відомо про походження</a:t>
            </a:r>
          </a:p>
        </p:txBody>
      </p:sp>
      <p:sp>
        <p:nvSpPr>
          <p:cNvPr id="62" name="TextBox 61"/>
          <p:cNvSpPr txBox="1"/>
          <p:nvPr/>
        </p:nvSpPr>
        <p:spPr>
          <a:xfrm>
            <a:off x="6437376" y="5065776"/>
            <a:ext cx="4882896" cy="51206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4000"/>
              </a:lnSpc>
            </a:pPr>
            <a:r>
              <a:rPr sz="850" b="0" i="0">
                <a:solidFill>
                  <a:srgbClr val="1C2235"/>
                </a:solidFill>
                <a:latin typeface="Segoe UI"/>
              </a:rPr>
              <a:t>Ben's Original виробляє Mars, заводи у Франції та Німеччині. Український пауч — Верес, Ходорівський м'ясокомбінат, «Маркел», «МАКРО», Portion. Імпортера в картках продавців не вказано.</a:t>
            </a:r>
          </a:p>
        </p:txBody>
      </p:sp>
      <p:sp>
        <p:nvSpPr>
          <p:cNvPr id="63" name="Rounded Rectangle 62"/>
          <p:cNvSpPr/>
          <p:nvPr/>
        </p:nvSpPr>
        <p:spPr>
          <a:xfrm>
            <a:off x="603504" y="5742432"/>
            <a:ext cx="10954512" cy="548640"/>
          </a:xfrm>
          <a:prstGeom prst="roundRect">
            <a:avLst>
              <a:gd name="adj" fmla="val 6000"/>
            </a:avLst>
          </a:prstGeom>
          <a:solidFill>
            <a:srgbClr val="303A5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4" name="Rounded Rectangle 63"/>
          <p:cNvSpPr/>
          <p:nvPr/>
        </p:nvSpPr>
        <p:spPr>
          <a:xfrm>
            <a:off x="603504" y="5742432"/>
            <a:ext cx="82296" cy="548640"/>
          </a:xfrm>
          <a:prstGeom prst="roundRect">
            <a:avLst>
              <a:gd name="adj" fmla="val 50000"/>
            </a:avLst>
          </a:prstGeom>
          <a:solidFill>
            <a:srgbClr val="37A16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5" name="TextBox 64"/>
          <p:cNvSpPr txBox="1"/>
          <p:nvPr/>
        </p:nvSpPr>
        <p:spPr>
          <a:xfrm>
            <a:off x="914400" y="5943600"/>
            <a:ext cx="10405872" cy="182879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000" b="0" i="0">
                <a:solidFill>
                  <a:srgbClr val="D5DBEA"/>
                </a:solidFill>
                <a:latin typeface="Segoe UI"/>
              </a:rPr>
              <a:t>Головна дірка каналу: український виробник робить найдешевший за грам продукт категорії — і не має жодної мережевої полиці.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969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969" cy="1060704"/>
          </a:xfrm>
          <a:prstGeom prst="rect">
            <a:avLst/>
          </a:prstGeom>
          <a:solidFill>
            <a:srgbClr val="303A5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060704"/>
            <a:ext cx="12191969" cy="50292"/>
          </a:xfrm>
          <a:prstGeom prst="rect">
            <a:avLst/>
          </a:prstGeom>
          <a:solidFill>
            <a:srgbClr val="F9A5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5" name="Picture 4" descr="md_logo_whit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03504" y="237744"/>
            <a:ext cx="1389888" cy="603504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2304288" y="310896"/>
            <a:ext cx="676656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950" b="1" i="0">
                <a:solidFill>
                  <a:srgbClr val="FFC95C"/>
                </a:solidFill>
                <a:latin typeface="Segoe UI"/>
              </a:rPr>
              <a:t>ВИСНОВКИ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2304288" y="548640"/>
            <a:ext cx="804672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900" b="1" i="0">
                <a:solidFill>
                  <a:srgbClr val="FFFFFF"/>
                </a:solidFill>
                <a:latin typeface="Segoe UI"/>
              </a:rPr>
              <a:t>Чотири факти і три обмеження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948385" y="402336"/>
            <a:ext cx="640080" cy="32918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/>
            <a:r>
              <a:rPr sz="1700" b="1" i="0">
                <a:solidFill>
                  <a:srgbClr val="465382"/>
                </a:solidFill>
                <a:latin typeface="Segoe UI"/>
              </a:rPr>
              <a:t>13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03504" y="1298448"/>
            <a:ext cx="10881360" cy="3108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200" b="0" i="0">
                <a:solidFill>
                  <a:srgbClr val="717890"/>
                </a:solidFill>
                <a:latin typeface="Segoe UI"/>
              </a:rPr>
              <a:t>Усе нижче спирається на ціни, перевірені поштучно 23 вересня 2026 року.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03504" y="1719072"/>
            <a:ext cx="5358384" cy="1152144"/>
          </a:xfrm>
          <a:prstGeom prst="roundRect">
            <a:avLst>
              <a:gd name="adj" fmla="val 8000"/>
            </a:avLst>
          </a:prstGeom>
          <a:solidFill>
            <a:srgbClr val="F1F4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ounded Rectangle 10"/>
          <p:cNvSpPr/>
          <p:nvPr/>
        </p:nvSpPr>
        <p:spPr>
          <a:xfrm>
            <a:off x="603504" y="1719072"/>
            <a:ext cx="82296" cy="1152144"/>
          </a:xfrm>
          <a:prstGeom prst="roundRect">
            <a:avLst>
              <a:gd name="adj" fmla="val 50000"/>
            </a:avLst>
          </a:prstGeom>
          <a:solidFill>
            <a:srgbClr val="F9A5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877824" y="1865376"/>
            <a:ext cx="4846320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250" b="1" i="0">
                <a:solidFill>
                  <a:srgbClr val="303A5D"/>
                </a:solidFill>
                <a:latin typeface="Segoe UI"/>
              </a:rPr>
              <a:t>1. Категорія мала, але росте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877824" y="2157984"/>
            <a:ext cx="4846320" cy="6400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8000"/>
              </a:lnSpc>
            </a:pPr>
            <a:r>
              <a:rPr sz="950" b="0" i="0">
                <a:solidFill>
                  <a:srgbClr val="1C2235"/>
                </a:solidFill>
                <a:latin typeface="Segoe UI"/>
              </a:rPr>
              <a:t>182 т імпорту у 2025-му, +59 % за рік і рекорд за вартістю. На особу це у 20 разів менше за ЄС.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199632" y="1719072"/>
            <a:ext cx="5358384" cy="1152144"/>
          </a:xfrm>
          <a:prstGeom prst="roundRect">
            <a:avLst>
              <a:gd name="adj" fmla="val 8000"/>
            </a:avLst>
          </a:prstGeom>
          <a:solidFill>
            <a:srgbClr val="F1F4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ounded Rectangle 14"/>
          <p:cNvSpPr/>
          <p:nvPr/>
        </p:nvSpPr>
        <p:spPr>
          <a:xfrm>
            <a:off x="6199632" y="1719072"/>
            <a:ext cx="82296" cy="1152144"/>
          </a:xfrm>
          <a:prstGeom prst="roundRect">
            <a:avLst>
              <a:gd name="adj" fmla="val 50000"/>
            </a:avLst>
          </a:prstGeom>
          <a:solidFill>
            <a:srgbClr val="7B5EA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6473952" y="1865376"/>
            <a:ext cx="4846320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250" b="1" i="0">
                <a:solidFill>
                  <a:srgbClr val="303A5D"/>
                </a:solidFill>
                <a:latin typeface="Segoe UI"/>
              </a:rPr>
              <a:t>2. Гарнір тримає один бренд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473952" y="2157984"/>
            <a:ext cx="4846320" cy="6400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8000"/>
              </a:lnSpc>
            </a:pPr>
            <a:r>
              <a:rPr sz="950" b="0" i="0">
                <a:solidFill>
                  <a:srgbClr val="1C2235"/>
                </a:solidFill>
                <a:latin typeface="Segoe UI"/>
              </a:rPr>
              <a:t>Ben's Original — 10 позицій у «Сільпо» за 45–179 грн. Другого бренду чистого готового рису на ринку немає.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603504" y="2962656"/>
            <a:ext cx="5358384" cy="1152144"/>
          </a:xfrm>
          <a:prstGeom prst="roundRect">
            <a:avLst>
              <a:gd name="adj" fmla="val 8000"/>
            </a:avLst>
          </a:prstGeom>
          <a:solidFill>
            <a:srgbClr val="F1F4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ounded Rectangle 18"/>
          <p:cNvSpPr/>
          <p:nvPr/>
        </p:nvSpPr>
        <p:spPr>
          <a:xfrm>
            <a:off x="603504" y="2962656"/>
            <a:ext cx="82296" cy="1152144"/>
          </a:xfrm>
          <a:prstGeom prst="roundRect">
            <a:avLst>
              <a:gd name="adj" fmla="val 50000"/>
            </a:avLst>
          </a:prstGeom>
          <a:solidFill>
            <a:srgbClr val="37A16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877824" y="3108960"/>
            <a:ext cx="4846320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250" b="1" i="0">
                <a:solidFill>
                  <a:srgbClr val="303A5D"/>
                </a:solidFill>
                <a:latin typeface="Segoe UI"/>
              </a:rPr>
              <a:t>3. Українці виграють за грам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877824" y="3401568"/>
            <a:ext cx="4846320" cy="6400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8000"/>
              </a:lnSpc>
            </a:pPr>
            <a:r>
              <a:rPr sz="950" b="0" i="0">
                <a:solidFill>
                  <a:srgbClr val="1C2235"/>
                </a:solidFill>
                <a:latin typeface="Segoe UI"/>
              </a:rPr>
              <a:t>Реторт-пауч 350 г за 71–199 грн — це 20–57 грн за 100 г проти 41 у Ben's і 91 у корейської чаші.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6199632" y="2962656"/>
            <a:ext cx="5358384" cy="1152144"/>
          </a:xfrm>
          <a:prstGeom prst="roundRect">
            <a:avLst>
              <a:gd name="adj" fmla="val 8000"/>
            </a:avLst>
          </a:prstGeom>
          <a:solidFill>
            <a:srgbClr val="F1F4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Rounded Rectangle 22"/>
          <p:cNvSpPr/>
          <p:nvPr/>
        </p:nvSpPr>
        <p:spPr>
          <a:xfrm>
            <a:off x="6199632" y="2962656"/>
            <a:ext cx="82296" cy="1152144"/>
          </a:xfrm>
          <a:prstGeom prst="roundRect">
            <a:avLst>
              <a:gd name="adj" fmla="val 50000"/>
            </a:avLst>
          </a:prstGeom>
          <a:solidFill>
            <a:srgbClr val="C94F7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6473952" y="3108960"/>
            <a:ext cx="4846320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250" b="1" i="0">
                <a:solidFill>
                  <a:srgbClr val="303A5D"/>
                </a:solidFill>
                <a:latin typeface="Segoe UI"/>
              </a:rPr>
              <a:t>4. Мережі закриті для категорії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6473952" y="3401568"/>
            <a:ext cx="4846320" cy="6400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8000"/>
              </a:lnSpc>
            </a:pPr>
            <a:r>
              <a:rPr sz="950" b="0" i="0">
                <a:solidFill>
                  <a:srgbClr val="1C2235"/>
                </a:solidFill>
                <a:latin typeface="Segoe UI"/>
              </a:rPr>
              <a:t>З 33 позицій у мережі продаються 10, і всі — Ben's. Український пауч живе на Prom і у фірмових магазинах.</a:t>
            </a:r>
          </a:p>
        </p:txBody>
      </p:sp>
      <p:sp>
        <p:nvSpPr>
          <p:cNvPr id="26" name="Rounded Rectangle 25"/>
          <p:cNvSpPr/>
          <p:nvPr/>
        </p:nvSpPr>
        <p:spPr>
          <a:xfrm>
            <a:off x="603504" y="4315968"/>
            <a:ext cx="10954512" cy="1426464"/>
          </a:xfrm>
          <a:prstGeom prst="roundRect">
            <a:avLst>
              <a:gd name="adj" fmla="val 6000"/>
            </a:avLst>
          </a:prstGeom>
          <a:solidFill>
            <a:srgbClr val="303A5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Rounded Rectangle 26"/>
          <p:cNvSpPr/>
          <p:nvPr/>
        </p:nvSpPr>
        <p:spPr>
          <a:xfrm>
            <a:off x="603504" y="4315968"/>
            <a:ext cx="82296" cy="1426464"/>
          </a:xfrm>
          <a:prstGeom prst="roundRect">
            <a:avLst>
              <a:gd name="adj" fmla="val 50000"/>
            </a:avLst>
          </a:prstGeom>
          <a:solidFill>
            <a:srgbClr val="F9A5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914400" y="4480559"/>
            <a:ext cx="10405872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250" b="1" i="0">
                <a:solidFill>
                  <a:srgbClr val="FFC95C"/>
                </a:solidFill>
                <a:latin typeface="Segoe UI"/>
              </a:rPr>
              <a:t>Чого дані не показують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914400" y="4809744"/>
            <a:ext cx="10405872" cy="78638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000" b="0" i="0">
                <a:solidFill>
                  <a:srgbClr val="D5DBEA"/>
                </a:solidFill>
                <a:latin typeface="Segoe UI"/>
              </a:rPr>
              <a:t>1. Продажів. Ні мережі, ні маркетплейси не віддають обсяги: ємність на слайді 03 порахована за імпортом, а не заміряна.
2. Обсягу українського виробництва. Верес, «МАКРО», «Маркел», Portion виробляють у країні, тож у митну статистику не потрапляють — реальна категорія більша за 182 тонни.
3. Імпортерів. У картках продавців їх не вказано; перелік дасть лише вивантаження Держмитслужби за УКТЗЕД 1904 90 10 за 2024–2025 рр.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603504" y="6473952"/>
            <a:ext cx="10881360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4000"/>
              </a:lnSpc>
            </a:pPr>
            <a:r>
              <a:rPr sz="800" b="0" i="0">
                <a:solidFill>
                  <a:srgbClr val="717890"/>
                </a:solidFill>
                <a:latin typeface="Segoe UI"/>
              </a:rPr>
              <a:t>33 позицій, 10 брендів, 16 продавців, 17 мереж. Зріз 23 вересня 2026 р. Предмет: рис кімнатного зберігання, який лише розігрівають.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