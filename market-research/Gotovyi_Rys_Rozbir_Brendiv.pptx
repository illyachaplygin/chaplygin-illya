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12.jpg"/><Relationship Id="rId10" Type="http://schemas.openxmlformats.org/officeDocument/2006/relationships/image" Target="../media/image13.jpg"/><Relationship Id="rId11" Type="http://schemas.openxmlformats.org/officeDocument/2006/relationships/image" Target="../media/image14.jpg"/><Relationship Id="rId12" Type="http://schemas.openxmlformats.org/officeDocument/2006/relationships/image" Target="../media/image15.jpg"/><Relationship Id="rId13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4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image" Target="../media/image6.jpg"/><Relationship Id="rId9" Type="http://schemas.openxmlformats.org/officeDocument/2006/relationships/image" Target="../media/image29.jpg"/><Relationship Id="rId10" Type="http://schemas.openxmlformats.org/officeDocument/2006/relationships/image" Target="../media/image5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Relationship Id="rId6" Type="http://schemas.openxmlformats.org/officeDocument/2006/relationships/image" Target="../media/image3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 l="0" r="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4133087"/>
            <a:ext cx="6400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6CEE2"/>
                </a:solidFill>
                <a:latin typeface="Segoe UI"/>
              </a:rPr>
              <a:t>Кімнатне зберігання · розігрів · без готування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82896"/>
            <a:ext cx="63093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FA9C4"/>
                </a:solidFill>
                <a:latin typeface="Segoe UI"/>
              </a:rPr>
              <a:t>10 брендів · 33 позиції · ціна за одну упаковку
Кожну ціну перевірено на сайті продавця 23 вересня 2026 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t_bibimb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159649"/>
            <a:ext cx="1856232" cy="163090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a_veres_chicke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1608" y="3328416"/>
            <a:ext cx="1471510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a_makro_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371" y="3328416"/>
            <a:ext cx="1460561" cy="166420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52944" y="5266944"/>
            <a:ext cx="4453128" cy="932688"/>
          </a:xfrm>
          <a:prstGeom prst="roundRect">
            <a:avLst>
              <a:gd name="adj" fmla="val 14000"/>
            </a:avLst>
          </a:prstGeom>
          <a:solidFill>
            <a:srgbClr val="262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5413248"/>
            <a:ext cx="4059936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 i="0">
                <a:solidFill>
                  <a:srgbClr val="FFFFFF"/>
                </a:solidFill>
                <a:latin typeface="Segoe UI"/>
              </a:rPr>
              <a:t>Ben's Original · Ottogi · Bibigo · Portion · Маркел · МАКРО · Верес · Ходорівський · Clearspring · Adventure Menu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 про категорію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Предмет: рис, що зберігається за кімнатної температури і лише розігрівається.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E9EA6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34256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ВІДСТАВАННЯ ВІД ЄС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C94F7C"/>
                </a:solidFill>
                <a:latin typeface="Segoe UI"/>
              </a:rPr>
              <a:t>×20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0,07 $ на особу проти
1,43 $ у ЄС.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7B5EA7"/>
                </a:solidFill>
                <a:latin typeface="Segoe UI"/>
              </a:rP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10 брендів. 10 позицій —
українського виробництва.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37A169"/>
                </a:solidFill>
                <a:latin typeface="Segoe UI"/>
              </a:rPr>
              <a:t>139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Діапазон 45–466 грн.
Половина позицій — до 139 грн.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556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5B6B8C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10 позицій. Далі 250 г — 6,
220 г — 6.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3504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Українське виробництво в категорії вже є — і воно найдешевше: реторт-пауч 350 г за 71–199 грн, медіана 101 грн за упаковку.
2. Ben's Original — єдиний імпортний гарнір у мережі: 10 позицій у «Сільпо» за 45–179 грн.
3. Корейська чаша — найдорожчий сегмент (медіана 252 грн) і продається лише у трьох азійських магазинах.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675887"/>
            <a:ext cx="5358384" cy="215798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9632" y="3675887"/>
            <a:ext cx="82296" cy="215798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3840479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Де порожньо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169663"/>
            <a:ext cx="4809744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українського гарніру — чистого рису в паучі. Усі 10 українських позицій це рис із м'ясом, тобто повноцінна страва.
2. Немає чаші дешевше 189 грн: Bibigo 189, Ottogi 225–356.
3. Немає жодної позиції категорії в АТБ, Novus, Metro, Varus, Ашан, Fozzy та ще 11 мережах — перевірено через API 17 мереж.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Ціни: сайти продавців, 23.09.2026, за одну упаковку в роздріб. Імпорт: Eurostat Comext CN 1904 90 10 + UN Comtrade.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Імпорт готового рису відновився: 2025 рік — найбільший за сім років за 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Вартість 2025 року — 823 тис. € проти 475 тис. € у 2024-му, +73 %.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5798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50224" y="2203703"/>
            <a:ext cx="1380728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04" y="214884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468879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50224" y="2514599"/>
            <a:ext cx="1145244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68620" y="245973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779775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50224" y="2825495"/>
            <a:ext cx="81907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5283" y="2770632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309067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3136391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59952" y="3081527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401567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50224" y="3447287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59952" y="3392423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767327"/>
            <a:ext cx="358444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Польща й Болгарія — 95 % тонажу: це заводи ЄС, що пакують рис у пауч.
Корея і Китай разом 3 т — чаші Ottogi та Bibigo. Україна свій обсяг виробляє на місці, в імпорт він не входить.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95604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5424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42432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0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0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8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51775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51775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58784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9952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9952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4974336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4956048"/>
            <a:ext cx="13533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608 тис.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68128" y="5212080"/>
            <a:ext cx="13533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5285232"/>
            <a:ext cx="34381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Це лише імпортна частина. Український реторт-пауч виробляють у країні, і в митну статистику він не потрапляє.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 2019–2025; UN Comtrade (Корея, Китай) за 2025 р.; курс НБУ, середній за 2025 р.: 47,15 грн/€. Ємність роздрібу — ОЦІНКА.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сегменти, десять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Усередині категорії — два формати паковання і дві ролі: гарнір або повна страва.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ГАРНІР У ПАУЧІ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 позицій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Чистий рис без наповнювача. Мікрохвильовка 90 с.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45 – 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220–250 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СТРАВА В ЧАШІ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 позицій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Ottogi ·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жорсткій чаші. Мікрохвильовка 2 хв.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189 – 356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210–320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СТРАВА В ПАУЧІ · УКРАЇНА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10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Portion · Маркел · МАКРО · Верес · Ходорівський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Рис із м'ясом у реторт-паучі. Розігрів у воді або НВЧ.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9088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7A169"/>
                </a:solidFill>
                <a:latin typeface="Segoe UI"/>
              </a:rPr>
              <a:t>102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71 – 199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350–350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25128" y="1737360"/>
            <a:ext cx="2578608" cy="279806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6296" y="192024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E9EA6"/>
                </a:solidFill>
                <a:latin typeface="Segoe UI"/>
              </a:rPr>
              <a:t>СТРАВА В ПАУЧІ · ІМПОРТ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6296" y="21762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 позиції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248716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Clearspring · Adventure Menu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6296" y="3090672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Те саме, але завезене: ЄС, органіка й туристична лінійка.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26296" y="3547872"/>
            <a:ext cx="2176272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6296" y="36393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 · МЕДІАНА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38039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9EA6"/>
                </a:solidFill>
                <a:latin typeface="Segoe UI"/>
              </a:rPr>
              <a:t>356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40599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315 – 466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6296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C2235"/>
                </a:solidFill>
                <a:latin typeface="Segoe UI"/>
              </a:rPr>
              <a:t>маса 250–400 г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700016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03504" y="4700016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864607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читати цю карту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193792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реторт-пауч уже виграє за ціною: медіана 101 грн проти 90 грн у Ben's Original — але в паучі 350 г проти 220–250 г, тобто це повна страва з м'ясом, а не гарнір. Інша полиця й інший привід.
Ben's Original тримає нішу гарніру сам-один: жодного українського чистого рису в паучі на ринку немає. Корейська чаша — найдорожчий формат і найвужчий канал: три азійські магазини.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33 позицій, ціни за одну упаковку, 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ГАРНІР У ПАУЧІ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Ben's Original — 11 позицій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Єдиний бренд чистого готового рису на ринку. Мікрохвильовка 90 секунд.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Франція, Німеччина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220–250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44496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517648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764" y="2395728"/>
            <a:ext cx="549014" cy="7680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563368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3368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3368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3368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5488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58640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939" y="2395728"/>
            <a:ext cx="544649" cy="7680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404360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04360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4360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4360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79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99631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058" y="2395728"/>
            <a:ext cx="546395" cy="7680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245351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5351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5351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45351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67472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040624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3813" y="2395728"/>
            <a:ext cx="556869" cy="76809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086344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344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86344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86344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08464" y="2286000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81616" y="2359152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7461" y="2395728"/>
            <a:ext cx="531557" cy="76809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927336" y="32369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7336" y="35844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7336" y="3749039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27336" y="40050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3504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76656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ens_mexikanisch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3772" y="4480560"/>
            <a:ext cx="549014" cy="768096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722376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444496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517648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bens_curryreis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34290" y="4480560"/>
            <a:ext cx="569962" cy="76809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2563368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63368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63368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63368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85488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358640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bens_basmati2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3138" y="4480560"/>
            <a:ext cx="554251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4404360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4360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04360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4360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26479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199631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bens_sweetchili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202" y="4480560"/>
            <a:ext cx="562106" cy="76809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245351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45351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45351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45351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67472" y="4370832"/>
            <a:ext cx="1749552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40624" y="4443984"/>
            <a:ext cx="1603248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bens_lang220_singl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73414" y="4480560"/>
            <a:ext cx="537667" cy="7680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086344" y="5321808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86344" y="5669280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BEN'S ORIGINAL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86344" y="5833872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6344" y="608990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каталогу «Сільпо», отримані поштучно з картки кожного товару 23.09.2026; Long Grain 220 г — Edison Lee, у картці зазначено «ціну вказано за одну порцію». Позицію Sticky Bowl 220 г із попередньої редакції знято: у каталозі її немає.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СТРАВА В ЧАШІ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Ottogi і Bibigo — вісім позицій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наповнювачем у жорсткій чаші. Корея, канал — азійські фудшопи.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40" y="1828800"/>
            <a:ext cx="1004877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4787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t_pork3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130" y="1828800"/>
            <a:ext cx="1004877" cy="877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54787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t_chicken_ri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848" y="1828800"/>
            <a:ext cx="877823" cy="87782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260–289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54787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Gurmissimo · Апетітаріум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t_tun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535" y="1828800"/>
            <a:ext cx="1108830" cy="87782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9947" y="354787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9589" y="1828800"/>
            <a:ext cx="999102" cy="87782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9137" y="3547872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ot_pork_spic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5897" y="4059936"/>
            <a:ext cx="1012962" cy="87782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" y="57790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ot_beef3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2657" y="4059936"/>
            <a:ext cx="877823" cy="87782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OTTOGI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1566" y="57790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3843" y="4059936"/>
            <a:ext cx="873833" cy="877823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40756" y="5779008"/>
            <a:ext cx="188000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41971" y="4114800"/>
            <a:ext cx="37783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41971" y="4443984"/>
            <a:ext cx="3778300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Найдорожчий сегмент: медіана 252 грн за чашу проти 90 грн у Ben's і 101 грн в українському паучі. Та сама позиція коштує по-різному: тунець 247 г — 225 грн у «Тайякі Март» і 356 грн в «Апетітаріум», розкид 58 %.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23.09.2026, роздрібні за одну чашу. У «Тайякі Март» діє нижча ціна від 15–20 шт — вона до розрахунку не бралася. Три позиції Ottogi з попередньої редакції знято: на сайтах продавців їх більше немає.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СТРАВА В ПАУЧІ · УКРАЇНА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10 позицій п'яти українських виробників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Рис із м'ясом у реторт-паучі 350 г. Зберігання 24 місяці, розігрів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a_portion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72" y="1828800"/>
            <a:ext cx="94481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м'ясом курки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71–85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portion.com.ua · Prom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4496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7648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a_markel_so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029" y="1828800"/>
            <a:ext cx="696484" cy="8778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63368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3368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80–96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 · Мартел-shop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5488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8640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a_pak_por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1896" y="1828800"/>
            <a:ext cx="1316735" cy="87782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04360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та овочі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4360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96–135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 · Ліхтар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79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1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a_veres_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4808" y="1828800"/>
            <a:ext cx="572895" cy="87782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45351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1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351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5351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МореПродуктів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67472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0624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makro_chick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5920" y="1828800"/>
            <a:ext cx="712654" cy="87782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6344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Курятина 35 % і овочі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6344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6344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6344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СУХПАЙ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08464" y="1719072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1616" y="1792224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ua_makro_beef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8036" y="1828800"/>
            <a:ext cx="770406" cy="87782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7336" y="2779776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й солодкий перець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7336" y="312724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МАКРО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7336" y="3291840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104–107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7336" y="3547872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6656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a_khodoriv_3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096" y="4059936"/>
            <a:ext cx="658367" cy="87782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22376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та овочі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ХОДОРІВСЬКИЙ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105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7790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Молочний склад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4496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7648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a_veres_chicken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31181" y="4059936"/>
            <a:ext cx="776181" cy="877823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63368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куркою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3368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ВЕРЕС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3368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108–134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3368" y="57790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Козуб · Смачна адреса · Продукт-Sh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85488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8640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ua_markel_eat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20107" y="4059936"/>
            <a:ext cx="680313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404360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рослинним фаршем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04360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04360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127–144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04360" y="57790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UP Shop · СУХПАЙ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26479" y="3950208"/>
            <a:ext cx="1749552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1" y="4023360"/>
            <a:ext cx="1603248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ua_khodoriv_por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4351" y="4059936"/>
            <a:ext cx="713809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45351" y="5010912"/>
            <a:ext cx="15118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горошок, кукурудза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1" y="5358384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ХОДОРІВСЬКИЙ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45351" y="5522976"/>
            <a:ext cx="15118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140–199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45351" y="5779008"/>
            <a:ext cx="15118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Foodi Shop · Food Shop · МореПроду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67472" y="3950208"/>
            <a:ext cx="359054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967472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78367" y="4114800"/>
            <a:ext cx="3041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78367" y="4443984"/>
            <a:ext cx="3041904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Найдешевший сегмент категорії: 71–199 грн за пауч 350 г, медіана 101 грн. Виробництво українське, тому ці позиції не потрапляють в імпортну статистику на слайді 03 — реальна категорія більша за 182 тонни.
Канал вузький: Prom і фірмові магазини, у мережах цих брендів немає.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продавців на Prom.ua і з фірмового магазину portion.com.ua, 23.09.2026, за один пауч. Оптові пороги від 3–12 шт не бралися.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СТРАВА В ПАУЧІ · ІМПОРТ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Clearspring і Adventure Menu — чотири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формат, але завезений: британська органіка й чеська туристична лінійка.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arsp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813" y="1828800"/>
            <a:ext cx="1575428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Rice, тамарі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446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9544" y="1828800"/>
            <a:ext cx="1620942" cy="188366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483864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315–357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Freeride · MK-Sport · Лєєр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535" y="1828800"/>
            <a:ext cx="1563936" cy="188366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45352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Тефтелі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336–466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Freeride · OXO · Лєєр · MK · Palme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87968" y="1719072"/>
            <a:ext cx="2670048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792224"/>
            <a:ext cx="2523744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m_korma4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6324" y="1828800"/>
            <a:ext cx="1633334" cy="188366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3785615"/>
            <a:ext cx="24323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4133087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4297679"/>
            <a:ext cx="2432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4553712"/>
            <a:ext cx="2432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ALANTUR · Modern Shop · MK-Sport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75504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04688"/>
            <a:ext cx="104058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Adventure Menu 400 г READY TO EAT — найбільша упаковка категорії, 315–466 грн, канал туристичний. Clearspring 250 г за 446 грн — найдорожчий пауч ринку: органічна сертифікація й дикий рис.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Ціни з карток Prom.ua 23.09.2026 за одну упаковку.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 І 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— 25 позицій із 33, масова вага 350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Два формати паковання. Кожен тримає свою вагу — платформи майже не перетинаються.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a_veres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757" y="1956816"/>
            <a:ext cx="114810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675887"/>
            <a:ext cx="1620981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 позицій · 76 % · 8 брендів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СЕРЕДНЯ МАСА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350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45 – 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220 – 400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Плаский реторт-пауч. Займає менше місця на полиці, дешевший у логістиці, тримає 24 місяці. Формат, у якому працюють і Ben's, і всі українці.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10712" y="1719072"/>
            <a:ext cx="2578608" cy="45171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10712" y="1719072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57016" y="1901952"/>
            <a:ext cx="2286000" cy="140817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t_bibimb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1096" y="1956816"/>
            <a:ext cx="1477838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30168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30168" y="3675887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30168" y="3675887"/>
            <a:ext cx="518714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0168" y="389534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 позицій · 24 % · 2 бренди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0168" y="4187952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27939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УПАКОВКУ,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42569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0001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СЕРЕДНЯ МАСА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84632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290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526694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189 – 356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30168" y="554126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0168" y="56875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210 – 320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0168" y="59070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Жорстка чаша: їсти можна прямо з неї, але вона дорожча й об'ємніша. На українському ринку — тільки корейський імпорт.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17190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ПОЗИЦІЙ У КОЖНІЙ ВАЗІ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91072" y="3899001"/>
            <a:ext cx="505968" cy="179222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679545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107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88480" y="3002889"/>
            <a:ext cx="505968" cy="107533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8480" y="278343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8848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85888" y="3899001"/>
            <a:ext cx="505968" cy="179222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5888" y="3679545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8588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247 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3002889"/>
            <a:ext cx="505968" cy="107533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83296" y="278343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296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0703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0703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0703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269 г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78112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78112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78112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310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875520" y="3719779"/>
            <a:ext cx="505968" cy="358444"/>
          </a:xfrm>
          <a:prstGeom prst="roundRect">
            <a:avLst>
              <a:gd name="adj" fmla="val 14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350032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7B5EA7"/>
                </a:solidFill>
                <a:latin typeface="Segoe U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320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72928" y="2286000"/>
            <a:ext cx="505968" cy="1792224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72928" y="2066543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72928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350 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070335" y="3540556"/>
            <a:ext cx="505968" cy="537667"/>
          </a:xfrm>
          <a:prstGeom prst="roundRect">
            <a:avLst>
              <a:gd name="adj" fmla="val 14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70335" y="3321100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70335" y="4133087"/>
            <a:ext cx="505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1C2235"/>
                </a:solidFill>
                <a:latin typeface="Segoe UI"/>
              </a:rPr>
              <a:t>400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1072" y="4352544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350 г — український реторт-пауч. 250 і 220 г — Ben's Original. 210–320 г — корейська чаша. 400 г — Adventure Menu.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91072" y="4937760"/>
            <a:ext cx="5394960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91072" y="4937760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1968" y="5138928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Український пауч стоїть у вазі 350 г, Ben's Original — у 220 і 250 г, корейська чаша — у 210–320 г. Ваги майже не перетинаються.
Вільне вікно — пауч 200–250 г українського виробництва: у цій вазі сьогодні тільки імпортний Ben's Original за 45–179 грн.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33 позицій за типом паковання і масою з карток продавців, 23.09.2026.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466 грн: сходи всіх 10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0954512" cy="44805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96128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1472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920" y="1920240"/>
            <a:ext cx="10972" cy="3602736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5596128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1883664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1883664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0208" y="188366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59612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14884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216712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216712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24771" y="2208276"/>
            <a:ext cx="176588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137903" y="2162556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11088" y="214426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71 – 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488996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2507284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95344" y="250728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81981" y="2548432"/>
            <a:ext cx="1739920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79285" y="2502712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31629" y="2484424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829153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МАКРО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2847441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95344" y="284744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45488" y="2888589"/>
            <a:ext cx="505096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22244" y="2842869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60312" y="2824581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96 – 135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316931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318759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5344" y="318759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6438" y="3228746"/>
            <a:ext cx="831006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554705" y="3183026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173" y="316473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80 – 144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509467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Верес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527755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5344" y="352775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96128" y="3568903"/>
            <a:ext cx="441472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61197" y="3523183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7328" y="3504895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100 – 134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3849623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Ходорівський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17520" y="3867911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386791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1050" y="3909059"/>
            <a:ext cx="1220541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801410" y="3863339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91319" y="3845051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105 – 199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4189780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17520" y="4208068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95344" y="420806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51746" y="4249216"/>
            <a:ext cx="27432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664878" y="4203496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61474" y="418520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189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4529937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17520" y="4548225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95344" y="454822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19188" y="4589373"/>
            <a:ext cx="1700966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82900" y="4543653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29882" y="4525365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225 – 356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4870094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17520" y="488838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95344" y="488838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87791" y="4929530"/>
            <a:ext cx="1960656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73597" y="4883810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8175" y="486552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315 – 466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5210251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5228539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95344" y="522853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088758" y="5269687"/>
            <a:ext cx="27432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001890" y="5223967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198486" y="5205679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446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81981" y="5852160"/>
            <a:ext cx="2012594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81981" y="59436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вікно мережевої полиці: 45–200 грн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6676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5840" y="5870448"/>
            <a:ext cx="5449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Гарнір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546250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715414" y="5870448"/>
            <a:ext cx="4425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153412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22576" y="5870448"/>
            <a:ext cx="5961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Пауч UA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914192" y="590245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083356" y="5870448"/>
            <a:ext cx="80101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C2235"/>
                </a:solidFill>
                <a:latin typeface="Segoe UI"/>
              </a:rPr>
              <a:t>Пауч імпорт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сайті продавця, 23.09.2026. Оптові пороги (у частини продавців діє нижча ціна від 3–20 шт) у розрахунок не входять.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на полиці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жодного пауча з готовим рисом. Натомість мають консерву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52" y="1828800"/>
            <a:ext cx="925950" cy="13533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50592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23744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634" y="1828800"/>
            <a:ext cx="961563" cy="1353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69464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9464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70832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883" y="1828800"/>
            <a:ext cx="899240" cy="135331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16552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455" y="1828800"/>
            <a:ext cx="988273" cy="135331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63640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65008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110728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0728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8944" y="1719072"/>
            <a:ext cx="1755648" cy="26151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12096" y="1792224"/>
            <a:ext cx="1609344" cy="1426463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57816" y="3255263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57816" y="3602735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57816" y="3767327"/>
            <a:ext cx="15179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7816" y="4023359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3504" y="4517136"/>
            <a:ext cx="82296" cy="177393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4681728"/>
            <a:ext cx="48097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5010912"/>
            <a:ext cx="4809744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готування, уже на полиці мережі, з українським виробником.
Бляшанку не можна поставити в мікрохвильовку — у цьому перевага пауча. Але орієнтир ціни задає саме вона, а не Ottogi за 252 грн.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9632" y="4517136"/>
            <a:ext cx="5358384" cy="17739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55664" y="466344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55664" y="49377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 · бляшанка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15984" y="4983480"/>
            <a:ext cx="434340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23476" y="4928616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519379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 250 г · медіана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15984" y="5239512"/>
            <a:ext cx="620485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9621" y="518464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5449824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Український пауч 350 г · медіана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15984" y="5495544"/>
            <a:ext cx="696322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85458" y="54406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101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7058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 · лоток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15984" y="5751576"/>
            <a:ext cx="1013460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02596" y="569671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147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9618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 247–320 г ·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015984" y="6007608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26496" y="595274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252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шість позицій — суміжна категорія, у 33 позицій дослідження вони не входять: бляшанку не розігрівають у мікрохвильовці.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Три типи каналів, 16 продавців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Мережа є лише в одного бренду. Українське виробництво в мережі не представлене взагалі.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82296" cy="78638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03120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 — 10 позицій. Інших брендів категорії немає.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4" y="1883664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883664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9648" y="197510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615184"/>
            <a:ext cx="10954512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3504" y="2615184"/>
            <a:ext cx="82296" cy="78638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743200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B5EA7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80944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Ottogi, Bibigo, Clearspring. Вузький канал, висока ціна.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3984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139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7139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0294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0294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1270" y="2761488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1270" y="2761488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4425" y="276148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4425" y="276148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99648" y="285292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" y="3493008"/>
            <a:ext cx="10954512" cy="1042415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04" y="3493008"/>
            <a:ext cx="82296" cy="1042415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3621024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37A169"/>
                </a:solidFill>
                <a:latin typeface="Segoe UI"/>
              </a:rPr>
              <a:t>PROM ТА ФІРМОВІ МАГАЗИНИ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" y="3858768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Увесь український реторт-пауч і Adventure Menu.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3984" y="3639312"/>
            <a:ext cx="108996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3639312"/>
            <a:ext cx="108996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portion.com.ua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43676" y="3639312"/>
            <a:ext cx="592531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43676" y="3639312"/>
            <a:ext cx="5925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СУХПАЙ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45936" y="3639312"/>
            <a:ext cx="779068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5936" y="3639312"/>
            <a:ext cx="7790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732" y="3639312"/>
            <a:ext cx="90342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732" y="3639312"/>
            <a:ext cx="90342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Мартел-shop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47888" y="3639312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3639312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Козуб Маркет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3222" y="3639312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3222" y="3639312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Смачна адреса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43984" y="3950208"/>
            <a:ext cx="965606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43984" y="3950208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Продукт-Shop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19318" y="3950208"/>
            <a:ext cx="1027785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19318" y="3950208"/>
            <a:ext cx="102778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Euro-komplekt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56832" y="3950208"/>
            <a:ext cx="654710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56832" y="3950208"/>
            <a:ext cx="65471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21270" y="3950208"/>
            <a:ext cx="71688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21270" y="3950208"/>
            <a:ext cx="71688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99648" y="385876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10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 — перевірено через API zakaz.ua 23.09.2026.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4700016"/>
            <a:ext cx="5358384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37376" y="4828032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походження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37376" y="5065776"/>
            <a:ext cx="48828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виробляє Mars, заводи у Франції та Німеччині. Український пауч — Верес, Ходорівський м'ясокомбінат, «Маркел», «МАКРО», Portion. Імпортера в картках продавців не вказано.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504" y="5742432"/>
            <a:ext cx="10954512" cy="548640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3504" y="5742432"/>
            <a:ext cx="82296" cy="5486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943600"/>
            <a:ext cx="10405872" cy="182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Головна дірка каналу: український виробник робить найдешевший за грам продукт категорії — і не має жодної мережевої полиці.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Чотири факти і три обмеження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нижче спирається на ціни, перевірені поштучно 23 вересня 2026 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Категорія мала, але росте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у 2025-му, +59 % за рік і рекорд за вартістю. На особу це у 20 разів менше за ЄС.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19072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9632" y="1719072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865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Гарнір тримає один бренд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5798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Ben's Original — 10 позицій у «Сільпо» за 45–179 грн. Другого бренду чистого готового рису на ринку немає.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Українці виграють за ціною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Реторт-пауч 350 г за 71–199 грн, медіана 101 грн. Це більша порція за ту саму ціну, що імпортний гарнір 220–250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5214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5214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Мережі закриті для категорії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З 33 позицій у мережі продаються 10, і всі — Ben's. Український пауч живе на Prom і у фірмових магазинах.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15968"/>
            <a:ext cx="10954512" cy="1426464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3504" y="4315968"/>
            <a:ext cx="82296" cy="142646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480559"/>
            <a:ext cx="10405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104058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обсяги: ємність на слайді 03 порахована за імпортом, а не заміряна.
2. Обсягу українського виробництва. Верес, «МАКРО», «Маркел», Portion виробляють у країні, тож у митну статистику не потрапляють — реальна категорія більша за 182 тонни.
3. Імпортерів. У картках продавців їх не вказано; перелік дасть лише вивантаження Держмитслужби за УКТЗЕД 1904 90 10 за 2024–2025 рр.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33 позицій, 10 брендів, 16 продавців, 17 мереж. Зріз 23 вересня 2026 р. Предмет: рис кімнатного зберігання, який лише розігрівають.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