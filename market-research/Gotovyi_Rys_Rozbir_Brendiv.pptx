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3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Relationship Id="rId13" Type="http://schemas.openxmlformats.org/officeDocument/2006/relationships/image" Target="../media/image16.jpg"/><Relationship Id="rId14" Type="http://schemas.openxmlformats.org/officeDocument/2006/relationships/image" Target="../media/image17.jpg"/><Relationship Id="rId15" Type="http://schemas.openxmlformats.org/officeDocument/2006/relationships/image" Target="../media/image1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image" Target="../media/image6.jpg"/><Relationship Id="rId10" Type="http://schemas.openxmlformats.org/officeDocument/2006/relationships/image" Target="../media/image25.jpg"/><Relationship Id="rId11" Type="http://schemas.openxmlformats.org/officeDocument/2006/relationships/image" Target="../media/image26.jpg"/><Relationship Id="rId12" Type="http://schemas.openxmlformats.org/officeDocument/2006/relationships/image" Target="../media/image2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jpg"/><Relationship Id="rId4" Type="http://schemas.openxmlformats.org/officeDocument/2006/relationships/image" Target="../media/image4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5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Relationship Id="rId9" Type="http://schemas.openxmlformats.org/officeDocument/2006/relationships/image" Target="../media/image45.jpg"/><Relationship Id="rId10" Type="http://schemas.openxmlformats.org/officeDocument/2006/relationships/image" Target="../media/image46.jpg"/><Relationship Id="rId11" Type="http://schemas.openxmlformats.org/officeDocument/2006/relationships/image" Target="../media/image47.jpg"/><Relationship Id="rId12" Type="http://schemas.openxmlformats.org/officeDocument/2006/relationships/image" Target="../media/image4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Relationship Id="rId12" Type="http://schemas.openxmlformats.org/officeDocument/2006/relationships/image" Target="../media/image64.jpg"/><Relationship Id="rId13" Type="http://schemas.openxmlformats.org/officeDocument/2006/relationships/image" Target="../media/image6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Relationship Id="rId9" Type="http://schemas.openxmlformats.org/officeDocument/2006/relationships/image" Target="../media/image72.jpg"/><Relationship Id="rId10" Type="http://schemas.openxmlformats.org/officeDocument/2006/relationships/image" Target="../media/image7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Relationship Id="rId9" Type="http://schemas.openxmlformats.org/officeDocument/2006/relationships/image" Target="../media/image80.jpg"/><Relationship Id="rId10" Type="http://schemas.openxmlformats.org/officeDocument/2006/relationships/image" Target="../media/image81.jpg"/><Relationship Id="rId11" Type="http://schemas.openxmlformats.org/officeDocument/2006/relationships/image" Target="../media/image82.jpg"/><Relationship Id="rId12" Type="http://schemas.openxmlformats.org/officeDocument/2006/relationships/image" Target="../media/image83.jpg"/><Relationship Id="rId13" Type="http://schemas.openxmlformats.org/officeDocument/2006/relationships/image" Target="../media/image8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133087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6CEE2"/>
                </a:solidFill>
                <a:latin typeface="Segoe UI"/>
              </a:rPr>
              <a:t>Розбір кожного бренду: SKU, упаковка, ціна, канал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48828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FA9C4"/>
                </a:solidFill>
                <a:latin typeface="Segoe UI"/>
              </a:rPr>
              <a:t>23 бренди · 83 позиції з пакшотом і ціною · 56 продавців
Зріз українських онлайн-вітрин і мереж: 22–23 вересня 2026 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n_scallop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094494"/>
            <a:ext cx="1856232" cy="17612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3328416"/>
            <a:ext cx="1664208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345065"/>
            <a:ext cx="1856232" cy="163090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52944" y="5266944"/>
            <a:ext cx="4453128" cy="1188720"/>
          </a:xfrm>
          <a:prstGeom prst="roundRect">
            <a:avLst>
              <a:gd name="adj" fmla="val 12000"/>
            </a:avLst>
          </a:prstGeom>
          <a:solidFill>
            <a:srgbClr val="262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394960"/>
            <a:ext cx="405993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Ben's Original · Ottogi · Henan · Haidilao · Bibigo · Clearspring · Portion · Маркел · Gallina Blanca · Mo Xiao Xian · Zihaiguo · Rongcheng Haoji · Qiaoshanmei · Travellunch · Trek'n Eat · Mountain House · Adventure Food · Adventure Menu · SubliMate · James Cook · Їжа в Похід · Харчі · !FEST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23 бренди, чотири технології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Групування за тим, як продукт готується. Кожен бренд далі розібрано окремо.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578608" cy="261518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7510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ГОТОВИЙ РИС · РОЗІГРІВ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31136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30 позицій · 7 брендів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968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Ben's Original · Ottogi · Bibigo · Clearspring · Portion · Маркел · Adventure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Мікрохвильовка 60–90 с або реторт. Маса готової страви.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85615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5993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A50B"/>
                </a:solidFill>
                <a:latin typeface="Segoe UI"/>
              </a:rPr>
              <a:t>45 – 446 грн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1773936"/>
            <a:ext cx="2578608" cy="261518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0712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197510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4F7C"/>
                </a:solidFill>
                <a:latin typeface="Segoe UI"/>
              </a:rPr>
              <a:t>ЗАЛИТИ ОКРОПОМ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231136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12 позицій · 3 бренди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25968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Henan · Gallina Blanca · Qiaoshanmei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310128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Сухий рис із соусом у чаші чи пакеті, 5–10 хв.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0168" y="3785615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877056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405993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83 – 501 грн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773936"/>
            <a:ext cx="2578608" cy="261518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197510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231136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14 позицій · 4 бренди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25968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Haidilao · Mo Xiao Xian · Zihaiguo · Rongcheng Haoji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3310128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Хімічний нагрівач у коробці, без техніки, 15 хв.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37376" y="3785615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877056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05993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Segoe UI"/>
              </a:rPr>
              <a:t>380 – 1 190 грн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5128" y="1773936"/>
            <a:ext cx="2578608" cy="261518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25128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197510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9EA6"/>
                </a:solidFill>
                <a:latin typeface="Segoe UI"/>
              </a:rPr>
              <a:t>СУБЛІМАЦІЯ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2231136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27 позицій · 10 брендів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25968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Travellunch · Trek'n Eat · Mountain House · Adventure Food · Adventure Menu · SubliMate · James Cook · Їжа в Похід · Харчі · !FEST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4" y="3310128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Сушіння виморожуванням, окріп. Туризм і армія.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3785615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4584" y="3877056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405993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55 – 889 грн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4572000"/>
            <a:ext cx="10954512" cy="1773936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3504" y="4572000"/>
            <a:ext cx="91440" cy="17739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473659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C95C"/>
                </a:solidFill>
                <a:latin typeface="Segoe UI"/>
              </a:rPr>
              <a:t>Що показує розбір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" y="516178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43584" y="510235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Ben's Original — 13 позицій, єдиний бренд у мережі («Сільпо»).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2124" y="54452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43584" y="538581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Ottogi і Henan — 18 азійських рисових чаш; Henan удвічі дешевший за упаковку.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124" y="57287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43584" y="5669279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Українське виробництво: Portion і Маркел (реторт 350 г) та 4 сублімати.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2124" y="601217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43584" y="5952743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Саморозігрів — 380–1 190 грн за упаковку, найдорожча технологія.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809744"/>
            <a:ext cx="36576" cy="13167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0256" y="47548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9C2DA"/>
                </a:solidFill>
                <a:latin typeface="Segoe UI"/>
              </a:rPr>
              <a:t>Медіана готового рису для розігріву (30 позицій) — 73 грн за 100 г.
У мережі продається 11 позицій із 83. Решта 72 — лише онлайн: маркетплейси, азійські фудшопи, туристичні й військові магазини.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17 мереж на zakaz.ua, «Сільпо», Prom, MAUDAU, Rozetka, спеціалізовані магазини — 22–23.09.2026.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1 · BEN'S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13 позицій: пауч 220, 240 і 250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Найглибша лінійка категорії і єдиний бренд, що дійшов до мережевої полиці.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пауч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45–179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18–81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70" y="2395728"/>
            <a:ext cx="546395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49424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428" y="2395728"/>
            <a:ext cx="549014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95144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95144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95144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95144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95144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40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22192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ens_mediterr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379" y="2395728"/>
            <a:ext cx="544649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67912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67912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67912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67912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2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21808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94960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274" y="2395728"/>
            <a:ext cx="546395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40680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94576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67728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805" y="2395728"/>
            <a:ext cx="556869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13448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13448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13448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13448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13448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67344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540496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2229" y="2395728"/>
            <a:ext cx="531557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586216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86216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86216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86216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86216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40112" y="2286000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113264" y="235915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bens_basmati2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3650" y="2395728"/>
            <a:ext cx="554251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158984" y="3236976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58984" y="358444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58984" y="3749039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100–144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58984" y="399592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45–65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58984" y="415137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Сільпо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4" y="4370832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76656" y="4443984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660" y="4480560"/>
            <a:ext cx="549014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2376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50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176272" y="4370832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2249424" y="4443984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1954" y="4480560"/>
            <a:ext cx="569962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295144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95144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95144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95144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65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95144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49040" y="4370832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822192" y="4443984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bens_stickybow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2653" y="4480560"/>
            <a:ext cx="514100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67912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67912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67912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67912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67912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21808" y="4370832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394960" y="4443984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bens_sweetchili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81418" y="4480560"/>
            <a:ext cx="562106" cy="76809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440680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40680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40680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40680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0680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894576" y="4370832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6967728" y="4443984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bens_bio24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4231" y="4480560"/>
            <a:ext cx="1002016" cy="76809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013448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Bio Basmati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13448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13448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13448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13448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467344" y="4370832"/>
            <a:ext cx="148132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540496" y="4443984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bens_lang220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4193" y="4480560"/>
            <a:ext cx="1107629" cy="768096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586216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86216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86216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86216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 грн/100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86216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каталог «Сільпо» (11 позицій), MAUDAU, Edison Lee — 22.09.2026. Basmati 220 г: 100 грн у MAUDAU і 144 грн у «Сільпо». На картках двох позицій Edison Lee — фото заводського ящика 6×; ціна й маса — за один пауч.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2 · OTTOGI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висока чаша 217–320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 із наповнювачем для мікрохвильовки. Республіка Корея, чотири продавці.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Республіка Корея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79–130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t_bulgo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574" y="2395728"/>
            <a:ext cx="879267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89504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ottogi_hambur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565" y="2395728"/>
            <a:ext cx="864980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5224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5224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4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5224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5224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02352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ot_pork3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270" y="2395728"/>
            <a:ext cx="879267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8072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8072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8072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2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8072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42048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5200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ot_chicken_ri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2395728"/>
            <a:ext cx="768096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60920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255–260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82–84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Gurmissimo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54896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28048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ot_octop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2428" y="2395728"/>
            <a:ext cx="886342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73768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3768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73768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255–289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3768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91–103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3768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Апетіт. · Gurm.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ot_tu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094" y="4480560"/>
            <a:ext cx="97022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225–320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91–130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Gurmissimo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6352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889504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ot_bibimb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9948" y="4480560"/>
            <a:ext cx="874214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5224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5224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5224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5224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94–124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5224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0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102352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ot_pork_spic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6732" y="4480560"/>
            <a:ext cx="886342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8072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8072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8072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334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8072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124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8072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42048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315200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ot_beef3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8704" y="4480560"/>
            <a:ext cx="768096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60920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60920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920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356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60920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20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54896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528048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ottogi_jjampong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77872" y="4480560"/>
            <a:ext cx="875454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73768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Jjampong: рис у супі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73768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73768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73768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117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73768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Pulsar, Апетітаріум, Gurmissimo, Тайякі Март — 22.09.2026. Тунець 247 г: 225 грн у «Тайякі Март» і 320 грн у Gurmissimo — різниця 42 %.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3 · HENAN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8 позицій: рисова чаша 144 і 174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Китайський рис у чаші, заливається окропом на 8 хвилин. На упаковці — марка Xiao Guo Zao.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Xiao Guo Zao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83–156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58–106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n_braised1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97" y="2395728"/>
            <a:ext cx="821660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129–156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74–90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СНЕКІС · DCM · Апетіт.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38144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249" y="2395728"/>
            <a:ext cx="809532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83864" y="32369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Гребінці та гриби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35844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374903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140–156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99592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80–90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3864" y="4151376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Gurm. · DCM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99632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hn_sausage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274" y="2395728"/>
            <a:ext cx="802458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45352" y="32369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Кантонська ковбаска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5844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374903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399592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151376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61120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hn_pepperbeef1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912" y="2395728"/>
            <a:ext cx="774159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32369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5844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74903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99592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151376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76656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hn_pepperchicken1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79" y="4480560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2376" y="5321808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перцем чилі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" y="566928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" y="5833872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112–150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" y="608076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64–86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623620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· СНЕКІС · DCM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64992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438144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n_spicychicken14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270" y="4480560"/>
            <a:ext cx="805490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483864" y="5321808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4" y="566928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3864" y="5833872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3864" y="608076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3864" y="623620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80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99632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hn_sweetsourbeef14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250" y="4480560"/>
            <a:ext cx="118650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245352" y="5321808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Кисло-солодка яловичина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5352" y="566928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5352" y="5833872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135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5352" y="608076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5352" y="623620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87968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961120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n_eggplant14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7957" y="4480560"/>
            <a:ext cx="10500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006840" y="5321808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баклажанами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6840" y="566928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5833872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152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6840" y="6080760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106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623620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MAUDAU, Апетітаріум, Gurmissimo, OMG! Asia, СНЕКІС, DCM — 22–23.09.2026. Маса — сухого продукту до заливання. Чаша Henan (83–156 грн) удвічі дешевша за Ottogi (225–356 грн).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4–8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Bibigo, Clearspring, Portion, Маркел, Gallina Blanca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По одній-дві позиції в кожного: різні країни, різні формати, різні канали.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ibigo_bow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44873"/>
            <a:ext cx="1481328" cy="14880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BIBIGO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135–189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64–90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Смак Кореї · Rozetka · Prom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6934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20086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earsp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950" y="1903343"/>
            <a:ext cx="1481328" cy="17711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5806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Brown &amp; Wild 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5806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CLEARSPRING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5806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252–446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5806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101–178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5806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спец. магазини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0364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3516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3516" y="2679191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9236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куркою та овочами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9236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PORTION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9236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109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9236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31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9236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Rozetka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33795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06947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k_rice3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811" y="1855413"/>
            <a:ext cx="1481328" cy="18670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52667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2667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2667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94–96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2667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2667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СУХПАЙ · UPcompany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7225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50377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yt_beef8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241" y="2048255"/>
            <a:ext cx="1481328" cy="14813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96097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6097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6097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6097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6097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0656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93808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yt_teriyaki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8672" y="2048255"/>
            <a:ext cx="1481328" cy="14813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39528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теріякі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9528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9528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9528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33502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33502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212080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77840"/>
            <a:ext cx="104058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Portion і Маркел — українське реторт-виробництво 350 г за 94–109 грн: найдешевший грам категорії, 27–31 грн за 100 г. Bibigo — той самий товар у трьох каналах, розкид 40 %. Clearspring — органіка, найдорожчий грам серед паучів. Gallina Blanca Yatekomo — 84 г сухого рису в чаші, заливається окропом.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Смак Кореї, Rozetka, Prom, MAUDAU, СУХПАЙ, UPcompany, «Товари з Іспанії» — 22–23.09.2026. Фото Portion: Rozetka не віддає зображення картки.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9 · HAIDILAO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саморозігрівальна коробка 165–360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Хімічний нагрівач у коробці — готується без мікрохвильовки й окропу. Китай.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саморозігрів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коробка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380–1 190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230–371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d_stewed_chicken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34" y="2395728"/>
            <a:ext cx="753946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Stewed Chicken*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165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Sweet Svitt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89504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hd_beef_curry2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395728"/>
            <a:ext cx="768096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5224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карі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5224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4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770–799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5224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283–294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5224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02352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hd_beef_stew2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855" y="2395728"/>
            <a:ext cx="768096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8072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яловичина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8072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8072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2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8072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42048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5200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hd_tomato_beef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3650" y="2395728"/>
            <a:ext cx="778202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60920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Томати й грудинка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54896" y="2286000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28048" y="2359152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hd_canton1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1552" y="2395728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73768" y="3236976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Кантонський стиль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3768" y="358444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73768" y="3749039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3768" y="399592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364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3768" y="4151376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hd_stew_chicken18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4480560"/>
            <a:ext cx="76809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650–680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348–364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Desna · Tactico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6352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889504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hd_pork_fish1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008" y="4480560"/>
            <a:ext cx="76809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5224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рибний смак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5224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5224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5224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5224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0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102352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hd_teriyaki18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8169" y="4480560"/>
            <a:ext cx="8034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8072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теріякі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8072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181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8072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650–660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8072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359–365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8072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Шериф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42048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315200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hd_spicy_chicken17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1522" y="4480560"/>
            <a:ext cx="802458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60920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курячий соус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60920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175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920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60920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20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54896" y="4370832"/>
            <a:ext cx="212140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528048" y="4443984"/>
            <a:ext cx="1975103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hd_porkbelly36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31552" y="4480560"/>
            <a:ext cx="768096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73768" y="5321808"/>
            <a:ext cx="1883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Грудинка з гірчичною зеленню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73768" y="566928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73768" y="583387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1 190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73768" y="6080760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331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73768" y="6236208"/>
            <a:ext cx="18836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Daruy, Tactico, Desna, Sweet Svitt, «Шериф» — 22–23.09.2026. Найдорожча упаковка категорії — 1 190 грн за 360 г. * Sweet Svitt: назва картки Stewed Chicken, на фото — рис з яловичиною та грибами.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10–13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Mo Xiao Xian, Zihaiguo, Rongcheng Haoji, Qiaoshanmei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Китайський саморозігрів і рис швидкого приготування. Усе — в одному магазині.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x_beef_bambo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48255"/>
            <a:ext cx="1481328" cy="148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бамбуком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6934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20086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x_bacon_pe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950" y="2048255"/>
            <a:ext cx="1481328" cy="14813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5806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Бекон і горошок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5806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5806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5806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5806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0364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3516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s_sh_pepper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0" y="2048255"/>
            <a:ext cx="1481328" cy="14813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09236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двома перцями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9236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ZIHAIGUO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9236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735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9236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9236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33795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06947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qs_sh_braised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811" y="2048255"/>
            <a:ext cx="1481328" cy="14813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52667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свинина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2667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RONGCHENG HAOJI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2667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2667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2667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7225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50377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qs_spicybee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241" y="2048255"/>
            <a:ext cx="1481328" cy="14813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96097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6097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6097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6097" y="456285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6097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20656" y="1737360"/>
            <a:ext cx="1737360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93808" y="1810512"/>
            <a:ext cx="1591056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qs_braisedpor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8672" y="2048255"/>
            <a:ext cx="1481328" cy="14813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39528" y="3803903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по-тайванськи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4151375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9528" y="4315967"/>
            <a:ext cx="14996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9528" y="4718303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5010912"/>
            <a:ext cx="10954512" cy="133502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82296" cy="133502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212080"/>
            <a:ext cx="10405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577840"/>
            <a:ext cx="104058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Zihaiguo і Rongcheng Haoji — коробка 440 г за 735 грн: 167 грн за 100 г, грам дешевший, ніж у Haidilao (230–371). Mo Xiao Xian — 931 грн за 275 г. Qiaoshanmei — не саморозігрів, а рис у пакеті під окріп, 501 грн. Усі чотири бренди в Україні продає один магазин — «Скарби Азії».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«Скарби Азії» (Prom), 23.09.2026. Бренди Zihaiguo і Rongcheng Haoji визначено за написами на упаковці, Qiaoshanmei — за карткою продавця.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14–17 · СУБЛІМАЦІЯ, ІМПОРТ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Travellunch, Trek'n Eat, Mountain House, Adventure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Рис-страви у дойпаку: залити окропом на 8–10 хвилин. Німеччина, США, Нідерланди.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47" y="1847088"/>
            <a:ext cx="826040" cy="10241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275–515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220–412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6272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49424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l_beef_pepper1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589" y="1847088"/>
            <a:ext cx="824692" cy="10241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95144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5144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295–515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5144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236–412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95144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40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22192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tl_nasi1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485" y="1847088"/>
            <a:ext cx="800436" cy="10241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67912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912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567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912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94960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l_curry1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0019" y="1847088"/>
            <a:ext cx="844905" cy="10241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40680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515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412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94576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67728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l_strog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2893" y="1847088"/>
            <a:ext cx="824692" cy="10241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13448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8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702–811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281–324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ForCamp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67344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40496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tl_beef_pepper2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7789" y="1847088"/>
            <a:ext cx="800436" cy="10241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586216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86216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86216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811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8621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324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40112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113264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tl_nasi25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0557" y="1847088"/>
            <a:ext cx="800436" cy="102412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58984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58984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58984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889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58984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356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58984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76656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te_fis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459" y="4224528"/>
            <a:ext cx="893416" cy="102412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Риба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269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76272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249424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e_strog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4288" y="4292305"/>
            <a:ext cx="1225296" cy="88857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295144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95144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95144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715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95144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49040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822192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mh_curry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9128" y="4224528"/>
            <a:ext cx="1121150" cy="102412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67912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67912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67912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67912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635 грн/100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67912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21808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394960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af_curry14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4629" y="4224528"/>
            <a:ext cx="855685" cy="102412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440680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40680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FOOD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40680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492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40680" y="608076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337 грн/100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40680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94576" y="411480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894576" y="411480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05472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05472" y="4681728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Travellunch — 7 позицій у двох вагах, 125 і 250 г, найширша імпортна лінійка. Mountain House — найдорожчий грам категорії: 635 грн за 100 г сухої маси. Канал — туристичні й військові магазини.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Highlander, ForCamp, Військторг Гайдамака, Freeride, Kamanti, 110вольт, Клуб Мандрівник — 22–23.09.2026.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18–19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Adventure Menu і SubliMate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Adventure Menu — єдиний бренд із двома технологіями: готова страва 400 г і сублімат 110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1051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m_korma4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50" y="1847088"/>
            <a:ext cx="888026" cy="10241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94436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291839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45643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376–404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70332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94–101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85876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173736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9504" y="181051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m_w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267" y="1847088"/>
            <a:ext cx="881289" cy="10241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35224" y="294436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5224" y="3291839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345643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315–356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370332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79–89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5224" y="385876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173736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02352" y="181051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m_meatbal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612" y="1847088"/>
            <a:ext cx="850295" cy="10241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8072" y="294436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291839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345643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336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70332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385876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2048" y="173736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181051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m_korma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360" y="1847088"/>
            <a:ext cx="932495" cy="10241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60920" y="294436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291839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45643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378–483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70332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344–439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85876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54896" y="173736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28048" y="181051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m_tikka1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8186" y="1847088"/>
            <a:ext cx="936538" cy="10241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573768" y="294436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3768" y="3291839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3768" y="345643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390–483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73768" y="370332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355–439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73768" y="385876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411480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6656" y="418795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m_plov14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93" y="4224528"/>
            <a:ext cx="1290940" cy="10241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2376" y="532180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66928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583387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309–310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" y="608076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221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623620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16352" y="411480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889504" y="418795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sm_chicken_frui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2654" y="4224528"/>
            <a:ext cx="1250514" cy="102412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35224" y="532180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5224" y="566928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5224" y="583387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289–290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224" y="623620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0" y="4114800"/>
            <a:ext cx="210312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02352" y="4187952"/>
            <a:ext cx="1956815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m_green_curr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899" y="4224528"/>
            <a:ext cx="1301720" cy="102412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148072" y="5321808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48072" y="5669280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48072" y="5833872"/>
            <a:ext cx="1865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369–370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8072" y="6236208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42048" y="4114800"/>
            <a:ext cx="4315968" cy="2286000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242048" y="411480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52944" y="4315968"/>
            <a:ext cx="3767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52944" y="4681728"/>
            <a:ext cx="37673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Лінія Adventure Menu 400 г READY TO EAT — реторт без води, 79–101 грн за 100 г: у тому ж коридорі, що Ben's Original і Ottogi, але продається лише в туристичних магазинах. SubliMate — 289–370 грн за упаковку.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ForCamp, MK-Sport, Freeride, Лєєр, OXO, Palmer, Highlander, ВсеОпт, Суренж — 22–23.09.2026. Маса двох SubliMate на картках не вказана.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20–23 · СУБЛІМАЦІЯ, УКРАЇНА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James Cook, Їжа в Похід, Харчі, !FEST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Українські виробники рисових страв у дойпаку. Канал — туристичні й військові магазини.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jc_meatv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5" y="1847088"/>
            <a:ext cx="1206045" cy="10241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83–138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92–153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6272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49424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c_cur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913" y="1847088"/>
            <a:ext cx="1206045" cy="10241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95144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5144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5144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Activity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22192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jc_mashkichir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291" y="1847088"/>
            <a:ext cx="1216825" cy="102412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67912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912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912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156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2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21808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jc_ve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0442" y="1847088"/>
            <a:ext cx="1144058" cy="10241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40680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55–81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61–90 грн/100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94576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67728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yp_chicken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425" y="1847088"/>
            <a:ext cx="913629" cy="10241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13448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3448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171 грн/100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8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67344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40496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yp_veg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802" y="1847088"/>
            <a:ext cx="924410" cy="10241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86216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86216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86216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130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8621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153 грн/100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86216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40112" y="173736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113264" y="181051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kh_por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1585" y="1847088"/>
            <a:ext cx="858380" cy="10241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158984" y="294436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58984" y="329183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58984" y="345643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58984" y="385876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504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kh_riceme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934" y="4224528"/>
            <a:ext cx="866466" cy="102412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22376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76272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49424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kh_kichr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7745" y="4224528"/>
            <a:ext cx="858380" cy="102412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295144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95144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95144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95144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49040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822192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kh_plovx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7056" y="4279212"/>
            <a:ext cx="1225296" cy="91475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867912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XL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67912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67912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321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67912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21808" y="4114800"/>
            <a:ext cx="1481328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394960" y="4187952"/>
            <a:ext cx="1335024" cy="1097280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fest_plov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6578" y="4224528"/>
            <a:ext cx="991787" cy="102412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440680" y="5321808"/>
            <a:ext cx="12435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40680" y="566928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!FEST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40680" y="5833872"/>
            <a:ext cx="1243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133–140 грн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40680" y="62362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SportStorm · Kalush-Craft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94576" y="411480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894576" y="411480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05472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05472" y="4681728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5DBEA"/>
                </a:solidFill>
                <a:latin typeface="Segoe UI"/>
              </a:rPr>
              <a:t>Українські сублімати — 55–321 грн за упаковку, імпортні — 269–889 грн. James Cook — 4 рисові позиції, найширша українська лінійка. Маса на більшості карток не вказана.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Highlander, Activity, ВсеОпт, Klever-Shop, Terra Incognita, «Їжа в Похід», Харчі ТМ, Висот-Нік, SportStorm, Kalush-Craft — 22–23.09.2026.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ЯКА УПАКОВКА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Чотири типи паковання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Тип паковання визначає і спосіб приготування, і полицю, на яку товар потрапляє.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1975104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ns_basmati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870" y="2029968"/>
            <a:ext cx="705875" cy="987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316382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4198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220 – 400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69417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Original · Clearspring · Portion · Маркел · Adventure 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535424"/>
            <a:ext cx="1667865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535424"/>
            <a:ext cx="16678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19 позицій · 5 брендів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1773936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0712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57016" y="1975104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602" y="2029968"/>
            <a:ext cx="1040827" cy="9875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48456" y="316382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ЧАША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34198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84 – 320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8456" y="369417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Ottogi · Henan · Bibigo · Gallina Blanca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48456" y="4535424"/>
            <a:ext cx="1602028" cy="23774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8456" y="4535424"/>
            <a:ext cx="16020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21 позиція · 4 бренди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773936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64224" y="1975104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hd_beef_stew2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2029968"/>
            <a:ext cx="987552" cy="98755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55664" y="316382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4198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165 – 440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69417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Haidilao · Mo Xiao Xian · Zihaiguo · Rongcheng Haoji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55664" y="4535424"/>
            <a:ext cx="1602028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535424"/>
            <a:ext cx="16020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14 позицій · 4 бренди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5128" y="1773936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25128" y="177393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71432" y="1975104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l_strog1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162" y="2029968"/>
            <a:ext cx="796538" cy="9875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62872" y="316382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4198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85 – 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369417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Travellunch · Trek'n Eat · Mountain House · Adventure Food · Adventure Menu · ще 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62872" y="4535424"/>
            <a:ext cx="173370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4535424"/>
            <a:ext cx="173370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29 позицій · 11 брендів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510235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ПОЗИЦІЙ У КОЖНІЙ ВАЗІ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870448"/>
            <a:ext cx="969264" cy="219456"/>
          </a:xfrm>
          <a:prstGeom prst="roundRect">
            <a:avLst>
              <a:gd name="adj" fmla="val 16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до 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5650992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E9EA6"/>
                </a:solidFill>
                <a:latin typeface="Segoe UI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83664" y="5678424"/>
            <a:ext cx="969264" cy="411480"/>
          </a:xfrm>
          <a:prstGeom prst="roundRect">
            <a:avLst>
              <a:gd name="adj" fmla="val 16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8366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110–150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83664" y="5458968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E9EA6"/>
                </a:solidFill>
                <a:latin typeface="Segoe UI"/>
              </a:rPr>
              <a:t>13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63824" y="5733288"/>
            <a:ext cx="969264" cy="356615"/>
          </a:xfrm>
          <a:prstGeom prst="roundRect">
            <a:avLst>
              <a:gd name="adj" fmla="val 16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6382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165–187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3824" y="5513832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B5EA7"/>
                </a:solidFill>
                <a:latin typeface="Segoe UI"/>
              </a:rPr>
              <a:t>11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43983" y="5486400"/>
            <a:ext cx="969264" cy="603503"/>
          </a:xfrm>
          <a:prstGeom prst="roundRect">
            <a:avLst>
              <a:gd name="adj" fmla="val 16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43983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210–250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3983" y="526694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9A50B"/>
                </a:solidFill>
                <a:latin typeface="Segoe UI"/>
              </a:rPr>
              <a:t>20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24144" y="5815584"/>
            <a:ext cx="969264" cy="274320"/>
          </a:xfrm>
          <a:prstGeom prst="roundRect">
            <a:avLst>
              <a:gd name="adj" fmla="val 16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269–280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24144" y="5596128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B5EA7"/>
                </a:solidFill>
                <a:latin typeface="Segoe UI"/>
              </a:rPr>
              <a:t>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04304" y="5815584"/>
            <a:ext cx="969264" cy="274320"/>
          </a:xfrm>
          <a:prstGeom prst="roundRect">
            <a:avLst>
              <a:gd name="adj" fmla="val 16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0430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310–360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04304" y="5596128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B5EA7"/>
                </a:solidFill>
                <a:latin typeface="Segoe UI"/>
              </a:rPr>
              <a:t>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84464" y="5897880"/>
            <a:ext cx="969264" cy="192024"/>
          </a:xfrm>
          <a:prstGeom prst="roundRect">
            <a:avLst>
              <a:gd name="adj" fmla="val 16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400–440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4464" y="5678424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37A169"/>
                </a:solidFill>
                <a:latin typeface="Segoe UI"/>
              </a:rPr>
              <a:t>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64624" y="5705856"/>
            <a:ext cx="969264" cy="384048"/>
          </a:xfrm>
          <a:prstGeom prst="roundRect">
            <a:avLst>
              <a:gd name="adj" fmla="val 16000"/>
            </a:avLst>
          </a:prstGeom>
          <a:solidFill>
            <a:srgbClr val="71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64624" y="61264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1C2235"/>
                </a:solidFill>
                <a:latin typeface="Segoe UI"/>
              </a:rPr>
              <a:t>маса н/д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64624" y="548640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маса за картками товарів, 22–23.09.2026. Разом 83 позиції.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ЯКА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Коридор кожного бренду за 100 грамів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Смуга — від найдешевшої до найдорожчої позиції. Готову і суху масу порівнювати не можна.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5394960" cy="4553712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65376"/>
            <a:ext cx="4956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Маса готової страви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4956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Розігрів, реторт, саморозігрів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9968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0672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4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9544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77056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5928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56632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350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9824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5504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224" y="2432304"/>
            <a:ext cx="22860" cy="336499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088" y="224942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медіана 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650097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45837" y="2714105"/>
            <a:ext cx="498281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377257" y="269124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3773" y="2659241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F9A50B"/>
                </a:solidFill>
                <a:latin typeface="Segoe UI"/>
              </a:rPr>
              <a:t>18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75538" y="269124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35558" y="265924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29393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5488" y="3003388"/>
            <a:ext cx="18288" cy="9144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46908" y="298052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03424" y="294852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5B6B8C"/>
                </a:solidFill>
                <a:latin typeface="Segoe UI"/>
              </a:rPr>
              <a:t>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22866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49190" y="3292671"/>
            <a:ext cx="1828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480610" y="326981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7126" y="3237807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4F7C"/>
                </a:solidFill>
                <a:latin typeface="Segoe UI"/>
              </a:rPr>
              <a:t>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51794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09820" y="3581954"/>
            <a:ext cx="202213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41240" y="355909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97756" y="352709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37A169"/>
                </a:solidFill>
                <a:latin typeface="Segoe UI"/>
              </a:rPr>
              <a:t>64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43453" y="355909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3473" y="352709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7A169"/>
                </a:solidFill>
                <a:latin typeface="Segoe UI"/>
              </a:rPr>
              <a:t>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3807229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23565" y="3871237"/>
            <a:ext cx="399519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854985" y="384837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11501" y="3816373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B5EA7"/>
                </a:solidFill>
                <a:latin typeface="Segoe UI"/>
              </a:rPr>
              <a:t>79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54505" y="384837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4525" y="381637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Segoe UI"/>
              </a:rPr>
              <a:t>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4096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Adventure Menu 400 г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23565" y="4160520"/>
            <a:ext cx="174970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854985" y="41376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11501" y="410565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37A169"/>
                </a:solidFill>
                <a:latin typeface="Segoe UI"/>
              </a:rPr>
              <a:t>79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29955" y="41376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9975" y="410565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7A169"/>
                </a:solidFill>
                <a:latin typeface="Segoe UI"/>
              </a:rPr>
              <a:t>101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438579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96963" y="4449802"/>
            <a:ext cx="610233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028383" y="442694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84899" y="439493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1E9EA6"/>
                </a:solidFill>
                <a:latin typeface="Segoe UI"/>
              </a:rPr>
              <a:t>101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38617" y="442694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637" y="439493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9EA6"/>
                </a:solidFill>
                <a:latin typeface="Segoe UI"/>
              </a:rPr>
              <a:t>178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4675077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Zihaiguo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17906" y="4739085"/>
            <a:ext cx="1828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549326" y="471622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5842" y="4684221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4F7C"/>
                </a:solidFill>
                <a:latin typeface="Segoe UI"/>
              </a:rPr>
              <a:t>167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496436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Rongcheng Haoji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17906" y="5028368"/>
            <a:ext cx="18288" cy="9144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549326" y="50055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5842" y="497350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5B6B8C"/>
                </a:solidFill>
                <a:latin typeface="Segoe UI"/>
              </a:rPr>
              <a:t>167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525364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5354" y="5317651"/>
            <a:ext cx="110978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046774" y="529479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03290" y="5262787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B5EA7"/>
                </a:solidFill>
                <a:latin typeface="Segoe UI"/>
              </a:rPr>
              <a:t>230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156562" y="529479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16582" y="5262787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Segoe UI"/>
              </a:rPr>
              <a:t>371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554292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66555" y="5606934"/>
            <a:ext cx="1828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897975" y="558407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54491" y="555207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B5EA7"/>
                </a:solidFill>
                <a:latin typeface="Segoe UI"/>
              </a:rPr>
              <a:t>339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63056" y="1737360"/>
            <a:ext cx="5394960" cy="4553712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82512" y="1865376"/>
            <a:ext cx="4956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Суха маса — заливається окропом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2512" y="2103120"/>
            <a:ext cx="4956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Інстант-рис і сублімати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63840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89519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313202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38882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62564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88244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11926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37606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61289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386969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110651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836331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560013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5693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009376" y="2432304"/>
            <a:ext cx="10972" cy="3364991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735056" y="5852159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700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82512" y="2664561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122847" y="2728569"/>
            <a:ext cx="215319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054267" y="270570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10783" y="2673705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4F7C"/>
                </a:solidFill>
                <a:latin typeface="Segoe UI"/>
              </a:rPr>
              <a:t>58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269586" y="270570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29606" y="2673705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C94F7C"/>
                </a:solidFill>
                <a:latin typeface="Segoe UI"/>
              </a:rPr>
              <a:t>106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82512" y="29827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James Cook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138450" y="3046780"/>
            <a:ext cx="414411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069870" y="30239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26386" y="299191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37A169"/>
                </a:solidFill>
                <a:latin typeface="Segoe UI"/>
              </a:rPr>
              <a:t>61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484282" y="30239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644302" y="29919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7A169"/>
                </a:solidFill>
                <a:latin typeface="Segoe UI"/>
              </a:rPr>
              <a:t>153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82512" y="330098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Їжа в Похід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551099" y="3364992"/>
            <a:ext cx="79299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482519" y="33421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039035" y="331012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F9A50B"/>
                </a:solidFill>
                <a:latin typeface="Segoe UI"/>
              </a:rPr>
              <a:t>153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82512" y="3619195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852437" y="3683203"/>
            <a:ext cx="1049710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8783857" y="366034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40373" y="3628339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1E9EA6"/>
                </a:solidFill>
                <a:latin typeface="Segoe UI"/>
              </a:rPr>
              <a:t>220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833567" y="366034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93587" y="36283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9EA6"/>
                </a:solidFill>
                <a:latin typeface="Segoe UI"/>
              </a:rPr>
              <a:t>454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82512" y="393740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855646" y="4001414"/>
            <a:ext cx="1828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8787066" y="397855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43582" y="394655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4F7C"/>
                </a:solidFill>
                <a:latin typeface="Segoe UI"/>
              </a:rPr>
              <a:t>221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82512" y="4255617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Gallina Blanca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088887" y="4319625"/>
            <a:ext cx="1828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9020307" y="429676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576823" y="4264761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F9A50B"/>
                </a:solidFill>
                <a:latin typeface="Segoe UI"/>
              </a:rPr>
              <a:t>273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82512" y="457382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Adventure Food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78129" y="4637836"/>
            <a:ext cx="18288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9309549" y="46149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866065" y="458297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37A169"/>
                </a:solidFill>
                <a:latin typeface="Segoe UI"/>
              </a:rPr>
              <a:t>337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82512" y="489204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Qiaoshanmei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405829" y="4956048"/>
            <a:ext cx="1828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9337249" y="493318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893765" y="4901183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F9A50B"/>
                </a:solidFill>
                <a:latin typeface="Segoe UI"/>
              </a:rPr>
              <a:t>343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382512" y="5210251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Adventure Menu 110 г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408012" y="5274259"/>
            <a:ext cx="428936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9339432" y="525139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95948" y="5219395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1E9EA6"/>
                </a:solidFill>
                <a:latin typeface="Segoe UI"/>
              </a:rPr>
              <a:t>344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768368" y="525139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928388" y="5219395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E9EA6"/>
                </a:solidFill>
                <a:latin typeface="Segoe UI"/>
              </a:rPr>
              <a:t>439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82512" y="552846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03A5D"/>
                </a:solidFill>
                <a:latin typeface="Segoe UI"/>
              </a:rPr>
              <a:t>Mountain House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719333" y="5592470"/>
            <a:ext cx="1828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10650753" y="556961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207269" y="553760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94F7C"/>
                </a:solidFill>
                <a:latin typeface="Segoe UI"/>
              </a:rPr>
              <a:t>635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Розрахунок за масою та ціною карток, 22–23.09.2026. Медіана готового рису для розігріву (30 позицій) — 73 грн за 100 г. Позиції без маси на картці до розрахунку не входять.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56 продавців, чотири типи каналів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Категорія живе в онлайні: у мережі — лише Ben's Original у «Сільпо», 11 позицій.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55648"/>
            <a:ext cx="10954512" cy="749808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55648"/>
            <a:ext cx="82296" cy="7498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88366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9A50B"/>
                </a:solidFill>
                <a:latin typeface="Segoe UI"/>
              </a:rPr>
              <a:t>МЕРЕЖЕВИЙ РОЗДРІБ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901952"/>
            <a:ext cx="592531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901952"/>
            <a:ext cx="5925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Сільпо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1965960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578608"/>
            <a:ext cx="10954512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" y="2578608"/>
            <a:ext cx="82296" cy="7498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70662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7A169"/>
                </a:solidFill>
                <a:latin typeface="Segoe UI"/>
              </a:rPr>
              <a:t>ОНЛАЙН-СУПЕРМАРКЕТИ Й МАРКЕТПЛЕЙСИ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96265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Ben's · Henan · Bibigo · Clearspring · Portion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724912"/>
            <a:ext cx="592531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724912"/>
            <a:ext cx="5925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MAUDAU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3363" y="2724912"/>
            <a:ext cx="654710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3363" y="2724912"/>
            <a:ext cx="6547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Rozetka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27801" y="2724912"/>
            <a:ext cx="468172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7801" y="2724912"/>
            <a:ext cx="4681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Prom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2788920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37A169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401568"/>
            <a:ext cx="10954512" cy="1078992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401568"/>
            <a:ext cx="82296" cy="107899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52958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B5EA7"/>
                </a:solidFill>
                <a:latin typeface="Segoe UI"/>
              </a:rPr>
              <a:t>СПЕЦІАЛІЗОВАНІ ФУДШОПИ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785615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Ottogi · Henan · Bibigo · саморозігрів · Yatekomo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547872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1104" y="354787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Смак Кореї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3547872"/>
            <a:ext cx="90342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3547872"/>
            <a:ext cx="9034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Тайякі Март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5235" y="3547872"/>
            <a:ext cx="592531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5235" y="3547872"/>
            <a:ext cx="5925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7494" y="3547872"/>
            <a:ext cx="90342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7494" y="3547872"/>
            <a:ext cx="9034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Апетітаріум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40649" y="3547872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40649" y="354787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Gurmissimo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1625" y="3547872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91625" y="354787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Edison Lee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42601" y="3547872"/>
            <a:ext cx="779068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42601" y="3547872"/>
            <a:ext cx="7790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OMG!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877056"/>
            <a:ext cx="592531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4" y="3877056"/>
            <a:ext cx="5925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СНЕКІС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3363" y="3877056"/>
            <a:ext cx="405993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3363" y="3877056"/>
            <a:ext cx="4059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DCM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79084" y="3877056"/>
            <a:ext cx="90342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79084" y="3877056"/>
            <a:ext cx="9034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Скарби Азії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3877056"/>
            <a:ext cx="1214323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877056"/>
            <a:ext cx="121432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16291" y="3877056"/>
            <a:ext cx="90342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6291" y="3877056"/>
            <a:ext cx="9034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Sweet Svitt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3776472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7B5EA7"/>
                </a:solidFill>
                <a:latin typeface="Segoe UI"/>
              </a:rPr>
              <a:t>12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4553712"/>
            <a:ext cx="1095451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3504" y="4553712"/>
            <a:ext cx="82296" cy="107899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" y="4681727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E9EA6"/>
                </a:solidFill>
                <a:latin typeface="Segoe UI"/>
              </a:rPr>
              <a:t>ТУРИСТИЧНІ ТА ВІЙСЬКОВІ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493775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Haidilao · Adventure Menu · усі сублімати · Маркел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1104" y="4700016"/>
            <a:ext cx="65471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61104" y="4700016"/>
            <a:ext cx="6547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ALANTUR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5542" y="4700016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5542" y="470001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Highlander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76518" y="4700016"/>
            <a:ext cx="65471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76518" y="4700016"/>
            <a:ext cx="6547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ForCamp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40956" y="4700016"/>
            <a:ext cx="779068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0956" y="4700016"/>
            <a:ext cx="7790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Гайдамака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9753" y="4700016"/>
            <a:ext cx="71688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9753" y="4700016"/>
            <a:ext cx="71688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Freeride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56371" y="4700016"/>
            <a:ext cx="71688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56371" y="4700016"/>
            <a:ext cx="71688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MK-Sport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82988" y="4700016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2988" y="470001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Daruy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23068" y="4700016"/>
            <a:ext cx="65471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23068" y="4700016"/>
            <a:ext cx="6547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Tactico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61104" y="5029200"/>
            <a:ext cx="46817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61104" y="5029200"/>
            <a:ext cx="4681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Лєєр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39004" y="5029200"/>
            <a:ext cx="71688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39004" y="5029200"/>
            <a:ext cx="71688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5622" y="5029200"/>
            <a:ext cx="65471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5622" y="5029200"/>
            <a:ext cx="6547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+ ще 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44784" y="492861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1E9EA6"/>
                </a:solidFill>
                <a:latin typeface="Segoe UI"/>
              </a:rPr>
              <a:t>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" y="5815584"/>
            <a:ext cx="109545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Мережі без жодної порівнянної позиції: АТБ, Novus, Metro, Varus, Auchan, Fozzy, «Таврія В», МегаМаркет, ЕКО маркет, Ultramarket та ще 7 мереж на zakaz.ua. Перевірено онлайн 22–23.09.2026, без обходу полиці.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