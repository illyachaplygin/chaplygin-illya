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jpg"/><Relationship Id="rId4" Type="http://schemas.openxmlformats.org/officeDocument/2006/relationships/image" Target="../media/image3.jpg"/><Relationship Id="rId5" Type="http://schemas.openxmlformats.org/officeDocument/2006/relationships/image" Target="../media/image8.jpg"/><Relationship Id="rId6" Type="http://schemas.openxmlformats.org/officeDocument/2006/relationships/image" Target="../media/image9.jpg"/><Relationship Id="rId7" Type="http://schemas.openxmlformats.org/officeDocument/2006/relationships/image" Target="../media/image10.jpg"/><Relationship Id="rId8" Type="http://schemas.openxmlformats.org/officeDocument/2006/relationships/image" Target="../media/image11.jpg"/><Relationship Id="rId9" Type="http://schemas.openxmlformats.org/officeDocument/2006/relationships/image" Target="../media/image12.jpg"/><Relationship Id="rId10" Type="http://schemas.openxmlformats.org/officeDocument/2006/relationships/image" Target="../media/image13.jpg"/><Relationship Id="rId11" Type="http://schemas.openxmlformats.org/officeDocument/2006/relationships/image" Target="../media/image14.jpg"/><Relationship Id="rId12" Type="http://schemas.openxmlformats.org/officeDocument/2006/relationships/image" Target="../media/image15.jpg"/><Relationship Id="rId13" Type="http://schemas.openxmlformats.org/officeDocument/2006/relationships/image" Target="../media/image1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19.jpg"/><Relationship Id="rId6" Type="http://schemas.openxmlformats.org/officeDocument/2006/relationships/image" Target="../media/image20.jpg"/><Relationship Id="rId7" Type="http://schemas.openxmlformats.org/officeDocument/2006/relationships/image" Target="../media/image4.jpg"/><Relationship Id="rId8" Type="http://schemas.openxmlformats.org/officeDocument/2006/relationships/image" Target="../media/image2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2.jpg"/><Relationship Id="rId4" Type="http://schemas.openxmlformats.org/officeDocument/2006/relationships/image" Target="../media/image23.jpg"/><Relationship Id="rId5" Type="http://schemas.openxmlformats.org/officeDocument/2006/relationships/image" Target="../media/image24.jpg"/><Relationship Id="rId6" Type="http://schemas.openxmlformats.org/officeDocument/2006/relationships/image" Target="../media/image25.jpg"/><Relationship Id="rId7" Type="http://schemas.openxmlformats.org/officeDocument/2006/relationships/image" Target="../media/image26.jpg"/><Relationship Id="rId8" Type="http://schemas.openxmlformats.org/officeDocument/2006/relationships/image" Target="../media/image27.jpg"/><Relationship Id="rId9" Type="http://schemas.openxmlformats.org/officeDocument/2006/relationships/image" Target="../media/image6.jpg"/><Relationship Id="rId10" Type="http://schemas.openxmlformats.org/officeDocument/2006/relationships/image" Target="../media/image28.jpg"/><Relationship Id="rId11" Type="http://schemas.openxmlformats.org/officeDocument/2006/relationships/image" Target="../media/image5.jpg"/><Relationship Id="rId12" Type="http://schemas.openxmlformats.org/officeDocument/2006/relationships/image" Target="../media/image29.jpg"/><Relationship Id="rId13" Type="http://schemas.openxmlformats.org/officeDocument/2006/relationships/image" Target="../media/image30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1.jpg"/><Relationship Id="rId4" Type="http://schemas.openxmlformats.org/officeDocument/2006/relationships/image" Target="../media/image32.jpg"/><Relationship Id="rId5" Type="http://schemas.openxmlformats.org/officeDocument/2006/relationships/image" Target="../media/image33.jpg"/><Relationship Id="rId6" Type="http://schemas.openxmlformats.org/officeDocument/2006/relationships/image" Target="../media/image3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5.jpg"/><Relationship Id="rId4" Type="http://schemas.openxmlformats.org/officeDocument/2006/relationships/image" Target="../media/image36.jpg"/><Relationship Id="rId5" Type="http://schemas.openxmlformats.org/officeDocument/2006/relationships/image" Target="../media/image37.jpg"/><Relationship Id="rId6" Type="http://schemas.openxmlformats.org/officeDocument/2006/relationships/image" Target="../media/image38.jpg"/><Relationship Id="rId7" Type="http://schemas.openxmlformats.org/officeDocument/2006/relationships/image" Target="../media/image39.jpg"/><Relationship Id="rId8" Type="http://schemas.openxmlformats.org/officeDocument/2006/relationships/image" Target="../media/image4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d_bg_title.jpg"/>
          <p:cNvPicPr>
            <a:picLocks noChangeAspect="1"/>
          </p:cNvPicPr>
          <p:nvPr/>
        </p:nvPicPr>
        <p:blipFill>
          <a:blip r:embed="rId2"/>
          <a:srcRect l="0" r="0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md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475488"/>
            <a:ext cx="1773936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3504" y="1847088"/>
            <a:ext cx="493776" cy="822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2139696"/>
            <a:ext cx="6400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FC95C"/>
                </a:solidFill>
                <a:latin typeface="Segoe UI"/>
              </a:rPr>
              <a:t>ДОСЛІДЖЕННЯ РИНКУ · ВЕРЕСЕНЬ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2542032"/>
            <a:ext cx="65836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4600" b="1" i="0">
                <a:solidFill>
                  <a:srgbClr val="FFFFFF"/>
                </a:solidFill>
                <a:latin typeface="Segoe UI"/>
              </a:rPr>
              <a:t>Готовий рис
в Україні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4133087"/>
            <a:ext cx="6400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0" i="0">
                <a:solidFill>
                  <a:srgbClr val="C6CEE2"/>
                </a:solidFill>
                <a:latin typeface="Segoe UI"/>
              </a:rPr>
              <a:t>Кімнатне зберігання · розігрів · без готування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4681728"/>
            <a:ext cx="5394960" cy="50292"/>
          </a:xfrm>
          <a:prstGeom prst="rect">
            <a:avLst/>
          </a:prstGeom>
          <a:solidFill>
            <a:srgbClr val="556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4882896"/>
            <a:ext cx="630936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9FA9C4"/>
                </a:solidFill>
                <a:latin typeface="Segoe UI"/>
              </a:rPr>
              <a:t>11 брендів · 32 позиції · ціна за одну упаковку
Кожну ціну перевірено на сайті продавця 23 вересня 2026 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52944" y="877824"/>
            <a:ext cx="21488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ens_basmati2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4560" y="1005840"/>
            <a:ext cx="1385606" cy="193852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9857232" y="877824"/>
            <a:ext cx="21488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t_bibimbap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3536" y="1159649"/>
            <a:ext cx="1856232" cy="1630909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552944" y="3200400"/>
            <a:ext cx="21488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ua_veres_chicken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91608" y="3328416"/>
            <a:ext cx="1471510" cy="1664208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9857232" y="3200400"/>
            <a:ext cx="21488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ua_makro_beef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01371" y="3328416"/>
            <a:ext cx="1460561" cy="1664208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552944" y="5266944"/>
            <a:ext cx="4453128" cy="932688"/>
          </a:xfrm>
          <a:prstGeom prst="roundRect">
            <a:avLst>
              <a:gd name="adj" fmla="val 14000"/>
            </a:avLst>
          </a:prstGeom>
          <a:solidFill>
            <a:srgbClr val="262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5413248"/>
            <a:ext cx="4059936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1" i="0">
                <a:solidFill>
                  <a:srgbClr val="FFFFFF"/>
                </a:solidFill>
                <a:latin typeface="Segoe UI"/>
              </a:rPr>
              <a:t>Ben's Original · Ottogi · Bibigo · Portion · М'ясниця · Маркел · МАКРО · Верес · Ходорівський · Clearspring · Adventure Menu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Шість цифр про категорію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Предмет: рис, що зберігається за кімнатної температури і лише розігрівається.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700784" cy="17556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956815"/>
            <a:ext cx="1261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ОБСЯГ ІМПОРТУ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176272"/>
            <a:ext cx="12618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 i="0">
                <a:solidFill>
                  <a:srgbClr val="F9A50B"/>
                </a:solidFill>
                <a:latin typeface="Segoe UI"/>
              </a:rPr>
              <a:t>182 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633472"/>
            <a:ext cx="1261872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Готовий рис, CN 1904 90 10.
+59 % до 2024 року.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68880" y="1719072"/>
            <a:ext cx="1700784" cy="17556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468880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88336" y="1956815"/>
            <a:ext cx="1261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ЄМНІСТЬ РОЗДРІБУ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88336" y="2176272"/>
            <a:ext cx="12618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 i="0">
                <a:solidFill>
                  <a:srgbClr val="1E9EA6"/>
                </a:solidFill>
                <a:latin typeface="Segoe UI"/>
              </a:rPr>
              <a:t>87–110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88336" y="2633472"/>
            <a:ext cx="1261872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млн грн на рік — оцінка
за імпортом × 2,2–2,8.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34256" y="1719072"/>
            <a:ext cx="1700784" cy="17556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334256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53712" y="1956815"/>
            <a:ext cx="1261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ВІДСТАВАННЯ ВІД ЄС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2176272"/>
            <a:ext cx="12618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 i="0">
                <a:solidFill>
                  <a:srgbClr val="C94F7C"/>
                </a:solidFill>
                <a:latin typeface="Segoe UI"/>
              </a:rPr>
              <a:t>×20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2633472"/>
            <a:ext cx="1261872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0,07 $ на особу проти
1,43 $ у ЄС.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9632" y="1719072"/>
            <a:ext cx="1700784" cy="17556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99632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1956815"/>
            <a:ext cx="1261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ПОЗИЦІЙ У ПРОДАЖУ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8" y="2176272"/>
            <a:ext cx="12618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 i="0">
                <a:solidFill>
                  <a:srgbClr val="7B5EA7"/>
                </a:solidFill>
                <a:latin typeface="Segoe UI"/>
              </a:rPr>
              <a:t>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9088" y="2633472"/>
            <a:ext cx="1261872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11 брендів. 11 позицій —
українського виробництва.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65008" y="1719072"/>
            <a:ext cx="1700784" cy="17556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065008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84464" y="1956815"/>
            <a:ext cx="1261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МЕДІАНА ЗА УПАКОВКУ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84464" y="2176272"/>
            <a:ext cx="12618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 i="0">
                <a:solidFill>
                  <a:srgbClr val="37A169"/>
                </a:solidFill>
                <a:latin typeface="Segoe UI"/>
              </a:rPr>
              <a:t>118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84464" y="2633472"/>
            <a:ext cx="1261872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Діапазон 45–466 грн.
Половина позицій — до 118 грн.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30384" y="1719072"/>
            <a:ext cx="1700784" cy="17556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930384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9840" y="1956815"/>
            <a:ext cx="1261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МАСОВА ВАГА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9840" y="2176272"/>
            <a:ext cx="12618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 i="0">
                <a:solidFill>
                  <a:srgbClr val="5B6B8C"/>
                </a:solidFill>
                <a:latin typeface="Segoe UI"/>
              </a:rPr>
              <a:t>350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49840" y="2633472"/>
            <a:ext cx="1261872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11 позицій. Далі 250 г — 6,
220 г — 6.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3504" y="3675887"/>
            <a:ext cx="5358384" cy="2157984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03504" y="3675887"/>
            <a:ext cx="82296" cy="215798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" y="3840479"/>
            <a:ext cx="48097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показало дослідження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4169663"/>
            <a:ext cx="4809744" cy="1517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1. Українське виробництво в категорії вже є — і воно найдешевше: реторт-пауч 350 г за 71–199 грн, медіана 101 грн за упаковку.
2. Ben's Original — єдиний імпортний гарнір у мережі: 10 позицій у «Сільпо» за 45–179 грн.
3. Корейська чаша — найдорожчий сегмент (медіана 252 грн) і продається лише у трьох азійських магазинах.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99632" y="3675887"/>
            <a:ext cx="5358384" cy="2157984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199632" y="3675887"/>
            <a:ext cx="82296" cy="215798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10528" y="3840479"/>
            <a:ext cx="48097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Де порожньо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10528" y="4169663"/>
            <a:ext cx="4809744" cy="1517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1. Немає українського гарніру — чистого рису в паучі. Усі 11 українських позицій це рис із м'ясом, тобто повноцінна страва.
2. Немає чаші дешевше 189 грн: Bibigo 189, Ottogi 225–356.
3. Немає жодної позиції категорії в АТБ, Novus, Metro, Varus, Ашан, Fozzy та ще 11 мережах — перевірено через API 17 мереж.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Ціни: сайти продавців, 23.09.2026, за одну упаковку в роздріб. Імпорт: Eurostat Comext CN 1904 90 10 + UN Comtrade. Ємність роздрібу — оцінка, метод на слайді 03.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ОБСЯГ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182 тонн імпорту, 87–110 млн грн роздрібу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Імпорт готового рису відновився: 2025 рік — найбільший за сім років за вартістю.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6675120" cy="305409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883664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ІМПОРТ ГОТОВОГО РИСУ З ЄС, ТОНН НА РІК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274133"/>
            <a:ext cx="786384" cy="895530"/>
          </a:xfrm>
          <a:prstGeom prst="roundRect">
            <a:avLst>
              <a:gd name="adj" fmla="val 10000"/>
            </a:avLst>
          </a:prstGeom>
          <a:solidFill>
            <a:srgbClr val="C2C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3054677"/>
            <a:ext cx="896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99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4224527"/>
            <a:ext cx="896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407407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€294k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0" y="2322575"/>
            <a:ext cx="786384" cy="1847088"/>
          </a:xfrm>
          <a:prstGeom prst="roundRect">
            <a:avLst>
              <a:gd name="adj" fmla="val 10000"/>
            </a:avLst>
          </a:prstGeom>
          <a:solidFill>
            <a:srgbClr val="C2C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73936" y="2103120"/>
            <a:ext cx="896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204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73936" y="4224527"/>
            <a:ext cx="896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73936" y="4407407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€553k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0" y="2326190"/>
            <a:ext cx="786384" cy="1843473"/>
          </a:xfrm>
          <a:prstGeom prst="roundRect">
            <a:avLst>
              <a:gd name="adj" fmla="val 10000"/>
            </a:avLst>
          </a:prstGeom>
          <a:solidFill>
            <a:srgbClr val="C2C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88336" y="2106734"/>
            <a:ext cx="896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204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88336" y="4224527"/>
            <a:ext cx="896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88336" y="4407407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€567k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016589"/>
            <a:ext cx="786384" cy="1153074"/>
          </a:xfrm>
          <a:prstGeom prst="roundRect">
            <a:avLst>
              <a:gd name="adj" fmla="val 1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02736" y="2797133"/>
            <a:ext cx="896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128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02736" y="4224527"/>
            <a:ext cx="896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02736" y="4407407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€434k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0" y="3032855"/>
            <a:ext cx="786384" cy="1136808"/>
          </a:xfrm>
          <a:prstGeom prst="roundRect">
            <a:avLst>
              <a:gd name="adj" fmla="val 1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7136" y="2813399"/>
            <a:ext cx="896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126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17136" y="4224527"/>
            <a:ext cx="896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17136" y="4407407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€428k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0" y="3166597"/>
            <a:ext cx="786384" cy="1003066"/>
          </a:xfrm>
          <a:prstGeom prst="roundRect">
            <a:avLst>
              <a:gd name="adj" fmla="val 1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31536" y="2947141"/>
            <a:ext cx="896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111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31536" y="4224527"/>
            <a:ext cx="896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31536" y="4407407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€475k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2548491"/>
            <a:ext cx="786384" cy="1621172"/>
          </a:xfrm>
          <a:prstGeom prst="roundRect">
            <a:avLst>
              <a:gd name="adj" fmla="val 1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45936" y="2329035"/>
            <a:ext cx="896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9A50B"/>
                </a:solidFill>
                <a:latin typeface="Segoe UI"/>
              </a:rPr>
              <a:t>179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5936" y="4224527"/>
            <a:ext cx="896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2025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45936" y="4407407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€823k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4553712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Вартість 2025 року — 823 тис. € проти 475 тис. € у 2024-му, +73 %.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98079" y="1719072"/>
            <a:ext cx="4059936" cy="30540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35823" y="1883664"/>
            <a:ext cx="35844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ЗВІДКИ ЇДЕ, 2025 РІК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35823" y="215798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Польща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650224" y="2203703"/>
            <a:ext cx="1380728" cy="1188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04104" y="2148840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94,4 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35823" y="2468879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Болгарія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650224" y="2514599"/>
            <a:ext cx="1145244" cy="1188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868620" y="2459736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78,3 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35823" y="2779775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Італія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650224" y="2825495"/>
            <a:ext cx="81907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805283" y="2770632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5,6 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35823" y="3090671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Корея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650224" y="3136391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759952" y="3081527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2,0 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35823" y="3401567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Китай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650224" y="3447287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759952" y="3392423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1,0 т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35823" y="3767327"/>
            <a:ext cx="3584448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Польща й Болгарія — 95 % тонажу: це заводи ЄС, що пакують рис у пауч.
Корея і Китай разом 3 т — чаші Ottogi та Bibigo. Україна свій обсяг виробляє на місці, в імпорт він не входить.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03504" y="4809744"/>
            <a:ext cx="10954512" cy="1316736"/>
          </a:xfrm>
          <a:prstGeom prst="roundRect">
            <a:avLst>
              <a:gd name="adj" fmla="val 7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603504" y="4809744"/>
            <a:ext cx="82296" cy="131673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14400" y="4956048"/>
            <a:ext cx="3566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Як рахували ємність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35424" y="4956048"/>
            <a:ext cx="13533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182 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535424" y="5212080"/>
            <a:ext cx="13533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імпорт 2025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742432" y="4974336"/>
            <a:ext cx="182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943600" y="4956048"/>
            <a:ext cx="13533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39 млн грн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943600" y="5212080"/>
            <a:ext cx="13533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CIF за курсом НБУ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150608" y="4974336"/>
            <a:ext cx="182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51775" y="4956048"/>
            <a:ext cx="13533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× 2,2–2,8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51775" y="5212080"/>
            <a:ext cx="13533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мито 0 %, ПДВ, маржа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58784" y="4974336"/>
            <a:ext cx="182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759952" y="4956048"/>
            <a:ext cx="13533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87–110 млн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759952" y="5212080"/>
            <a:ext cx="13533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роздріб на рік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966960" y="4974336"/>
            <a:ext cx="182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168128" y="4956048"/>
            <a:ext cx="13533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≈ 608 тис.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68128" y="5212080"/>
            <a:ext cx="13533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упаковок на рік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14400" y="5285232"/>
            <a:ext cx="343814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 i="0">
                <a:solidFill>
                  <a:srgbClr val="B9C2DA"/>
                </a:solidFill>
                <a:latin typeface="Segoe UI"/>
              </a:rPr>
              <a:t>Це лише імпортна частина. Український реторт-пауч виробляють у країні, і в митну статистику він не потрапляє.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Eurostat Comext DS-045409, CN 1904 90 10 «рис приготовлений», експорт ЄС→Україна 2019–2025; UN Comtrade (Корея, Китай) за 2025 р.; курс НБУ, середній за 2025 р.: 47,15 грн/€. Ємність роздрібу — ОЦІНКА.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КАРТА КАТЕГОРІЇ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Чотири сегменти, 11 брендів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Усередині категорії — два формати паковання і дві ролі: гарнір або повна страва.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37360"/>
            <a:ext cx="2578608" cy="2798064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20240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9A50B"/>
                </a:solidFill>
                <a:latin typeface="Segoe UI"/>
              </a:rPr>
              <a:t>ГАРНІР У ПАУЧІ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176272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11 позицій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487168"/>
            <a:ext cx="21945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Ben's Original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090672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Чистий рис без наповнювача. Мікрохвильовка 90 с.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" y="3547872"/>
            <a:ext cx="2176272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63931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УПАКОВКУ · МЕДІАНА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380390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45 – 179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424281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1C2235"/>
                </a:solidFill>
                <a:latin typeface="Segoe UI"/>
              </a:rPr>
              <a:t>маса 220–250 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10712" y="1737360"/>
            <a:ext cx="2578608" cy="2798064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410712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11880" y="1920240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B5EA7"/>
                </a:solidFill>
                <a:latin typeface="Segoe UI"/>
              </a:rPr>
              <a:t>СТРАВА В ЧАШІ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2176272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6 позицій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2487168"/>
            <a:ext cx="21945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Ottogi · Bibigo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1880" y="3090672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Рис із м'ясом у жорсткій чаші. Мікрохвильовка 2 хв.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11880" y="3547872"/>
            <a:ext cx="2176272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11880" y="363931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УПАКОВКУ · МЕДІАНА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11880" y="380390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B5EA7"/>
                </a:solidFill>
                <a:latin typeface="Segoe UI"/>
              </a:rPr>
              <a:t>252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405993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189 – 356 грн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11880" y="424281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1C2235"/>
                </a:solidFill>
                <a:latin typeface="Segoe UI"/>
              </a:rPr>
              <a:t>маса 210–320 г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1737360"/>
            <a:ext cx="2578608" cy="2798064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217920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19088" y="1920240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37A169"/>
                </a:solidFill>
                <a:latin typeface="Segoe UI"/>
              </a:rPr>
              <a:t>СТРАВА В ПАУЧІ · УКРАЇНА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9088" y="2176272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11 позицій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19088" y="2487168"/>
            <a:ext cx="21945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Portion · М'ясниця · Маркел · МАКРО · Верес · Ходорівський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19088" y="3090672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Рис із м'ясом у реторт-паучі. Розігрів у воді або НВЧ.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19088" y="3547872"/>
            <a:ext cx="2176272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19088" y="363931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УПАКОВКУ · МЕДІАНА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19088" y="380390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7A169"/>
                </a:solidFill>
                <a:latin typeface="Segoe UI"/>
              </a:rPr>
              <a:t>101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19088" y="405993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71 – 199 грн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19088" y="424281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1C2235"/>
                </a:solidFill>
                <a:latin typeface="Segoe UI"/>
              </a:rPr>
              <a:t>маса 350 г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025128" y="1737360"/>
            <a:ext cx="2578608" cy="2798064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025128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26296" y="1920240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E9EA6"/>
                </a:solidFill>
                <a:latin typeface="Segoe UI"/>
              </a:rPr>
              <a:t>СТРАВА В ПАУЧІ · ІМПОРТ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26296" y="2176272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4 позиції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26296" y="2487168"/>
            <a:ext cx="21945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Clearspring · Adventure Menu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26296" y="3090672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Те саме, але завезене: ЄС, органіка й туристична лінійка.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226296" y="3547872"/>
            <a:ext cx="2176272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226296" y="363931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УПАКОВКУ · МЕДІАНА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26296" y="380390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E9EA6"/>
                </a:solidFill>
                <a:latin typeface="Segoe UI"/>
              </a:rPr>
              <a:t>356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26296" y="405993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315 – 466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26296" y="424281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1C2235"/>
                </a:solidFill>
                <a:latin typeface="Segoe UI"/>
              </a:rPr>
              <a:t>маса 250–400 г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03504" y="4700016"/>
            <a:ext cx="10954512" cy="1298448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03504" y="4700016"/>
            <a:ext cx="82296" cy="129844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14400" y="4864607"/>
            <a:ext cx="104058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Як читати цю карту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" y="5193792"/>
            <a:ext cx="1040587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Український реторт-пауч уже виграє за ціною: медіана 101 грн проти 90 грн у Ben's Original — але в паучі 350 г проти 220–250 г, тобто це повна страва з м'ясом, а не гарнір. Інша полиця й інший привід.
Ben's Original тримає нішу гарніру сам-один: жодного українського чистого рису в паучі на ринку немає. Корейська чаша — найдорожчий формат і найвужчий канал: три азійські магазини.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32 позицій, ціни за одну упаковку, 23.09.2026.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ФОРМАТ 1 · ПАУЧ · ГАРНІР · BEN'S ORIGINAL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11 позицій: пауч 220 і 250 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Єдиний бренд чистого готового рису на ринку. Мікрохвильовка 90 секунд.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572768"/>
            <a:ext cx="10954512" cy="60350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" y="1572768"/>
            <a:ext cx="82296" cy="60350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636776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Ben's Original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019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Mars · Франція, Німеччина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1655064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1837943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пауч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5583" y="1655064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3" y="1837943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655064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УПАКОВКУ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1837943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45–179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6064" y="1655064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МАСА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837943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220–250 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286000"/>
            <a:ext cx="1749552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76656" y="2359152"/>
            <a:ext cx="1603248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bens_longgra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5082" y="2395728"/>
            <a:ext cx="546395" cy="7680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" y="3236976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Long Grain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58444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BEN'S ORIGINAL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49039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45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" y="4005072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444496" y="2286000"/>
            <a:ext cx="1749552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2517648" y="2359152"/>
            <a:ext cx="1603248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bens_basmati2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4764" y="2395728"/>
            <a:ext cx="549014" cy="768096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563368" y="3236976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Basmati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63368" y="358444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BEN'S ORIGINAL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63368" y="3749039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63368" y="4005072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85488" y="2286000"/>
            <a:ext cx="1749552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358640" y="2359152"/>
            <a:ext cx="1603248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bens_mediterran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7939" y="2395728"/>
            <a:ext cx="544649" cy="768096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404360" y="3236976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Mediterran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04360" y="358444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BEN'S ORIGINAL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04360" y="3749039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04360" y="4005072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26479" y="2286000"/>
            <a:ext cx="1749552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199631" y="2359152"/>
            <a:ext cx="1603248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bens_risibisi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8058" y="2395728"/>
            <a:ext cx="546395" cy="768096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245351" y="3236976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Risi Bisi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45351" y="358444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BEN'S ORIGINAL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45351" y="3749039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45351" y="4005072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967472" y="2286000"/>
            <a:ext cx="1749552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8040624" y="2359152"/>
            <a:ext cx="1603248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bens_curry_indien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63813" y="2395728"/>
            <a:ext cx="556869" cy="768096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8086344" y="3236976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Indian Curry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86344" y="358444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BEN'S ORIGINAL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86344" y="3749039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086344" y="4005072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808464" y="2286000"/>
            <a:ext cx="1749552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9881616" y="2359152"/>
            <a:ext cx="1603248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bens_curry_linsen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17461" y="2395728"/>
            <a:ext cx="531557" cy="768096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9927336" y="3236976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Curry з сочевицею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27336" y="358444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BEN'S ORIGINAL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927336" y="3749039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27336" y="4005072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03504" y="4370832"/>
            <a:ext cx="1749552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676656" y="4443984"/>
            <a:ext cx="1603248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bens_mexikanisch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03772" y="4480560"/>
            <a:ext cx="549014" cy="768096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722376" y="5321808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Mexikanisch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22376" y="5669280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BEN'S ORIGINAL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2376" y="5833872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109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2376" y="6089904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444496" y="4370832"/>
            <a:ext cx="1749552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2517648" y="4443984"/>
            <a:ext cx="1603248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bens_curryreis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034290" y="4480560"/>
            <a:ext cx="569962" cy="768096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2563368" y="5321808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Curryreis Indien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563368" y="5669280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BEN'S ORIGINAL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563368" y="5833872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144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563368" y="6089904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285488" y="4370832"/>
            <a:ext cx="1749552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4358640" y="4443984"/>
            <a:ext cx="1603248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bens_basmati22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83138" y="4480560"/>
            <a:ext cx="554251" cy="7680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4404360" y="5321808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Basmati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404360" y="5669280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BEN'S ORIGINAL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404360" y="5833872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144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404360" y="6089904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126479" y="4370832"/>
            <a:ext cx="1749552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6199631" y="4443984"/>
            <a:ext cx="1603248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bens_sweetchili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20202" y="4480560"/>
            <a:ext cx="562106" cy="768096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6245351" y="5321808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Sweet Chili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245351" y="5669280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BEN'S ORIGINAL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245351" y="5833872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179 грн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45351" y="6089904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7967472" y="4370832"/>
            <a:ext cx="1749552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8040624" y="4443984"/>
            <a:ext cx="1603248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bens_lang220_single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573414" y="4480560"/>
            <a:ext cx="537667" cy="768096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8086344" y="5321808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Long Grain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86344" y="5669280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BEN'S ORIGINAL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086344" y="5833872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139 грн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086344" y="6089904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Edison Lee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Ціни каталогу «Сільпо», отримані поштучно з картки кожного товару 23.09.2026; Long Grain 220 г — Edison Lee, у картці зазначено «ціну вказано за одну порцію». Позицій Sticky Bowl 220 г і Bio Basmati 240 г тут немає: у каталозі «Сільпо» їх не залишилося, в інших продавців картки зняті — перевірено 23.09.2026.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ФОРМАТ 2 · ЧАША · OTTOGI ТА BIBIGO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6 позицій: чаша 210–320 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Рис із наповнювачем у жорсткій чаші. Корея, канал — азійські фудшопи.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2670048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2523744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ot_bulgog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6089" y="1828800"/>
            <a:ext cx="1004877" cy="87782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2779776"/>
            <a:ext cx="24323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Бульгогі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127248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OTTOGI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320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291840"/>
            <a:ext cx="24323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252–356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3547872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Тайякі · Апетітаріум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1719072"/>
            <a:ext cx="2670048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438144" y="1792224"/>
            <a:ext cx="2523744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ot_pork31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7577" y="1828800"/>
            <a:ext cx="1004877" cy="87782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483864" y="2779776"/>
            <a:ext cx="24323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Свинина з восьминогом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83864" y="3127248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OTTOGI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310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83864" y="3291840"/>
            <a:ext cx="24323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252–334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83864" y="3547872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Тайякі · Gurm. · Апетіт.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1719072"/>
            <a:ext cx="2670048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99632" y="1792224"/>
            <a:ext cx="2523744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ot_chicken_rib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2592" y="1828800"/>
            <a:ext cx="877823" cy="877823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245352" y="2779776"/>
            <a:ext cx="24323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Гострі курячі ребра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5352" y="3127248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OTTOGI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310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45352" y="3291840"/>
            <a:ext cx="24323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260–289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45352" y="3547872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Gurmissimo · Апетітаріум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887968" y="1719072"/>
            <a:ext cx="2670048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961120" y="1792224"/>
            <a:ext cx="2523744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ot_tuna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68576" y="1828800"/>
            <a:ext cx="1108830" cy="877823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9006840" y="2779776"/>
            <a:ext cx="24323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Тунець і майонез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06840" y="3127248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OTTOGI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247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06840" y="3291840"/>
            <a:ext cx="24323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225–356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06840" y="3547872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Тайякі · Gurm. · Апетіт.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3504" y="3950208"/>
            <a:ext cx="2670048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76656" y="4023360"/>
            <a:ext cx="2523744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ot_bibimbap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38976" y="4059936"/>
            <a:ext cx="999102" cy="877823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22376" y="5010912"/>
            <a:ext cx="24323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Пібімпаб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2376" y="5358384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OTTOGI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269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2376" y="5522976"/>
            <a:ext cx="24323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252–334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2376" y="5779008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Тайякі · Апетітаріум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364992" y="3950208"/>
            <a:ext cx="2670048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438144" y="4023360"/>
            <a:ext cx="2523744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bibigo_bowl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63099" y="4059936"/>
            <a:ext cx="873833" cy="877823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3483864" y="5010912"/>
            <a:ext cx="24323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Білий рис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83864" y="5358384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BIBIGO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210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83864" y="5522976"/>
            <a:ext cx="24323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189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83864" y="5779008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Тайякі Март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26480" y="3950208"/>
            <a:ext cx="5431536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126480" y="3950208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37376" y="4114800"/>
            <a:ext cx="48828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37376" y="4443984"/>
            <a:ext cx="4882896" cy="149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Найдорожчий сегмент: медіана 252 грн за чашу проти 90 грн у Ben's і 101 грн в українському паучі. Та сама позиція коштує по-різному: тунець 247 г — 225 грн у «Тайякі Март» і 356 грн в «Апетітаріум», розкид 58 %.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Ціни з карток Prom.ua 23.09.2026, роздрібні за одну чашу. У «Тайякі Март» діє нижча ціна від 15–20 шт — вона до розрахунку не бралася. Позиції Ottogi «Гамбурзький стейк» 315 г, «Чжамппонг» 217,5 г і «Кімчі» 310 г зняті: їх не продає жоден продавець. «Свинина з восьминогом» показана як одна позиція: три продавці ведуть її як три різні (310, 280 і 269 г), але на всіх трьох картках те саме фото пачки — рис 180 г плюс соус 130 г.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ФОРМАТ 3 · РЕТОРТ-ПАУЧ · УКРАЇНА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11 позицій: реторт-пауч 350 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Рис із м'ясом у реторт-паучі 350 г. Зберігання 24 місяці, розігрів без готування.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ua_portion_pa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372" y="1828800"/>
            <a:ext cx="944815" cy="87782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2779776"/>
            <a:ext cx="124880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Каша рисова з м'ясом курки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12724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PORTION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291840"/>
            <a:ext cx="1248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71–85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3547872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portion.com.ua · Prom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81497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254649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ua_myasnytsi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1516" y="1828800"/>
            <a:ext cx="726514" cy="87782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300369" y="2779776"/>
            <a:ext cx="124880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Свинина 35 %, горошок, кукурудза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00369" y="312724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М'ЯСНИЦЯ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00369" y="3291840"/>
            <a:ext cx="1248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88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00369" y="3547872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Belorfoods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59490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832642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ua_markel_soy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54524" y="1828800"/>
            <a:ext cx="696484" cy="877823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878362" y="2779776"/>
            <a:ext cx="124880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із соєвим м'ясом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78362" y="312724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МАРКЕЛ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78362" y="3291840"/>
            <a:ext cx="1248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5B6B8C"/>
                </a:solidFill>
                <a:latin typeface="Segoe UI"/>
              </a:rPr>
              <a:t>80–96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78362" y="3547872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UP Shop · СУХПАЙ · Мартел-shop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37483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410635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ua_pak_pork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65499" y="1857538"/>
            <a:ext cx="1230521" cy="820347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456355" y="2779776"/>
            <a:ext cx="124880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Свинина та овочі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56355" y="312724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МАКРО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56355" y="3291840"/>
            <a:ext cx="1248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96–135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56355" y="3547872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UP Shop · СУХПАЙ · Ліхтар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915476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988628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ua_veres_pork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72305" y="1828800"/>
            <a:ext cx="572895" cy="877823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034348" y="2779776"/>
            <a:ext cx="124880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Свинина, горошок, кукурудза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34348" y="312724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ВЕРЕС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34348" y="3291840"/>
            <a:ext cx="1248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100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34348" y="3547872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МореПродуктів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493469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566621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ua_makro_chicken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80419" y="1828800"/>
            <a:ext cx="712654" cy="877823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612341" y="2779776"/>
            <a:ext cx="124880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Курятина 35 % і овочі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12341" y="312724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МАКРО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12341" y="3291840"/>
            <a:ext cx="1248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101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12341" y="3547872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СУХПАЙ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071462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0144614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ua_makro_beef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29536" y="1828800"/>
            <a:ext cx="770406" cy="877823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0190334" y="2779776"/>
            <a:ext cx="124880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й солодкий перець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90334" y="312724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МАКРО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90334" y="3291840"/>
            <a:ext cx="1248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104–107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90334" y="3547872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UP Shop · СУХПАЙ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03504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676656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ua_khodoriv_350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7596" y="4059936"/>
            <a:ext cx="658367" cy="877823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722376" y="5010912"/>
            <a:ext cx="124880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Свинина та овочі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22376" y="5358384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ХОДОРІВСЬКИЙ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22376" y="5522976"/>
            <a:ext cx="1248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105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" y="577900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Молочний склад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181497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2254649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ua_veres_chicken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36683" y="4059936"/>
            <a:ext cx="776181" cy="877823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2300369" y="5010912"/>
            <a:ext cx="124880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Каша рисова з куркою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300369" y="5358384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ВЕРЕС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00369" y="5522976"/>
            <a:ext cx="1248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108–134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300369" y="577900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Козуб · Смачна адреса · Продукт-Sh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759490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3832642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ua_markel_eat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62610" y="4059936"/>
            <a:ext cx="680313" cy="877823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3878362" y="5010912"/>
            <a:ext cx="124880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із рослинним фаршем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878362" y="5358384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МАРКЕЛ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878362" y="5522976"/>
            <a:ext cx="1248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5B6B8C"/>
                </a:solidFill>
                <a:latin typeface="Segoe UI"/>
              </a:rPr>
              <a:t>127–144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78362" y="577900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UP Shop · СУХПАЙ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337483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5410635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ua_khodoriv_pork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723855" y="4059936"/>
            <a:ext cx="713809" cy="877823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5456355" y="5010912"/>
            <a:ext cx="124880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Свинина, горошок, кукурудза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56355" y="5358384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ХОДОРІВСЬКИЙ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56355" y="5522976"/>
            <a:ext cx="1248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140–199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56355" y="577900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Foodi Shop · Food Shop · МореПроду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915476" y="3950208"/>
            <a:ext cx="4642539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6915476" y="3950208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226372" y="4114800"/>
            <a:ext cx="409389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226372" y="4443984"/>
            <a:ext cx="4093899" cy="149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Найдешевший сегмент категорії: 71–199 грн за пауч 350 г, медіана 101 грн. Виробництво українське, тому ці позиції не потрапляють в імпортну статистику на слайді 03 — реальна категорія більша за 182 тонни.
Канал вузький: Prom і фірмові магазини, у мережах цих брендів немає.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Ціни з карток продавців на Prom.ua і з фірмового магазину portion.com.ua, 23.09.2026, за один пауч. Оптові пороги від 3–12 шт не бралися.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ФОРМАТ 4 · РЕТОРТ-ПАУЧ · ІМПОРТ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4 позиції: реторт-пауч 250 і 400 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Той самий формат, але завезений: британська органіка й чеська туристична лінійка.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2670048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2523744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learspr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813" y="1828800"/>
            <a:ext cx="1575428" cy="188366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3785615"/>
            <a:ext cx="24323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Brown &amp; Wild Rice, тамарі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4133087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CLEARSPRING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4297679"/>
            <a:ext cx="24323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446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4553712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1719072"/>
            <a:ext cx="2670048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438144" y="1792224"/>
            <a:ext cx="2523744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am_wil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9544" y="1828800"/>
            <a:ext cx="1620942" cy="188366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483864" y="3785615"/>
            <a:ext cx="24323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в томатному соусі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83864" y="4133087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83864" y="4297679"/>
            <a:ext cx="24323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315–357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83864" y="4553712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Freeride · MK-Sport · Лєєр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1719072"/>
            <a:ext cx="2670048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99632" y="1792224"/>
            <a:ext cx="2523744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am_meatball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9535" y="1828800"/>
            <a:ext cx="1563936" cy="1883663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245352" y="3785615"/>
            <a:ext cx="24323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Тефтелі з басматі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5352" y="4133087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45352" y="4297679"/>
            <a:ext cx="24323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336–466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45352" y="4553712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Freeride · OXO · Лєєр · MK · Palme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887968" y="1719072"/>
            <a:ext cx="2670048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961120" y="1792224"/>
            <a:ext cx="2523744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am_korma40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6324" y="1828800"/>
            <a:ext cx="1633334" cy="1883663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9006840" y="3785615"/>
            <a:ext cx="24323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Chicken Korma з рисом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06840" y="4133087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06840" y="4297679"/>
            <a:ext cx="24323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376–404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06840" y="4553712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ALANTUR · Modern Shop · MK-Sport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3504" y="5010912"/>
            <a:ext cx="10954512" cy="1298448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03504" y="5010912"/>
            <a:ext cx="82296" cy="129844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175504"/>
            <a:ext cx="104058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5504688"/>
            <a:ext cx="1040587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Adventure Menu 400 г READY TO EAT — найбільша упаковка категорії, 315–466 грн, канал туристичний. Clearspring 250 г за 446 грн — найдорожчий пауч ринку: органічна сертифікація й дикий рис.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Ціни з карток Prom.ua 23.09.2026 за одну упаковку.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ФОРМАТ І ГРАМАЖ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Пауч — 26 позицій із 32, масова вага 350 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Два формати паковання. Кожен тримає свою вагу — платформи майже не перетинаються.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2578608" cy="45171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" y="1719072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9808" y="1901952"/>
            <a:ext cx="2286000" cy="140817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ua_veres_chick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757" y="1956816"/>
            <a:ext cx="1148101" cy="12984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60" y="3401568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ПАУЧ · РЕТОРТ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675887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3675887"/>
            <a:ext cx="1738503" cy="16459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895344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26 позицій · 81 % · 9 брендів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187952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279392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УПАКОВКУ, МЕДІАНА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425696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104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700016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СЕРЕДНЯ МАСА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846320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350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120640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266944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45 – 466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541264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87568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220 – 400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90702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Плаский реторт-пауч. Займає менше місця на полиці, дешевший у логістиці, тримає 24 місяці. Формат, у якому працюють і Ben's, і всі українці.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10712" y="1719072"/>
            <a:ext cx="2578608" cy="45171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410712" y="1719072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557016" y="1901952"/>
            <a:ext cx="2286000" cy="140817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ot_bibimba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1096" y="1956816"/>
            <a:ext cx="1477838" cy="129844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630168" y="3401568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B5EA7"/>
                </a:solidFill>
                <a:latin typeface="Segoe UI"/>
              </a:rPr>
              <a:t>ЧАША · СТАКАН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630168" y="3675887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630168" y="3675887"/>
            <a:ext cx="401193" cy="164592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30168" y="3895344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6 позицій · 19 % · 2 бренди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30168" y="4187952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30168" y="4279392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УПАКОВКУ, МЕДІАНА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30168" y="4425696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B5EA7"/>
                </a:solidFill>
                <a:latin typeface="Segoe UI"/>
              </a:rPr>
              <a:t>252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30168" y="4700016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СЕРЕДНЯ МАСА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30168" y="4846320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B5EA7"/>
                </a:solidFill>
                <a:latin typeface="Segoe UI"/>
              </a:rPr>
              <a:t>290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5120640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30168" y="5266944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189 – 356 грн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30168" y="5541264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30168" y="5687568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210 – 320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30168" y="590702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Жорстка чаша: їсти можна прямо з неї, але вона дорожча й об'ємніша. На українському ринку — тільки корейський імпорт.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91072" y="1719072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ПОЗИЦІЙ У КОЖНІЙ ВАЗІ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91072" y="3915294"/>
            <a:ext cx="505968" cy="162929"/>
          </a:xfrm>
          <a:prstGeom prst="roundRect">
            <a:avLst>
              <a:gd name="adj" fmla="val 14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91072" y="3695838"/>
            <a:ext cx="505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7B5EA7"/>
                </a:solidFill>
                <a:latin typeface="Segoe UI"/>
              </a:rPr>
              <a:t>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91072" y="4133087"/>
            <a:ext cx="505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i="0">
                <a:solidFill>
                  <a:srgbClr val="1C2235"/>
                </a:solidFill>
                <a:latin typeface="Segoe UI"/>
              </a:rPr>
              <a:t>210 г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888480" y="3100647"/>
            <a:ext cx="505968" cy="977576"/>
          </a:xfrm>
          <a:prstGeom prst="roundRect">
            <a:avLst>
              <a:gd name="adj" fmla="val 14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88480" y="2881191"/>
            <a:ext cx="505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9A50B"/>
                </a:solidFill>
                <a:latin typeface="Segoe UI"/>
              </a:rP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88480" y="4133087"/>
            <a:ext cx="505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i="0">
                <a:solidFill>
                  <a:srgbClr val="1C2235"/>
                </a:solidFill>
                <a:latin typeface="Segoe UI"/>
              </a:rPr>
              <a:t>220 г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485888" y="3915294"/>
            <a:ext cx="505968" cy="162929"/>
          </a:xfrm>
          <a:prstGeom prst="roundRect">
            <a:avLst>
              <a:gd name="adj" fmla="val 14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85888" y="3695838"/>
            <a:ext cx="505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7B5EA7"/>
                </a:solidFill>
                <a:latin typeface="Segoe UI"/>
              </a:rPr>
              <a:t>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85888" y="4133087"/>
            <a:ext cx="505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i="0">
                <a:solidFill>
                  <a:srgbClr val="1C2235"/>
                </a:solidFill>
                <a:latin typeface="Segoe UI"/>
              </a:rPr>
              <a:t>247 г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083296" y="3100647"/>
            <a:ext cx="505968" cy="977576"/>
          </a:xfrm>
          <a:prstGeom prst="roundRect">
            <a:avLst>
              <a:gd name="adj" fmla="val 14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083296" y="2881191"/>
            <a:ext cx="505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9A50B"/>
                </a:solidFill>
                <a:latin typeface="Segoe UI"/>
              </a:rPr>
              <a:t>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83296" y="4133087"/>
            <a:ext cx="505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680703" y="3915294"/>
            <a:ext cx="505968" cy="162929"/>
          </a:xfrm>
          <a:prstGeom prst="roundRect">
            <a:avLst>
              <a:gd name="adj" fmla="val 14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680703" y="3695838"/>
            <a:ext cx="505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7B5EA7"/>
                </a:solidFill>
                <a:latin typeface="Segoe UI"/>
              </a:rPr>
              <a:t>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0703" y="4133087"/>
            <a:ext cx="505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i="0">
                <a:solidFill>
                  <a:srgbClr val="1C2235"/>
                </a:solidFill>
                <a:latin typeface="Segoe UI"/>
              </a:rPr>
              <a:t>269 г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278112" y="3752365"/>
            <a:ext cx="505968" cy="325858"/>
          </a:xfrm>
          <a:prstGeom prst="roundRect">
            <a:avLst>
              <a:gd name="adj" fmla="val 14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278112" y="3532909"/>
            <a:ext cx="505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7B5EA7"/>
                </a:solidFill>
                <a:latin typeface="Segoe UI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278112" y="4133087"/>
            <a:ext cx="505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i="0">
                <a:solidFill>
                  <a:srgbClr val="1C2235"/>
                </a:solidFill>
                <a:latin typeface="Segoe UI"/>
              </a:rPr>
              <a:t>310 г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875520" y="3915294"/>
            <a:ext cx="505968" cy="162929"/>
          </a:xfrm>
          <a:prstGeom prst="roundRect">
            <a:avLst>
              <a:gd name="adj" fmla="val 14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875520" y="3695838"/>
            <a:ext cx="505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7B5EA7"/>
                </a:solidFill>
                <a:latin typeface="Segoe UI"/>
              </a:rPr>
              <a:t>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75520" y="4133087"/>
            <a:ext cx="505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i="0">
                <a:solidFill>
                  <a:srgbClr val="1C2235"/>
                </a:solidFill>
                <a:latin typeface="Segoe UI"/>
              </a:rPr>
              <a:t>320 г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472928" y="2286000"/>
            <a:ext cx="505968" cy="1792224"/>
          </a:xfrm>
          <a:prstGeom prst="roundRect">
            <a:avLst>
              <a:gd name="adj" fmla="val 14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472928" y="2066543"/>
            <a:ext cx="505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9A50B"/>
                </a:solidFill>
                <a:latin typeface="Segoe UI"/>
              </a:rPr>
              <a:t>11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472928" y="4133087"/>
            <a:ext cx="505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i="0">
                <a:solidFill>
                  <a:srgbClr val="1C2235"/>
                </a:solidFill>
                <a:latin typeface="Segoe UI"/>
              </a:rPr>
              <a:t>350 г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1070335" y="3589435"/>
            <a:ext cx="505968" cy="488788"/>
          </a:xfrm>
          <a:prstGeom prst="roundRect">
            <a:avLst>
              <a:gd name="adj" fmla="val 14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070335" y="3369979"/>
            <a:ext cx="505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9A50B"/>
                </a:solidFill>
                <a:latin typeface="Segoe UI"/>
              </a:rPr>
              <a:t>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070335" y="4133087"/>
            <a:ext cx="505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i="0">
                <a:solidFill>
                  <a:srgbClr val="1C2235"/>
                </a:solidFill>
                <a:latin typeface="Segoe UI"/>
              </a:rPr>
              <a:t>400 г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91072" y="4352544"/>
            <a:ext cx="53949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350 г — український реторт-пауч. 250 і 220 г — Ben's Original. 210–320 г — корейська чаша. 400 г — Adventure Menu.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291072" y="4937760"/>
            <a:ext cx="5394960" cy="1298448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6291072" y="4937760"/>
            <a:ext cx="82296" cy="129844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01968" y="5138928"/>
            <a:ext cx="48463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Український пауч стоїть у вазі 350 г, Ben's Original — у 220 і 250 г, корейська чаша — у 210–320 г. Ваги майже не перетинаються.
Вільне вікно — пауч 200–250 г українського виробництва: у цій вазі сьогодні тільки імпортний Ben's Original за 45–179 грн.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Розподіл 32 позицій за типом паковання і масою з карток продавців, 23.09.2026.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ЦІНА ЗА ОДНУ УПАКОВКУ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Від 45 до 466 грн: сходи всіх 11 брендів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Крапка — медіана бренду, смуга — від найдешевшої до найдорожчої його позиції.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10954512" cy="448056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96128" y="1920240"/>
            <a:ext cx="10972" cy="3602736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30368" y="5596128"/>
            <a:ext cx="7315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100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94576" y="1920240"/>
            <a:ext cx="10972" cy="3602736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28816" y="5596128"/>
            <a:ext cx="7315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200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4" y="1920240"/>
            <a:ext cx="10972" cy="3602736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27264" y="5596128"/>
            <a:ext cx="7315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300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91472" y="1920240"/>
            <a:ext cx="10972" cy="3602736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5711" y="5596128"/>
            <a:ext cx="7315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400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789920" y="1920240"/>
            <a:ext cx="10972" cy="3602736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24160" y="5596128"/>
            <a:ext cx="7315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500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1883664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17520" y="1883664"/>
            <a:ext cx="8778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КРАЇНА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50208" y="1883664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" y="5596128"/>
            <a:ext cx="2926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ГРН ЗА ОДНУ УПАКОВКУ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2148840"/>
            <a:ext cx="21396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Portion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17520" y="2167128"/>
            <a:ext cx="877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95344" y="2167128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224771" y="2208276"/>
            <a:ext cx="176588" cy="8229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137903" y="2162556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11088" y="2144268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37A169"/>
                </a:solidFill>
                <a:latin typeface="Segoe UI"/>
              </a:rPr>
              <a:t>71 – 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2463393"/>
            <a:ext cx="21396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М'ясниця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17520" y="2481681"/>
            <a:ext cx="877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95344" y="2481681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40314" y="2522829"/>
            <a:ext cx="27432" cy="8229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353446" y="2477109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550042" y="2458821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37A169"/>
                </a:solidFill>
                <a:latin typeface="Segoe UI"/>
              </a:rPr>
              <a:t>88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" y="2777947"/>
            <a:ext cx="21396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Ben's Original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17520" y="2796235"/>
            <a:ext cx="877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95344" y="2796235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 i="0">
                <a:solidFill>
                  <a:srgbClr val="717890"/>
                </a:solidFill>
                <a:latin typeface="Segoe UI"/>
              </a:rPr>
              <a:t>11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881981" y="2837383"/>
            <a:ext cx="1739920" cy="822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379285" y="2791663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31629" y="2773375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9A50B"/>
                </a:solidFill>
                <a:latin typeface="Segoe UI"/>
              </a:rPr>
              <a:t>45 – 179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8" y="3092500"/>
            <a:ext cx="21396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МАКРО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17520" y="3110788"/>
            <a:ext cx="877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95344" y="3110788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545488" y="3151936"/>
            <a:ext cx="505096" cy="8229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522244" y="3106216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60312" y="3087928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37A169"/>
                </a:solidFill>
                <a:latin typeface="Segoe UI"/>
              </a:rPr>
              <a:t>96 – 135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3407054"/>
            <a:ext cx="21396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Маркел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17520" y="3425342"/>
            <a:ext cx="877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95344" y="3425342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336438" y="3466490"/>
            <a:ext cx="831006" cy="8229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554705" y="3420770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77173" y="3402482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37A169"/>
                </a:solidFill>
                <a:latin typeface="Segoe UI"/>
              </a:rPr>
              <a:t>80 – 144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1248" y="3721607"/>
            <a:ext cx="21396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Верес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017520" y="3739896"/>
            <a:ext cx="877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95344" y="3739896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596128" y="3781044"/>
            <a:ext cx="441472" cy="8229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5561197" y="3735324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147328" y="3717035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37A169"/>
                </a:solidFill>
                <a:latin typeface="Segoe UI"/>
              </a:rPr>
              <a:t>100 – 134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1248" y="4036161"/>
            <a:ext cx="21396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Ходорівський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017520" y="4054449"/>
            <a:ext cx="877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95344" y="4054449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661050" y="4095597"/>
            <a:ext cx="1220541" cy="8229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5801410" y="4049877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991319" y="4031589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37A169"/>
                </a:solidFill>
                <a:latin typeface="Segoe UI"/>
              </a:rPr>
              <a:t>105 – 199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1248" y="4350715"/>
            <a:ext cx="21396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Bibigo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017520" y="4369003"/>
            <a:ext cx="877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895344" y="4369003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751746" y="4410151"/>
            <a:ext cx="27432" cy="82296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6664878" y="4364431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861474" y="4346143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7B5EA7"/>
                </a:solidFill>
                <a:latin typeface="Segoe UI"/>
              </a:rPr>
              <a:t>189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41248" y="4665268"/>
            <a:ext cx="21396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017520" y="4683556"/>
            <a:ext cx="877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895344" y="4683556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 i="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7219188" y="4724704"/>
            <a:ext cx="1700966" cy="82296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7482900" y="4678984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029882" y="4660696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7B5EA7"/>
                </a:solidFill>
                <a:latin typeface="Segoe UI"/>
              </a:rPr>
              <a:t>225 – 356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4979822"/>
            <a:ext cx="21396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Adventure Menu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017520" y="4998110"/>
            <a:ext cx="877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95344" y="4998110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387791" y="5039258"/>
            <a:ext cx="1960656" cy="822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8573597" y="499353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458175" y="4975250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E9EA6"/>
                </a:solidFill>
                <a:latin typeface="Segoe UI"/>
              </a:rPr>
              <a:t>315 – 466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1248" y="5294376"/>
            <a:ext cx="21396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Clearspring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017520" y="5312664"/>
            <a:ext cx="877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895344" y="5312664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0088758" y="5353812"/>
            <a:ext cx="27432" cy="822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10001890" y="5308092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198486" y="5289804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E9EA6"/>
                </a:solidFill>
                <a:latin typeface="Segoe UI"/>
              </a:rPr>
              <a:t>446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881981" y="5852160"/>
            <a:ext cx="2012594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881981" y="5943600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9A50B"/>
                </a:solidFill>
                <a:latin typeface="Segoe UI"/>
              </a:rPr>
              <a:t>вікно мережевої полиці: 45–200 грн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836676" y="590245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05840" y="5870448"/>
            <a:ext cx="5449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C2235"/>
                </a:solidFill>
                <a:latin typeface="Segoe UI"/>
              </a:rPr>
              <a:t>Гарнір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1546250" y="590245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715414" y="5870448"/>
            <a:ext cx="44256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C2235"/>
                </a:solidFill>
                <a:latin typeface="Segoe UI"/>
              </a:rPr>
              <a:t>Чаша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2153412" y="590245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322576" y="5870448"/>
            <a:ext cx="5961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C2235"/>
                </a:solidFill>
                <a:latin typeface="Segoe UI"/>
              </a:rPr>
              <a:t>Пауч UA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914192" y="590245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083356" y="5870448"/>
            <a:ext cx="80101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C2235"/>
                </a:solidFill>
                <a:latin typeface="Segoe UI"/>
              </a:rPr>
              <a:t>Пауч імпорт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Роздрібна ціна за одну упаковку на сайті продавця, 23.09.2026. Оптові пороги (у частини продавців діє нижча ціна від 3–20 шт) у розрахунок не входять.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ЩО СТОЇТЬ У МЕРЕЖІ ЗАМІСТЬ НАС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Рис із м'ясом на полиці є — але в бляшанці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Мережі не мають жодного пауча з готовим рисом. Натомість мають консерву за 63–160 грн.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755648" cy="261518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609344" cy="1426463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h_hapay_ri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352" y="1828800"/>
            <a:ext cx="925950" cy="135331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3255263"/>
            <a:ext cx="15179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Каша рисова зі свининою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602735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HAPAY!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767327"/>
            <a:ext cx="15179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63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4023359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50592" y="1719072"/>
            <a:ext cx="1755648" cy="261518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523744" y="1792224"/>
            <a:ext cx="1609344" cy="1426463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h_lappetit_por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7634" y="1828800"/>
            <a:ext cx="961563" cy="135331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569464" y="3255263"/>
            <a:ext cx="15179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Каша рисова зі свининою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69464" y="3602735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L'APPETIT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9464" y="3767327"/>
            <a:ext cx="15179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120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9464" y="4023359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7680" y="1719072"/>
            <a:ext cx="1755648" cy="261518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70832" y="1792224"/>
            <a:ext cx="1609344" cy="1426463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_lappetit_beef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5883" y="1828800"/>
            <a:ext cx="899240" cy="135331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416552" y="3255263"/>
            <a:ext cx="15179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Каша рисова з яловичиною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6552" y="3602735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L'APPETIT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6552" y="3767327"/>
            <a:ext cx="15179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126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16552" y="4023359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44768" y="1719072"/>
            <a:ext cx="1755648" cy="261518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217920" y="1792224"/>
            <a:ext cx="1609344" cy="1426463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ch_hapay_plov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8455" y="1828800"/>
            <a:ext cx="988273" cy="1353311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263640" y="3255263"/>
            <a:ext cx="15179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з качки та булгуру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63640" y="3602735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HAPAY!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63640" y="3767327"/>
            <a:ext cx="15179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117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59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91856" y="1719072"/>
            <a:ext cx="1755648" cy="261518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065008" y="1792224"/>
            <a:ext cx="1609344" cy="1426463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ch_foodfabrika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2099287"/>
            <a:ext cx="1499616" cy="81233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110728" y="3255263"/>
            <a:ext cx="15179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з куркою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3602735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FOOD FABRIKA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10728" y="3767327"/>
            <a:ext cx="15179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119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10728" y="4023359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Восторг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838944" y="1719072"/>
            <a:ext cx="1755648" cy="261518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912096" y="1792224"/>
            <a:ext cx="1609344" cy="1426463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ch_myastoria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66960" y="1951661"/>
            <a:ext cx="1499616" cy="1107588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957816" y="3255263"/>
            <a:ext cx="15179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з куркою та родзинками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57816" y="3602735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М'ЯСТОРІЯ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57816" y="3767327"/>
            <a:ext cx="15179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147–160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57816" y="4023359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Novus · МегаМаркет · Космос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03504" y="4517136"/>
            <a:ext cx="5358384" cy="177393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03504" y="4517136"/>
            <a:ext cx="82296" cy="1773936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14400" y="4681728"/>
            <a:ext cx="48097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Чому це важливо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4400" y="5010912"/>
            <a:ext cx="4809744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Це прямий конкурент за той самий привід: гаряча страва з рисом і м'ясом без готування, уже на полиці мережі, з українським виробником.
Бляшанку не можна поставити в мікрохвильовку — у цьому перевага пауча. Але орієнтир ціни задає саме вона, а не Ottogi за 252 грн.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99632" y="4517136"/>
            <a:ext cx="5358384" cy="177393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55664" y="4663440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03A5D"/>
                </a:solidFill>
                <a:latin typeface="Segoe UI"/>
              </a:rPr>
              <a:t>Порівняння за упаковку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55664" y="4937760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Каша рисова hapay! 340 г · бляшанка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015984" y="4983480"/>
            <a:ext cx="434340" cy="118872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523476" y="4928616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37A169"/>
                </a:solidFill>
                <a:latin typeface="Segoe UI"/>
              </a:rPr>
              <a:t>63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55664" y="5193792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Ben's Original 250 г · медіана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015984" y="5239512"/>
            <a:ext cx="620485" cy="118872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709621" y="518464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B5EA7"/>
                </a:solidFill>
                <a:latin typeface="Segoe UI"/>
              </a:rPr>
              <a:t>90 грн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55664" y="5449824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Український пауч 350 г · медіана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015984" y="5495544"/>
            <a:ext cx="696322" cy="1188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785458" y="5440680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F9A50B"/>
                </a:solidFill>
                <a:latin typeface="Segoe UI"/>
              </a:rPr>
              <a:t>101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55664" y="5705856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Плов М'ясторія 350 г · лоток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015984" y="5751576"/>
            <a:ext cx="1013460" cy="118872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102596" y="5696712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147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55664" y="596188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Ottogi 247–320 г · медіана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015984" y="6007608"/>
            <a:ext cx="1737360" cy="118872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826496" y="595274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B6B8C"/>
                </a:solidFill>
                <a:latin typeface="Segoe UI"/>
              </a:rPr>
              <a:t>252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Джерело: API 17 мереж zakaz.ua, 23.09.2026. Ці шість позицій — суміжна категорія, у 32 позицій дослідження вони не входять: бляшанку не розігрівають у мікрохвильовці.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ДЕ ПРЕДСТАВЛЕНО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Три типи каналів, 17 продавців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Мережа є лише в одного бренду. Українське виробництво в мережі не представлене взагалі.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37360"/>
            <a:ext cx="10954512" cy="786384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" y="1737360"/>
            <a:ext cx="82296" cy="78638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865376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9A50B"/>
                </a:solidFill>
                <a:latin typeface="Segoe UI"/>
              </a:rPr>
              <a:t>МЕРЕЖЕВИЙ РОЗДРІБ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103120"/>
            <a:ext cx="338328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Ben's Original — 10 позицій. Інших брендів категорії немає.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43984" y="1883664"/>
            <a:ext cx="592531" cy="23774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43984" y="1883664"/>
            <a:ext cx="5925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Сільпо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99648" y="1975104"/>
            <a:ext cx="512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1" i="0">
                <a:solidFill>
                  <a:srgbClr val="F9A50B"/>
                </a:solidFill>
                <a:latin typeface="Segoe UI"/>
              </a:rPr>
              <a:t>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" y="2615184"/>
            <a:ext cx="10954512" cy="7863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03504" y="2615184"/>
            <a:ext cx="82296" cy="78638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" y="2743200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B5EA7"/>
                </a:solidFill>
                <a:latin typeface="Segoe UI"/>
              </a:rPr>
              <a:t>АЗІЙСЬКІ ФУДШОПИ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" y="2980944"/>
            <a:ext cx="338328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Ottogi, Bibigo, Clearspring. Вузький канал, висока ціна.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3984" y="2761488"/>
            <a:ext cx="903427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43984" y="2761488"/>
            <a:ext cx="90342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Тайякі Март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57139" y="2761488"/>
            <a:ext cx="903427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57139" y="2761488"/>
            <a:ext cx="90342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Апетітаріум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70294" y="2761488"/>
            <a:ext cx="841248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0294" y="2761488"/>
            <a:ext cx="8412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Gurmissimo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21270" y="2761488"/>
            <a:ext cx="903427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21270" y="2761488"/>
            <a:ext cx="90342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Скарби Азії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34425" y="2761488"/>
            <a:ext cx="841248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34425" y="2761488"/>
            <a:ext cx="8412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Edison Lee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99648" y="2852928"/>
            <a:ext cx="512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1" i="0">
                <a:solidFill>
                  <a:srgbClr val="7B5EA7"/>
                </a:solidFill>
                <a:latin typeface="Segoe UI"/>
              </a:rPr>
              <a:t>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3504" y="3493008"/>
            <a:ext cx="10954512" cy="1042415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03504" y="3493008"/>
            <a:ext cx="82296" cy="1042415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824" y="3621024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37A169"/>
                </a:solidFill>
                <a:latin typeface="Segoe UI"/>
              </a:rPr>
              <a:t>PROM ТА ФІРМОВІ МАГАЗИНИ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7824" y="3858768"/>
            <a:ext cx="338328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Увесь український реторт-пауч і Adventure Menu.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443984" y="3639312"/>
            <a:ext cx="1089964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43984" y="3639312"/>
            <a:ext cx="108996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portion.com.ua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43676" y="3639312"/>
            <a:ext cx="592531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43676" y="3639312"/>
            <a:ext cx="5925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СУХПАЙ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45936" y="3639312"/>
            <a:ext cx="779068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45936" y="3639312"/>
            <a:ext cx="77906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UPcompany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234732" y="3639312"/>
            <a:ext cx="903427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234732" y="3639312"/>
            <a:ext cx="90342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Мартел-shop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47888" y="3639312"/>
            <a:ext cx="965606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47888" y="3639312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Козуб Маркет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323222" y="3639312"/>
            <a:ext cx="1027785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23222" y="3639312"/>
            <a:ext cx="102778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Смачна адреса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443984" y="3950208"/>
            <a:ext cx="965606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443984" y="3950208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Продукт-Shop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519318" y="3950208"/>
            <a:ext cx="841248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19318" y="3950208"/>
            <a:ext cx="8412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Belorfoods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470294" y="3950208"/>
            <a:ext cx="1027785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70294" y="3950208"/>
            <a:ext cx="102778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Euro-komplekt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607808" y="3950208"/>
            <a:ext cx="654710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607808" y="3950208"/>
            <a:ext cx="65471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ALANTUR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372246" y="3950208"/>
            <a:ext cx="716889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72246" y="3950208"/>
            <a:ext cx="71688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MK-Sport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899648" y="3858768"/>
            <a:ext cx="512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1" i="0">
                <a:solidFill>
                  <a:srgbClr val="37A169"/>
                </a:solidFill>
                <a:latin typeface="Segoe UI"/>
              </a:rPr>
              <a:t>11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03504" y="4700016"/>
            <a:ext cx="5358384" cy="93268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41248" y="4828032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Мережі без жодної позиції категорії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1248" y="5065776"/>
            <a:ext cx="488289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АТБ, Novus, Metro, Varus, Ашан, Fozzy, «Таврія В», МегаМаркет, ЕКО маркет, Ultramarket та ще 7 мереж — перевірено через API zakaz.ua 23.09.2026.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199632" y="4700016"/>
            <a:ext cx="5358384" cy="93268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37376" y="4828032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Що відомо про походження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37376" y="5065776"/>
            <a:ext cx="488289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Ben's Original виробляє Mars, заводи у Франції та Німеччині. Український пауч — Верес, Ходорівський м'ясокомбінат, «Маркел», «МАКРО», «М'ясниця», Portion. Імпортера в картках продавців не вказано.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03504" y="5742432"/>
            <a:ext cx="10954512" cy="548640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603504" y="5742432"/>
            <a:ext cx="82296" cy="54864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14400" y="5943600"/>
            <a:ext cx="10405872" cy="182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Головна дірка каналу: український виробник робить найдешевший за грам продукт категорії — і не має жодної мережевої полиці.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ВИСНОВКИ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Чотири факти і три обмеження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Усе нижче спирається на ціни, перевірені поштучно 23 вересня 2026 року.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5358384" cy="115214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" y="1719072"/>
            <a:ext cx="82296" cy="115214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865376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1. Категорія мала, але росте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157984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182 т імпорту у 2025-му, +59 % за рік і рекорд за вартістю. На особу це у 20 разів менше за ЄС.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19072"/>
            <a:ext cx="5358384" cy="115214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99632" y="1719072"/>
            <a:ext cx="82296" cy="11521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1865376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2. Гарнір тримає один бренд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157984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Ben's Original — 10 позицій у «Сільпо» за 45–179 грн. Другого бренду чистого готового рису на ринку немає.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" y="2962656"/>
            <a:ext cx="5358384" cy="115214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03504" y="2962656"/>
            <a:ext cx="82296" cy="11521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108960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3. Українці виграють за ціною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" y="3401568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Реторт-пауч 350 г за 71–199 грн, медіана 101 грн. Це більша порція за ту саму ціну, що імпортний гарнір 220–250 г.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962656"/>
            <a:ext cx="5358384" cy="115214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99632" y="2962656"/>
            <a:ext cx="82296" cy="1152144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3952" y="3108960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4. Мережі закриті для категорії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3401568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З 32 позицій у мережі продаються 10, і всі — Ben's. Український пауч живе на Prom і у фірмових магазинах.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3504" y="4315968"/>
            <a:ext cx="10954512" cy="1426464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03504" y="4315968"/>
            <a:ext cx="82296" cy="142646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480559"/>
            <a:ext cx="104058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Чого дані не показують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809744"/>
            <a:ext cx="1040587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1. Продажів. Ні мережі, ні маркетплейси не віддають обсяги: ємність на слайді 03 порахована за імпортом, а не заміряна.
2. Обсягу українського виробництва. Верес, «МАКРО», «Маркел», «М'ясниця», Portion виробляють у країні, тож у митну статистику не потрапляють — реальна категорія більша за 182 тонни.
3. Імпортерів. У картках продавців їх не вказано; перелік дасть лише вивантаження Держмитслужби за УКТЗЕД 1904 90 10 за 2024–2025 рр.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32 позицій, 11 брендів, 17 продавців, 17 мереж. Зріз 23 вересня 2026 р. Предмет: рис кімнатного зберігання, який лише розігрівають.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