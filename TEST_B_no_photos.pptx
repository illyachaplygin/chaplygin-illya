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9168" cy="6858000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59168" y="0"/>
            <a:ext cx="16459" cy="685800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792224"/>
            <a:ext cx="566928" cy="32004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029968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D9B165"/>
                </a:solidFill>
                <a:latin typeface="Segoe UI"/>
              </a:rPr>
              <a:t>Д О С Л І Д Ж Е Н Н Я   Р И Н К У   Т А   О Ц І Н К А   Д О Ц І Л Ь Н О С Т І   В Х О Д 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304288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Японські ножі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для професійної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та домашньої кухні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590288"/>
            <a:ext cx="3291840" cy="16459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4809744"/>
            <a:ext cx="60350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A2B4"/>
                </a:solidFill>
                <a:latin typeface="Segoe UI"/>
              </a:rPr>
              <a:t>Україна · роздріб, маркетплейси, HoReCa · вересень 2026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A2B4"/>
                </a:solidFill>
                <a:latin typeface="Segoe UI"/>
              </a:rPr>
              <a:t>Попередня робота до пошуку постачальника: хто вже на ринку, скільки він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A2B4"/>
                </a:solidFill>
                <a:latin typeface="Segoe UI"/>
              </a:rPr>
              <a:t>коштує в грошах і штуках, і чи є туди сенс іти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5742432"/>
            <a:ext cx="4078224" cy="566928"/>
          </a:xfrm>
          <a:prstGeom prst="roundRect">
            <a:avLst>
              <a:gd name="adj" fmla="val 16000"/>
            </a:avLst>
          </a:prstGeom>
          <a:solidFill>
            <a:srgbClr val="263150"/>
          </a:solidFill>
          <a:ln w="9525">
            <a:solidFill>
              <a:srgbClr val="455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5907024"/>
            <a:ext cx="237744" cy="237744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87044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Georgia"/>
              </a:rPr>
              <a:t>M A D E   I N   J A P A N   O N L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099048"/>
            <a:ext cx="3383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9AA2B4"/>
                </a:solidFill>
                <a:latin typeface="Segoe UI"/>
              </a:rPr>
              <a:t>56 перевірених брендів · 259 ножів · жодної позиції іншого походження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3310128"/>
            <a:ext cx="1335024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3310128"/>
            <a:ext cx="1335024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6144" y="3310128"/>
            <a:ext cx="1335024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16368" y="4535424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16368" y="4535424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46634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691–924 млн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95604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роздріб кухонних ножів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9488" y="4535424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9488" y="4535424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46634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16–19 млн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495604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зроблено в Японії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8" y="5321808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16368" y="5321808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544982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103 тис. 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57424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імпорт із Японії, 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5321808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9488" y="5321808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65792" y="544982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1,3 %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57424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частка Японії в митній базі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6368" y="5998464"/>
            <a:ext cx="4114800" cy="10972"/>
          </a:xfrm>
          <a:prstGeom prst="rect">
            <a:avLst/>
          </a:prstGeom>
          <a:solidFill>
            <a:srgbClr val="45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8" y="6144768"/>
            <a:ext cx="4169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80" b="0">
                <a:solidFill>
                  <a:srgbClr val="9AA2B4"/>
                </a:solidFill>
                <a:latin typeface="Segoe UI"/>
              </a:rPr>
              <a:t>24 слайди · 25 продавців · 56 перевірених брендів · 259 ножів у каталозі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80" b="0">
                <a:solidFill>
                  <a:srgbClr val="9AA2B4"/>
                </a:solidFill>
                <a:latin typeface="Segoe UI"/>
              </a:rPr>
              <a:t>4 роки митної статистики · модель попиту HoReCa · 3 сценарії входу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Г О Л О В Н 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Вісім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Усі ціни в колоді — роздрібні, за один ніж, станом на вересень 2026. Курс НБУ 44,86 грн/$ (30.09.2026).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261518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М И Т Н А   Б А З А   2 0 2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966E28"/>
                </a:solidFill>
                <a:latin typeface="Georgia"/>
              </a:rPr>
              <a:t>9,02 млн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Кухонні + столові ножі та
набори, CIF. Останній повний рік.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554480"/>
            <a:ext cx="261518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О З Д Р І Б ,   О Ц І Н К 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2A7F86"/>
                </a:solidFill>
                <a:latin typeface="Georgia"/>
              </a:rPr>
              <a:t>691–924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млн грн на рік. Розрахунок
через імпорт × 2,34–3,12.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554480"/>
            <a:ext cx="261518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І М П О Р Т   І З   Я П О Н І 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554780"/>
                </a:solidFill>
                <a:latin typeface="Georgia"/>
              </a:rPr>
              <a:t>103 тис. 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CIF 2024, код 8211 92.
Нижче за рівень 2022 року.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15984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15984" y="1554480"/>
            <a:ext cx="2615184" cy="25603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Я П О Н І Я   В   Р О З Д Р І Б 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A84A6B"/>
                </a:solidFill>
                <a:latin typeface="Georgia"/>
              </a:rPr>
              <a:t>16–19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млн грн на рік. Це 2 % ринку
в грошах і 0,15 % у штуках.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2798064"/>
            <a:ext cx="261518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П Е Р Е В І Р Е Н И Х   Б Р Е Н Д І 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B42E3A"/>
                </a:solidFill>
                <a:latin typeface="Georgia"/>
              </a:rPr>
              <a:t>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каталогах продавців.
Сумарно 759 позицій.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2798064"/>
            <a:ext cx="2615184" cy="25603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2736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Я П О Н Ц І   В   П Р О Ф .   О П Т 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2736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3A7D5A"/>
                </a:solidFill>
                <a:latin typeface="Georgia"/>
              </a:rPr>
              <a:t>2 з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брендів у каталозі опту HoReCa.
523 ножі, японських — одиниці.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2798064"/>
            <a:ext cx="2615184" cy="25603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М И Т О   Н А   Я П О Н І 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B88A3D"/>
                </a:solidFill>
                <a:latin typeface="Georgia"/>
              </a:rPr>
              <a:t>10 %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+20 % ПДВ. З ЄС — 0 % мита.
Структурний програш 10 пунктів.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5984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15984" y="2798064"/>
            <a:ext cx="2615184" cy="25603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Ц І Н О В И Й   Р О З М А 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1B253F"/>
                </a:solidFill>
                <a:latin typeface="Georgia"/>
              </a:rPr>
              <a:t>726–60 495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грн за один японський ніж.
Розрив у 83 рази.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169663"/>
            <a:ext cx="5413248" cy="157276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4169663"/>
            <a:ext cx="36576" cy="1572768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432511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ЦЕ ОЗНАЧАЄ ДЛЯ РІШЕННЯ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4553712"/>
            <a:ext cx="4937760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1. Ринок кухонних ножів в Україні великий — але «японського» в ньому майже немає.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2. Японське виробництво — це нішa на 16–19 млн грн, яка за три роки не виросла.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3. Японія — 1,3 % митної бази категорії. Вивіска «японський ніж» до Японії не веде.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4. Професійна кухня японські ножі не купує — і структурних причин для зміни немає.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5. Жоден японський бренд не має в країні ані дистриб'ютора, ані глибини лінійки.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169663"/>
            <a:ext cx="5413248" cy="157276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169663"/>
            <a:ext cx="36576" cy="1572768"/>
          </a:xfrm>
          <a:prstGeom prst="rect">
            <a:avLst/>
          </a:prstGeom>
          <a:solidFill>
            <a:srgbClr val="9AA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432511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AA2B4"/>
                </a:solidFill>
                <a:latin typeface="Segoe UI"/>
              </a:rPr>
              <a:t>ЧОГО В ЦІЙ КОЛОДІ НЕМАЄ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55664" y="4553712"/>
            <a:ext cx="4937760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1. Немає даних продажів: в Україні для цієї категорії немає панелі Nielsen/GfK.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2. Немає митної статистики за 2025 рік — вона ще не опублікована в Comtrade.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3. Немає оптових цін: їх не отримати без акаунта постачальника.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4. Немає точної частки кухонних ножів у коді 8211 92 — це припущення 55–70 %.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5. Немає прямої оцінки сірого імпорту до 150 € — він для митниці невидимий.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870448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5911596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ГОЛОВНЕ ПРО КАНДИДАТА У ПОСТАЧАЛЬНИКИ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6126480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6126480"/>
            <a:ext cx="36576" cy="475488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618134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966E28"/>
                </a:solidFill>
                <a:latin typeface="Segoe UI"/>
              </a:rPr>
              <a:t>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99616" y="6217920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позицій Sakai Takayuki знайдено в усій країні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83280" y="6126480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83280" y="6126480"/>
            <a:ext cx="36576" cy="47548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66160" y="618134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A7F86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5968" y="6217920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із них реально на складі — обидві янагіба 24 см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6126480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99632" y="6126480"/>
            <a:ext cx="36576" cy="47548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82512" y="618134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42E3A"/>
                </a:solidFill>
                <a:latin typeface="Segoe UI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6217920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дистриб'юторів, монобрендів і позицій в опті HoReCa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15984" y="6126480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15984" y="6126480"/>
            <a:ext cx="36576" cy="475488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98863" y="6181344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54780"/>
                </a:solidFill>
                <a:latin typeface="Segoe UI"/>
              </a:rPr>
              <a:t>105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6217920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позицій каталогу вже стоять у його ціновій зоні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Щ О   Б У В А Є   ·   1   ·   Г Е О М Е Т Р І Я   Л Е З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Вісім типів леза, з яких ринок купує три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Профілі накреслені в один масштаб за реальними довжинами клинка. Рукав'я умовне: чорне клепане — західне (yo), дерев'яне — японське (wa).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ПРОФІЛІ КЛИНКА В ЄДИНОМУ МАСШТАБІ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" y="1746504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19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Гюто / шеф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98424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180–240 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4884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Робочий ніж кухні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468879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B88A3D"/>
                </a:solidFill>
                <a:latin typeface="Segoe UI"/>
              </a:rPr>
              <a:t>Сантоку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63347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165–180 мм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79806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Універсал, драйвер обсягу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" y="3044952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18103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Накірі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28269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165–180 мм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472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Овочі, шаткування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7673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Кіріцуке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19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180–240 мм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09651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Гібрид, статусний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" y="4343400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1655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554780"/>
                </a:solidFill>
                <a:latin typeface="Segoe UI"/>
              </a:rPr>
              <a:t>Янагіба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58114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210–300 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74573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Сашимі, одностороннє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06577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554780"/>
                </a:solidFill>
                <a:latin typeface="Segoe UI"/>
              </a:rPr>
              <a:t>Деба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23036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150–180 мм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39496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Розбирання риби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5641848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71500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6B7282"/>
                </a:solidFill>
                <a:latin typeface="Segoe UI"/>
              </a:rPr>
              <a:t>Петті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87959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90–150 мм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04418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Дрібна робота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1536192"/>
            <a:ext cx="12070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ТИП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6096" y="1536192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ЦІНА,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96528" y="1536192"/>
            <a:ext cx="1353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153619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РОЛЬ У КАТЕГОРІЇ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5936" y="1714500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1755648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88A3D"/>
                </a:solidFill>
                <a:latin typeface="Segoe UI"/>
              </a:rPr>
              <a:t>Сантоку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6096" y="1755648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175 – 12 000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8" y="1755648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1755648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Драйвер обсягу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202996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66E28"/>
                </a:solidFill>
                <a:latin typeface="Segoe UI"/>
              </a:rPr>
              <a:t>Гюто / шеф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202996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500 – 27 970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6528" y="202996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202996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Драйвер ціни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45936" y="2263139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088" y="230428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Петті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6096" y="230428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175 – 5 000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96528" y="230428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230428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Часта купівля, малий чек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257860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Накірі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257860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1 249 – 13 290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6528" y="257860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Спеціаліст, Епіцентр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257860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Зростає вдома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45936" y="2811779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19088" y="285292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Янагіба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285292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1 107 – 13 971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96528" y="285292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Суші-спеціалізація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285292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Вузький HoReCa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19088" y="312724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Деба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6096" y="312724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1 470 – 9 000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96528" y="312724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Суші-спеціалізація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9840" y="312724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Вузький HoReCa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45936" y="3360419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340156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AA2B4"/>
                </a:solidFill>
                <a:latin typeface="Segoe UI"/>
              </a:rPr>
              <a:t>Кіріцуке, бунка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6096" y="340156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3 000 – 20 000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96528" y="340156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Тільки спеціаліст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49840" y="340156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Довгий хвіст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9088" y="367588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A84A6B"/>
                </a:solidFill>
                <a:latin typeface="Segoe UI"/>
              </a:rPr>
              <a:t>Набори 2–5 шт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6096" y="367588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2 500 – 27 970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96528" y="367588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Усюди, пік у грудні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49840" y="367588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26 % митної бази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19088" y="4041648"/>
            <a:ext cx="1645920" cy="1408176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65392" y="5120640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Накірі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65392" y="5285232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Росте вдома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174736" y="4041648"/>
            <a:ext cx="1645920" cy="1408176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1040" y="5120640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Янагіба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1040" y="5285232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500–900 шт/рік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30384" y="4041648"/>
            <a:ext cx="1645920" cy="1408176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076688" y="5120640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Набір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76688" y="5285232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26 % митної бази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19088" y="5541264"/>
            <a:ext cx="5212080" cy="991971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19088" y="5541264"/>
            <a:ext cx="36576" cy="991971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56831" y="5696712"/>
            <a:ext cx="4736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КУПУЮТЬ НАСПРАВДІ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56831" y="5925312"/>
            <a:ext cx="4736592" cy="4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Сантоку в Україні перестав бути японським ножем і став формою леза: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74 позиції каталогу — сантоку, петті й накірі. Покупець купує геометрію,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походження він не перевіряє.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3504" y="6528816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Профілі — схематичні креслення за типовими пропорціями, а не зображення конкретних моделей. Фото — картки товарів українських магазинів, вересень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Щ О   Б У В А Є   ·   2   ·   С Т А Л Ь   І   Р Е Г І О 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Ціну визначає сталь, а можливість закупівлі — регіон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Дві осі, на яких тримається вся категорія. Марка сталі задає ціновий щабель; регіон кузні задає, чи взагалі можлива серійна поставка.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ВІСЬ 1 · СТАЛЬ І КОНСТРУКЦІЯ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73936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КОНСТРУКЦІЯ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177393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СТАЛЬ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77393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HRC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77393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РОЗДРІБ,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773936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ХТО ТУТ СТОЇТЬ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" y="1952244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1993392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Мо-ванадієва моносталь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199339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AUS-6A, AUS-8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1993392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56–58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199339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700 – 2 500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993392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Satake Saku, Seki Kanetsugu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242108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VG-10 моно або 3 шари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2242108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VG-10 core, clad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2242108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60–61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242108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2 500 – 6 000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242108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Tojiro DP, KAI Wasabi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2449677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490825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VG-10 + дамаск 32–69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490825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damascus clad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8" y="2490825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60–61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2490825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5 000 – 12 000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490825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Kasumi, Yaxell Ran, KAI Shun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2739542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Порошкова SG-2 / R2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15768" y="273954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101–193 шари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8808" y="2739542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62–64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273954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12 000 – 43 020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739542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Yaxell Super Gou, Miyabi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947111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988259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Вуглецева Сіроґамі / Аоґамі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15768" y="2988259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одностороннє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2988259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62–65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2988259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3 000 – 25 000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2988259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Tosa, HONMAMON, Sakai Takayuki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236976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Honyaki, Ginsan моносталь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15768" y="3236976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суцільне гартування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8808" y="3236976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63–65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32369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35 000 – 70 000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236976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У країні немає жодної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63931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ВІСЬ 2 · РЕГІОН ВИРОБНИЦТВА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7705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4248" y="3877056"/>
            <a:ext cx="37490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ЗА ВИРОБНИЦТВО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38770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4807" y="3877056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6448" y="3877056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ЧИ МОЖЛИВА СЕРІЙНА ПОСТАВКА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" y="4055364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409651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Секі, Гіфу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84248" y="4096512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Промисловий центр. Серійне виробництво, західні руків'я, стабільна якість.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4096512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4807" y="4096512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726 – 70 102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6448" y="4096512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3A7D5A"/>
                </a:solidFill>
                <a:latin typeface="Segoe UI"/>
              </a:rPr>
              <a:t>Так — заводи, контейнерні партії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45228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Сакаї, Осака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84248" y="4345228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600+ років. Розподіл праці: коваль, точильник, монтажник. Односторонні ножі.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33288" y="4345228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7" y="4345228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1 999 – 15 580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56448" y="4345228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88A3D"/>
                </a:solidFill>
                <a:latin typeface="Segoe UI"/>
              </a:rPr>
              <a:t>Частково — великі майстерні з експортом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3776" y="4552797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4593945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Ечідзен, Фукуї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84248" y="4593945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700 років. Takefu Knife Village. Піонери порошкових сталей.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4593945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4807" y="4593945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5 320 – 16 677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56448" y="4593945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484266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Тоса, Коті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84248" y="4842662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400+ років. Вільна ковка: один коваль веде ніж від заготовки до кромки.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33288" y="4842662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64807" y="4842662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2 610 – 10 035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56448" y="4842662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050231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091379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Цубаме-Сандзьо, Ніїґата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84248" y="5091379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700 років, Ніїґата. Ковальські майстерні та інструмент.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5091379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4807" y="5091379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9 900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5091379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34009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Хіросакі, Аоморі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4248" y="5340096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Nigara Hamono: 350 років, ковалі клану Цуґару, 8 поколінь.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5340096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64807" y="5340096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14 800 – 16 740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56448" y="5340096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66928" y="5632704"/>
            <a:ext cx="5413248" cy="85171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6928" y="5632704"/>
            <a:ext cx="36576" cy="851712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" y="578815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ЧОМУ ЦЕ ВИРІШАЛЬНО ДЛЯ ЗАКУПІВЛІ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672" y="6016752"/>
            <a:ext cx="4937760" cy="3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Секі продасть контейнер. Сакаї — партію. Тоса, Ечідзен, Сандзьо й Аоморі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кують поштучно: це вітрина для репутації, а не канал постачання.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17920" y="5632704"/>
            <a:ext cx="5413248" cy="85171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17920" y="5632704"/>
            <a:ext cx="36576" cy="85171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5664" y="578815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ДЕ В ЦЬОМУ SAKAI TAKAYUKI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55664" y="6016752"/>
            <a:ext cx="4937760" cy="3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Сакаї, Осака. Велика майстерня з експортом у 100+ країн — тобто другий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за масштабованістю регіон після Секі, і єдиний із традицією ручної кузні.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HRC — твердість клинка за Роквеллом. Ціни — спостережений роздріб в Україні, жовтень 2026. «Серійна поставка» — оцінка на основі структури виробництва регіону, не підтверджена переговорами з виробниками.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Я К І С Т Ь   ·   1   ·   М А Р К А   С Т А Л 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Ніж купують не за брендом, а за сталлю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Марка сталі визначає три речі: скільки ніж тримає кромку, чи іржавіє і як легко викришується. Руків'я, дизайн та ім'я — вторинні.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91056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СТАЛЬ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1591056"/>
            <a:ext cx="12252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ТИП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159105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HRC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59105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ТРИМАЄ КРОМКУ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591056"/>
            <a:ext cx="896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ІРЖАВІЄ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1591056"/>
            <a:ext cx="104241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РИЗИК СКОЛУ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1591056"/>
            <a:ext cx="11521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ЗАТОЧУВАННЯ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1591056"/>
            <a:ext cx="1298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РОЗДРІБ,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591056"/>
            <a:ext cx="2212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ДЕ ЦЕ ДОРЕЧНО НА КУХНІ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" y="1769364"/>
            <a:ext cx="11210544" cy="29718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1810512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6B7282"/>
                </a:solidFill>
                <a:latin typeface="Segoe UI"/>
              </a:rPr>
              <a:t>AUS-8 / AUS-10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181051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нержавійка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810512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56–58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181051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коротко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1810512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ні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1810512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низький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181051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просте, мусат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1810512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700 – 2 500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810512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Лінійна станція, висока плинність персоналу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116836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6B7282"/>
                </a:solidFill>
                <a:latin typeface="Segoe UI"/>
              </a:rPr>
              <a:t>Мо-ванадієва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2116836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нержавійка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73552" y="2116836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57–59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211683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коротко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116836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ні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5312" y="2116836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низький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211683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просте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2" y="2116836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900 – 3 000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116836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Заготовка, овочі, робота «на потік»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382012"/>
            <a:ext cx="11210544" cy="29718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423160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VG-10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48256" y="2423160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нержавійка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3552" y="2423160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60–61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2423160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добре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2423160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ні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25312" y="2423160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середній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42316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камені 1000/3000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2" y="2423160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2 500 – 12 000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423160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Універсальний вибір шефа: баланс усіх властивостей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2729484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Ginsan / Silver #3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48256" y="2729484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нержавійка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2729484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61–62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272948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дуже добре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2729484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ні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25312" y="2729484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середній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272948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камені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19872" y="2729484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9 000 – 20 000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2729484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Коли потрібна гострота вуглецю без догляду за ним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" y="2994660"/>
            <a:ext cx="11210544" cy="29718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035808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SG-2 / R2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48256" y="3035808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порошкова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73552" y="3035808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62–64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03580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відмінно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3035808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ні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25312" y="3035808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B42E3A"/>
                </a:solidFill>
                <a:latin typeface="Segoe UI"/>
              </a:rPr>
              <a:t>високий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7728" y="303580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камені, навичка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19872" y="3035808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12 000 – 45 000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3035808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Фініш, нарізка, презентація. Не для кістки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3342132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ZDP-189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48256" y="33421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порошкова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73552" y="3342132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65–67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0480" y="334213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максимум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0" y="3342132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ні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25312" y="3342132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B42E3A"/>
                </a:solidFill>
                <a:latin typeface="Segoe UI"/>
              </a:rPr>
              <a:t>дуже високий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67728" y="334213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лише майстер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19872" y="3342132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17 000 – 70 000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18320" y="3342132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Колекційний рівень. На потоковій кухні зайвий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93776" y="3607308"/>
            <a:ext cx="11210544" cy="29718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" y="3648456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Shirogami (біла)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48256" y="3648456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вуглець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73552" y="3648456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62–64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40480" y="364845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відмінно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0" y="3648456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так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25312" y="3648456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B42E3A"/>
                </a:solidFill>
                <a:latin typeface="Segoe UI"/>
              </a:rPr>
              <a:t>високий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67728" y="364845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камені, часто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2" y="3648456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3 000 – 25 000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18320" y="3648456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Суші-станція, риба. Витирати після кожного різу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3954780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Aogami (синя)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48256" y="3954780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вуглець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73552" y="3954780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62–65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40480" y="3954780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максимум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0" y="3954780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так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25312" y="3954780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B42E3A"/>
                </a:solidFill>
                <a:latin typeface="Segoe UI"/>
              </a:rPr>
              <a:t>високий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67728" y="39547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камені, часто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19872" y="3954780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4 000 – 60 000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20" y="3954780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Та сама задача, але кромка тримається довше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93776" y="4219956"/>
            <a:ext cx="11210544" cy="29718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6928" y="4261104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SLD / Chromax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48256" y="4261104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інструментальна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73552" y="4261104"/>
            <a:ext cx="512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61–63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40480" y="426110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дуже добре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0" y="4261104"/>
            <a:ext cx="841247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майже ні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25312" y="4261104"/>
            <a:ext cx="987551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середній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67728" y="426110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камені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19872" y="4261104"/>
            <a:ext cx="12435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5 000 – 20 000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18320" y="4261104"/>
            <a:ext cx="21579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Компроміс: ріже як вуглець, доглядається як нержавійка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66928" y="4645152"/>
            <a:ext cx="3584448" cy="100218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66928" y="4645152"/>
            <a:ext cx="36576" cy="100218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04672" y="480060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HRC — ЩО ЦЕ НАСПРАВДІ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4672" y="5029200"/>
            <a:ext cx="3108960" cy="471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Твердість за Роквеллом. Кожні +2 HRC —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приблизно вдвічі довша кромка і вдвічі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вищий ризик її виломити. Європа — 56–58.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297680" y="4645152"/>
            <a:ext cx="3584448" cy="100218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297680" y="4645152"/>
            <a:ext cx="36576" cy="100218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35424" y="480060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66E28"/>
                </a:solidFill>
                <a:latin typeface="Segoe UI"/>
              </a:rPr>
              <a:t>ВУГЛЕЦЬ ПРОТИ НЕРЖАВІЙКИ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35424" y="5029200"/>
            <a:ext cx="3108960" cy="471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Вуглець гостріший і довше тримає кромку,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але вкривається патиною за годину роботи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й ржавіє. Режим простий: витер — поклав.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046720" y="4645152"/>
            <a:ext cx="3584448" cy="100218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046720" y="4645152"/>
            <a:ext cx="36576" cy="100218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84464" y="480060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54780"/>
                </a:solidFill>
                <a:latin typeface="Segoe UI"/>
              </a:rPr>
              <a:t>ПОРОШКОВА СТАЛЬ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84464" y="5029200"/>
            <a:ext cx="3108960" cy="471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Зерно дрібніше — звідси і гострота, і ціна.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Але чим твердіше, тим крихкіше: SG-2 при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64 HRC ламається там, де VG-10 загнеться.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6928" y="5650992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3232" y="5692140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ЯК ЦЕ ЧИТАТИ ПРИ ВИБОРІ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8" y="5961888"/>
            <a:ext cx="2706624" cy="548640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66928" y="5961888"/>
            <a:ext cx="32004" cy="54864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49808" y="603504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Потік, велика бригада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9808" y="6217920"/>
            <a:ext cx="2414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VG-10 або мо-ванадій, 58–61 HRC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419856" y="5961888"/>
            <a:ext cx="2706624" cy="548640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419856" y="5961888"/>
            <a:ext cx="32004" cy="548640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602736" y="603504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Шеф для себе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02736" y="6217920"/>
            <a:ext cx="2414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VG-10 дамаск або SLD, 60–62 HRC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72784" y="5961888"/>
            <a:ext cx="2706624" cy="548640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72784" y="5961888"/>
            <a:ext cx="32004" cy="548640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55664" y="603504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Суші й риба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55664" y="6217920"/>
            <a:ext cx="2414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Shirogami чи Aogami, одностороннє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25712" y="5961888"/>
            <a:ext cx="2706624" cy="548640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125712" y="5961888"/>
            <a:ext cx="32004" cy="548640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308592" y="603504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A84A6B"/>
                </a:solidFill>
                <a:latin typeface="Segoe UI"/>
              </a:rPr>
              <a:t>Презентація, фініш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08592" y="6217920"/>
            <a:ext cx="24140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SG-2 / R2, 62–64 HRC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3504" y="658368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Діапазони HRC — за специфікаціями виробників. Ціни — спостережений роздріб в Україні, жовтень 2026. «Тримає кромку» і «ризик сколу» — відносні оцінки в межах цієї таблиці, не лабораторні виміри.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Я К І С Т Ь   ·   2   ·   К О Н С Т Р У К Ц І Я   К Л И Н К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Чому два ножі з однієї сталі коштують по-різному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Сталь — лише серцевина. Те, як її обгорнули й загартували, змінює ціну в кілька разів і визначає, як ніж поводиться в роботі.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804672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664207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Моносталь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9385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Увесь клинок — одна сталь.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682495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Найпростіше у виробництві й найдешевше.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Весь клинок однаково твердий: якщо сталь м'яка —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кромка швидко сідає; якщо тверда — ніж крихкий цілком.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682495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ТИПОВА ЦІНА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1856231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B7282"/>
                </a:solidFill>
                <a:latin typeface="Georgia"/>
              </a:rPr>
              <a:t>700 – 3 000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1682495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ПРИКЛАДИ В УКРАЇНІ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0656" y="1856231"/>
            <a:ext cx="17556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Satake Saku, базові
Seki Kanetsugu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414015"/>
            <a:ext cx="11064240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414015"/>
            <a:ext cx="41148" cy="80467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25237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A7F86"/>
                </a:solidFill>
                <a:latin typeface="Georgia"/>
              </a:rPr>
              <a:t>Сан-май / касумі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2798063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Тверда серцевина між двома
м'якшими шарами.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254203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Кромка тверда, а боки в'язкі — ніж тримає гостроту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й не ламається від бокового навантаження.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Це стандарт більшості японських ножів.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254203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ТИПОВА ЦІНА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71576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A7F86"/>
                </a:solidFill>
                <a:latin typeface="Georgia"/>
              </a:rPr>
              <a:t>2 500 – 12 000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2542032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ПРИКЛАДИ В УКРАЇНІ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6" y="2715768"/>
            <a:ext cx="17556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 DP, KAI Shun,
Suncraft Senzo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273551"/>
            <a:ext cx="11064240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3273551"/>
            <a:ext cx="41148" cy="80467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338327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554780"/>
                </a:solidFill>
                <a:latin typeface="Georgia"/>
              </a:rPr>
              <a:t>Дамаск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365759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Той самий сан-май, але шарів
17 – 193.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401568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Шари — здебільшого естетика: ріже серцевина, не малюнок.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Проте багатошарова обкладка краще гасить вібрацію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і трохи легше відпускає продукт від клинка.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340156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ТИПОВА ЦІНА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357530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54780"/>
                </a:solidFill>
                <a:latin typeface="Georgia"/>
              </a:rPr>
              <a:t>5 000 – 40 000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0656" y="3401568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ПРИКЛАДИ В УКРАЇНІ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0656" y="3575303"/>
            <a:ext cx="17556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 Damascus,
Yaxell Ran, Mcusta Zanmai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33087"/>
            <a:ext cx="11064240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133087"/>
            <a:ext cx="41148" cy="804672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2428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42E3A"/>
                </a:solidFill>
                <a:latin typeface="Georgia"/>
              </a:rPr>
              <a:t>Хоньякі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451713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Один шматок сталі, зонне
гартування як у катани.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4261103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Найскладніша технологія: кромка тверда, обух м'який,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між ними видима лінія гартування хамон.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Найдорожче і найкрихкіше. Правиться лише майстром.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4261103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ТИПОВА ЦІНА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44348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2E3A"/>
                </a:solidFill>
                <a:latin typeface="Georgia"/>
              </a:rPr>
              <a:t>35 000 – 70 000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0656" y="4261103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ПРИКЛАДИ В УКРАЇНІ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0656" y="4434840"/>
            <a:ext cx="17556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Sakai Takayuki Shoryu —
в Україні не представлена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992623"/>
            <a:ext cx="11064240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4992623"/>
            <a:ext cx="41148" cy="80467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5102351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966E28"/>
                </a:solidFill>
                <a:latin typeface="Georgia"/>
              </a:rPr>
              <a:t>Куроучі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5376671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Чорна ковальська окалина
залишена на клинку.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5120639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Не оздоблення, а захист: окалина сповільнює корозію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вуглецевої сталі й знижує прилипання продукту.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Ознака ручної кузні, а не заводської лінії.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3568" y="5120639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ТИПОВА ЦІНА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73568" y="5294375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66E28"/>
                </a:solidFill>
                <a:latin typeface="Georgia"/>
              </a:rPr>
              <a:t>3 000 – 15 000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0656" y="5120639"/>
            <a:ext cx="17007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ПРИКЛАДИ В УКРАЇНІ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5294375"/>
            <a:ext cx="17556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 Kurouchi,
HONMAMON, Motokane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925312"/>
            <a:ext cx="11064240" cy="694436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928" y="5925312"/>
            <a:ext cx="36576" cy="69443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" y="6080760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ГОЛОВНЕ ПРО КОНСТРУКЦІЮ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6309360"/>
            <a:ext cx="10588752" cy="164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Шари дамаску не ріжуть — ріже серцевина. Переплачувати за малюнок має сенс лише тоді, коли серцевина й гартування того варті.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Я К І С Т Ь   ·   3   ·   Щ О   Ц Е   З Н А Ч И Т Ь   Н А   К У Х Н 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Японський ніж не кращий — він інший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Те, що в каталозі виглядає перевагою, на лінії може стати проблемою. Чесне зіставлення двох шкіл для того, хто щодня стоїть на станції.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60934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ПАРАМЕТР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609344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ЄВРОПЕЙСЬКА ШКОЛА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1609344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ЯПОНСЬКА ШКОЛА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1609344"/>
            <a:ext cx="2651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З ЦЬОГО ВИПЛИВАЄ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1787652"/>
            <a:ext cx="11210544" cy="32461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828800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Твердість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1828800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56–58 HRC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8" y="1828800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60–65 HRC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1828800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Японський довше ріже, легше виломлюється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162556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Кут заточування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2162556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20–22° на сторону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2162556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12–15° на сторону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2162556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Тонша кромка — чистіший зріз, вища вразливість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455164"/>
            <a:ext cx="11210544" cy="32461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49631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Як правлять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0048" y="2496312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мусат, щодня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496312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водні камені, раз на 1–3 тижні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2496312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Потрібна навичка і 20–40 хв часу, а не 30 секунд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830068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Поведінка на кістці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0048" y="2830068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загинається, правиться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2830068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викришується назавжди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968" y="2830068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Японський ніж — не для рубки й замороженого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" y="3122676"/>
            <a:ext cx="11210544" cy="32461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163824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Дошка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0048" y="3163824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будь-яка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9008" y="3163824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дерево або м'який пластик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3163824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Скло і камінь убивають кромку за один сервіс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497580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Посудомийка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3497580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витримує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9008" y="3497580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деформує руків'я, тупить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3497580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Тільки ручне миття і насухо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3776" y="3790188"/>
            <a:ext cx="11210544" cy="32461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3831336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Втрата ножа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0048" y="3831336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300 – 900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008" y="3831336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5 000 – 20 000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3831336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При плинності 40–60 % на рік це інша економіка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16509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Хто реально виграє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0048" y="4165092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лінійний кухар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79008" y="4165092"/>
            <a:ext cx="3054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шеф, су-шеф, суші-майстер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87968" y="4165092"/>
            <a:ext cx="2596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Інструмент для того, хто ним володіє, а не для всіх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645152"/>
            <a:ext cx="55778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4686300"/>
            <a:ext cx="30678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ЩО ПИТАТИ В ПОСТАЧАЛЬНИКА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974336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88A3D"/>
                </a:solidFill>
                <a:latin typeface="Segoe UI"/>
              </a:rPr>
              <a:t>1.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" y="4974336"/>
            <a:ext cx="51937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Марка сталі й твердість у HRC — цифрою, не словом «японська сталь»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212080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88A3D"/>
                </a:solidFill>
                <a:latin typeface="Segoe UI"/>
              </a:rPr>
              <a:t>2.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" y="5212080"/>
            <a:ext cx="51937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Конструкція: моносталь, сан-май чи дамаск, скільки шарів і що в серцевині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5449824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88A3D"/>
                </a:solidFill>
                <a:latin typeface="Segoe UI"/>
              </a:rPr>
              <a:t>3.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" y="5449824"/>
            <a:ext cx="51937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Кут заточування з заводу і чи симетричний він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687568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88A3D"/>
                </a:solidFill>
                <a:latin typeface="Segoe UI"/>
              </a:rPr>
              <a:t>4.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2" y="5687568"/>
            <a:ext cx="51937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Регіон і назва кузні, а не лише торгова марка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925312"/>
            <a:ext cx="2377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88A3D"/>
                </a:solidFill>
                <a:latin typeface="Segoe UI"/>
              </a:rPr>
              <a:t>5.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" y="5925312"/>
            <a:ext cx="51937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Чи є сервіс заточування й гарантія на кромку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19088" y="4645152"/>
            <a:ext cx="521208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65392" y="4686300"/>
            <a:ext cx="28666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ОЗНАКИ, ЩО ПЕРЕД ВАМИ НЕ ЯПОНІЯ</a:t>
            </a:r>
          </a:p>
        </p:txBody>
      </p:sp>
      <p:sp>
        <p:nvSpPr>
          <p:cNvPr id="68" name="Oval 67"/>
          <p:cNvSpPr/>
          <p:nvPr/>
        </p:nvSpPr>
        <p:spPr>
          <a:xfrm>
            <a:off x="6492240" y="5015484"/>
            <a:ext cx="68580" cy="68580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93408" y="4974336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У картці немає країни виробництва, лише «японський стиль»</a:t>
            </a:r>
          </a:p>
        </p:txBody>
      </p:sp>
      <p:sp>
        <p:nvSpPr>
          <p:cNvPr id="70" name="Oval 69"/>
          <p:cNvSpPr/>
          <p:nvPr/>
        </p:nvSpPr>
        <p:spPr>
          <a:xfrm>
            <a:off x="6492240" y="5253228"/>
            <a:ext cx="68580" cy="68580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93408" y="5212080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Сталь названа як «дамаск VG-10» без вказання виробника сталі</a:t>
            </a:r>
          </a:p>
        </p:txBody>
      </p:sp>
      <p:sp>
        <p:nvSpPr>
          <p:cNvPr id="72" name="Oval 71"/>
          <p:cNvSpPr/>
          <p:nvPr/>
        </p:nvSpPr>
        <p:spPr>
          <a:xfrm>
            <a:off x="6492240" y="5490972"/>
            <a:ext cx="68580" cy="68580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93408" y="5449824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Янагіба або деба дешевше за 2 000 грн</a:t>
            </a:r>
          </a:p>
        </p:txBody>
      </p:sp>
      <p:sp>
        <p:nvSpPr>
          <p:cNvPr id="74" name="Oval 73"/>
          <p:cNvSpPr/>
          <p:nvPr/>
        </p:nvSpPr>
        <p:spPr>
          <a:xfrm>
            <a:off x="6492240" y="5728716"/>
            <a:ext cx="68580" cy="68580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3408" y="5687568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Бренд із японською назвою, але без жодної кузні за ним</a:t>
            </a:r>
          </a:p>
        </p:txBody>
      </p:sp>
      <p:sp>
        <p:nvSpPr>
          <p:cNvPr id="76" name="Oval 75"/>
          <p:cNvSpPr/>
          <p:nvPr/>
        </p:nvSpPr>
        <p:spPr>
          <a:xfrm>
            <a:off x="6492240" y="5966459"/>
            <a:ext cx="68580" cy="68580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93408" y="592531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Однакова ціна на різні моделі — ознака дропшип-фіда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5566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Кути й твердість — типові заводські значення, конкретна модель може відрізнятися. «Втрата ножа» — середня роздрібна ціна відповідного сегмента в Україні, жовтень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О Б С Я Г   Р О Б О Т И   І   Р О З М І Р   Р И Н К 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Рахуємо тільки Японію: 16–19 млн грн із 9,02 млн $ категорії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Критерій відбору — країна виробництва Японія, підтверджена митним кодом або карткою товару продавця. Усе інше в цій роботі не рахується.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2706624" cy="1133856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72768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О З Д Р І Б   Н А   Р І 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2A7F86"/>
                </a:solidFill>
                <a:latin typeface="Georgia"/>
              </a:rPr>
              <a:t>16–19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грн. Японське виробництво
у роздрібі України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572768"/>
            <a:ext cx="2706624" cy="1133856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572768"/>
            <a:ext cx="270662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Ш Т У К   Н А   Р І 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554780"/>
                </a:solidFill>
                <a:latin typeface="Georgia"/>
              </a:rPr>
              <a:t>≈ 3 700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ножів японського
виробництва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572768"/>
            <a:ext cx="2706624" cy="1133856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572768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Ч А С Т К А   Р И Н К 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966E28"/>
                </a:solidFill>
                <a:latin typeface="Georgia"/>
              </a:rPr>
              <a:t>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грошах і 0,15 %
у штуках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572768"/>
            <a:ext cx="2706624" cy="1133856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572768"/>
            <a:ext cx="2706624" cy="25603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П Е Р Е В І Р Е Н И Х   Б Р Е Н Д І 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A84A6B"/>
                </a:solidFill>
                <a:latin typeface="Georgia"/>
              </a:rPr>
              <a:t>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25 продавців,
759 позицій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907792"/>
            <a:ext cx="704088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948940"/>
            <a:ext cx="38724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МИТНА БАЗА КАТЕГОРІЇ · ІМПОРТ 2024, ТИС. $ CIF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20040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КОД УКТЗЕД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3200400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НАЗВА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1808" y="320040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ІМПОРТ, ТИС. 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320040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ЧАСТКА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" y="3378708"/>
            <a:ext cx="7187184" cy="27432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41985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8211 10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288" y="3419856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Набори ножів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1808" y="3419856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2 339,2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419856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26 %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71246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8211 91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04288" y="3712464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Ножі столові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3712464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1 093,4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8" y="3712464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12 %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" y="3963924"/>
            <a:ext cx="7187184" cy="274320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00507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8211 92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04288" y="4005072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Ножі з фіксованим лезом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4005072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5 587,3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8" y="400507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62 %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315968"/>
            <a:ext cx="704088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44398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РАЗОМ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04288" y="4443984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Митна база категорії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1808" y="4443984"/>
            <a:ext cx="1316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9 019,8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3408" y="4443984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100 %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63840" y="2907792"/>
            <a:ext cx="3767328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0144" y="2948940"/>
            <a:ext cx="207203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ІМПОРТ ІЗ ЯПОНІЇ · 8211 92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3255264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0">
                <a:solidFill>
                  <a:srgbClr val="1B253F"/>
                </a:solidFill>
                <a:latin typeface="Segoe UI"/>
              </a:rPr>
              <a:t>2022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30767" y="3296412"/>
            <a:ext cx="2157984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30767" y="3296412"/>
            <a:ext cx="1978705" cy="8229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80191" y="3255264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151A26"/>
                </a:solidFill>
                <a:latin typeface="Segoe UI"/>
              </a:rPr>
              <a:t>119,2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3566160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0">
                <a:solidFill>
                  <a:srgbClr val="1B253F"/>
                </a:solidFill>
                <a:latin typeface="Segoe UI"/>
              </a:rPr>
              <a:t>2023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30767" y="3607308"/>
            <a:ext cx="2157984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30767" y="3607308"/>
            <a:ext cx="1316370" cy="8229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80191" y="3566160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151A26"/>
                </a:solidFill>
                <a:latin typeface="Segoe UI"/>
              </a:rPr>
              <a:t>79,3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3877056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0">
                <a:solidFill>
                  <a:srgbClr val="1B253F"/>
                </a:solidFill>
                <a:latin typeface="Segoe UI"/>
              </a:rPr>
              <a:t>2024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30767" y="3918204"/>
            <a:ext cx="2157984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30767" y="3918204"/>
            <a:ext cx="1714767" cy="8229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80191" y="3877056"/>
            <a:ext cx="7498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151A26"/>
                </a:solidFill>
                <a:latin typeface="Segoe UI"/>
              </a:rPr>
              <a:t>103,3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63840" y="4279392"/>
            <a:ext cx="37673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40" b="0">
                <a:solidFill>
                  <a:srgbClr val="6B7282"/>
                </a:solidFill>
                <a:latin typeface="Segoe UI"/>
              </a:rPr>
              <a:t>Імпорт 2024 на 13 % нижчий за 2022 у номінальних доларах.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40" b="0">
                <a:solidFill>
                  <a:srgbClr val="6B7282"/>
                </a:solidFill>
                <a:latin typeface="Segoe UI"/>
              </a:rPr>
              <a:t>Стрибок 2023 → 2024 — це відновлення після провалу, а не тренд.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4882896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" y="4924044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ЩО САМЕ ВХОДИТЬ У ЦІ 16–19 МЛН ГРН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5157216"/>
            <a:ext cx="3639312" cy="676656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6928" y="5157216"/>
            <a:ext cx="32004" cy="67665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8096" y="52395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2A7F86"/>
                </a:solidFill>
                <a:latin typeface="Georgia"/>
              </a:rPr>
              <a:t>56 брендів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096" y="5522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японського виробництва, перевірених
на країну походження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52544" y="5157216"/>
            <a:ext cx="3639312" cy="676656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52544" y="5157216"/>
            <a:ext cx="32004" cy="67665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53712" y="52395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554780"/>
                </a:solidFill>
                <a:latin typeface="Georgia"/>
              </a:rPr>
              <a:t>6 регіонів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53712" y="5522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Секі, Сакаї, Ечідзен, Тоса,
Сандзьо, Аоморі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38159" y="5157216"/>
            <a:ext cx="3639312" cy="676656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38159" y="5157216"/>
            <a:ext cx="32004" cy="67665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39327" y="52395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966E28"/>
                </a:solidFill>
                <a:latin typeface="Georgia"/>
              </a:rPr>
              <a:t>25 продавців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39327" y="55229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від фахових магазинів
до оптового профканалу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66928" y="5888736"/>
            <a:ext cx="11064240" cy="68762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6928" y="5888736"/>
            <a:ext cx="36576" cy="687628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672" y="6044184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ЦЕ ЗНАЧИТЬ ДЛЯ ОЦІНКИ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672" y="6272784"/>
            <a:ext cx="10588752" cy="157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Японія — 1,3 % митної бази категорії. Уся робота рахує лише цю частку: 16–19 млн грн роздрібу, близько 3 700 ножів на рік.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3504" y="6601968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Джерело митних даних: World Bank WITS / UN Comtrade, імпорт України 2022–2024, коди 8211 10, 8211 91, 8211 92. Роздріб — перерахунок через торгову націнку.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1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До 2 500 грн: японське виробництво сюди майже не дістає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Нижній діапазон каталогу. Саме тут лежить обсяг усього ринку кухонних ножів — і саме тут японське виробництво представлене найгірше.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Vegetable 2000 90мм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990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Шеф малий Satake Swordsmith 803 · 274, 135мм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1 149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Satake Saku 802 · 369 Air Hol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1 349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Mikihisa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MAKIRI MIKIHISA / Макірі Мікіхіса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1 650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Misono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Misono, 105 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1 690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Nakiri 2007 165мм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1 760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Paring, 120 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1 905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овочевий Kasumi TORA 36844, 9см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1 991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Wasabi Black 6716N Накірі, 16.5см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2 184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Motokane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Deba Motokane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2 200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Hanakumagawa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Funayuki ніж Shirogami 2 Steel 165 mm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Masahiro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Petty MRS · 30 10696 120мм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2 400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66E28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966E28"/>
                </a:solidFill>
                <a:latin typeface="Georgia"/>
              </a:rP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11 %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1 790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726–2 400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8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Satake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374904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374904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28575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3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28575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29 позицій, 11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29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Моносталь або базова VG-10, штамповка, західне руків'я. Японія дістає сюди лише Satake, Seki Kanetsugu, Fuji Cutlery і бюджетними лініями KAI Wasabi.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Це єдиний діапазон, де японський ніж конкурує з європейським за ціною, а не за походженням — і де покупець найчастіше не перевіряє країну виробництва.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2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2 500 – 5 000 грн: вхід у японське виробництво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Перший діапазон, де японське виробництво стає нормою, а не винятком. Тут з'являються імена кузень, а не лише промислові бренди.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Motokane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Paring Motokane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2 695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Hanakumagawa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для фруктів з дамаської сталі Hanakumagawa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2 870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Santoku, 165 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3 090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Deba ніж Blue Steel #2 110 mm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3 215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Tojiro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для овочів Tojiro DP F · 800, 9cм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3 499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Migaki Yanagiba HC305 · W2 210мм японський 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SAIUN 9000 90мм VG10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3 980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Seki Magoroku Red Wood MGR · 0210Y Янагіба,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4 130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Fukamizu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240мм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4 451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для стейка Yaxell RAN 36013, 113мм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4 657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240мм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Misono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Misono MV, 120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4 990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A7F86"/>
                </a:solidFill>
                <a:latin typeface="Georgia"/>
              </a:rPr>
              <a:t>67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26 %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3 539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2 640–4 996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10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Masahiro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588873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51755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7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51755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7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446227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67 позицій, 19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67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VG-10 у три шари, перші куроучі з Тоса, артизанальні ножі з вуглецевої сталі. Руків'я ще західне, але геометрія вже японська.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Найцікавіший діапазон для входу з японським постачальником: покупець уже готовий платити за походження, але ще не вимагає дамаску й порошкової сталі.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3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5 000 – 10 000 грн: ядро асортименту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Найгустіший діапазон каталогу. Сюди цілиться більшість спеціалізованих продавців країни.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Tojiro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ніж Tojiro DP F · 502 Накірі, 16.5см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5 299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Yaxell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Сантоку Yaxell Zen 35512, 125мм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5 538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 (Шеф), 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5 990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0701 універсальний, 15см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6 440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Yoshihiro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bocho 240мм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6 747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Kasumi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Сантоку Kasumi Damascus 84013, 130мм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7 199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Takamura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Chromax Petty 130мм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7 400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Янагіба SAKAI TAKAYUKI Yasugi для лівші, 24с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7 640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Santoku Damascus TADAYOSHI Tosa 165мм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7 907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Shigehiro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Shigehiro Speci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8 490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Seki Kanetsugu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Kiritsuke Zuiun 9302 150мм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9 040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Tsukasa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Aogami super ніж слайсер 210 mm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9 900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554780"/>
                </a:solidFill>
                <a:latin typeface="Georgia"/>
              </a:rPr>
              <a:t>116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45 %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7 290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5 060–9 999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701802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23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464058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15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34518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34518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116 позицій, 18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77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116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Дамаск 32–69 шарів поверх VG-10, куроучі Тоса, Takamura Chromax, Tojiro DP Damascus. Твердість 60–61 HRC, часто вже wa-руків'я.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Тут найбільша щільність позицій і найбільша конкуренція продавців за одного покупця. Новий бренд без історії аргументу тут не має.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Ц І Н И   ·   4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Понад 10 000 грн: порошкова сталь і іменні ковалі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Верхній діапазон. Тут платять за марку сталі, кількість шарів і підпис майстра, а не за зручність.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Yaxell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універсальний Yaxell Super Gou 37102, 120мм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10 195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0702 Сантоку, 180мм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10 220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Tojiro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Tojiro Shippu Black FD · 1594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10 799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HONMAMON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Santoku 170 мм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11 790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JCK Natures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Aogami Super Series SAKURA · 2 Шеф 180mm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12 220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Tojiro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Tojiro Flash FF · CH180, 18см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12 999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Hatsukokoro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HAYABUSA ZDP · 189 150MM PETTY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13 865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0712 Сокирка цайдао, 18см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15 120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Etsu / Ittetsu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Etsu (Ittetsu) R2 Damascus Bunka ніж 165мм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16 677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Harukaze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"HARUKAZE" Pett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19 990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HONMAMON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 (Шеф) Dam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23 990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Набір з 3 · х ножів KAI Shun Premier Tim Mal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27 970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A84A6B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A84A6B"/>
                </a:solidFill>
                <a:latin typeface="Georgia"/>
              </a:rPr>
              <a:t>47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18 %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13 500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10 035–38 640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15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493776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10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398678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8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Takamura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160934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3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160934" cy="65836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A84A6B"/>
                </a:solidFill>
                <a:latin typeface="Segoe U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47 позицій, 11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33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47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A84A6B"/>
                </a:solidFill>
                <a:latin typeface="Segoe UI"/>
              </a:rPr>
              <a:t>Щ О   В И З Н А Ч А Є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SG-2 і R2 порошкові сталі, 101–193 шари, ZDP-189 при 65–67 HRC, honyaki. Yaxell Super Gou, Takeshi Saji, Nigara, Myojin, Hatsukokoro.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Покупців на всю країну — кілька тисяч. Ніж за 17 746 грн це 57 % середньої місячної зарплати: сегмент обмежений не смаком, а доходом.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Т А Л О Г   ·   С Е Г М Е Н Т А Ц І Я   З А   Ц І Н О 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Чотири цінові діапазони японського виробництва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Каталог із 259 ножів японського виробництва. На кожному щаблі — п'ять позицій, рівномірно розподілених за ціною.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106070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6002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966E28"/>
                </a:solidFill>
                <a:latin typeface="Segoe UI"/>
              </a:rPr>
              <a:t>До 2 500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865376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Японія сюди майже не дістає: моносталь, штамповка, західне руків'я.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5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06624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1 140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5148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1532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91532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1532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1572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1532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1 650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0057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6441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76441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6441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6481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Takanori Izumi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6441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1 980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4966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61350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61350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1350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1390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1350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2 184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9875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46259" y="1609344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846259" y="231800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46259" y="231800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66299" y="2313432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46259" y="2450592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44784" y="246430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2724912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2724912"/>
            <a:ext cx="41148" cy="106070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2770632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2A7F86"/>
                </a:solidFill>
                <a:latin typeface="Segoe UI"/>
              </a:rPr>
              <a:t>2 500 – 5 000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3035808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Вхід у японське виробництво: VG-10 у три шари, перші куроучі з Тоса.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34930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67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369417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82495" y="34930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26 %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82495" y="369417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06624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706624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6624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26664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06624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2 833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05148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91532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491532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91532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1572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91532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3 231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90057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76441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76441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76441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96481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6441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3 539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74966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61350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061350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61350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81390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61350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4 450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9875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46259" y="2779776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846259" y="3488436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46259" y="3488436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66299" y="3483863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46259" y="3621024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44784" y="3634739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6928" y="3895344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66928" y="3895344"/>
            <a:ext cx="41148" cy="1060704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8096" y="3941063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554780"/>
                </a:solidFill>
                <a:latin typeface="Segoe UI"/>
              </a:rPr>
              <a:t>5 000 – 10 000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096" y="4206240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Ядро асортименту: дамаск 32–69 шарів, Chromax, 60–61 HRC.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096" y="4663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8096" y="4864608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82495" y="46634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45 %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82495" y="4864608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06624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706624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06624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26664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6624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5 490 грн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05148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91532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4491532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491532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11572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Yaxell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91532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6 401 грн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90057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76441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276441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76441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96481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Motokane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76441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7 290 грн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74966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61350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061350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61350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81390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61350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8 050 грн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59875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846259" y="3950207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846259" y="465886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46259" y="465886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166299" y="4654296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Tojiro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846259" y="4791456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9 470 грн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844784" y="480517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66928" y="5065776"/>
            <a:ext cx="11064240" cy="106070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66928" y="5065776"/>
            <a:ext cx="41148" cy="1060704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8096" y="511149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A84A6B"/>
                </a:solidFill>
                <a:latin typeface="Segoe UI"/>
              </a:rPr>
              <a:t>Понад 10 000 грн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8096" y="537667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Порошкова сталь SG-2 / R2, 101–193 шари, іменні ковалі.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68096" y="58338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47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8096" y="603504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682495" y="58338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18 %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82495" y="603504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06624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2706624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06624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26664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706624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10 220 грн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705148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491532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4491532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491532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11572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Takamura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491532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11 990 грн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490057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76441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6276441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76441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96481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Hatsukokoro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276441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13 865 грн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74966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061350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8061350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061350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381390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Etsu / Ittetsu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061350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16 677 грн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059875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846259" y="5120640"/>
            <a:ext cx="16751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9846259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846259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166299" y="5824728"/>
            <a:ext cx="133685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A84A6B"/>
                </a:solidFill>
                <a:latin typeface="Segoe UI"/>
              </a:rPr>
              <a:t>Yaxell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846259" y="5961888"/>
            <a:ext cx="10533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27 822 грн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844784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3504" y="636422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— 259 ножів із карток чотирьох магазинів (ProfiMax, ROKS, Sekator, WildCat). Це не весь японський асортимент країни: перепис на слайді 19 охоплює 56 брендів у 25 продавців.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Т И П У   ·   1   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Шеф і гюто: найбільший тип каталогу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Робочий ніж кухні, 180–240 мм. Найширше представлений тип і головний драйвер середнього чека.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Gyuto 2004 180мм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1 560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Kasumi TORA 36842, 18см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2 833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Masahiro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Chief MRS · 30 10692 180мм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4 100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 (Шеф), 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5 990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Yaxell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Yaxell ZEN 35500, 200мм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6 671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Gyuto Migaki VG10 210мм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7 950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Tojiro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Кухарський Шеф Tojiro DP Damascus F · 654,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8 845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Tosa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Chief Damascus TADAYOSHI Tosa 210мм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9 720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Gyuto Migaki SG2 180мм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10 200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0719 Кухарський Шеф, 20см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10 920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JCK Natures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Aogami Super Series SAKURA · 2 Шеф 180mm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12 220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Harukaze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"HARUKAZE" Gyut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26 990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66E28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966E28"/>
                </a:solidFill>
                <a:latin typeface="Georgia"/>
              </a:rPr>
              <a:t>49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19 %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8 490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1 149–26 990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14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374904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7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273013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5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Satake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222068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222068" cy="6583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966E28"/>
                </a:solidFill>
                <a:latin typeface="Segoe UI"/>
              </a:rPr>
              <a:t>4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49 позицій, 13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29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49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966E28"/>
                </a:solidFill>
                <a:latin typeface="Segoe UI"/>
              </a:rPr>
              <a:t>Щ О   Ц Е   З А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Універсальний робочий ніж: м'ясо, овочі, риба. Купує і домашній просьюмер, і шеф-кухар для себе.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Саме в цьому типі найширший ціновий розкид — у десятки разів. Тип не визначає ціну; її визначає сталь.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Т И П У   ·   2   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Сантоку, петті, накірі: домашня трійця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Три типи, які купує домашня кухня і які формують уявлення масового покупця про японський ніж.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Kanetsugu Miyabi Isshin Nakiri 2007 165мм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1 760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Nakiri Kasumi TORA 36847, 16.5см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2 920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Tojiro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Shirogami Kasumi Петті ніж 150 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3 247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універсальний ніж Super Blue Steel 120 mm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4 362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Nakiri Kanto 54x165мм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5 439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SHUN CLASSIC DM · 0716 універсальний, 10см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6 160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Накірі Yaxell ZEN 35504, 180мм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6 999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Takamura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Chromax Petty 130мм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7 400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Shigehiro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Shigehiro Speci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8 490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Накірі Kasumi Damascus 84017, 180мм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8 999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Gyuto/Petty сер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9 950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Harukaze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"HARUKAZE" Pett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19 990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2A7F86"/>
                </a:solidFill>
                <a:latin typeface="Georgia"/>
              </a:rPr>
              <a:t>77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30 %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6 671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1 140–19 990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12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612648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10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553212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9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493776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434340" cy="6583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2A7F86"/>
                </a:solidFill>
                <a:latin typeface="Segoe UI"/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77 позицій, 18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35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14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77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2A7F86"/>
                </a:solidFill>
                <a:latin typeface="Segoe UI"/>
              </a:rPr>
              <a:t>Щ О   Ц Е   З А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Сантоку — другий ніж у домі після шефа. Петті — найчастіша купівля з найнижчим чеком. Накірі зростає разом із модою на овочі.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Єдина група, де японська геометрія вже стала масовою — і саме тому тут найважче продати походження: покупець бачить форму, а не країну.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С Е Г М Е Н Т   Т И П У   ·   3   З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Односторонні: янагіба, деба, сашимі, усуба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Єдина геометрія, де японське виробництво не має європейського замінника в принципі.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Motokane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Deba Motokane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2 200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575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096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069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069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988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69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кухонний Honmamon / Хонмамон Sashimi Hocho,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069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2 695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979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6473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473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92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Fukamizu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473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210мм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73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3 463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08776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6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Migaki Yanagiba HC305 · W2 210мм японський 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787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5281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281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199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5281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Seki Magoroku Kinju AK · 1106 Янагіба, 24см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281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3 999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912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7127" y="1572768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896855" y="241858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5" y="241858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26039" y="2414016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6855" y="2560320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240мм (двосторонній)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855" y="2788920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4 400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45951" y="2807208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7665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Black 210мм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4 600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575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1096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2069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2069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4988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2069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Sashimi · bocho 270мм (двосторонній)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2069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4 900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6979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500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6473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6473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392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Tanaka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6473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Kamagata Usuba ніж Super Blue Steel 150mm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6473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5 203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1383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99048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208776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08776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37960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Masahiro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08776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Янагіба Masahiro 16220 Yanagiba, 27см сталь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08776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6 512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5787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4308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5281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5281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38199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Sakai Haruhiko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5281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White 2 Янагіба 240мм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5281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7 040 грн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01912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7127" y="3054096"/>
            <a:ext cx="1752599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6855" y="3899915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5" y="3899915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6039" y="3895344"/>
            <a:ext cx="1277111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96855" y="4041648"/>
            <a:ext cx="16062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10" b="0">
                <a:solidFill>
                  <a:srgbClr val="1B253F"/>
                </a:solidFill>
                <a:latin typeface="Segoe UI"/>
              </a:rPr>
              <a:t>Янагіба SAKAI TAKAYUKI Yasugi для лівші, 24с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6855" y="4270248"/>
            <a:ext cx="1295399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151A26"/>
                </a:solidFill>
                <a:latin typeface="Georgia"/>
              </a:rPr>
              <a:t>7 640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045951" y="4288536"/>
            <a:ext cx="4754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453542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66928" y="4626864"/>
            <a:ext cx="5486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А Н А Л І Т И К А   С Е Г М Е Н Т 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809744"/>
            <a:ext cx="1389888" cy="2011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94944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4944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554780"/>
                </a:solidFill>
                <a:latin typeface="Georgia"/>
              </a:rP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4944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14 % каталогу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011680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11680" y="4809744"/>
            <a:ext cx="1389888" cy="20116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139696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МЕДІАННА ЦІНА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139696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51A26"/>
                </a:solidFill>
                <a:latin typeface="Georgia"/>
              </a:rPr>
              <a:t>4 550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39696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 за один ніж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6432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56432" y="4809744"/>
            <a:ext cx="1389888" cy="20116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84448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ДІАПАЗОН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84448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6B7282"/>
                </a:solidFill>
                <a:latin typeface="Georgia"/>
              </a:rPr>
              <a:t>2 016–7 640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584448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грн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901184" y="4809744"/>
            <a:ext cx="1389888" cy="804672"/>
          </a:xfrm>
          <a:prstGeom prst="rect">
            <a:avLst/>
          </a:prstGeom>
          <a:solidFill>
            <a:srgbClr val="FAF9F6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901184" y="4809744"/>
            <a:ext cx="1389888" cy="20116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0" y="491947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БРЕНДІВ У СЕГМЕНТІ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29200" y="5065776"/>
            <a:ext cx="12070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253F"/>
                </a:solidFill>
                <a:latin typeface="Georgia"/>
              </a:rPr>
              <a:t>12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029200" y="534924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усі японського виробництва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72784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4809744"/>
            <a:ext cx="20116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Х Т О   Т Р И М А Є   С Е Г М Е Н 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29600" y="480974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96062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19088" y="496062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48272" y="495604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55279" y="4990795"/>
            <a:ext cx="731520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741664" y="4956048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11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19088" y="5094122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19088" y="5094122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48272" y="508955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KAI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5124297"/>
            <a:ext cx="537002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41664" y="5089550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8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19088" y="52276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19088" y="52276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748272" y="52230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55279" y="5257800"/>
            <a:ext cx="212805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41664" y="5223052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3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419088" y="5361127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19088" y="5361127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748272" y="53565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Fukamizu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955279" y="5391302"/>
            <a:ext cx="14796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41664" y="5356555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19088" y="5494629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19088" y="5494629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549005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Tomita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79" y="5524804"/>
            <a:ext cx="147966" cy="658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741664" y="5490057"/>
            <a:ext cx="3108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554780"/>
                </a:solidFill>
                <a:latin typeface="Segoe UI"/>
              </a:rPr>
              <a:t>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19088" y="5660136"/>
            <a:ext cx="2633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35 позицій, 12 брендів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180576" y="4773168"/>
            <a:ext cx="9144" cy="9144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326880" y="4809744"/>
            <a:ext cx="14996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Д Е   Ц Е   К У П И Т 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36224" y="4809744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26880" y="4956048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ROKS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81360" y="4956048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26880" y="5089550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ProfiMax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881360" y="5089550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13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326880" y="5223052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WildCat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881360" y="5223052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326880" y="5356555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1B253F"/>
                </a:solidFill>
                <a:latin typeface="Segoe UI"/>
              </a:rPr>
              <a:t>Sekator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881360" y="5356555"/>
            <a:ext cx="74980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6B7282"/>
                </a:solidFill>
                <a:latin typeface="Segoe UI"/>
              </a:rPr>
              <a:t>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326880" y="5526633"/>
            <a:ext cx="230428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6B7282"/>
                </a:solidFill>
                <a:latin typeface="Segoe UI"/>
              </a:rPr>
              <a:t>усього 35 позицій у 4 магазинах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66928" y="5815584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66928" y="5815584"/>
            <a:ext cx="822960" cy="1097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6928" y="5925312"/>
            <a:ext cx="3657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554780"/>
                </a:solidFill>
                <a:latin typeface="Segoe UI"/>
              </a:rPr>
              <a:t>Щ О   Ц Е   З А   С Е Г М Е Н Т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66928" y="6108192"/>
            <a:ext cx="11064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Одностороннє заточення під праву руку, вуглецева або високовуглецева сталь, традиційне руків'я wa. Вимагає водних каменів і навички.</a:t>
            </a:r>
          </a:p>
          <a:p>
            <a:pPr algn="l">
              <a:lnSpc>
                <a:spcPct val="130000"/>
              </a:lnSpc>
              <a:spcAft>
                <a:spcPts val="16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Професійний інструмент суші-кухні. Попит на всю країну — 500–900 ножів на рік: канал реальний, ринок за обсягом — ні.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Каталог зібрано з карток товарів чотирьох магазинів: ProfiMax 139, ROKS 56, Sekator 40, WildCat 24. Suncraft, Kanetsune Seki, Miyabi, Mcusta Zanmai і Takeshi Saji продаються в Україні, але в цю вибірку не потрапили — вони в переписі.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Т А Л О Г   ·   С Е Г М Е Н Т А Ц І Я   З А   Т И П О М   Л Е З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Три групи, які покривають 62 % каталогу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Той самий каталог у розрізі геометрії. Тип не визначає ціну — її визначає сталь.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145084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1450848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6002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966E28"/>
                </a:solidFill>
                <a:latin typeface="Segoe UI"/>
              </a:rPr>
              <a:t>Шеф і гюто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865376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Робочий ніж кухні, 180–240 мм. Найширший тип і головний драйвер чека.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95" y="23225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2523744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6624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06624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6664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2 099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7664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4048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94048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94048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4088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Tojiro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94048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4 976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5088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81472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81472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1472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1512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Yaxell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1472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7 804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68896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168896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68896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88936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8896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9 520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9936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56320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656320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6320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6360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6320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10 200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57360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43744" y="1609344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143744" y="2708148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43744" y="2708148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3784" y="2703576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3744" y="2840736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23 990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44784" y="2854452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3115056"/>
            <a:ext cx="11064240" cy="145084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3115056"/>
            <a:ext cx="41148" cy="145084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3160776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2A7F86"/>
                </a:solidFill>
                <a:latin typeface="Segoe UI"/>
              </a:rPr>
              <a:t>Сантоку, петті, накірі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" y="3425952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Домашня трійця. Єдина група, де японська геометрія вже стала масовою.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" y="38831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77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" y="408432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82495" y="38831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30 %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82495" y="4084320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06624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706624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06624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26664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06624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07664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94048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194048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94048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14088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Masahiro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4048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95088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81472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681472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81472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01512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81472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5 538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2512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68896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168896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68896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88936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Motokane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8896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7 290 грн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69936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56320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656320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56320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76360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56320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8 610 грн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57360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3744" y="3169920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0143744" y="4268724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43744" y="4268724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63784" y="4264152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43744" y="4401312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11 790 грн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44784" y="4415028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" y="4675632"/>
            <a:ext cx="11064240" cy="145084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6928" y="4675632"/>
            <a:ext cx="41148" cy="1450848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68096" y="4721352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554780"/>
                </a:solidFill>
                <a:latin typeface="Segoe UI"/>
              </a:rPr>
              <a:t>Односторонні ножі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8096" y="4986528"/>
            <a:ext cx="1773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Професійний інструмент суші-кухні. Єдина геометрія без європейського замінника.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8096" y="544372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35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8096" y="564489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682495" y="544372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51A26"/>
                </a:solidFill>
                <a:latin typeface="Georgia"/>
              </a:rPr>
              <a:t>14 %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82495" y="5644896"/>
            <a:ext cx="8412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06624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2706624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06624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026664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06624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2 660 грн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07664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94048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194048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94048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14088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94048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895088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81472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5681472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81472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01512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Fukamizu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81472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4 451 грн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382512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168896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7168896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168896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88936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168896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69936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656320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8656320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56320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976360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56320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5 490 грн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357360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143744" y="4730496"/>
            <a:ext cx="1377696" cy="1066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0143744" y="5829300"/>
            <a:ext cx="274320" cy="1234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143744" y="5829300"/>
            <a:ext cx="274320" cy="1234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463784" y="5824728"/>
            <a:ext cx="10393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143744" y="5961888"/>
            <a:ext cx="7559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1">
                <a:solidFill>
                  <a:srgbClr val="151A26"/>
                </a:solidFill>
                <a:latin typeface="Georgia"/>
              </a:rPr>
              <a:t>7 460 грн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844784" y="5975604"/>
            <a:ext cx="6766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03504" y="636422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Позиції поза трьома групами (слайсери, хлібні, бунка, фунаюкі, набори) становлять решту каталогу. Каталог — 259 ножів із чотирьох магазинів; повний перелік марок країни — у переписі на слайді 19.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Ц І Н О В И Й   К О Р И Д О Р   Б Р Е Н Д І 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Де кожен із п'ятдесяти брендів стоїть на ціновій шкалі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Смуга — спостережений діапазон роздрібних цін марки в Україні, риска — середина діапазону. Усі марки японського виробництва.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149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5253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1 000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06235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5339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3 000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5790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4894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10 тис.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5877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4981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30 тис.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1536192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AA2B4"/>
                </a:solidFill>
                <a:latin typeface="Segoe UI"/>
              </a:rPr>
              <a:t>ДІАПАЗОН,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73736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Sekiryu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43525" y="1783080"/>
            <a:ext cx="221155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173736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1 107 – 1 638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9065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Fuji Cutlery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84333" y="1952243"/>
            <a:ext cx="49295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5205" y="193029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21664" y="193761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190652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1 190 – 2 850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07568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Kanetsune Seki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84831" y="2121408"/>
            <a:ext cx="2022277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35632" y="209946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52092" y="210677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207568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150 – 25 184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24485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Sakai Ichiji</a:t>
            </a:r>
          </a:p>
        </p:txBody>
      </p:sp>
      <p:sp>
        <p:nvSpPr>
          <p:cNvPr id="37" name="Oval 36"/>
          <p:cNvSpPr/>
          <p:nvPr/>
        </p:nvSpPr>
        <p:spPr>
          <a:xfrm>
            <a:off x="2626805" y="2259482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638693" y="2271369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22448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1 999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241401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Inoguchi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78970" y="2459736"/>
            <a:ext cx="231090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24140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1 680 – 2 530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58318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Higonokami</a:t>
            </a:r>
          </a:p>
        </p:txBody>
      </p:sp>
      <p:sp>
        <p:nvSpPr>
          <p:cNvPr id="44" name="Oval 43"/>
          <p:cNvSpPr/>
          <p:nvPr/>
        </p:nvSpPr>
        <p:spPr>
          <a:xfrm>
            <a:off x="2651932" y="259781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63819" y="2609697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36592" y="258318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2 090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275234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Motokane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02224" y="2798064"/>
            <a:ext cx="143496" cy="38404"/>
          </a:xfrm>
          <a:prstGeom prst="roundRect">
            <a:avLst>
              <a:gd name="adj" fmla="val 50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36592" y="275234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2 090 – 2 695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92150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Takanori Izumi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71707" y="2967228"/>
            <a:ext cx="249382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6592" y="292150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1 980 – 3 080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09067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Hanakumagawa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77930" y="3136392"/>
            <a:ext cx="87344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36592" y="309067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2 390 – 2 790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25983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KAI Sekimagoroku Imayo</a:t>
            </a:r>
          </a:p>
        </p:txBody>
      </p:sp>
      <p:sp>
        <p:nvSpPr>
          <p:cNvPr id="57" name="Oval 56"/>
          <p:cNvSpPr/>
          <p:nvPr/>
        </p:nvSpPr>
        <p:spPr>
          <a:xfrm>
            <a:off x="2796475" y="3274466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08362" y="3286353"/>
            <a:ext cx="76809" cy="76809"/>
          </a:xfrm>
          <a:prstGeom prst="ellipse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36592" y="32598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2 700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42900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Misono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82320" y="3474720"/>
            <a:ext cx="611109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862271" y="345277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878730" y="346008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36592" y="342900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1 690 – 4 990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35981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Masahiro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80287" y="3643884"/>
            <a:ext cx="30226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36592" y="359816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2 400 – 4 100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76732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084831" y="3813048"/>
            <a:ext cx="1783575" cy="38404"/>
          </a:xfrm>
          <a:prstGeom prst="roundRect">
            <a:avLst>
              <a:gd name="adj" fmla="val 50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07042" y="379110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23501" y="379841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36592" y="376732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599 – 16 499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393649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Kanetaka</a:t>
            </a:r>
          </a:p>
        </p:txBody>
      </p:sp>
      <p:sp>
        <p:nvSpPr>
          <p:cNvPr id="74" name="Oval 73"/>
          <p:cNvSpPr/>
          <p:nvPr/>
        </p:nvSpPr>
        <p:spPr>
          <a:xfrm>
            <a:off x="2946166" y="3951122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958053" y="3963009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36592" y="393649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410565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Hisashige</a:t>
            </a:r>
          </a:p>
        </p:txBody>
      </p:sp>
      <p:sp>
        <p:nvSpPr>
          <p:cNvPr id="78" name="Oval 77"/>
          <p:cNvSpPr/>
          <p:nvPr/>
        </p:nvSpPr>
        <p:spPr>
          <a:xfrm>
            <a:off x="2946166" y="4120286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958053" y="4132173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36592" y="41056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27481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Yamawaki Hamono</a:t>
            </a:r>
          </a:p>
        </p:txBody>
      </p:sp>
      <p:sp>
        <p:nvSpPr>
          <p:cNvPr id="82" name="Oval 81"/>
          <p:cNvSpPr/>
          <p:nvPr/>
        </p:nvSpPr>
        <p:spPr>
          <a:xfrm>
            <a:off x="2947448" y="428945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959335" y="4301337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36592" y="427481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3 528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444398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Fukamizu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827632" y="4489703"/>
            <a:ext cx="349735" cy="38404"/>
          </a:xfrm>
          <a:prstGeom prst="roundRect">
            <a:avLst>
              <a:gd name="adj" fmla="val 50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976896" y="446775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93356" y="447507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444398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2 610 – 4 850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461314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280476" y="4658867"/>
            <a:ext cx="1548657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29201" y="463692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045661" y="464423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36592" y="461314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990 – 15 390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478231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Satake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93754" y="4828031"/>
            <a:ext cx="1768195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052249" y="4806086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68708" y="4813401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36592" y="478231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849 – 19 473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495147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Kasumi / Sumikama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9569" y="4997195"/>
            <a:ext cx="1443628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75780" y="497525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092240" y="498256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36592" y="495147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1 180 – 15 229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512063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KAI / Shun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105416" y="5166359"/>
            <a:ext cx="2060914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110270" y="514441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126729" y="515172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36592" y="512063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726 – 27 970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528980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Kiyokane</a:t>
            </a:r>
          </a:p>
        </p:txBody>
      </p:sp>
      <p:sp>
        <p:nvSpPr>
          <p:cNvPr id="111" name="Oval 110"/>
          <p:cNvSpPr/>
          <p:nvPr/>
        </p:nvSpPr>
        <p:spPr>
          <a:xfrm>
            <a:off x="3095976" y="530443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07863" y="5316321"/>
            <a:ext cx="76809" cy="76809"/>
          </a:xfrm>
          <a:prstGeom prst="ellipse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36592" y="528980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4 590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545896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Tomita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945302" y="5504687"/>
            <a:ext cx="405959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122679" y="548274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139138" y="549005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736592" y="545896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3 215 – 6 600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562813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Suncraft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388585" y="5673851"/>
            <a:ext cx="1559455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42710" y="5651906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159169" y="5659221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736592" y="562813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1 199 – 18 999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" y="579729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Yoshihiro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010552" y="5843015"/>
            <a:ext cx="353143" cy="38404"/>
          </a:xfrm>
          <a:prstGeom prst="roundRect">
            <a:avLst>
              <a:gd name="adj" fmla="val 50000"/>
            </a:avLst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161520" y="582107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177980" y="582838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36592" y="579729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3 609 – 6 747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10293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99397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1 000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630379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319483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3 000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309934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99038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10 тис.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30021" y="1700784"/>
            <a:ext cx="5486" cy="433425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19125" y="1536192"/>
            <a:ext cx="62179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30 тис.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15600" y="1536192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AA2B4"/>
                </a:solidFill>
                <a:latin typeface="Segoe UI"/>
              </a:rPr>
              <a:t>ДІАПАЗОН, ГРН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91072" y="173736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Tosa / Tosauchi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616861" y="1783080"/>
            <a:ext cx="695045" cy="38404"/>
          </a:xfrm>
          <a:prstGeom prst="roundRect">
            <a:avLst>
              <a:gd name="adj" fmla="val 50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38780" y="176113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955239" y="176844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460736" y="173736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2 929 – 10 035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91072" y="190652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Global (Yoshikin)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553503" y="1952243"/>
            <a:ext cx="912920" cy="38404"/>
          </a:xfrm>
          <a:prstGeom prst="roundRect">
            <a:avLst>
              <a:gd name="adj" fmla="val 50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84360" y="193029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000819" y="193761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460736" y="190652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2 618 – 13 195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91072" y="207568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Tadafusa / Ohishi</a:t>
            </a:r>
          </a:p>
        </p:txBody>
      </p:sp>
      <p:sp>
        <p:nvSpPr>
          <p:cNvPr id="149" name="Oval 148"/>
          <p:cNvSpPr/>
          <p:nvPr/>
        </p:nvSpPr>
        <p:spPr>
          <a:xfrm>
            <a:off x="8960970" y="209031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972858" y="2102205"/>
            <a:ext cx="76809" cy="76809"/>
          </a:xfrm>
          <a:prstGeom prst="ellipse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460736" y="207568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5 891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91072" y="224485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Seto Iseya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972499" y="2290572"/>
            <a:ext cx="98615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460736" y="224485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5 500 – 6 550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291072" y="241401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Shimomura Kihan</a:t>
            </a:r>
          </a:p>
        </p:txBody>
      </p:sp>
      <p:sp>
        <p:nvSpPr>
          <p:cNvPr id="156" name="Oval 155"/>
          <p:cNvSpPr/>
          <p:nvPr/>
        </p:nvSpPr>
        <p:spPr>
          <a:xfrm>
            <a:off x="8984337" y="2428646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996224" y="2440533"/>
            <a:ext cx="76809" cy="76809"/>
          </a:xfrm>
          <a:prstGeom prst="ellipse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460736" y="241401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6 140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291072" y="258318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Sakai Yoshiharu</a:t>
            </a:r>
          </a:p>
        </p:txBody>
      </p:sp>
      <p:sp>
        <p:nvSpPr>
          <p:cNvPr id="160" name="Oval 159"/>
          <p:cNvSpPr/>
          <p:nvPr/>
        </p:nvSpPr>
        <p:spPr>
          <a:xfrm>
            <a:off x="9005979" y="259781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017866" y="2609697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460736" y="258318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6 380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91072" y="275234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Sakai Haruhiko</a:t>
            </a:r>
          </a:p>
        </p:txBody>
      </p:sp>
      <p:sp>
        <p:nvSpPr>
          <p:cNvPr id="164" name="Oval 163"/>
          <p:cNvSpPr/>
          <p:nvPr/>
        </p:nvSpPr>
        <p:spPr>
          <a:xfrm>
            <a:off x="9061541" y="276697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073429" y="2778861"/>
            <a:ext cx="76809" cy="76809"/>
          </a:xfrm>
          <a:prstGeom prst="ellipse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460736" y="275234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7 040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291072" y="292150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Gyokucho / Kamisaku</a:t>
            </a:r>
          </a:p>
        </p:txBody>
      </p:sp>
      <p:sp>
        <p:nvSpPr>
          <p:cNvPr id="168" name="Oval 167"/>
          <p:cNvSpPr/>
          <p:nvPr/>
        </p:nvSpPr>
        <p:spPr>
          <a:xfrm>
            <a:off x="9082011" y="293613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093898" y="2948025"/>
            <a:ext cx="76809" cy="76809"/>
          </a:xfrm>
          <a:prstGeom prst="ellipse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460736" y="292150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7 300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36208" y="3065068"/>
            <a:ext cx="5486400" cy="1691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291072" y="3090672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B42E3A"/>
                </a:solidFill>
                <a:latin typeface="Segoe UI"/>
              </a:rPr>
              <a:t>Sakai Takayuki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9144540" y="3136392"/>
            <a:ext cx="13457" cy="38404"/>
          </a:xfrm>
          <a:prstGeom prst="roundRect">
            <a:avLst>
              <a:gd name="adj" fmla="val 50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460736" y="3090672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7 460 – 7 640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291072" y="3259836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Takamura Hamono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953718" y="3305556"/>
            <a:ext cx="458653" cy="38404"/>
          </a:xfrm>
          <a:prstGeom prst="roundRect">
            <a:avLst>
              <a:gd name="adj" fmla="val 50000"/>
            </a:avLst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157441" y="328361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173900" y="329092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460736" y="3259836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5 320 – 11 990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291072" y="3429000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Teruhide</a:t>
            </a:r>
          </a:p>
        </p:txBody>
      </p:sp>
      <p:sp>
        <p:nvSpPr>
          <p:cNvPr id="181" name="Oval 180"/>
          <p:cNvSpPr/>
          <p:nvPr/>
        </p:nvSpPr>
        <p:spPr>
          <a:xfrm>
            <a:off x="9133694" y="3443630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145581" y="3455517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0460736" y="3429000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8 000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291072" y="3598164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Shigehiro</a:t>
            </a:r>
          </a:p>
        </p:txBody>
      </p:sp>
      <p:sp>
        <p:nvSpPr>
          <p:cNvPr id="185" name="Oval 184"/>
          <p:cNvSpPr/>
          <p:nvPr/>
        </p:nvSpPr>
        <p:spPr>
          <a:xfrm>
            <a:off x="9167248" y="361279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179135" y="3624681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460736" y="3598164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8 490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291072" y="3767328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112729" y="3813048"/>
            <a:ext cx="229635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235302" y="3791102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251761" y="3798417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460736" y="3767328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1 199 – 70 102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291072" y="393649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Tsukasa (Hinoura)</a:t>
            </a:r>
          </a:p>
        </p:txBody>
      </p:sp>
      <p:sp>
        <p:nvSpPr>
          <p:cNvPr id="194" name="Oval 193"/>
          <p:cNvSpPr/>
          <p:nvPr/>
        </p:nvSpPr>
        <p:spPr>
          <a:xfrm>
            <a:off x="9253970" y="3951122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9265857" y="3963009"/>
            <a:ext cx="76809" cy="76809"/>
          </a:xfrm>
          <a:prstGeom prst="ellipse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460736" y="393649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9 900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291072" y="410565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Tamahagane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127801" y="4151375"/>
            <a:ext cx="442918" cy="38404"/>
          </a:xfrm>
          <a:prstGeom prst="roundRect">
            <a:avLst>
              <a:gd name="adj" fmla="val 50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323657" y="412943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340116" y="413674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60736" y="410565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7 242 – 15 873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291072" y="427481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Shigeki Tanaka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941166" y="4320539"/>
            <a:ext cx="929177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80152" y="4298594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96611" y="4305909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460736" y="427481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5 203 – 26 990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291072" y="444398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JCK Natures</a:t>
            </a:r>
          </a:p>
        </p:txBody>
      </p:sp>
      <p:sp>
        <p:nvSpPr>
          <p:cNvPr id="208" name="Oval 207"/>
          <p:cNvSpPr/>
          <p:nvPr/>
        </p:nvSpPr>
        <p:spPr>
          <a:xfrm>
            <a:off x="9372804" y="4458614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84691" y="4470501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460736" y="444398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12 220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291072" y="461314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Hatsukokoro</a:t>
            </a:r>
          </a:p>
        </p:txBody>
      </p:sp>
      <p:sp>
        <p:nvSpPr>
          <p:cNvPr id="212" name="Oval 211"/>
          <p:cNvSpPr/>
          <p:nvPr/>
        </p:nvSpPr>
        <p:spPr>
          <a:xfrm>
            <a:off x="9444087" y="462777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455975" y="4639665"/>
            <a:ext cx="76809" cy="76809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460736" y="461314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13 865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291072" y="478231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Mcusta Zanmai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181157" y="4828031"/>
            <a:ext cx="640671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475890" y="4806086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492349" y="4813401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0460736" y="478231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7 960 – 24 767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291072" y="495147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Myojin (Naohito)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9466637" y="4997195"/>
            <a:ext cx="157544" cy="38404"/>
          </a:xfrm>
          <a:prstGeom prst="roundRect">
            <a:avLst>
              <a:gd name="adj" fmla="val 50000"/>
            </a:avLst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460736" y="495147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13 200 – 17 450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291072" y="5120639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Nigara Hamono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531214" y="5166359"/>
            <a:ext cx="69522" cy="38404"/>
          </a:xfrm>
          <a:prstGeom prst="roundRect">
            <a:avLst>
              <a:gd name="adj" fmla="val 50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0460736" y="5120639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14 800 – 16 740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291072" y="5289803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Miyabi (Zwilling)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9012124" y="5335523"/>
            <a:ext cx="1121354" cy="38404"/>
          </a:xfrm>
          <a:prstGeom prst="roundRect">
            <a:avLst>
              <a:gd name="adj" fmla="val 50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547198" y="5313578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563657" y="5320893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460736" y="5289803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5 900 – 43 020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291072" y="5458967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Etsu / Ittetsu</a:t>
            </a:r>
          </a:p>
        </p:txBody>
      </p:sp>
      <p:sp>
        <p:nvSpPr>
          <p:cNvPr id="232" name="Oval 231"/>
          <p:cNvSpPr/>
          <p:nvPr/>
        </p:nvSpPr>
        <p:spPr>
          <a:xfrm>
            <a:off x="9548316" y="5473598"/>
            <a:ext cx="100584" cy="100584"/>
          </a:xfrm>
          <a:prstGeom prst="ellipse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9560203" y="5485485"/>
            <a:ext cx="76809" cy="76809"/>
          </a:xfrm>
          <a:prstGeom prst="ellipse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460736" y="5458967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16 677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291072" y="5628131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Harukaze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9700883" y="5673851"/>
            <a:ext cx="169460" cy="38404"/>
          </a:xfrm>
          <a:prstGeom prst="roundRect">
            <a:avLst>
              <a:gd name="adj" fmla="val 50000"/>
            </a:avLst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0460736" y="5628131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19 990 – 26 990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291072" y="5797295"/>
            <a:ext cx="14813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Takeshi Saji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9746795" y="5843015"/>
            <a:ext cx="575631" cy="38404"/>
          </a:xfrm>
          <a:prstGeom prst="roundRect">
            <a:avLst>
              <a:gd name="adj" fmla="val 50000"/>
            </a:avLst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009008" y="5821070"/>
            <a:ext cx="51206" cy="82296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025467" y="5828385"/>
            <a:ext cx="18288" cy="67665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460736" y="5797295"/>
            <a:ext cx="117043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21 684 – 60 125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566928" y="6181344"/>
            <a:ext cx="201168" cy="68580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41247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Секі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792224" y="6181344"/>
            <a:ext cx="201168" cy="68580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066543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Сакаї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3017520" y="6181344"/>
            <a:ext cx="201168" cy="68580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3291839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Ечідзен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4242816" y="6181344"/>
            <a:ext cx="201168" cy="6858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4517136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Тоса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468112" y="6181344"/>
            <a:ext cx="201168" cy="68580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742431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Сандзьо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693407" y="6181344"/>
            <a:ext cx="201168" cy="685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967727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Аоморі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918704" y="6181344"/>
            <a:ext cx="201168" cy="68580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193024" y="6144768"/>
            <a:ext cx="877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регіон не вказано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125712" y="6164884"/>
            <a:ext cx="21945" cy="89611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235440" y="6144768"/>
            <a:ext cx="1298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середина</a:t>
            </a:r>
          </a:p>
        </p:txBody>
      </p:sp>
      <p:sp>
        <p:nvSpPr>
          <p:cNvPr id="259" name="Oval 258"/>
          <p:cNvSpPr/>
          <p:nvPr/>
        </p:nvSpPr>
        <p:spPr>
          <a:xfrm>
            <a:off x="10460736" y="6164884"/>
            <a:ext cx="89611" cy="89611"/>
          </a:xfrm>
          <a:prstGeom prst="ellipse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0607040" y="6144768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одна ціна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603504" y="647395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Шкала логарифмічна. Діапазон — найнижча і найвища спостережена роздрібна ціна марки, жовтень 2026; це не прайс виробника. Кружок замість смуги означає одну знайдену ціну. Шість марок без публічних цін у графік не входять.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Е Р Е П И С   ·   З Р О Б Л Е Н О   В   Я П О Н І 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П'ятдесят шість перевірених брендів, і полиці немає в жодного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Перепис охоплює 25 продавців — ширше за фото-каталог. Позначка JP = підтверджене японське виробництво, її колір = чим підтверджене.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1536192"/>
            <a:ext cx="1408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153619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536192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5361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SKU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53619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1682496"/>
            <a:ext cx="3602736" cy="1097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1717243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73736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173736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KAI / Shun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8064" y="174193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98064" y="174193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73736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173736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726 – 27 970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91841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191841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Yaxell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191841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98064" y="192298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8064" y="192298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191841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191841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1 199 – 70 102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207934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209946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209946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Suncraft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1136" y="209946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98064" y="2104034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98064" y="2104034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09946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209946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1 199 – 18 999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228051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228051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Tojiro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1136" y="228051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98064" y="2285085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98064" y="2285085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28051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81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228051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599 – 16 499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" y="2441448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246156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246156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Satake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31136" y="246156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98064" y="246613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98064" y="246613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246156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246156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849 – 19 473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64261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" y="264261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Kanetsune Seki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1136" y="264261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98064" y="2647187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98064" y="2647187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0" y="264261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0" y="264261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150 – 25 184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" y="280355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2823667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" y="2823667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Tosa / Tosauchi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31136" y="2823667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98064" y="2828239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98064" y="2828239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8960" y="2823667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0" y="2823667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2 929 – 10 035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300471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" y="300471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Miyabi (Zwilling)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31136" y="300471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98064" y="3009290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98064" y="3009290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08960" y="300471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0" y="300471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5 900 – 43 020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" y="316565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318576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318576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Seki Kanetsugu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31136" y="318576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98064" y="319034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98064" y="319034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08960" y="318576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0" y="318576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990 – 15 390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336682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6384" y="336682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Kasumi / Sumikama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31136" y="336682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98064" y="3371392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98064" y="3371392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8960" y="336682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74720" y="336682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1 180 – 15 229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" y="352775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" y="354787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6384" y="354787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Mcusta Zanmai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31136" y="354787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98064" y="355244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98064" y="355244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08960" y="354787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74720" y="354787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7 960 – 24 767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72892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" y="372892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Yoshihiro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31136" y="372892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98064" y="3733495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98064" y="3733495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08960" y="372892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0" y="372892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3 609 – 6 747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2064" y="388985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" y="390997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6384" y="390997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Takeshi Saji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31136" y="390997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98064" y="391454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798064" y="391454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108960" y="390997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74720" y="390997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21 684 – 60 125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409102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6384" y="409102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Masahiro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31136" y="409102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798064" y="4095597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98064" y="4095597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08960" y="409102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74720" y="409102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2 400 – 4 100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2064" y="425196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6928" y="4272076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86384" y="42720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Takamura Hamono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31136" y="4272076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798064" y="4276648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798064" y="4276648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08960" y="4272076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74720" y="4272076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5 320 – 11 990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445312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6384" y="445312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Fuji Cutlery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231136" y="445312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98064" y="4457700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798064" y="4457700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108960" y="445312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74720" y="445312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1 190 – 2 850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2064" y="461406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6928" y="463417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6384" y="463417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Tamahagane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31136" y="463417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798064" y="463875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798064" y="463875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108960" y="463417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474720" y="463417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7 242 – 15 873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66928" y="481523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6384" y="481523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Fukamizu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31136" y="481523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798064" y="4819802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798064" y="4819802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108960" y="481523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74720" y="481523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2 610 – 4 850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12064" y="4976164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6928" y="499628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86384" y="499628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Takanori Izumi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31136" y="499628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798064" y="500085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798064" y="500085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08960" y="499628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474720" y="499628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1 980 – 3 080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17733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86384" y="517733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Tomita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231136" y="517733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798064" y="5181904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798064" y="5181904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108960" y="517733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74720" y="517733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3 215 – 6 600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12064" y="533826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66928" y="535838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86384" y="535838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Myojin (Naohito)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231136" y="535838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798064" y="536295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798064" y="536295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108960" y="535838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474720" y="535838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13 200 – 17 450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306824" y="153619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№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26280" y="1536192"/>
            <a:ext cx="1408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971032" y="153619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537960" y="1536192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JP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848856" y="15361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SKU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214616" y="153619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306824" y="1682496"/>
            <a:ext cx="3602736" cy="1097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251960" y="1717243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306824" y="173736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526280" y="173736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Shigeki Tanaka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971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537960" y="174193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537960" y="174193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848856" y="173736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214616" y="173736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5 203 – 26 990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306824" y="191841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26280" y="191841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Motokane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971032" y="191841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6537960" y="192298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537960" y="192298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848856" y="191841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3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214616" y="191841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2 090 – 2 695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251960" y="207934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306824" y="209946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26280" y="209946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Seto Iseya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971032" y="209946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537960" y="2104034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537960" y="2104034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48856" y="209946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214616" y="209946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5 500 – 6 550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306824" y="228051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25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26280" y="228051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Hanakumagawa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971032" y="228051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537960" y="2285085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537960" y="2285085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848856" y="228051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214616" y="228051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2 390 – 2 790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251960" y="2441448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306824" y="246156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526280" y="246156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Harukaze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971032" y="246156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6537960" y="246613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537960" y="246613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848856" y="246156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214616" y="246156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19 990 – 26 990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306824" y="264261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27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526280" y="264261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Inoguchi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71032" y="264261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537960" y="2647187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37960" y="2647187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848856" y="264261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214616" y="264261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1 680 – 2 530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251960" y="280355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306824" y="2823667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28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526280" y="2823667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Misono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971032" y="2823667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537960" y="2828239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537960" y="2828239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848856" y="2823667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214616" y="2823667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1 690 – 4 990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306824" y="300471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29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26280" y="300471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Nigara Hamono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971032" y="300471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B42E3A"/>
                </a:solidFill>
                <a:latin typeface="Segoe UI"/>
              </a:rPr>
              <a:t>Хіросакі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537960" y="3009290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537960" y="3009290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848856" y="300471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214616" y="300471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14 800 – 16 740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251960" y="316565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306824" y="318576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B42E3A"/>
                </a:solidFill>
                <a:latin typeface="Segoe UI"/>
              </a:rPr>
              <a:t>30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526280" y="318576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B42E3A"/>
                </a:solidFill>
                <a:latin typeface="Segoe UI"/>
              </a:rPr>
              <a:t>Sakai Takayuki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971032" y="318576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537960" y="319034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537960" y="319034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848856" y="318576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B42E3A"/>
                </a:solidFill>
                <a:latin typeface="Segoe UI"/>
              </a:rPr>
              <a:t>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214616" y="318576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7 460 – 7 640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306824" y="336682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526280" y="336682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Sakai Yoshiharu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971032" y="336682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6537960" y="3371392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537960" y="3371392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848856" y="336682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214616" y="336682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6 380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251960" y="352775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306824" y="354787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32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526280" y="354787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Shimomura Kihan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971032" y="354787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537960" y="355244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537960" y="355244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848856" y="354787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214616" y="354787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6 140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306824" y="372892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526280" y="372892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Teruhide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71032" y="372892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6537960" y="3733495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537960" y="3733495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848856" y="372892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214616" y="372892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8 000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251960" y="388985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4306824" y="390997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34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526280" y="390997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Anryu Hamono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971032" y="390997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6537960" y="391454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537960" y="391454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848856" y="390997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214616" y="390997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—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306824" y="409102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35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526280" y="409102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Etsu / Ittetsu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5971032" y="409102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6537960" y="4095597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537960" y="4095597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848856" y="409102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214616" y="409102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16 677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4251960" y="425196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4306824" y="4272076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36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526280" y="42720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Gyokucho / Kamisaku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971032" y="4272076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6537960" y="4276648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537960" y="4276648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848856" y="4272076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214616" y="4272076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7 300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306824" y="445312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37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526280" y="445312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Hatsukokoro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971032" y="445312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6537960" y="4457700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537960" y="4457700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848856" y="445312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214616" y="445312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13 865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251960" y="461406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306824" y="463417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38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526280" y="463417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Higonokami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971032" y="463417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6537960" y="463875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6537960" y="463875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848856" y="463417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214616" y="463417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2 090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306824" y="481523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39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4526280" y="481523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Hisashige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5971032" y="481523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6537960" y="4819802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537960" y="4819802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848856" y="481523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214616" y="481523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251960" y="4976164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306824" y="499628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526280" y="499628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JCK Natures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971032" y="499628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6537960" y="500085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537960" y="500085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848856" y="499628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214616" y="499628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12 220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4306824" y="517733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41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526280" y="517733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KAI Sekimagoroku Imayo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5971032" y="517733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537960" y="5181904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6537960" y="5181904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848856" y="517733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214616" y="517733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2 700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251960" y="533826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4306824" y="535838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526280" y="535838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Kanetaka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71032" y="535838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6537960" y="536295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6537960" y="536295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848856" y="535838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214616" y="535838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046719" y="153619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№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8266175" y="1536192"/>
            <a:ext cx="1408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9710928" y="153619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277855" y="1536192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JP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0588751" y="15361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SKU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954511" y="153619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046719" y="1682496"/>
            <a:ext cx="3602736" cy="1097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991855" y="1717243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046719" y="173736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43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8266175" y="173736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Kazuhira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9710928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10277855" y="174193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277855" y="174193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0588751" y="173736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0954511" y="173736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—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8046719" y="191841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44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8266175" y="191841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Kiyokane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9710928" y="191841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10277855" y="192298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277855" y="192298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0588751" y="191841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0954511" y="191841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4 590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7991855" y="207934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8046719" y="209946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45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8266175" y="209946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Mikihisa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710928" y="209946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10277855" y="2104034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10277855" y="2104034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0588751" y="209946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0954511" y="209946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—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8046719" y="228051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46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8266175" y="228051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Sakai Haruhiko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9710928" y="228051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10277855" y="2285085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0277855" y="2285085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0588751" y="228051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0954511" y="228051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7 040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7991855" y="2441448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8046719" y="246156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47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8266175" y="246156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Sakai Ichiji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9710928" y="246156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385" name="Rounded Rectangle 384"/>
          <p:cNvSpPr/>
          <p:nvPr/>
        </p:nvSpPr>
        <p:spPr>
          <a:xfrm>
            <a:off x="10277855" y="246613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0277855" y="246613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0588751" y="246156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0954511" y="246156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1 999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046719" y="264261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48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8266175" y="264261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Satake Masamune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9710928" y="264261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10277855" y="2647187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10277855" y="2647187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0588751" y="264261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0954511" y="264261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—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7991855" y="280355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8046719" y="2823667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49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8266175" y="2823667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Shigehiro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9710928" y="2823667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10277855" y="2828239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10277855" y="2828239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0588751" y="2823667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0954511" y="2823667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8 490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046719" y="300471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50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266175" y="300471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Tadafusa / Ohishi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9710928" y="300471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10277855" y="3009290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0277855" y="3009290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0588751" y="300471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0954511" y="300471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5 891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991855" y="316565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8046719" y="318576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51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8266175" y="318576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Tsukasa (Hinoura)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9710928" y="318576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10277855" y="3190341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0277855" y="3190341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0588751" y="318576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0954511" y="318576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9 900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046719" y="336682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8266175" y="336682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Yamawaki Hamono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710928" y="336682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10277855" y="3371392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10277855" y="3371392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0588751" y="336682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954511" y="336682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3 528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7991855" y="352775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8046719" y="354787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53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8266175" y="354787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Global (Yoshikin)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710928" y="354787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30" name="Rounded Rectangle 429"/>
          <p:cNvSpPr/>
          <p:nvPr/>
        </p:nvSpPr>
        <p:spPr>
          <a:xfrm>
            <a:off x="10277855" y="3552443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0277855" y="3552443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0588751" y="354787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—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954511" y="354787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2 618 – 13 195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046719" y="372892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54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266175" y="372892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HONMAMON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9710928" y="372892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10277855" y="3733495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10277855" y="3733495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588751" y="372892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—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0954511" y="372892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—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7991855" y="388985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8046719" y="390997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55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8266175" y="390997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Sekiryu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9710928" y="390997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445" name="Rounded Rectangle 444"/>
          <p:cNvSpPr/>
          <p:nvPr/>
        </p:nvSpPr>
        <p:spPr>
          <a:xfrm>
            <a:off x="10277855" y="3914546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10277855" y="3914546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0588751" y="390997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—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0954511" y="390997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1 107 – 1 638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8046719" y="409102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56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8266175" y="409102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Suisin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9710928" y="409102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452" name="Rounded Rectangle 451"/>
          <p:cNvSpPr/>
          <p:nvPr/>
        </p:nvSpPr>
        <p:spPr>
          <a:xfrm>
            <a:off x="10277855" y="4095597"/>
            <a:ext cx="274320" cy="120700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10277855" y="4095597"/>
            <a:ext cx="274320" cy="1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2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588751" y="409102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1B253F"/>
                </a:solidFill>
                <a:latin typeface="Segoe UI"/>
              </a:rPr>
              <a:t>—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0954511" y="409102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00" b="0">
                <a:solidFill>
                  <a:srgbClr val="6B7282"/>
                </a:solidFill>
                <a:latin typeface="Segoe UI"/>
              </a:rPr>
              <a:t>—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566928" y="5650992"/>
            <a:ext cx="6400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88A3D"/>
                </a:solidFill>
                <a:latin typeface="Segoe UI"/>
              </a:rPr>
              <a:t>ПОЗНАЧКА JP БІЛЯ КОЖНОГО ВИРОБНИКА — ЯК САМЕ ПІДТВЕРДЖЕНО ЯПОНСЬКЕ ПОХОДЖЕННЯ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566928" y="5833872"/>
            <a:ext cx="4187952" cy="68580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566928" y="5833872"/>
            <a:ext cx="36576" cy="685800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ounded Rectangle 458"/>
          <p:cNvSpPr/>
          <p:nvPr/>
        </p:nvSpPr>
        <p:spPr>
          <a:xfrm>
            <a:off x="731520" y="5916168"/>
            <a:ext cx="292608" cy="132588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731520" y="5916168"/>
            <a:ext cx="292608" cy="1325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078992" y="5907024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ЗАВОД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2395728" y="5907024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30 брендів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731520" y="610819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Виробника і завод встановлено
за джерелами самого виробника</a:t>
            </a:r>
          </a:p>
        </p:txBody>
      </p:sp>
      <p:sp>
        <p:nvSpPr>
          <p:cNvPr id="464" name="Rounded Rectangle 463"/>
          <p:cNvSpPr/>
          <p:nvPr/>
        </p:nvSpPr>
        <p:spPr>
          <a:xfrm>
            <a:off x="4864608" y="5833872"/>
            <a:ext cx="4187952" cy="68580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4864608" y="5833872"/>
            <a:ext cx="36576" cy="68580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ounded Rectangle 465"/>
          <p:cNvSpPr/>
          <p:nvPr/>
        </p:nvSpPr>
        <p:spPr>
          <a:xfrm>
            <a:off x="5029200" y="5916168"/>
            <a:ext cx="292608" cy="132588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5029200" y="5916168"/>
            <a:ext cx="292608" cy="1325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5376672" y="5907024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КАРТКА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6693408" y="5907024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26 брендів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5029200" y="610819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Походження підтверджене карткою продавця
або профільним торговим каталогом</a:t>
            </a:r>
          </a:p>
        </p:txBody>
      </p:sp>
      <p:sp>
        <p:nvSpPr>
          <p:cNvPr id="471" name="Rounded Rectangle 470"/>
          <p:cNvSpPr/>
          <p:nvPr/>
        </p:nvSpPr>
        <p:spPr>
          <a:xfrm>
            <a:off x="9162288" y="5833872"/>
            <a:ext cx="2468880" cy="68580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9162288" y="5833872"/>
            <a:ext cx="36576" cy="68580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9326880" y="588873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НЕ ПРОЙШЛИ ПЕРЕВІРКУ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9326880" y="6053328"/>
            <a:ext cx="2231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Kyocera, Hattori, Ittosai, Aritsugu, Sakon Shiraume,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Samura, Chang Keng, Satori · Takagi · TURWHO,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6B7282"/>
                </a:solidFill>
                <a:latin typeface="Segoe UI"/>
              </a:rPr>
              <a:t>XINZUO, HEZHEN, Tokisu, Hasaki, S.K.K., Jikko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603504" y="659282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У переписі лише марки з підтвердженим японським виробництвом. SKU — позиції в публічних каталогах, жовтень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Н А Л И   З Б У Т 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П'ять каналів, і японська глибина лише в одному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Де в Україні фізично можна купити ніж японського виробництва, із глибиною асортименту й цінами жовтня 2026.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54480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КАНАЛ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554480"/>
            <a:ext cx="3063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ХТО ЦЕ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55448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ЯПОН. 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54480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1554480"/>
            <a:ext cx="3611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ЗА КАНАЛ ДЛЯ ПОСТАЧАЛЬНИКА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" y="1719072"/>
            <a:ext cx="11210544" cy="566928"/>
          </a:xfrm>
          <a:prstGeom prst="roundRect">
            <a:avLst>
              <a:gd name="adj" fmla="val 14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181051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B88A3D"/>
                </a:solidFill>
                <a:latin typeface="Segoe UI"/>
              </a:rPr>
              <a:t>Спеціалізований онлайн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1773936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ProfiMax, ROKS, WildCat, Sekator, Volod,
rezat, japan-knife, Hangiri, vodospad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1847088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B88A3D"/>
                </a:solidFill>
                <a:latin typeface="Segoe UI"/>
              </a:rPr>
              <a:t>≈ 1 000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1847088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217 – 38 640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177393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Уся глибина країни. Малий обіг, висока компетенція.
Єдиний канал, що тримає склад японських марок.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432304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2A7F86"/>
                </a:solidFill>
                <a:latin typeface="Segoe UI"/>
              </a:rPr>
              <a:t>Великий формат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2395728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Епіцентр: 4 950 ножів,
з них японських 133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468880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2A7F86"/>
                </a:solidFill>
                <a:latin typeface="Segoe UI"/>
              </a:rPr>
              <a:t>133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468880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2 787 – 11 271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239572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Єдиний офлайн-масштаб. Suncraft із 97 SKU доводить,
що бар'єр не в мережі й не в покупцеві.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" y="2962656"/>
            <a:ext cx="11210544" cy="566928"/>
          </a:xfrm>
          <a:prstGeom prst="roundRect">
            <a:avLst>
              <a:gd name="adj" fmla="val 14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054096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A84A6B"/>
                </a:solidFill>
                <a:latin typeface="Segoe UI"/>
              </a:rPr>
              <a:t>Монобрендові імпортери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41448" y="3017520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yaxell.com.ua, zwilling.in.ua (Miyabi),
lacocotte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090672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A84A6B"/>
                </a:solidFill>
                <a:latin typeface="Segoe UI"/>
              </a:rPr>
              <a:t>≈ 130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09067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2 145 – 70 102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01752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Топові слоти вже зайняті ексклюзивами.
Для нового бренду вхід закритий.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675888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B42E3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1448" y="3639312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Rozetka, Prom, Kasta, Bigl, Shafa.
Дропшип-вітрини без складу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3712464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B42E3A"/>
                </a:solidFill>
                <a:latin typeface="Segoe U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71246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2 618 – 13 195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363931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Полиця без складу: транслює чужий каталог.
Присутність без продажів і без контролю ціни.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4206240"/>
            <a:ext cx="11210544" cy="566928"/>
          </a:xfrm>
          <a:prstGeom prst="roundRect">
            <a:avLst>
              <a:gd name="adj" fmla="val 14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297680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B42E3A"/>
                </a:solidFill>
                <a:latin typeface="Segoe UI"/>
              </a:rPr>
              <a:t>Опт HoReCa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261104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AL-Group (523 проф. ножі), LFood,
Gastro24, Profood, System4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334256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B42E3A"/>
                </a:solidFill>
                <a:latin typeface="Segoe UI"/>
              </a:rPr>
              <a:t>2 бренди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433425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5 740 – 13 290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4261104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Практично закритий: тримають європейські марки.
Шість структурних причин — у блоці нижче.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91947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42E3A"/>
                </a:solidFill>
                <a:latin typeface="Segoe UI"/>
              </a:rPr>
              <a:t>ЧОМУ ПРОФЕСІЙНА КУХНЯ НЕ КУПУЄ ЯПОНІЮ · ШІСТЬ ПРИЧИН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120640"/>
            <a:ext cx="3602736" cy="64008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120640"/>
            <a:ext cx="36576" cy="6400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193792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ЕКОНОМІКА ВТРАТ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358383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Плинність кухарів 40–60 % на рік. Списати 8 000 грн
так само легко, як 500 грн, неможливо.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6824" y="5120640"/>
            <a:ext cx="3602736" cy="64008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06824" y="5120640"/>
            <a:ext cx="36576" cy="6400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1416" y="5193792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ГЕОМЕТРІЯ ПРОТИ ПРОДУКТУ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1416" y="5358383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60–64 HRC викришується на кістці й замороженому.
Європейський ніж 56 HRC гнеться, японський ламається.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19" y="5120640"/>
            <a:ext cx="3602736" cy="64008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19" y="5120640"/>
            <a:ext cx="36576" cy="6400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11311" y="5193792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НЕМАЄ СЕРВІСУ ЗАТОЧЕННЯ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1" y="5358383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Правка на водних каменях кожні 2–3 дні.
Організованого ринку заточення в Україні немає.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833872"/>
            <a:ext cx="3602736" cy="64008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6928" y="5833872"/>
            <a:ext cx="36576" cy="6400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907024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ЛОГІСТИКА ЗАКУПІВЛІ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6071616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Ножі купують разом із посудом одним рахунком.
Японцю доведеться будувати окремий канал.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06824" y="5833872"/>
            <a:ext cx="3602736" cy="64008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6824" y="5833872"/>
            <a:ext cx="36576" cy="6400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5907024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ОДНОСТОРОННЄ ЗАТОЧЕННЯ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6071616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Вимагає навички, якої лінійний кухар не має
і вчити якої ніхто не буде.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19" y="5833872"/>
            <a:ext cx="3602736" cy="64008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6719" y="5833872"/>
            <a:ext cx="36576" cy="64008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11311" y="5907024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ШЕФ КУПУЄ СОБІ САМ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1311" y="6071616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Часто за кордоном, не через дистриб'ютора закладу.
Він референс, а не канал збуту.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" y="658368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«Японські SKU» — оцінка за публічними каталогами. Жодну з шести причин не можна зняти засобами постачальника: HoReCa не є точкою входу, лише джерелом референсів для B2C.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1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Sakai Takayuki: хто це і чому це інший клас задачі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Профіль кандидата у постачальники за даними виробника й незалежних каталогів — публічна інформація, не комерційна пропозиція.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17904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А С Н О В А Н 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966E28"/>
                </a:solidFill>
                <a:latin typeface="Georgia"/>
              </a:rPr>
              <a:t>1950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Майстерня Aokі Hamono,
родина Аокі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517904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Е Г І О 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2A7F86"/>
                </a:solidFill>
                <a:latin typeface="Georgia"/>
              </a:rPr>
              <a:t>Сакаї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Осака. 600 років
ковальської традиції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517904"/>
            <a:ext cx="270662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С Е Р І Й   У   Л І Н І Й Ц 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554780"/>
                </a:solidFill>
                <a:latin typeface="Georgia"/>
              </a:rPr>
              <a:t>50+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За власним каталогом
виробника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517904"/>
            <a:ext cx="2706624" cy="25603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Е К С П О Р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A84A6B"/>
                </a:solidFill>
                <a:latin typeface="Georgia"/>
              </a:rPr>
              <a:t>100+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країн збуту
за заявою виробника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761488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802636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ЩО САМЕ ВИРОБЛЯЄ SAKAI TAKAYUKI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054096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ГРУПА СТАЛІ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054096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КОНКРЕТНО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305409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ДЕ ЦЕ В ЦІНІ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054096"/>
            <a:ext cx="3657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ХТО ВЖЕ ТРИМАЄ ЦЮ ЗОНУ В УКРАЇНІ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" y="3232404"/>
            <a:ext cx="11210544" cy="260603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27355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Нержавіюча базова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3273552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Hakugin INOX, молібден-ванадій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3273552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3 000 – 7 000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7" y="3273552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Satake, Seki Kanetsugu, Tojiro Basic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543300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VG-10 і дамаск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70048" y="3543300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17 / 33 / 45 шарів, Grand Chef 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7568" y="3543300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7 000 – 16 000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543300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Tojiro DP, Kasumi, KAI Shun, Yaxell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" y="3771900"/>
            <a:ext cx="11210544" cy="260603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3813048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Ginsan / Silver #3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0048" y="3813048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моносталь, Ginsan Warikomi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87568" y="3813048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9 000 – 20 000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3813048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Практично ніхто: 1–2 позиції в країні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4082796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Вуглецева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0048" y="4082796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Aogami #2, Shirogami, Aoniko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87568" y="4082796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6 000 – 25 000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2127" y="4082796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Tosa, HONMAMON, Takamura — артизанальний край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3776" y="4311396"/>
            <a:ext cx="11210544" cy="260603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4352544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Порошкова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70048" y="4352544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SPG2 / R2, ZA-18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7568" y="4352544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16 000 – 45 000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4352544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Yaxell Super Gou, Nigara, Hatsukokoro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62229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Honyaki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70048" y="4622292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Ginsan моносталь, Shoryu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7568" y="4622292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35 000 – 70 000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82127" y="4622292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Порожньо. У країні немає жодного honyaki на складі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047488"/>
            <a:ext cx="5413248" cy="1012393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" y="5047488"/>
            <a:ext cx="36576" cy="101239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5202936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ЧОМУ ЦЕЙ ПОСТАЧАЛЬНИК НЕ «ЩЕ ОДИН БРЕНД»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" y="5431536"/>
            <a:ext cx="4937760" cy="482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Sakai Takayuki закриває весь діапазон від 3 000 до 70 000 грн однією лінійкою.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Жоден із присутніх в Україні японських брендів цього не робить: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KAI і Yaxell сильні зверху, Satake і Seki Kanetsugu — знизу.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047488"/>
            <a:ext cx="5413248" cy="1012393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17920" y="5047488"/>
            <a:ext cx="36576" cy="1012393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5664" y="5202936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ЦЕ ДАЄ ШЕФУ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55664" y="5431536"/>
            <a:ext cx="4937760" cy="482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Один виробник закриває всю кухню: від робочого гюто на VG-10 до янагіби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з Shirogami і хоньякі для презентації. Однакова геометрія руків'я,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однакова логіка заточування, один постачальник на всі станції.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" y="649224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Джерело профілю: офіційний каталог виробника (sakaitakayukiknives.com), жовтень 2026. Цінові зони — перерахунок спостережених роздрібних цін в Україні на відповідні типи сталі, не прайс виробника.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2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Дев'ятнадцять позицій на всю країну — і лише дві справжні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Обхід 17 продавців, Prom, Rozetka й Епіцентру на 1 жовтня 2026. Кожен рядок перевірено на картці товару.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463040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Н А Й Д Е Н О   П О З И Ц І 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966E28"/>
                </a:solidFill>
                <a:latin typeface="Georgia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в усіх каналах
країни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463040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Е А Л Ь Н О   Н А   С К Л А Д 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A7F86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ProfiMax, обидві —
янагіба 24 см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463040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Д Р О П Ш И П - Л І С Т И Н Г 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966E28"/>
                </a:solidFill>
                <a:latin typeface="Georgia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пʼяти вітринах
Prom, складу немає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463040"/>
            <a:ext cx="270662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Ф А Х О В И Х   П Р О Д А В Ц І 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B42E3A"/>
                </a:solidFill>
                <a:latin typeface="Georg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ProfiMax — єдиний,
хто тримає склад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688336"/>
            <a:ext cx="3931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ПОЗИЦІЯ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268833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ПРОДАВЕЦЬ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68833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ЦІНА,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8" y="268833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СТАТУС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2688336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ЗНАЧИТЬ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" y="2830068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2871216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Yanagiba Yasugi 24 см, з ножнами (07003)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287121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87121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7 460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287121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2A7F86"/>
                </a:solidFill>
                <a:latin typeface="Segoe UI"/>
              </a:rPr>
              <a:t>СКЛАД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287121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Картка продавця, походження: Japan (Sakai, Osaka)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024835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Yanagiba Yasugi 24 см, для лівші (07005)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3024835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024835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7 640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8" y="3024835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2A7F86"/>
                </a:solidFill>
                <a:latin typeface="Segoe UI"/>
              </a:rPr>
              <a:t>СКЛАД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3024835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" y="3137306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317845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Chief 210мм (вінтажний)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317845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ROKS·Prom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317845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3 520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4928" y="317845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B42E3A"/>
                </a:solidFill>
                <a:latin typeface="Segoe UI"/>
              </a:rPr>
              <a:t>ТІЛЬКИ НА PROM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9408" y="317845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Є на вітрині Prom, на сайті продавця — немає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332073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Chief 240мм (вінтажний)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8848" y="3332073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ROKS·Prom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3332073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4 070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8" y="3332073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B42E3A"/>
                </a:solidFill>
                <a:latin typeface="Segoe UI"/>
              </a:rPr>
              <a:t>ТІЛЬКИ НА PROM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408" y="3332073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" y="3444544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48569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Vg 10 15см (07942)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848" y="348569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36208" y="348569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12 550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24928" y="348569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79408" y="348569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Термін постачання 5–10 днів, складу немає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363931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363931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8" y="363931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15 266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4928" y="363931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79408" y="363931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3776" y="3751783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3792931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Saiu Santoku 17см (VG-10)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98848" y="3792931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208" y="3792931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4928" y="379293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79408" y="3792931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3946550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848" y="3946550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36208" y="3946550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4928" y="394655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79408" y="3946550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3776" y="4059021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" y="4100169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Vg-10 Saiseki Kengata (7966)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8848" y="4100169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36208" y="4100169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24928" y="4100169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9408" y="4100169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4253788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Сантоку Nanairo Vg 10 Green (14576)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8848" y="4253788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6208" y="425378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24928" y="425378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79408" y="4253788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366260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407408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шеф-кухаря Aogami#2 Iron Kurouchi 24см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98848" y="4407408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36208" y="440740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17 387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24928" y="440740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79408" y="4407408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4561027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Шеф Urushi Saiseki 24см (VG-10)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98848" y="4561027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36208" y="4561027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18 415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24928" y="4561027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79408" y="4561027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673498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714646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Santoku Ginga Za 18 см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98848" y="471464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36208" y="471464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20 572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24928" y="471464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79408" y="471464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4868265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Kasumi Shirogami 3 24см (6083)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98848" y="4868265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4868265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20 750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24928" y="4868265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79408" y="4868265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93776" y="4980736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6928" y="502188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Silver#3 Yanagiba 27см (4231)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98848" y="502188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502188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34 857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24928" y="502188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79408" y="502188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6928" y="517550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Byakko Shirogami Kiritsuke Yanagiba 27см (2204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517550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36208" y="517550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44 169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24928" y="517550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79408" y="517550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93776" y="5287975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66928" y="5329123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Shoryu Honyaki Vg 10 Kengata Yanagiba 30см (20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98848" y="5329123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36208" y="5329123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57 903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24928" y="5329123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79408" y="5329123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" y="548274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Shoryu Honyaki VG-10 Sakimaru 30см (0204)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98848" y="548274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36208" y="548274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60 495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24928" y="548274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79408" y="548274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93776" y="5595213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6928" y="5636361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Genbu Aogami 2 Sakimaru 30Cm (2245)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98848" y="5636361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Livico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36208" y="5636361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61 891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24928" y="563636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979408" y="5636361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66928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6928" y="5852160"/>
            <a:ext cx="36576" cy="684225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04672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66E28"/>
                </a:solidFill>
                <a:latin typeface="Segoe UI"/>
              </a:rPr>
              <a:t>ЧОМУ 15 326 ГРН ЧОТИРИ РАЗИ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4672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Чотири моделі, одна ціна — спільний фід.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297680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297680" y="5852160"/>
            <a:ext cx="36576" cy="684225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35424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2E3A"/>
                </a:solidFill>
                <a:latin typeface="Segoe UI"/>
              </a:rPr>
              <a:t>ЩО ТАКЕ «ТІЛЬКИ НА PROM»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35424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Товар є на вітрині Prom, але на сайті самого продавця — немає.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046720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5852160"/>
            <a:ext cx="36576" cy="684225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84464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B7282"/>
                </a:solidFill>
                <a:latin typeface="Segoe UI"/>
              </a:rPr>
              <a:t>ДЕ БРЕНДУ НЕМАЄ ВЗАГАЛІ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4464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Rozetka, Епіцентр, Sekator, WildCat, rezat.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03504" y="658368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Перевірено 1 жовтня 2026. «Склад» — картка продавця з прямою наявністю і зазначеним походженням. «Під замовлення» — лістинг Prom із терміном постачання 5–10 днів. Hangiri перевірити не вдалося: сайт закритий Cloudflare.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3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Усі дев'ятнадцять позицій бренду в країні — на одній сторінці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Фотографії з карток продавців. Зелена позначка — склад, жовта — під замовлення, червона — розбіжність із сайтом продавця.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СКЛАД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Yanagiba Yasugi 24 см, з ножнами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7 460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7533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20685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20685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0685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Yanagiba Yasugi 24 см, для лівші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0685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7 640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1661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8139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01291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1291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ТІЛЬКИ НА PROM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1291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Chief 210мм (вінтажний)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1291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3 520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2267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8745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81897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81897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ТІЛЬКИ НА PROM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1897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Chief 240мм (вінтажний)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1897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4 070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2873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9350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62502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2502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2502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універсальний Urushi Vg 10 15см (07942)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2502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12 550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13478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69956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43108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3108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3108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3108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15 266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4084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50562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123714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23714" y="233172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23714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Saiu Santoku 17см (VG-10)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23714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74690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40080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91056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47533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220685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20685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20685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Vg-10 Saiseki Kengata (7966)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20685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1661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28139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3801291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01291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01291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Сантоку Nanairo Vg 10 Green (14576)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01291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2267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08745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381897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81897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81897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шеф-кухаря Aogami#2 Iron Kurouchi 24см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81897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17 387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32873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89350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962502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62502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62502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Шеф Urushi Saiseki 24см (VG-10)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62502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18 415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13478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469956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543108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3108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43108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Santoku Ginga Za 18 см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43108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20 572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4084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0562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0123714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23714" y="376732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23714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Kasumi Shirogami 3 24см (6083)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23714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20 750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074690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66928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40080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Silver#3 Yanagiba 27см (4231)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34 857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91056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7533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2220685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220685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20685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Byakko Shirogami Kiritsuke Yanagiba 27см (2204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20685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44 169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71661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728139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801291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801291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01291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Shoryu Honyaki Vg 10 Kengata Yanagiba 30см (20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01291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57 903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2267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308745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5381897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81897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381897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Shoryu Honyaki VG-10 Sakimaru 30см (0204)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381897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60 495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32873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889350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6962502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962502" y="5202936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62502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Genbu Aogami 2 Sakimaru 30Cm (2245)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2502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61 891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913478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Livico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6928" y="5833872"/>
            <a:ext cx="11064240" cy="68762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6928" y="5833872"/>
            <a:ext cx="36576" cy="68762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04672" y="5989320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ЩО ВИДНО НА ЦІЙ СТОРІНЦІ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4672" y="6217920"/>
            <a:ext cx="10588752" cy="157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Зі складу — лише дві янагіби 24 см. Решта, разом із сантоку й гюто, тільки під замовлення.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03504" y="6601968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Фотографії — з публічних карток товару ProfiMax і вітрин prom.ua, жовтень 2026. Наведено для ідентифікації позицій; права на зображення належать продавцям і виробнику.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4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Цільова зона зайнята дванадцятьма брендами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Де саме Sakai Takayuki опинився б на полиці, проти кого стояв би і чим від них відрізняється сьогодні.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72768"/>
            <a:ext cx="270662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Ц І Л Ь О В А   З О Н 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554780"/>
                </a:solidFill>
                <a:latin typeface="Georgia"/>
              </a:rPr>
              <a:t>7 000 – 20 000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грн. Сюди потрапляє
основна лінійка бренду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572768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П О З И Ц І Й   У   Ц І Й   З О Н 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966E28"/>
                </a:solidFill>
                <a:latin typeface="Georgia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із 259 каталогу,
тобто 41 %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572768"/>
            <a:ext cx="270662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  Н И Х   S A K A I   T A K A Y U K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42E3A"/>
                </a:solidFill>
                <a:latin typeface="Georg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менше ніж 2 %
зайнятої зони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572768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572768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746504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Б Р Е Н Д І В   У   З О Н 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93852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2A7F86"/>
                </a:solidFill>
                <a:latin typeface="Georgia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43230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усі з полицею
і глибиною лінійки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871216"/>
            <a:ext cx="55778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912364"/>
            <a:ext cx="30678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ХТО ВЖЕ ТРИМАЄ ЗОНУ: 12 БРЕНДІВ, 105 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3218688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AA2B4"/>
                </a:solidFill>
                <a:latin typeface="Segoe UI"/>
              </a:rPr>
              <a:t>ПОЗИЦІЙ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401568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439972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03120" y="3439972"/>
            <a:ext cx="3200400" cy="7772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340156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631996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KAI / Shun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3670401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03120" y="3670401"/>
            <a:ext cx="2743200" cy="7772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13248" y="363199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862425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3900830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03120" y="3900830"/>
            <a:ext cx="2743200" cy="77724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13248" y="386242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092854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4131259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03120" y="4131259"/>
            <a:ext cx="13716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3248" y="409285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323283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Takamura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4361688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03120" y="4361688"/>
            <a:ext cx="12192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13248" y="432328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553712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Tosa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03120" y="4592116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03120" y="4592116"/>
            <a:ext cx="12192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13248" y="455371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4784140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03120" y="4822545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03120" y="4822545"/>
            <a:ext cx="12192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13248" y="47841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014569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5052974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03120" y="5052974"/>
            <a:ext cx="609600" cy="7772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13248" y="5014569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2064" y="5212994"/>
            <a:ext cx="5687568" cy="210312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5244998"/>
            <a:ext cx="13898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B42E3A"/>
                </a:solidFill>
                <a:latin typeface="Segoe UI"/>
              </a:rPr>
              <a:t>Sakai Takayuki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5283403"/>
            <a:ext cx="3200400" cy="777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03120" y="5283403"/>
            <a:ext cx="304800" cy="77724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13248" y="524499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B42E3A"/>
                </a:solidFill>
                <a:latin typeface="Segoe UI"/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9088" y="2871216"/>
            <a:ext cx="521208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65392" y="2912364"/>
            <a:ext cx="28666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ЧИМ SAKAI TAKAYUKI ВІД НИХ ВІДРІЗНЯЄТЬСЯ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9088" y="3163824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8" y="316382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ДВАНАДЦЯТЬ У ЗОНІ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68128" y="3163824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SAKAI TAKAYUKI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45936" y="3342132"/>
            <a:ext cx="5358384" cy="402336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19088" y="3383280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Позицій у зоні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22208" y="3383280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4 – 21 у кожного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68128" y="338328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9088" y="3803904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Хто завозить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22208" y="3803904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є імпортер або
фаховий магазин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68128" y="3803904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немає нікого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345936" y="4183380"/>
            <a:ext cx="5358384" cy="402336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19088" y="4224528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Великий формат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4224528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Suncraft, Tojiro, KAI
стоять в Епіцентрі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68128" y="4224528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0 позицій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19088" y="464515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Опт HoReCa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22208" y="4645152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Yaxell у каталозі
AL-Group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68128" y="464515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0 позицій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345936" y="5024628"/>
            <a:ext cx="5358384" cy="402336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19088" y="5065776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Впізнаваність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22208" y="5065776"/>
            <a:ext cx="1591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роками на полиці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68128" y="5065776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фактично нульова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66928" y="5577840"/>
            <a:ext cx="11064240" cy="858520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6928" y="5577840"/>
            <a:ext cx="36576" cy="85852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4672" y="5733288"/>
            <a:ext cx="10588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ЩО З ЦЬОГО ВИПЛИВАЄ ДЛЯ РІШЕННЯ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" y="5961888"/>
            <a:ext cx="10588752" cy="328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Бренд не має в Україні ані дистриб'ютора, ані полиці, ані жодної позиції у великому форматі й в опті HoReCa — територія вільна.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Але вільна вона тому, що попиту на неї ніхто не створював: дві позиції за всю історію каналу не дали впізнаваності, на яку можна спертися в першій партії.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Кількість позицій у зоні 7 000 – 20 000 грн порахована за каталогом із 259 ножів японського виробництва. Це ширина присутності на полиці, а не обсяг продажів.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