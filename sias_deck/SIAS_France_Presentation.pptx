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0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haplygin-Illya/sias_deck/assets/cover_b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b="1" spc="300" kern="0" dirty="0">
                <a:solidFill>
                  <a:srgbClr val="E6D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FRANCE</a:t>
            </a:r>
            <a:endParaRPr lang="en-US" sz="1150" dirty="0"/>
          </a:p>
        </p:txBody>
      </p:sp>
      <p:sp>
        <p:nvSpPr>
          <p:cNvPr id="4" name="Shape 1"/>
          <p:cNvSpPr/>
          <p:nvPr/>
        </p:nvSpPr>
        <p:spPr>
          <a:xfrm>
            <a:off x="548640" y="841248"/>
            <a:ext cx="1371600" cy="10058"/>
          </a:xfrm>
          <a:prstGeom prst="rect">
            <a:avLst/>
          </a:prstGeom>
          <a:solidFill>
            <a:srgbClr val="8A6F3E"/>
          </a:solidFill>
          <a:ln/>
        </p:spPr>
      </p:sp>
      <p:sp>
        <p:nvSpPr>
          <p:cNvPr id="5" name="Text 2"/>
          <p:cNvSpPr/>
          <p:nvPr/>
        </p:nvSpPr>
        <p:spPr>
          <a:xfrm>
            <a:off x="548640" y="9692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spc="180" kern="0" dirty="0">
                <a:solidFill>
                  <a:srgbClr val="C4B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ПРАЙС-КАТАЛОГ ДЛЯ КОМАНДИ  ·  2026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0500055" y="475488"/>
            <a:ext cx="152400" cy="301752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7" name="Shape 4"/>
          <p:cNvSpPr/>
          <p:nvPr/>
        </p:nvSpPr>
        <p:spPr>
          <a:xfrm>
            <a:off x="10652455" y="475488"/>
            <a:ext cx="152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>
            <a:off x="10804855" y="475488"/>
            <a:ext cx="152400" cy="301752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9" name="Shape 6"/>
          <p:cNvSpPr/>
          <p:nvPr/>
        </p:nvSpPr>
        <p:spPr>
          <a:xfrm>
            <a:off x="11094415" y="475488"/>
            <a:ext cx="457200" cy="150876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10" name="Shape 7"/>
          <p:cNvSpPr/>
          <p:nvPr/>
        </p:nvSpPr>
        <p:spPr>
          <a:xfrm>
            <a:off x="11094415" y="626364"/>
            <a:ext cx="457200" cy="1508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300" b="1" spc="400" kern="0" dirty="0">
                <a:solidFill>
                  <a:srgbClr val="E6D6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라면</a:t>
            </a:r>
            <a:endParaRPr lang="en-US" sz="2300" dirty="0"/>
          </a:p>
        </p:txBody>
      </p:sp>
      <p:sp>
        <p:nvSpPr>
          <p:cNvPr id="12" name="Text 9"/>
          <p:cNvSpPr/>
          <p:nvPr/>
        </p:nvSpPr>
        <p:spPr>
          <a:xfrm>
            <a:off x="493776" y="1700784"/>
            <a:ext cx="11338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 RAMYEON</a:t>
            </a:r>
            <a:endParaRPr lang="en-US" sz="6400" dirty="0"/>
          </a:p>
        </p:txBody>
      </p:sp>
      <p:sp>
        <p:nvSpPr>
          <p:cNvPr id="13" name="Shape 10"/>
          <p:cNvSpPr/>
          <p:nvPr/>
        </p:nvSpPr>
        <p:spPr>
          <a:xfrm>
            <a:off x="548640" y="2724912"/>
            <a:ext cx="658368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285292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spc="100" kern="0" dirty="0">
                <a:solidFill>
                  <a:srgbClr val="E4D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СМАКІВ  ·  ФОРМАТ BAG  ·  112,5–131 Г  ·  20 ШТ/КОРОБ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3163824"/>
            <a:ext cx="8778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i="1" dirty="0">
                <a:solidFill>
                  <a:srgbClr val="EFE5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Собівартість пачки для трьох обсягів постачання — 6, 12 та 33 палети (Full Truck).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i="1" dirty="0">
                <a:solidFill>
                  <a:srgbClr val="EFE5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Виробництво SIAS у Франції, сертифікат EUR.1: 0% ввізного мита в Україну.</a:t>
            </a:r>
            <a:endParaRPr lang="en-US" sz="1450" dirty="0"/>
          </a:p>
        </p:txBody>
      </p:sp>
      <p:pic>
        <p:nvPicPr>
          <p:cNvPr id="16" name="Image 1" descr="/home/user/Chaplygin-Illya/sias_deck/assets/cover_lineu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" y="3803904"/>
            <a:ext cx="12070080" cy="30540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ВИРОБНИК · 01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SIAS France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76072" y="12984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Choi's Ramyeon · Instant Noodle Bag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1965960" cy="402336"/>
          </a:xfrm>
          <a:prstGeom prst="roundRect">
            <a:avLst>
              <a:gd name="adj" fmla="val 50000"/>
            </a:avLst>
          </a:prstGeom>
          <a:solidFill>
            <a:srgbClr val="14100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828800"/>
            <a:ext cx="1965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EXW ROYE, FRANCE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2450592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300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Європейська виробнича площадка корейської групи SIAS (на ринку азійської гастрономії з 1997 року). Лінійку Choi's Ramyeon виробляють на заводах у Roye та Wisches за корейськими рецептурами, адаптованими під європейського споживача.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6858000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3895344"/>
            <a:ext cx="1604772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6656" y="4005072"/>
            <a:ext cx="13487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76656" y="4462272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рік запуску заводу</a:t>
            </a:r>
            <a:endParaRPr lang="en-US" sz="88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SIAS Roye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2299716" y="3895344"/>
            <a:ext cx="1604772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427732" y="4005072"/>
            <a:ext cx="13487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16 000 м²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427732" y="4462272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площа виробничого</a:t>
            </a:r>
            <a:endParaRPr lang="en-US" sz="88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майданчика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050792" y="3895344"/>
            <a:ext cx="1604772" cy="1133856"/>
          </a:xfrm>
          <a:prstGeom prst="roundRect">
            <a:avLst>
              <a:gd name="adj" fmla="val 7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78808" y="4005072"/>
            <a:ext cx="13487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D80F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IFS · BRC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178808" y="4462272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сертифікати</a:t>
            </a:r>
            <a:endParaRPr lang="en-US" sz="88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харчової безпеки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5801868" y="3895344"/>
            <a:ext cx="1604772" cy="1133856"/>
          </a:xfrm>
          <a:prstGeom prst="roundRect">
            <a:avLst>
              <a:gd name="adj" fmla="val 7258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929884" y="4005072"/>
            <a:ext cx="13487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5929884" y="4462272"/>
            <a:ext cx="13487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в Україну</a:t>
            </a:r>
            <a:endParaRPr lang="en-US" sz="88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88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EUR.1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48640" y="52852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spc="150" kern="0" dirty="0">
                <a:solidFill>
                  <a:srgbClr val="A887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СЕРТИФІКАТИ</a:t>
            </a:r>
            <a:endParaRPr lang="en-US" sz="950" dirty="0"/>
          </a:p>
        </p:txBody>
      </p:sp>
      <p:pic>
        <p:nvPicPr>
          <p:cNvPr id="24" name="Image 0" descr="/home/user/Chaplygin-Illya/sias_deck/assets/cert_ifs_br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5559552"/>
            <a:ext cx="1554480" cy="438912"/>
          </a:xfrm>
          <a:prstGeom prst="rect">
            <a:avLst/>
          </a:prstGeom>
        </p:spPr>
      </p:pic>
      <p:pic>
        <p:nvPicPr>
          <p:cNvPr id="25" name="Image 1" descr="/home/user/Chaplygin-Illya/sias_deck/assets/cert_france_rel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286000" y="5486400"/>
            <a:ext cx="566928" cy="56692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548640" y="62910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i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in France — сертифікат EUR.1 дає 0% ввізного мита при розмитненні в Україні.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8092440" y="566928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</p:spPr>
      </p:sp>
      <p:pic>
        <p:nvPicPr>
          <p:cNvPr id="28" name="Image 2" descr="/home/user/Chaplygin-Illya/sias_deck/assets/sias_log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66760" y="841248"/>
            <a:ext cx="3017520" cy="73152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8092440" y="2029968"/>
            <a:ext cx="3566160" cy="297180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</p:spPr>
      </p:sp>
      <p:pic>
        <p:nvPicPr>
          <p:cNvPr id="30" name="Image 3" descr="/home/user/Chaplygin-Illya/sias_deck/assets/factory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229600" y="2167128"/>
            <a:ext cx="3291840" cy="21945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8229600" y="4480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5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Завод SIAS · Roye, Франція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092440" y="5257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50" b="1" spc="160" kern="0" dirty="0">
                <a:solidFill>
                  <a:srgbClr val="F7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ВИРОБНИЦТВО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8092440" y="550468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Франція</a:t>
            </a:r>
            <a:endParaRPr lang="en-US" sz="2400" dirty="0"/>
          </a:p>
        </p:txBody>
      </p:sp>
      <p:sp>
        <p:nvSpPr>
          <p:cNvPr id="34" name="Shape 28"/>
          <p:cNvSpPr/>
          <p:nvPr/>
        </p:nvSpPr>
        <p:spPr>
          <a:xfrm>
            <a:off x="9418320" y="6089904"/>
            <a:ext cx="152400" cy="301752"/>
          </a:xfrm>
          <a:prstGeom prst="rect">
            <a:avLst/>
          </a:prstGeom>
          <a:solidFill>
            <a:srgbClr val="002654"/>
          </a:solidFill>
          <a:ln/>
        </p:spPr>
      </p:sp>
      <p:sp>
        <p:nvSpPr>
          <p:cNvPr id="35" name="Shape 29"/>
          <p:cNvSpPr/>
          <p:nvPr/>
        </p:nvSpPr>
        <p:spPr>
          <a:xfrm>
            <a:off x="9570720" y="6089904"/>
            <a:ext cx="152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0"/>
          <p:cNvSpPr/>
          <p:nvPr/>
        </p:nvSpPr>
        <p:spPr>
          <a:xfrm>
            <a:off x="9723120" y="6089904"/>
            <a:ext cx="152400" cy="301752"/>
          </a:xfrm>
          <a:prstGeom prst="rect">
            <a:avLst/>
          </a:prstGeom>
          <a:solidFill>
            <a:srgbClr val="ED2939"/>
          </a:solidFill>
          <a:ln/>
        </p:spPr>
      </p:sp>
      <p:sp>
        <p:nvSpPr>
          <p:cNvPr id="37" name="Shape 31"/>
          <p:cNvSpPr/>
          <p:nvPr/>
        </p:nvSpPr>
        <p:spPr>
          <a:xfrm>
            <a:off x="10012680" y="6089904"/>
            <a:ext cx="457200" cy="150876"/>
          </a:xfrm>
          <a:prstGeom prst="rect">
            <a:avLst/>
          </a:prstGeom>
          <a:solidFill>
            <a:srgbClr val="0057B7"/>
          </a:solidFill>
          <a:ln/>
        </p:spPr>
      </p:sp>
      <p:sp>
        <p:nvSpPr>
          <p:cNvPr id="38" name="Shape 32"/>
          <p:cNvSpPr/>
          <p:nvPr/>
        </p:nvSpPr>
        <p:spPr>
          <a:xfrm>
            <a:off x="10012680" y="6240780"/>
            <a:ext cx="457200" cy="150876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39" name="Text 3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40" name="Text 3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АСОРТИМЕНТ · 02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2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Шість смаків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76072" y="12984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формат Bag · 20 шт/короб · 80 короб/палета · 1 палета = 1 600 пачок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pic>
        <p:nvPicPr>
          <p:cNvPr id="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" name="Shape 5"/>
          <p:cNvSpPr/>
          <p:nvPr/>
        </p:nvSpPr>
        <p:spPr>
          <a:xfrm>
            <a:off x="548640" y="4361688"/>
            <a:ext cx="91440" cy="91440"/>
          </a:xfrm>
          <a:prstGeom prst="rect">
            <a:avLst/>
          </a:prstGeom>
          <a:solidFill>
            <a:srgbClr val="F07C1E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48640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Bibimmyeon · вершковий сир гауда</a:t>
            </a:r>
            <a:endParaRPr lang="en-US" sz="900" dirty="0"/>
          </a:p>
        </p:txBody>
      </p:sp>
      <p:pic>
        <p:nvPicPr>
          <p:cNvPr id="14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440168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5" name="Shape 11"/>
          <p:cNvSpPr/>
          <p:nvPr/>
        </p:nvSpPr>
        <p:spPr>
          <a:xfrm>
            <a:off x="2440168" y="4361688"/>
            <a:ext cx="91440" cy="91440"/>
          </a:xfrm>
          <a:prstGeom prst="rect">
            <a:avLst/>
          </a:prstGeom>
          <a:solidFill>
            <a:srgbClr val="D96A88"/>
          </a:solidFill>
          <a:ln/>
        </p:spPr>
      </p:sp>
      <p:sp>
        <p:nvSpPr>
          <p:cNvPr id="16" name="Text 12"/>
          <p:cNvSpPr/>
          <p:nvPr/>
        </p:nvSpPr>
        <p:spPr>
          <a:xfrm>
            <a:off x="2623048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440168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2440168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19" name="Shape 15"/>
          <p:cNvSpPr/>
          <p:nvPr/>
        </p:nvSpPr>
        <p:spPr>
          <a:xfrm>
            <a:off x="2440168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20" name="Text 16"/>
          <p:cNvSpPr/>
          <p:nvPr/>
        </p:nvSpPr>
        <p:spPr>
          <a:xfrm>
            <a:off x="2440168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Ramyeon · вершкова, гостра HOT</a:t>
            </a:r>
            <a:endParaRPr lang="en-US" sz="900" dirty="0"/>
          </a:p>
        </p:txBody>
      </p:sp>
      <p:pic>
        <p:nvPicPr>
          <p:cNvPr id="21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331696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22" name="Shape 17"/>
          <p:cNvSpPr/>
          <p:nvPr/>
        </p:nvSpPr>
        <p:spPr>
          <a:xfrm>
            <a:off x="4331696" y="4361688"/>
            <a:ext cx="91440" cy="91440"/>
          </a:xfrm>
          <a:prstGeom prst="rect">
            <a:avLst/>
          </a:prstGeom>
          <a:solidFill>
            <a:srgbClr val="4E9E2A"/>
          </a:solidFill>
          <a:ln/>
        </p:spPr>
      </p:sp>
      <p:sp>
        <p:nvSpPr>
          <p:cNvPr id="23" name="Text 18"/>
          <p:cNvSpPr/>
          <p:nvPr/>
        </p:nvSpPr>
        <p:spPr>
          <a:xfrm>
            <a:off x="4514576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331696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4331696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26" name="Shape 21"/>
          <p:cNvSpPr/>
          <p:nvPr/>
        </p:nvSpPr>
        <p:spPr>
          <a:xfrm>
            <a:off x="4331696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27" name="Text 22"/>
          <p:cNvSpPr/>
          <p:nvPr/>
        </p:nvSpPr>
        <p:spPr>
          <a:xfrm>
            <a:off x="4331696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Ramyeon · без гостроти</a:t>
            </a:r>
            <a:endParaRPr lang="en-US" sz="900" dirty="0"/>
          </a:p>
        </p:txBody>
      </p:sp>
      <p:pic>
        <p:nvPicPr>
          <p:cNvPr id="28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23224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29" name="Shape 23"/>
          <p:cNvSpPr/>
          <p:nvPr/>
        </p:nvSpPr>
        <p:spPr>
          <a:xfrm>
            <a:off x="6223224" y="4361688"/>
            <a:ext cx="91440" cy="91440"/>
          </a:xfrm>
          <a:prstGeom prst="rect">
            <a:avLst/>
          </a:prstGeom>
          <a:solidFill>
            <a:srgbClr val="C8101C"/>
          </a:solidFill>
          <a:ln/>
        </p:spPr>
      </p:sp>
      <p:sp>
        <p:nvSpPr>
          <p:cNvPr id="30" name="Text 24"/>
          <p:cNvSpPr/>
          <p:nvPr/>
        </p:nvSpPr>
        <p:spPr>
          <a:xfrm>
            <a:off x="6406104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6223224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600" dirty="0"/>
          </a:p>
        </p:txBody>
      </p:sp>
      <p:sp>
        <p:nvSpPr>
          <p:cNvPr id="32" name="Text 26"/>
          <p:cNvSpPr/>
          <p:nvPr/>
        </p:nvSpPr>
        <p:spPr>
          <a:xfrm>
            <a:off x="6223224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33" name="Shape 27"/>
          <p:cNvSpPr/>
          <p:nvPr/>
        </p:nvSpPr>
        <p:spPr>
          <a:xfrm>
            <a:off x="6223224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34" name="Text 28"/>
          <p:cNvSpPr/>
          <p:nvPr/>
        </p:nvSpPr>
        <p:spPr>
          <a:xfrm>
            <a:off x="6223224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Ramyeon · гострота MEDIUM</a:t>
            </a:r>
            <a:endParaRPr lang="en-US" sz="900" dirty="0"/>
          </a:p>
        </p:txBody>
      </p:sp>
      <p:pic>
        <p:nvPicPr>
          <p:cNvPr id="35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14751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6" name="Shape 29"/>
          <p:cNvSpPr/>
          <p:nvPr/>
        </p:nvSpPr>
        <p:spPr>
          <a:xfrm>
            <a:off x="8114751" y="4361688"/>
            <a:ext cx="91440" cy="91440"/>
          </a:xfrm>
          <a:prstGeom prst="rect">
            <a:avLst/>
          </a:prstGeom>
          <a:solidFill>
            <a:srgbClr val="A9541A"/>
          </a:solidFill>
          <a:ln/>
        </p:spPr>
      </p:sp>
      <p:sp>
        <p:nvSpPr>
          <p:cNvPr id="37" name="Text 30"/>
          <p:cNvSpPr/>
          <p:nvPr/>
        </p:nvSpPr>
        <p:spPr>
          <a:xfrm>
            <a:off x="8297631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1050" dirty="0"/>
          </a:p>
        </p:txBody>
      </p:sp>
      <p:sp>
        <p:nvSpPr>
          <p:cNvPr id="38" name="Text 31"/>
          <p:cNvSpPr/>
          <p:nvPr/>
        </p:nvSpPr>
        <p:spPr>
          <a:xfrm>
            <a:off x="8114751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600" dirty="0"/>
          </a:p>
        </p:txBody>
      </p:sp>
      <p:sp>
        <p:nvSpPr>
          <p:cNvPr id="39" name="Text 32"/>
          <p:cNvSpPr/>
          <p:nvPr/>
        </p:nvSpPr>
        <p:spPr>
          <a:xfrm>
            <a:off x="8114751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0" name="Shape 33"/>
          <p:cNvSpPr/>
          <p:nvPr/>
        </p:nvSpPr>
        <p:spPr>
          <a:xfrm>
            <a:off x="8114751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41" name="Text 34"/>
          <p:cNvSpPr/>
          <p:nvPr/>
        </p:nvSpPr>
        <p:spPr>
          <a:xfrm>
            <a:off x="8114751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Ramyeon · гострота MILD</a:t>
            </a:r>
            <a:endParaRPr lang="en-US" sz="900" dirty="0"/>
          </a:p>
        </p:txBody>
      </p:sp>
      <p:pic>
        <p:nvPicPr>
          <p:cNvPr id="42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0006279" y="1938528"/>
            <a:ext cx="1636776" cy="2121408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3" name="Shape 35"/>
          <p:cNvSpPr/>
          <p:nvPr/>
        </p:nvSpPr>
        <p:spPr>
          <a:xfrm>
            <a:off x="10006279" y="4361688"/>
            <a:ext cx="91440" cy="91440"/>
          </a:xfrm>
          <a:prstGeom prst="rect">
            <a:avLst/>
          </a:prstGeom>
          <a:solidFill>
            <a:srgbClr val="D9AA05"/>
          </a:solidFill>
          <a:ln/>
        </p:spPr>
      </p:sp>
      <p:sp>
        <p:nvSpPr>
          <p:cNvPr id="44" name="Text 36"/>
          <p:cNvSpPr/>
          <p:nvPr/>
        </p:nvSpPr>
        <p:spPr>
          <a:xfrm>
            <a:off x="10189159" y="4306824"/>
            <a:ext cx="1453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1050" dirty="0"/>
          </a:p>
        </p:txBody>
      </p:sp>
      <p:sp>
        <p:nvSpPr>
          <p:cNvPr id="45" name="Text 37"/>
          <p:cNvSpPr/>
          <p:nvPr/>
        </p:nvSpPr>
        <p:spPr>
          <a:xfrm>
            <a:off x="10006279" y="459028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600" dirty="0"/>
          </a:p>
        </p:txBody>
      </p:sp>
      <p:sp>
        <p:nvSpPr>
          <p:cNvPr id="46" name="Text 38"/>
          <p:cNvSpPr/>
          <p:nvPr/>
        </p:nvSpPr>
        <p:spPr>
          <a:xfrm>
            <a:off x="10006279" y="495604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7" name="Shape 39"/>
          <p:cNvSpPr/>
          <p:nvPr/>
        </p:nvSpPr>
        <p:spPr>
          <a:xfrm>
            <a:off x="10006279" y="5248656"/>
            <a:ext cx="1014801" cy="10058"/>
          </a:xfrm>
          <a:prstGeom prst="rect">
            <a:avLst/>
          </a:prstGeom>
          <a:solidFill>
            <a:srgbClr val="DCD3C6"/>
          </a:solidFill>
          <a:ln/>
        </p:spPr>
      </p:sp>
      <p:sp>
        <p:nvSpPr>
          <p:cNvPr id="48" name="Text 40"/>
          <p:cNvSpPr/>
          <p:nvPr/>
        </p:nvSpPr>
        <p:spPr>
          <a:xfrm>
            <a:off x="10006279" y="5340096"/>
            <a:ext cx="1636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Ramyeon · без гостроти</a:t>
            </a:r>
            <a:endParaRPr lang="en-US" sz="900" dirty="0"/>
          </a:p>
        </p:txBody>
      </p:sp>
      <p:sp>
        <p:nvSpPr>
          <p:cNvPr id="49" name="Text 41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50" name="Text 42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палет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пробна партія · по 1 палеті на кожен смак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9 600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10,64 €/кг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1,31 €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9,99 €/кг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10,08 €/кг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1,13 €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58,06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10,04 €/кг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палет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середній обсяг · акцент на вершкових смаках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19 200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4 800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9,03 €/кг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палети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4 800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1,11 €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56,88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8,48 €/кг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3 200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8,56 €/кг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палети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3 200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палета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1 600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49,29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8,52 €/кг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" cy="173736"/>
          </a:xfrm>
          <a:prstGeom prst="rect">
            <a:avLst/>
          </a:prstGeom>
          <a:solidFill>
            <a:srgbClr val="D80F19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1148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b="1" spc="16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ВАРІАНТ ПОСТАЧАННЯ ·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34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палети · Full Truck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76072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00" i="1" dirty="0">
                <a:solidFill>
                  <a:srgbClr val="A887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повне авто · найнижча собівартість пачки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943039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2767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034479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палет у постачанні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8552383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62111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52 800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643823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пачок разом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10161727" y="457200"/>
            <a:ext cx="1481328" cy="1005840"/>
          </a:xfrm>
          <a:prstGeom prst="roundRect">
            <a:avLst>
              <a:gd name="adj" fmla="val 8182"/>
            </a:avLst>
          </a:prstGeom>
          <a:solidFill>
            <a:srgbClr val="D80F19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71455" y="566928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253167" y="96926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FBD9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мито · EUR.1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548640" y="1700784"/>
            <a:ext cx="11094415" cy="10058"/>
          </a:xfrm>
          <a:prstGeom prst="rect">
            <a:avLst/>
          </a:prstGeom>
          <a:solidFill>
            <a:srgbClr val="A8874E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17" name="Image 0" descr="/home/user/Chaplygin-Illya/sias_deck/packs/gou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2139696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Гауда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2139696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7C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고다치즈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2139696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г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198266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22" name="Text 19"/>
          <p:cNvSpPr/>
          <p:nvPr/>
        </p:nvSpPr>
        <p:spPr>
          <a:xfrm>
            <a:off x="3198266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2139696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24" name="Text 21"/>
          <p:cNvSpPr/>
          <p:nvPr/>
        </p:nvSpPr>
        <p:spPr>
          <a:xfrm>
            <a:off x="2139696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11 200 пачок у постачанні</a:t>
            </a:r>
            <a:endParaRPr lang="en-US" sz="820" dirty="0"/>
          </a:p>
        </p:txBody>
      </p:sp>
      <p:sp>
        <p:nvSpPr>
          <p:cNvPr id="25" name="Shape 22"/>
          <p:cNvSpPr/>
          <p:nvPr/>
        </p:nvSpPr>
        <p:spPr>
          <a:xfrm>
            <a:off x="2139696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26" name="Text 23"/>
          <p:cNvSpPr/>
          <p:nvPr/>
        </p:nvSpPr>
        <p:spPr>
          <a:xfrm>
            <a:off x="2258568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258568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2258568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998939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8,28 €/кг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332122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31" name="Image 1" descr="/home/user/Chaplygin-Illya/sias_deck/packs/carbonara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441850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32" name="Text 28"/>
          <p:cNvSpPr/>
          <p:nvPr/>
        </p:nvSpPr>
        <p:spPr>
          <a:xfrm>
            <a:off x="5923178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Карбонара</a:t>
            </a:r>
            <a:endParaRPr lang="en-US" sz="1500" dirty="0"/>
          </a:p>
        </p:txBody>
      </p:sp>
      <p:sp>
        <p:nvSpPr>
          <p:cNvPr id="33" name="Text 29"/>
          <p:cNvSpPr/>
          <p:nvPr/>
        </p:nvSpPr>
        <p:spPr>
          <a:xfrm>
            <a:off x="5923178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6A8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까르보나라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5923178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 г</a:t>
            </a:r>
            <a:endParaRPr lang="en-US" sz="1250" dirty="0"/>
          </a:p>
        </p:txBody>
      </p:sp>
      <p:sp>
        <p:nvSpPr>
          <p:cNvPr id="35" name="Shape 31"/>
          <p:cNvSpPr/>
          <p:nvPr/>
        </p:nvSpPr>
        <p:spPr>
          <a:xfrm>
            <a:off x="6981749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36" name="Text 32"/>
          <p:cNvSpPr/>
          <p:nvPr/>
        </p:nvSpPr>
        <p:spPr>
          <a:xfrm>
            <a:off x="6981749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палет</a:t>
            </a:r>
            <a:endParaRPr lang="en-US" sz="750" dirty="0"/>
          </a:p>
        </p:txBody>
      </p:sp>
      <p:sp>
        <p:nvSpPr>
          <p:cNvPr id="37" name="Text 33"/>
          <p:cNvSpPr/>
          <p:nvPr/>
        </p:nvSpPr>
        <p:spPr>
          <a:xfrm>
            <a:off x="5923178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38" name="Text 34"/>
          <p:cNvSpPr/>
          <p:nvPr/>
        </p:nvSpPr>
        <p:spPr>
          <a:xfrm>
            <a:off x="5923178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11 200 пачок у постачанні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5923178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40" name="Text 36"/>
          <p:cNvSpPr/>
          <p:nvPr/>
        </p:nvSpPr>
        <p:spPr>
          <a:xfrm>
            <a:off x="6042050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042050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1,02 €</a:t>
            </a:r>
            <a:endParaRPr lang="en-US" sz="2200" dirty="0"/>
          </a:p>
        </p:txBody>
      </p:sp>
      <p:sp>
        <p:nvSpPr>
          <p:cNvPr id="42" name="Text 38"/>
          <p:cNvSpPr/>
          <p:nvPr/>
        </p:nvSpPr>
        <p:spPr>
          <a:xfrm>
            <a:off x="6042050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52,13 ₴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6782422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7,77 €/кг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8115605" y="1792224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45" name="Image 2" descr="/home/user/Chaplygin-Illya/sias_deck/packs/vegetab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225333" y="1920240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46" name="Text 41"/>
          <p:cNvSpPr/>
          <p:nvPr/>
        </p:nvSpPr>
        <p:spPr>
          <a:xfrm>
            <a:off x="9706661" y="1911096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Овочева</a:t>
            </a:r>
            <a:endParaRPr lang="en-US" sz="1500" dirty="0"/>
          </a:p>
        </p:txBody>
      </p:sp>
      <p:sp>
        <p:nvSpPr>
          <p:cNvPr id="47" name="Text 42"/>
          <p:cNvSpPr/>
          <p:nvPr/>
        </p:nvSpPr>
        <p:spPr>
          <a:xfrm>
            <a:off x="9706661" y="21945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4E9E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야채맛</a:t>
            </a:r>
            <a:endParaRPr lang="en-US" sz="950" dirty="0"/>
          </a:p>
        </p:txBody>
      </p:sp>
      <p:sp>
        <p:nvSpPr>
          <p:cNvPr id="48" name="Text 43"/>
          <p:cNvSpPr/>
          <p:nvPr/>
        </p:nvSpPr>
        <p:spPr>
          <a:xfrm>
            <a:off x="9706661" y="241401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49" name="Shape 44"/>
          <p:cNvSpPr/>
          <p:nvPr/>
        </p:nvSpPr>
        <p:spPr>
          <a:xfrm>
            <a:off x="10765231" y="2423160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50" name="Text 45"/>
          <p:cNvSpPr/>
          <p:nvPr/>
        </p:nvSpPr>
        <p:spPr>
          <a:xfrm>
            <a:off x="10765231" y="2423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палети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9706661" y="2670048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52" name="Text 47"/>
          <p:cNvSpPr/>
          <p:nvPr/>
        </p:nvSpPr>
        <p:spPr>
          <a:xfrm>
            <a:off x="9706661" y="284378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6 400 пачок у постачанні</a:t>
            </a:r>
            <a:endParaRPr lang="en-US" sz="820" dirty="0"/>
          </a:p>
        </p:txBody>
      </p:sp>
      <p:sp>
        <p:nvSpPr>
          <p:cNvPr id="53" name="Shape 48"/>
          <p:cNvSpPr/>
          <p:nvPr/>
        </p:nvSpPr>
        <p:spPr>
          <a:xfrm>
            <a:off x="9706661" y="3054096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54" name="Text 49"/>
          <p:cNvSpPr/>
          <p:nvPr/>
        </p:nvSpPr>
        <p:spPr>
          <a:xfrm>
            <a:off x="9825533" y="3118104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55" name="Text 50"/>
          <p:cNvSpPr/>
          <p:nvPr/>
        </p:nvSpPr>
        <p:spPr>
          <a:xfrm>
            <a:off x="9825533" y="3273552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56" name="Text 51"/>
          <p:cNvSpPr/>
          <p:nvPr/>
        </p:nvSpPr>
        <p:spPr>
          <a:xfrm>
            <a:off x="9825533" y="3602736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57" name="Text 52"/>
          <p:cNvSpPr/>
          <p:nvPr/>
        </p:nvSpPr>
        <p:spPr>
          <a:xfrm>
            <a:off x="10565904" y="3602736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58" name="Shape 53"/>
          <p:cNvSpPr/>
          <p:nvPr/>
        </p:nvSpPr>
        <p:spPr>
          <a:xfrm>
            <a:off x="548640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59" name="Image 3" descr="/home/user/Chaplygin-Illya/sias_deck/packs/spic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60" name="Text 54"/>
          <p:cNvSpPr/>
          <p:nvPr/>
        </p:nvSpPr>
        <p:spPr>
          <a:xfrm>
            <a:off x="2139696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Гостра</a:t>
            </a:r>
            <a:endParaRPr lang="en-US" sz="1500" dirty="0"/>
          </a:p>
        </p:txBody>
      </p:sp>
      <p:sp>
        <p:nvSpPr>
          <p:cNvPr id="61" name="Text 55"/>
          <p:cNvSpPr/>
          <p:nvPr/>
        </p:nvSpPr>
        <p:spPr>
          <a:xfrm>
            <a:off x="2139696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C810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매운맛</a:t>
            </a:r>
            <a:endParaRPr lang="en-US" sz="950" dirty="0"/>
          </a:p>
        </p:txBody>
      </p:sp>
      <p:sp>
        <p:nvSpPr>
          <p:cNvPr id="62" name="Text 56"/>
          <p:cNvSpPr/>
          <p:nvPr/>
        </p:nvSpPr>
        <p:spPr>
          <a:xfrm>
            <a:off x="2139696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112,5 г</a:t>
            </a:r>
            <a:endParaRPr lang="en-US" sz="1250" dirty="0"/>
          </a:p>
        </p:txBody>
      </p:sp>
      <p:sp>
        <p:nvSpPr>
          <p:cNvPr id="63" name="Shape 57"/>
          <p:cNvSpPr/>
          <p:nvPr/>
        </p:nvSpPr>
        <p:spPr>
          <a:xfrm>
            <a:off x="3198266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64" name="Text 58"/>
          <p:cNvSpPr/>
          <p:nvPr/>
        </p:nvSpPr>
        <p:spPr>
          <a:xfrm>
            <a:off x="3198266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65" name="Text 59"/>
          <p:cNvSpPr/>
          <p:nvPr/>
        </p:nvSpPr>
        <p:spPr>
          <a:xfrm>
            <a:off x="2139696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66" name="Text 60"/>
          <p:cNvSpPr/>
          <p:nvPr/>
        </p:nvSpPr>
        <p:spPr>
          <a:xfrm>
            <a:off x="2139696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67" name="Shape 61"/>
          <p:cNvSpPr/>
          <p:nvPr/>
        </p:nvSpPr>
        <p:spPr>
          <a:xfrm>
            <a:off x="2139696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68" name="Text 62"/>
          <p:cNvSpPr/>
          <p:nvPr/>
        </p:nvSpPr>
        <p:spPr>
          <a:xfrm>
            <a:off x="2258568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69" name="Text 63"/>
          <p:cNvSpPr/>
          <p:nvPr/>
        </p:nvSpPr>
        <p:spPr>
          <a:xfrm>
            <a:off x="2258568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70" name="Text 64"/>
          <p:cNvSpPr/>
          <p:nvPr/>
        </p:nvSpPr>
        <p:spPr>
          <a:xfrm>
            <a:off x="2258568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71" name="Text 65"/>
          <p:cNvSpPr/>
          <p:nvPr/>
        </p:nvSpPr>
        <p:spPr>
          <a:xfrm>
            <a:off x="2998939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7,84 €/кг</a:t>
            </a:r>
            <a:endParaRPr lang="en-US" sz="950" dirty="0"/>
          </a:p>
        </p:txBody>
      </p:sp>
      <p:sp>
        <p:nvSpPr>
          <p:cNvPr id="72" name="Shape 66"/>
          <p:cNvSpPr/>
          <p:nvPr/>
        </p:nvSpPr>
        <p:spPr>
          <a:xfrm>
            <a:off x="4332122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73" name="Image 4" descr="/home/user/Chaplygin-Illya/sias_deck/packs/beef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441850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74" name="Text 67"/>
          <p:cNvSpPr/>
          <p:nvPr/>
        </p:nvSpPr>
        <p:spPr>
          <a:xfrm>
            <a:off x="5923178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Яловичина</a:t>
            </a:r>
            <a:endParaRPr lang="en-US" sz="1500" dirty="0"/>
          </a:p>
        </p:txBody>
      </p:sp>
      <p:sp>
        <p:nvSpPr>
          <p:cNvPr id="75" name="Text 68"/>
          <p:cNvSpPr/>
          <p:nvPr/>
        </p:nvSpPr>
        <p:spPr>
          <a:xfrm>
            <a:off x="5923178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A954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소고기맛</a:t>
            </a:r>
            <a:endParaRPr lang="en-US" sz="950" dirty="0"/>
          </a:p>
        </p:txBody>
      </p:sp>
      <p:sp>
        <p:nvSpPr>
          <p:cNvPr id="76" name="Text 69"/>
          <p:cNvSpPr/>
          <p:nvPr/>
        </p:nvSpPr>
        <p:spPr>
          <a:xfrm>
            <a:off x="5923178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77" name="Shape 70"/>
          <p:cNvSpPr/>
          <p:nvPr/>
        </p:nvSpPr>
        <p:spPr>
          <a:xfrm>
            <a:off x="6981749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78" name="Text 71"/>
          <p:cNvSpPr/>
          <p:nvPr/>
        </p:nvSpPr>
        <p:spPr>
          <a:xfrm>
            <a:off x="6981749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79" name="Text 72"/>
          <p:cNvSpPr/>
          <p:nvPr/>
        </p:nvSpPr>
        <p:spPr>
          <a:xfrm>
            <a:off x="5923178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80" name="Text 73"/>
          <p:cNvSpPr/>
          <p:nvPr/>
        </p:nvSpPr>
        <p:spPr>
          <a:xfrm>
            <a:off x="5923178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81" name="Shape 74"/>
          <p:cNvSpPr/>
          <p:nvPr/>
        </p:nvSpPr>
        <p:spPr>
          <a:xfrm>
            <a:off x="5923178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82" name="Text 75"/>
          <p:cNvSpPr/>
          <p:nvPr/>
        </p:nvSpPr>
        <p:spPr>
          <a:xfrm>
            <a:off x="6042050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83" name="Text 76"/>
          <p:cNvSpPr/>
          <p:nvPr/>
        </p:nvSpPr>
        <p:spPr>
          <a:xfrm>
            <a:off x="6042050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84" name="Text 77"/>
          <p:cNvSpPr/>
          <p:nvPr/>
        </p:nvSpPr>
        <p:spPr>
          <a:xfrm>
            <a:off x="6042050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85" name="Text 78"/>
          <p:cNvSpPr/>
          <p:nvPr/>
        </p:nvSpPr>
        <p:spPr>
          <a:xfrm>
            <a:off x="6782422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86" name="Shape 79"/>
          <p:cNvSpPr/>
          <p:nvPr/>
        </p:nvSpPr>
        <p:spPr>
          <a:xfrm>
            <a:off x="8115605" y="4114800"/>
            <a:ext cx="3527450" cy="2139696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2B211A">
                <a:alpha val="13000"/>
              </a:srgbClr>
            </a:outerShdw>
          </a:effectLst>
        </p:spPr>
      </p:sp>
      <p:pic>
        <p:nvPicPr>
          <p:cNvPr id="87" name="Image 5" descr="/home/user/Chaplygin-Illya/sias_deck/packs/chicken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225333" y="4242816"/>
            <a:ext cx="1371600" cy="1883664"/>
          </a:xfrm>
          <a:prstGeom prst="rect">
            <a:avLst/>
          </a:prstGeom>
          <a:effectLst>
            <a:outerShdw sx="100000" sy="100000" kx="0" ky="0" algn="bl" rotWithShape="0" blurRad="177800" dist="76200" dir="5400000">
              <a:srgbClr val="241A14">
                <a:alpha val="30000"/>
              </a:srgbClr>
            </a:outerShdw>
          </a:effectLst>
        </p:spPr>
      </p:pic>
      <p:sp>
        <p:nvSpPr>
          <p:cNvPr id="88" name="Text 80"/>
          <p:cNvSpPr/>
          <p:nvPr/>
        </p:nvSpPr>
        <p:spPr>
          <a:xfrm>
            <a:off x="9706661" y="4233672"/>
            <a:ext cx="17900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b="1" dirty="0">
                <a:solidFill>
                  <a:srgbClr val="141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Курка</a:t>
            </a:r>
            <a:endParaRPr lang="en-US" sz="1500" dirty="0"/>
          </a:p>
        </p:txBody>
      </p:sp>
      <p:sp>
        <p:nvSpPr>
          <p:cNvPr id="89" name="Text 81"/>
          <p:cNvSpPr/>
          <p:nvPr/>
        </p:nvSpPr>
        <p:spPr>
          <a:xfrm>
            <a:off x="9706661" y="4517136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D9AA0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치킨맛</a:t>
            </a:r>
            <a:endParaRPr lang="en-US" sz="950" dirty="0"/>
          </a:p>
        </p:txBody>
      </p:sp>
      <p:sp>
        <p:nvSpPr>
          <p:cNvPr id="90" name="Text 82"/>
          <p:cNvSpPr/>
          <p:nvPr/>
        </p:nvSpPr>
        <p:spPr>
          <a:xfrm>
            <a:off x="9706661" y="4736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D80F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 г</a:t>
            </a:r>
            <a:endParaRPr lang="en-US" sz="1250" dirty="0"/>
          </a:p>
        </p:txBody>
      </p:sp>
      <p:sp>
        <p:nvSpPr>
          <p:cNvPr id="91" name="Shape 83"/>
          <p:cNvSpPr/>
          <p:nvPr/>
        </p:nvSpPr>
        <p:spPr>
          <a:xfrm>
            <a:off x="10765231" y="4745736"/>
            <a:ext cx="731520" cy="228600"/>
          </a:xfrm>
          <a:prstGeom prst="roundRect">
            <a:avLst>
              <a:gd name="adj" fmla="val 48000"/>
            </a:avLst>
          </a:prstGeom>
          <a:solidFill>
            <a:srgbClr val="F7F2EA"/>
          </a:solidFill>
          <a:ln/>
        </p:spPr>
      </p:sp>
      <p:sp>
        <p:nvSpPr>
          <p:cNvPr id="92" name="Text 84"/>
          <p:cNvSpPr/>
          <p:nvPr/>
        </p:nvSpPr>
        <p:spPr>
          <a:xfrm>
            <a:off x="10765231" y="47457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750" b="1" dirty="0">
                <a:solidFill>
                  <a:srgbClr val="3A3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палет</a:t>
            </a:r>
            <a:endParaRPr lang="en-US" sz="750" dirty="0"/>
          </a:p>
        </p:txBody>
      </p:sp>
      <p:sp>
        <p:nvSpPr>
          <p:cNvPr id="93" name="Text 85"/>
          <p:cNvSpPr/>
          <p:nvPr/>
        </p:nvSpPr>
        <p:spPr>
          <a:xfrm>
            <a:off x="9706661" y="4992624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шт/короб · 80 короб/палета</a:t>
            </a:r>
            <a:endParaRPr lang="en-US" sz="820" dirty="0"/>
          </a:p>
        </p:txBody>
      </p:sp>
      <p:sp>
        <p:nvSpPr>
          <p:cNvPr id="94" name="Text 86"/>
          <p:cNvSpPr/>
          <p:nvPr/>
        </p:nvSpPr>
        <p:spPr>
          <a:xfrm>
            <a:off x="9706661" y="5166360"/>
            <a:ext cx="1790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пачок у постачанні</a:t>
            </a:r>
            <a:endParaRPr lang="en-US" sz="820" dirty="0"/>
          </a:p>
        </p:txBody>
      </p:sp>
      <p:sp>
        <p:nvSpPr>
          <p:cNvPr id="95" name="Shape 87"/>
          <p:cNvSpPr/>
          <p:nvPr/>
        </p:nvSpPr>
        <p:spPr>
          <a:xfrm>
            <a:off x="9706661" y="5376672"/>
            <a:ext cx="1790090" cy="749808"/>
          </a:xfrm>
          <a:prstGeom prst="roundRect">
            <a:avLst>
              <a:gd name="adj" fmla="val 8537"/>
            </a:avLst>
          </a:prstGeom>
          <a:solidFill>
            <a:srgbClr val="8E0B12"/>
          </a:solidFill>
          <a:ln/>
        </p:spPr>
      </p:sp>
      <p:sp>
        <p:nvSpPr>
          <p:cNvPr id="96" name="Text 88"/>
          <p:cNvSpPr/>
          <p:nvPr/>
        </p:nvSpPr>
        <p:spPr>
          <a:xfrm>
            <a:off x="9825533" y="5440680"/>
            <a:ext cx="15523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700" b="1" spc="70" kern="0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/ ПАЧКА</a:t>
            </a:r>
            <a:endParaRPr lang="en-US" sz="700" dirty="0"/>
          </a:p>
        </p:txBody>
      </p:sp>
      <p:sp>
        <p:nvSpPr>
          <p:cNvPr id="97" name="Text 89"/>
          <p:cNvSpPr/>
          <p:nvPr/>
        </p:nvSpPr>
        <p:spPr>
          <a:xfrm>
            <a:off x="9825533" y="5596128"/>
            <a:ext cx="15523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0,88 €</a:t>
            </a:r>
            <a:endParaRPr lang="en-US" sz="2200" dirty="0"/>
          </a:p>
        </p:txBody>
      </p:sp>
      <p:sp>
        <p:nvSpPr>
          <p:cNvPr id="98" name="Text 90"/>
          <p:cNvSpPr/>
          <p:nvPr/>
        </p:nvSpPr>
        <p:spPr>
          <a:xfrm>
            <a:off x="9825533" y="5925312"/>
            <a:ext cx="8950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F6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45,18 ₴</a:t>
            </a:r>
            <a:endParaRPr lang="en-US" sz="950" dirty="0"/>
          </a:p>
        </p:txBody>
      </p:sp>
      <p:sp>
        <p:nvSpPr>
          <p:cNvPr id="99" name="Text 91"/>
          <p:cNvSpPr/>
          <p:nvPr/>
        </p:nvSpPr>
        <p:spPr>
          <a:xfrm>
            <a:off x="10565904" y="5925312"/>
            <a:ext cx="77617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950" b="1" dirty="0">
                <a:solidFill>
                  <a:srgbClr val="F0B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7,81 €/кг</a:t>
            </a:r>
            <a:endParaRPr lang="en-US" sz="950" dirty="0"/>
          </a:p>
        </p:txBody>
      </p:sp>
      <p:sp>
        <p:nvSpPr>
          <p:cNvPr id="100" name="Text 92"/>
          <p:cNvSpPr/>
          <p:nvPr/>
        </p:nvSpPr>
        <p:spPr>
          <a:xfrm>
            <a:off x="548640" y="63276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20" i="1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Собівартість на 1 пачку: EXW Roye + логістика + брокер + митне оформлення + ПДВ-передфінансування, ставка ввізного мита 0% (EUR.1). Курс: 1 € ≈ 51,2 ₴.</a:t>
            </a:r>
            <a:endParaRPr lang="en-US" sz="820" dirty="0"/>
          </a:p>
        </p:txBody>
      </p:sp>
      <p:sp>
        <p:nvSpPr>
          <p:cNvPr id="101" name="Text 93"/>
          <p:cNvSpPr/>
          <p:nvPr/>
        </p:nvSpPr>
        <p:spPr>
          <a:xfrm>
            <a:off x="548640" y="649224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800" spc="140" kern="0" dirty="0">
                <a:solidFill>
                  <a:srgbClr val="6E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CHOI'S RAMYEON  ·  SIAS FRANCE  ·  2026</a:t>
            </a:r>
            <a:endParaRPr lang="en-US" sz="800" dirty="0"/>
          </a:p>
        </p:txBody>
      </p:sp>
      <p:sp>
        <p:nvSpPr>
          <p:cNvPr id="102" name="Text 94"/>
          <p:cNvSpPr/>
          <p:nvPr/>
        </p:nvSpPr>
        <p:spPr>
          <a:xfrm>
            <a:off x="11094415" y="647395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6E68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2026-07-31T20:36:36Z</dcterms:created>
  <dcterms:modified xsi:type="dcterms:W3CDTF">2026-07-31T20:36:36Z</dcterms:modified>
</cp:coreProperties>
</file>