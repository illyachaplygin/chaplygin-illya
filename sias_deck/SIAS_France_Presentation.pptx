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plygin-Illya/sias_deck/assets/cover_b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b="1" spc="300" kern="0" dirty="0">
                <a:solidFill>
                  <a:srgbClr val="E6D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548640" y="841248"/>
            <a:ext cx="1371600" cy="10058"/>
          </a:xfrm>
          <a:prstGeom prst="rect">
            <a:avLst/>
          </a:prstGeom>
          <a:solidFill>
            <a:srgbClr val="8A6F3E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9692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spc="180" kern="0" dirty="0">
                <a:solidFill>
                  <a:srgbClr val="C4B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ПРАЙС-КАТАЛОГ ДЛЯ КОМАНДИ  · 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0500055" y="475488"/>
            <a:ext cx="152400" cy="301752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7" name="Shape 4"/>
          <p:cNvSpPr/>
          <p:nvPr/>
        </p:nvSpPr>
        <p:spPr>
          <a:xfrm>
            <a:off x="10652455" y="475488"/>
            <a:ext cx="152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0804855" y="475488"/>
            <a:ext cx="152400" cy="301752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9" name="Shape 6"/>
          <p:cNvSpPr/>
          <p:nvPr/>
        </p:nvSpPr>
        <p:spPr>
          <a:xfrm>
            <a:off x="11094415" y="475488"/>
            <a:ext cx="457200" cy="150876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10" name="Shape 7"/>
          <p:cNvSpPr/>
          <p:nvPr/>
        </p:nvSpPr>
        <p:spPr>
          <a:xfrm>
            <a:off x="11094415" y="626364"/>
            <a:ext cx="457200" cy="1508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300" b="1" spc="400" kern="0" dirty="0">
                <a:solidFill>
                  <a:srgbClr val="E6D6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493776" y="1700784"/>
            <a:ext cx="11338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CHOI'S RAMYEON</a:t>
            </a:r>
            <a:endParaRPr lang="en-US" sz="6400" dirty="0"/>
          </a:p>
        </p:txBody>
      </p:sp>
      <p:sp>
        <p:nvSpPr>
          <p:cNvPr id="13" name="Shape 10"/>
          <p:cNvSpPr/>
          <p:nvPr/>
        </p:nvSpPr>
        <p:spPr>
          <a:xfrm>
            <a:off x="548640" y="2724912"/>
            <a:ext cx="658368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8529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spc="100" kern="0" dirty="0">
                <a:solidFill>
                  <a:srgbClr val="E4D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СМАКІВ  ·  ФОРМАТ BAG  ·  112,5–131 Г  ·  20 ШТ/КОРОБ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48640" y="3163824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i="1" dirty="0">
                <a:solidFill>
                  <a:srgbClr val="EFE5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Собівартість пачки для трьох обсягів постачання — 6, 12 та 33 палети (Full Truck).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i="1" dirty="0">
                <a:solidFill>
                  <a:srgbClr val="EFE5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Виробництво SIAS у Франції, сертифікат EUR.1: 0% ввізного мита в Україну.</a:t>
            </a:r>
            <a:endParaRPr lang="en-US" sz="1450" dirty="0"/>
          </a:p>
        </p:txBody>
      </p:sp>
      <p:pic>
        <p:nvPicPr>
          <p:cNvPr id="16" name="Image 1" descr="/home/user/Chaplygin-Illya/sias_deck/assets/cover_lineu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" y="3803904"/>
            <a:ext cx="12070080" cy="30540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plygin-Illya/sias_deck/assets/factory_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3657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2761488"/>
            <a:ext cx="4343400" cy="1371600"/>
          </a:xfrm>
          <a:prstGeom prst="roundRect">
            <a:avLst>
              <a:gd name="adj" fmla="val 6667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4" name="Text 1"/>
          <p:cNvSpPr/>
          <p:nvPr/>
        </p:nvSpPr>
        <p:spPr>
          <a:xfrm>
            <a:off x="822960" y="29260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spc="160" kern="0" dirty="0">
                <a:solidFill>
                  <a:srgbClr val="F7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ВИРОБНИК · 01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04672" y="31821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SIAS France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22960" y="37307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Roye · Hauts-de-France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435254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00" b="1" spc="200" kern="0" dirty="0">
                <a:solidFill>
                  <a:srgbClr val="A887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최씨라면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5166360" y="384048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Європейська виробнича площадка корейської групи SIAS: 16 000 м², власна лінія сушеної локшини, сертифікати IFS Food і BRC Food. Choi's Ramyeon виробляють тут за корейськими рецептурами, адаптованими під європейського споживача.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138928"/>
            <a:ext cx="265016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31520" y="5285232"/>
            <a:ext cx="228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EXW Roye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1520" y="5724144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умови відвантаження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63392" y="5138928"/>
            <a:ext cx="265016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546272" y="5285232"/>
            <a:ext cx="228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16 000 м²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46272" y="5724144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виробнича площадка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178144" y="5138928"/>
            <a:ext cx="265016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361024" y="5285232"/>
            <a:ext cx="228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IFS · BRC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361024" y="5724144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харчова безпека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992895" y="5138928"/>
            <a:ext cx="2650160" cy="1097280"/>
          </a:xfrm>
          <a:prstGeom prst="roundRect">
            <a:avLst>
              <a:gd name="adj" fmla="val 7500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175775" y="5285232"/>
            <a:ext cx="228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175775" y="5724144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в Україну за EUR.1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 ПОСТАЧАННЯ ·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палет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76072" y="13167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пробна партія · по 1 палеті на кожен смак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43039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052767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034479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552383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62111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9 600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43823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10161727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271455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253167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548640" y="1700784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7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2139696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139696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7C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2139696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198266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22" name="Text 19"/>
          <p:cNvSpPr/>
          <p:nvPr/>
        </p:nvSpPr>
        <p:spPr>
          <a:xfrm>
            <a:off x="3198266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2139696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2139696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25" name="Shape 22"/>
          <p:cNvSpPr/>
          <p:nvPr/>
        </p:nvSpPr>
        <p:spPr>
          <a:xfrm>
            <a:off x="2139696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26" name="Text 23"/>
          <p:cNvSpPr/>
          <p:nvPr/>
        </p:nvSpPr>
        <p:spPr>
          <a:xfrm>
            <a:off x="2258568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258568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2258568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2998939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10,64 €/кг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332122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1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41850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32" name="Text 28"/>
          <p:cNvSpPr/>
          <p:nvPr/>
        </p:nvSpPr>
        <p:spPr>
          <a:xfrm>
            <a:off x="5923178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5923178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6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5923178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6981749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36" name="Text 32"/>
          <p:cNvSpPr/>
          <p:nvPr/>
        </p:nvSpPr>
        <p:spPr>
          <a:xfrm>
            <a:off x="6981749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5923178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38" name="Text 34"/>
          <p:cNvSpPr/>
          <p:nvPr/>
        </p:nvSpPr>
        <p:spPr>
          <a:xfrm>
            <a:off x="5923178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923178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40" name="Text 36"/>
          <p:cNvSpPr/>
          <p:nvPr/>
        </p:nvSpPr>
        <p:spPr>
          <a:xfrm>
            <a:off x="6042050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042050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2200" dirty="0"/>
          </a:p>
        </p:txBody>
      </p:sp>
      <p:sp>
        <p:nvSpPr>
          <p:cNvPr id="42" name="Text 38"/>
          <p:cNvSpPr/>
          <p:nvPr/>
        </p:nvSpPr>
        <p:spPr>
          <a:xfrm>
            <a:off x="6042050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6782422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9,99 €/кг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8115605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45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5333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46" name="Text 41"/>
          <p:cNvSpPr/>
          <p:nvPr/>
        </p:nvSpPr>
        <p:spPr>
          <a:xfrm>
            <a:off x="9706661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</a:t>
            </a:r>
            <a:endParaRPr lang="en-US" sz="1500" dirty="0"/>
          </a:p>
        </p:txBody>
      </p:sp>
      <p:sp>
        <p:nvSpPr>
          <p:cNvPr id="47" name="Text 42"/>
          <p:cNvSpPr/>
          <p:nvPr/>
        </p:nvSpPr>
        <p:spPr>
          <a:xfrm>
            <a:off x="9706661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4E9E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9706661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10765231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50" name="Text 45"/>
          <p:cNvSpPr/>
          <p:nvPr/>
        </p:nvSpPr>
        <p:spPr>
          <a:xfrm>
            <a:off x="10765231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51" name="Text 46"/>
          <p:cNvSpPr/>
          <p:nvPr/>
        </p:nvSpPr>
        <p:spPr>
          <a:xfrm>
            <a:off x="9706661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52" name="Text 47"/>
          <p:cNvSpPr/>
          <p:nvPr/>
        </p:nvSpPr>
        <p:spPr>
          <a:xfrm>
            <a:off x="9706661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53" name="Shape 48"/>
          <p:cNvSpPr/>
          <p:nvPr/>
        </p:nvSpPr>
        <p:spPr>
          <a:xfrm>
            <a:off x="9706661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54" name="Text 49"/>
          <p:cNvSpPr/>
          <p:nvPr/>
        </p:nvSpPr>
        <p:spPr>
          <a:xfrm>
            <a:off x="9825533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55" name="Text 50"/>
          <p:cNvSpPr/>
          <p:nvPr/>
        </p:nvSpPr>
        <p:spPr>
          <a:xfrm>
            <a:off x="9825533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56" name="Text 51"/>
          <p:cNvSpPr/>
          <p:nvPr/>
        </p:nvSpPr>
        <p:spPr>
          <a:xfrm>
            <a:off x="9825533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57" name="Text 52"/>
          <p:cNvSpPr/>
          <p:nvPr/>
        </p:nvSpPr>
        <p:spPr>
          <a:xfrm>
            <a:off x="10565904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10,04 €/кг</a:t>
            </a:r>
            <a:endParaRPr lang="en-US" sz="950" dirty="0"/>
          </a:p>
        </p:txBody>
      </p:sp>
      <p:sp>
        <p:nvSpPr>
          <p:cNvPr id="58" name="Shape 53"/>
          <p:cNvSpPr/>
          <p:nvPr/>
        </p:nvSpPr>
        <p:spPr>
          <a:xfrm>
            <a:off x="548640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59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60" name="Text 54"/>
          <p:cNvSpPr/>
          <p:nvPr/>
        </p:nvSpPr>
        <p:spPr>
          <a:xfrm>
            <a:off x="2139696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Гостра</a:t>
            </a:r>
            <a:endParaRPr lang="en-US" sz="1500" dirty="0"/>
          </a:p>
        </p:txBody>
      </p:sp>
      <p:sp>
        <p:nvSpPr>
          <p:cNvPr id="61" name="Text 55"/>
          <p:cNvSpPr/>
          <p:nvPr/>
        </p:nvSpPr>
        <p:spPr>
          <a:xfrm>
            <a:off x="2139696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C810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950" dirty="0"/>
          </a:p>
        </p:txBody>
      </p:sp>
      <p:sp>
        <p:nvSpPr>
          <p:cNvPr id="62" name="Text 56"/>
          <p:cNvSpPr/>
          <p:nvPr/>
        </p:nvSpPr>
        <p:spPr>
          <a:xfrm>
            <a:off x="2139696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250" dirty="0"/>
          </a:p>
        </p:txBody>
      </p:sp>
      <p:sp>
        <p:nvSpPr>
          <p:cNvPr id="63" name="Shape 57"/>
          <p:cNvSpPr/>
          <p:nvPr/>
        </p:nvSpPr>
        <p:spPr>
          <a:xfrm>
            <a:off x="3198266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64" name="Text 58"/>
          <p:cNvSpPr/>
          <p:nvPr/>
        </p:nvSpPr>
        <p:spPr>
          <a:xfrm>
            <a:off x="3198266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2139696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66" name="Text 60"/>
          <p:cNvSpPr/>
          <p:nvPr/>
        </p:nvSpPr>
        <p:spPr>
          <a:xfrm>
            <a:off x="2139696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67" name="Shape 61"/>
          <p:cNvSpPr/>
          <p:nvPr/>
        </p:nvSpPr>
        <p:spPr>
          <a:xfrm>
            <a:off x="2139696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68" name="Text 62"/>
          <p:cNvSpPr/>
          <p:nvPr/>
        </p:nvSpPr>
        <p:spPr>
          <a:xfrm>
            <a:off x="2258568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69" name="Text 63"/>
          <p:cNvSpPr/>
          <p:nvPr/>
        </p:nvSpPr>
        <p:spPr>
          <a:xfrm>
            <a:off x="2258568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70" name="Text 64"/>
          <p:cNvSpPr/>
          <p:nvPr/>
        </p:nvSpPr>
        <p:spPr>
          <a:xfrm>
            <a:off x="2258568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2998939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10,08 €/кг</a:t>
            </a:r>
            <a:endParaRPr lang="en-US" sz="950" dirty="0"/>
          </a:p>
        </p:txBody>
      </p:sp>
      <p:sp>
        <p:nvSpPr>
          <p:cNvPr id="72" name="Shape 66"/>
          <p:cNvSpPr/>
          <p:nvPr/>
        </p:nvSpPr>
        <p:spPr>
          <a:xfrm>
            <a:off x="4332122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73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41850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74" name="Text 67"/>
          <p:cNvSpPr/>
          <p:nvPr/>
        </p:nvSpPr>
        <p:spPr>
          <a:xfrm>
            <a:off x="5923178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</a:t>
            </a:r>
            <a:endParaRPr lang="en-US" sz="1500" dirty="0"/>
          </a:p>
        </p:txBody>
      </p:sp>
      <p:sp>
        <p:nvSpPr>
          <p:cNvPr id="75" name="Text 68"/>
          <p:cNvSpPr/>
          <p:nvPr/>
        </p:nvSpPr>
        <p:spPr>
          <a:xfrm>
            <a:off x="5923178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A954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950" dirty="0"/>
          </a:p>
        </p:txBody>
      </p:sp>
      <p:sp>
        <p:nvSpPr>
          <p:cNvPr id="76" name="Text 69"/>
          <p:cNvSpPr/>
          <p:nvPr/>
        </p:nvSpPr>
        <p:spPr>
          <a:xfrm>
            <a:off x="5923178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77" name="Shape 70"/>
          <p:cNvSpPr/>
          <p:nvPr/>
        </p:nvSpPr>
        <p:spPr>
          <a:xfrm>
            <a:off x="6981749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78" name="Text 71"/>
          <p:cNvSpPr/>
          <p:nvPr/>
        </p:nvSpPr>
        <p:spPr>
          <a:xfrm>
            <a:off x="6981749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79" name="Text 72"/>
          <p:cNvSpPr/>
          <p:nvPr/>
        </p:nvSpPr>
        <p:spPr>
          <a:xfrm>
            <a:off x="5923178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80" name="Text 73"/>
          <p:cNvSpPr/>
          <p:nvPr/>
        </p:nvSpPr>
        <p:spPr>
          <a:xfrm>
            <a:off x="5923178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81" name="Shape 74"/>
          <p:cNvSpPr/>
          <p:nvPr/>
        </p:nvSpPr>
        <p:spPr>
          <a:xfrm>
            <a:off x="5923178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82" name="Text 75"/>
          <p:cNvSpPr/>
          <p:nvPr/>
        </p:nvSpPr>
        <p:spPr>
          <a:xfrm>
            <a:off x="6042050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83" name="Text 76"/>
          <p:cNvSpPr/>
          <p:nvPr/>
        </p:nvSpPr>
        <p:spPr>
          <a:xfrm>
            <a:off x="6042050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84" name="Text 77"/>
          <p:cNvSpPr/>
          <p:nvPr/>
        </p:nvSpPr>
        <p:spPr>
          <a:xfrm>
            <a:off x="6042050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85" name="Text 78"/>
          <p:cNvSpPr/>
          <p:nvPr/>
        </p:nvSpPr>
        <p:spPr>
          <a:xfrm>
            <a:off x="6782422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10,04 €/кг</a:t>
            </a:r>
            <a:endParaRPr lang="en-US" sz="950" dirty="0"/>
          </a:p>
        </p:txBody>
      </p:sp>
      <p:sp>
        <p:nvSpPr>
          <p:cNvPr id="86" name="Shape 79"/>
          <p:cNvSpPr/>
          <p:nvPr/>
        </p:nvSpPr>
        <p:spPr>
          <a:xfrm>
            <a:off x="8115605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87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5333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88" name="Text 80"/>
          <p:cNvSpPr/>
          <p:nvPr/>
        </p:nvSpPr>
        <p:spPr>
          <a:xfrm>
            <a:off x="9706661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Курка</a:t>
            </a:r>
            <a:endParaRPr lang="en-US" sz="1500" dirty="0"/>
          </a:p>
        </p:txBody>
      </p:sp>
      <p:sp>
        <p:nvSpPr>
          <p:cNvPr id="89" name="Text 81"/>
          <p:cNvSpPr/>
          <p:nvPr/>
        </p:nvSpPr>
        <p:spPr>
          <a:xfrm>
            <a:off x="9706661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AA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950" dirty="0"/>
          </a:p>
        </p:txBody>
      </p:sp>
      <p:sp>
        <p:nvSpPr>
          <p:cNvPr id="90" name="Text 82"/>
          <p:cNvSpPr/>
          <p:nvPr/>
        </p:nvSpPr>
        <p:spPr>
          <a:xfrm>
            <a:off x="9706661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91" name="Shape 83"/>
          <p:cNvSpPr/>
          <p:nvPr/>
        </p:nvSpPr>
        <p:spPr>
          <a:xfrm>
            <a:off x="10765231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92" name="Text 84"/>
          <p:cNvSpPr/>
          <p:nvPr/>
        </p:nvSpPr>
        <p:spPr>
          <a:xfrm>
            <a:off x="10765231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93" name="Text 85"/>
          <p:cNvSpPr/>
          <p:nvPr/>
        </p:nvSpPr>
        <p:spPr>
          <a:xfrm>
            <a:off x="9706661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94" name="Text 86"/>
          <p:cNvSpPr/>
          <p:nvPr/>
        </p:nvSpPr>
        <p:spPr>
          <a:xfrm>
            <a:off x="9706661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95" name="Shape 87"/>
          <p:cNvSpPr/>
          <p:nvPr/>
        </p:nvSpPr>
        <p:spPr>
          <a:xfrm>
            <a:off x="9706661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96" name="Text 88"/>
          <p:cNvSpPr/>
          <p:nvPr/>
        </p:nvSpPr>
        <p:spPr>
          <a:xfrm>
            <a:off x="9825533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97" name="Text 89"/>
          <p:cNvSpPr/>
          <p:nvPr/>
        </p:nvSpPr>
        <p:spPr>
          <a:xfrm>
            <a:off x="9825533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98" name="Text 90"/>
          <p:cNvSpPr/>
          <p:nvPr/>
        </p:nvSpPr>
        <p:spPr>
          <a:xfrm>
            <a:off x="9825533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99" name="Text 91"/>
          <p:cNvSpPr/>
          <p:nvPr/>
        </p:nvSpPr>
        <p:spPr>
          <a:xfrm>
            <a:off x="10565904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10,04 €/кг</a:t>
            </a:r>
            <a:endParaRPr lang="en-US" sz="950" dirty="0"/>
          </a:p>
        </p:txBody>
      </p:sp>
      <p:sp>
        <p:nvSpPr>
          <p:cNvPr id="100" name="Text 92"/>
          <p:cNvSpPr/>
          <p:nvPr/>
        </p:nvSpPr>
        <p:spPr>
          <a:xfrm>
            <a:off x="548640" y="63276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на 1 пачку: EXW Roye + логістика + брокер + митне оформлення + ПДВ-передфінансування, ставка ввізного мита 0% (EUR.1). Курс: 1 € ≈ 51,2 ₴.</a:t>
            </a:r>
            <a:endParaRPr lang="en-US" sz="820" dirty="0"/>
          </a:p>
        </p:txBody>
      </p:sp>
      <p:sp>
        <p:nvSpPr>
          <p:cNvPr id="101" name="Text 93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102" name="Text 94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 ПОСТАЧАННЯ ·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палет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76072" y="13167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середній обсяг · акцент на вершкових смаках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43039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052767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034479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552383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62111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19 200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43823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10161727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271455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253167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548640" y="1700784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7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2139696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139696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7C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2139696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198266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22" name="Text 19"/>
          <p:cNvSpPr/>
          <p:nvPr/>
        </p:nvSpPr>
        <p:spPr>
          <a:xfrm>
            <a:off x="3198266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палети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2139696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2139696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4 800 пачок у постачанні</a:t>
            </a:r>
            <a:endParaRPr lang="en-US" sz="820" dirty="0"/>
          </a:p>
        </p:txBody>
      </p:sp>
      <p:sp>
        <p:nvSpPr>
          <p:cNvPr id="25" name="Shape 22"/>
          <p:cNvSpPr/>
          <p:nvPr/>
        </p:nvSpPr>
        <p:spPr>
          <a:xfrm>
            <a:off x="2139696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26" name="Text 23"/>
          <p:cNvSpPr/>
          <p:nvPr/>
        </p:nvSpPr>
        <p:spPr>
          <a:xfrm>
            <a:off x="2258568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258568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2258568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2998939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9,03 €/кг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332122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1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41850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32" name="Text 28"/>
          <p:cNvSpPr/>
          <p:nvPr/>
        </p:nvSpPr>
        <p:spPr>
          <a:xfrm>
            <a:off x="5923178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5923178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6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5923178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6981749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36" name="Text 32"/>
          <p:cNvSpPr/>
          <p:nvPr/>
        </p:nvSpPr>
        <p:spPr>
          <a:xfrm>
            <a:off x="6981749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палети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5923178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38" name="Text 34"/>
          <p:cNvSpPr/>
          <p:nvPr/>
        </p:nvSpPr>
        <p:spPr>
          <a:xfrm>
            <a:off x="5923178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4 800 пачок у постачанні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923178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40" name="Text 36"/>
          <p:cNvSpPr/>
          <p:nvPr/>
        </p:nvSpPr>
        <p:spPr>
          <a:xfrm>
            <a:off x="6042050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042050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2200" dirty="0"/>
          </a:p>
        </p:txBody>
      </p:sp>
      <p:sp>
        <p:nvSpPr>
          <p:cNvPr id="42" name="Text 38"/>
          <p:cNvSpPr/>
          <p:nvPr/>
        </p:nvSpPr>
        <p:spPr>
          <a:xfrm>
            <a:off x="6042050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6782422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8,48 €/кг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8115605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45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5333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46" name="Text 41"/>
          <p:cNvSpPr/>
          <p:nvPr/>
        </p:nvSpPr>
        <p:spPr>
          <a:xfrm>
            <a:off x="9706661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</a:t>
            </a:r>
            <a:endParaRPr lang="en-US" sz="1500" dirty="0"/>
          </a:p>
        </p:txBody>
      </p:sp>
      <p:sp>
        <p:nvSpPr>
          <p:cNvPr id="47" name="Text 42"/>
          <p:cNvSpPr/>
          <p:nvPr/>
        </p:nvSpPr>
        <p:spPr>
          <a:xfrm>
            <a:off x="9706661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4E9E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9706661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10765231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50" name="Text 45"/>
          <p:cNvSpPr/>
          <p:nvPr/>
        </p:nvSpPr>
        <p:spPr>
          <a:xfrm>
            <a:off x="10765231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51" name="Text 46"/>
          <p:cNvSpPr/>
          <p:nvPr/>
        </p:nvSpPr>
        <p:spPr>
          <a:xfrm>
            <a:off x="9706661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52" name="Text 47"/>
          <p:cNvSpPr/>
          <p:nvPr/>
        </p:nvSpPr>
        <p:spPr>
          <a:xfrm>
            <a:off x="9706661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53" name="Shape 48"/>
          <p:cNvSpPr/>
          <p:nvPr/>
        </p:nvSpPr>
        <p:spPr>
          <a:xfrm>
            <a:off x="9706661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54" name="Text 49"/>
          <p:cNvSpPr/>
          <p:nvPr/>
        </p:nvSpPr>
        <p:spPr>
          <a:xfrm>
            <a:off x="9825533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55" name="Text 50"/>
          <p:cNvSpPr/>
          <p:nvPr/>
        </p:nvSpPr>
        <p:spPr>
          <a:xfrm>
            <a:off x="9825533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56" name="Text 51"/>
          <p:cNvSpPr/>
          <p:nvPr/>
        </p:nvSpPr>
        <p:spPr>
          <a:xfrm>
            <a:off x="9825533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57" name="Text 52"/>
          <p:cNvSpPr/>
          <p:nvPr/>
        </p:nvSpPr>
        <p:spPr>
          <a:xfrm>
            <a:off x="10565904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8,52 €/кг</a:t>
            </a:r>
            <a:endParaRPr lang="en-US" sz="950" dirty="0"/>
          </a:p>
        </p:txBody>
      </p:sp>
      <p:sp>
        <p:nvSpPr>
          <p:cNvPr id="58" name="Shape 53"/>
          <p:cNvSpPr/>
          <p:nvPr/>
        </p:nvSpPr>
        <p:spPr>
          <a:xfrm>
            <a:off x="548640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59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60" name="Text 54"/>
          <p:cNvSpPr/>
          <p:nvPr/>
        </p:nvSpPr>
        <p:spPr>
          <a:xfrm>
            <a:off x="2139696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Гостра</a:t>
            </a:r>
            <a:endParaRPr lang="en-US" sz="1500" dirty="0"/>
          </a:p>
        </p:txBody>
      </p:sp>
      <p:sp>
        <p:nvSpPr>
          <p:cNvPr id="61" name="Text 55"/>
          <p:cNvSpPr/>
          <p:nvPr/>
        </p:nvSpPr>
        <p:spPr>
          <a:xfrm>
            <a:off x="2139696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C810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950" dirty="0"/>
          </a:p>
        </p:txBody>
      </p:sp>
      <p:sp>
        <p:nvSpPr>
          <p:cNvPr id="62" name="Text 56"/>
          <p:cNvSpPr/>
          <p:nvPr/>
        </p:nvSpPr>
        <p:spPr>
          <a:xfrm>
            <a:off x="2139696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250" dirty="0"/>
          </a:p>
        </p:txBody>
      </p:sp>
      <p:sp>
        <p:nvSpPr>
          <p:cNvPr id="63" name="Shape 57"/>
          <p:cNvSpPr/>
          <p:nvPr/>
        </p:nvSpPr>
        <p:spPr>
          <a:xfrm>
            <a:off x="3198266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64" name="Text 58"/>
          <p:cNvSpPr/>
          <p:nvPr/>
        </p:nvSpPr>
        <p:spPr>
          <a:xfrm>
            <a:off x="3198266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палети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2139696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66" name="Text 60"/>
          <p:cNvSpPr/>
          <p:nvPr/>
        </p:nvSpPr>
        <p:spPr>
          <a:xfrm>
            <a:off x="2139696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3 200 пачок у постачанні</a:t>
            </a:r>
            <a:endParaRPr lang="en-US" sz="820" dirty="0"/>
          </a:p>
        </p:txBody>
      </p:sp>
      <p:sp>
        <p:nvSpPr>
          <p:cNvPr id="67" name="Shape 61"/>
          <p:cNvSpPr/>
          <p:nvPr/>
        </p:nvSpPr>
        <p:spPr>
          <a:xfrm>
            <a:off x="2139696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68" name="Text 62"/>
          <p:cNvSpPr/>
          <p:nvPr/>
        </p:nvSpPr>
        <p:spPr>
          <a:xfrm>
            <a:off x="2258568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69" name="Text 63"/>
          <p:cNvSpPr/>
          <p:nvPr/>
        </p:nvSpPr>
        <p:spPr>
          <a:xfrm>
            <a:off x="2258568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70" name="Text 64"/>
          <p:cNvSpPr/>
          <p:nvPr/>
        </p:nvSpPr>
        <p:spPr>
          <a:xfrm>
            <a:off x="2258568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2998939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8,56 €/кг</a:t>
            </a:r>
            <a:endParaRPr lang="en-US" sz="950" dirty="0"/>
          </a:p>
        </p:txBody>
      </p:sp>
      <p:sp>
        <p:nvSpPr>
          <p:cNvPr id="72" name="Shape 66"/>
          <p:cNvSpPr/>
          <p:nvPr/>
        </p:nvSpPr>
        <p:spPr>
          <a:xfrm>
            <a:off x="4332122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73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41850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74" name="Text 67"/>
          <p:cNvSpPr/>
          <p:nvPr/>
        </p:nvSpPr>
        <p:spPr>
          <a:xfrm>
            <a:off x="5923178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</a:t>
            </a:r>
            <a:endParaRPr lang="en-US" sz="1500" dirty="0"/>
          </a:p>
        </p:txBody>
      </p:sp>
      <p:sp>
        <p:nvSpPr>
          <p:cNvPr id="75" name="Text 68"/>
          <p:cNvSpPr/>
          <p:nvPr/>
        </p:nvSpPr>
        <p:spPr>
          <a:xfrm>
            <a:off x="5923178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A954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950" dirty="0"/>
          </a:p>
        </p:txBody>
      </p:sp>
      <p:sp>
        <p:nvSpPr>
          <p:cNvPr id="76" name="Text 69"/>
          <p:cNvSpPr/>
          <p:nvPr/>
        </p:nvSpPr>
        <p:spPr>
          <a:xfrm>
            <a:off x="5923178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77" name="Shape 70"/>
          <p:cNvSpPr/>
          <p:nvPr/>
        </p:nvSpPr>
        <p:spPr>
          <a:xfrm>
            <a:off x="6981749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78" name="Text 71"/>
          <p:cNvSpPr/>
          <p:nvPr/>
        </p:nvSpPr>
        <p:spPr>
          <a:xfrm>
            <a:off x="6981749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палети</a:t>
            </a:r>
            <a:endParaRPr lang="en-US" sz="750" dirty="0"/>
          </a:p>
        </p:txBody>
      </p:sp>
      <p:sp>
        <p:nvSpPr>
          <p:cNvPr id="79" name="Text 72"/>
          <p:cNvSpPr/>
          <p:nvPr/>
        </p:nvSpPr>
        <p:spPr>
          <a:xfrm>
            <a:off x="5923178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80" name="Text 73"/>
          <p:cNvSpPr/>
          <p:nvPr/>
        </p:nvSpPr>
        <p:spPr>
          <a:xfrm>
            <a:off x="5923178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3 200 пачок у постачанні</a:t>
            </a:r>
            <a:endParaRPr lang="en-US" sz="820" dirty="0"/>
          </a:p>
        </p:txBody>
      </p:sp>
      <p:sp>
        <p:nvSpPr>
          <p:cNvPr id="81" name="Shape 74"/>
          <p:cNvSpPr/>
          <p:nvPr/>
        </p:nvSpPr>
        <p:spPr>
          <a:xfrm>
            <a:off x="5923178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82" name="Text 75"/>
          <p:cNvSpPr/>
          <p:nvPr/>
        </p:nvSpPr>
        <p:spPr>
          <a:xfrm>
            <a:off x="6042050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83" name="Text 76"/>
          <p:cNvSpPr/>
          <p:nvPr/>
        </p:nvSpPr>
        <p:spPr>
          <a:xfrm>
            <a:off x="6042050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84" name="Text 77"/>
          <p:cNvSpPr/>
          <p:nvPr/>
        </p:nvSpPr>
        <p:spPr>
          <a:xfrm>
            <a:off x="6042050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85" name="Text 78"/>
          <p:cNvSpPr/>
          <p:nvPr/>
        </p:nvSpPr>
        <p:spPr>
          <a:xfrm>
            <a:off x="6782422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8,52 €/кг</a:t>
            </a:r>
            <a:endParaRPr lang="en-US" sz="950" dirty="0"/>
          </a:p>
        </p:txBody>
      </p:sp>
      <p:sp>
        <p:nvSpPr>
          <p:cNvPr id="86" name="Shape 79"/>
          <p:cNvSpPr/>
          <p:nvPr/>
        </p:nvSpPr>
        <p:spPr>
          <a:xfrm>
            <a:off x="8115605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87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5333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88" name="Text 80"/>
          <p:cNvSpPr/>
          <p:nvPr/>
        </p:nvSpPr>
        <p:spPr>
          <a:xfrm>
            <a:off x="9706661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Курка</a:t>
            </a:r>
            <a:endParaRPr lang="en-US" sz="1500" dirty="0"/>
          </a:p>
        </p:txBody>
      </p:sp>
      <p:sp>
        <p:nvSpPr>
          <p:cNvPr id="89" name="Text 81"/>
          <p:cNvSpPr/>
          <p:nvPr/>
        </p:nvSpPr>
        <p:spPr>
          <a:xfrm>
            <a:off x="9706661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AA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950" dirty="0"/>
          </a:p>
        </p:txBody>
      </p:sp>
      <p:sp>
        <p:nvSpPr>
          <p:cNvPr id="90" name="Text 82"/>
          <p:cNvSpPr/>
          <p:nvPr/>
        </p:nvSpPr>
        <p:spPr>
          <a:xfrm>
            <a:off x="9706661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91" name="Shape 83"/>
          <p:cNvSpPr/>
          <p:nvPr/>
        </p:nvSpPr>
        <p:spPr>
          <a:xfrm>
            <a:off x="10765231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92" name="Text 84"/>
          <p:cNvSpPr/>
          <p:nvPr/>
        </p:nvSpPr>
        <p:spPr>
          <a:xfrm>
            <a:off x="10765231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93" name="Text 85"/>
          <p:cNvSpPr/>
          <p:nvPr/>
        </p:nvSpPr>
        <p:spPr>
          <a:xfrm>
            <a:off x="9706661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94" name="Text 86"/>
          <p:cNvSpPr/>
          <p:nvPr/>
        </p:nvSpPr>
        <p:spPr>
          <a:xfrm>
            <a:off x="9706661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95" name="Shape 87"/>
          <p:cNvSpPr/>
          <p:nvPr/>
        </p:nvSpPr>
        <p:spPr>
          <a:xfrm>
            <a:off x="9706661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96" name="Text 88"/>
          <p:cNvSpPr/>
          <p:nvPr/>
        </p:nvSpPr>
        <p:spPr>
          <a:xfrm>
            <a:off x="9825533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97" name="Text 89"/>
          <p:cNvSpPr/>
          <p:nvPr/>
        </p:nvSpPr>
        <p:spPr>
          <a:xfrm>
            <a:off x="9825533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98" name="Text 90"/>
          <p:cNvSpPr/>
          <p:nvPr/>
        </p:nvSpPr>
        <p:spPr>
          <a:xfrm>
            <a:off x="9825533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99" name="Text 91"/>
          <p:cNvSpPr/>
          <p:nvPr/>
        </p:nvSpPr>
        <p:spPr>
          <a:xfrm>
            <a:off x="10565904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8,52 €/кг</a:t>
            </a:r>
            <a:endParaRPr lang="en-US" sz="950" dirty="0"/>
          </a:p>
        </p:txBody>
      </p:sp>
      <p:sp>
        <p:nvSpPr>
          <p:cNvPr id="100" name="Text 92"/>
          <p:cNvSpPr/>
          <p:nvPr/>
        </p:nvSpPr>
        <p:spPr>
          <a:xfrm>
            <a:off x="548640" y="63276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на 1 пачку: EXW Roye + логістика + брокер + митне оформлення + ПДВ-передфінансування, ставка ввізного мита 0% (EUR.1). Курс: 1 € ≈ 51,2 ₴.</a:t>
            </a:r>
            <a:endParaRPr lang="en-US" sz="820" dirty="0"/>
          </a:p>
        </p:txBody>
      </p:sp>
      <p:sp>
        <p:nvSpPr>
          <p:cNvPr id="101" name="Text 93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102" name="Text 94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 ПОСТАЧАННЯ ·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палети · Full Truck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76072" y="13167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повне авто · найнижча собівартість пачки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43039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052767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034479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552383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62111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52 800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43823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10161727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271455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253167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548640" y="1700784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7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2139696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139696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7C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2139696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198266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22" name="Text 19"/>
          <p:cNvSpPr/>
          <p:nvPr/>
        </p:nvSpPr>
        <p:spPr>
          <a:xfrm>
            <a:off x="3198266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палет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2139696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2139696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11 200 пачок у постачанні</a:t>
            </a:r>
            <a:endParaRPr lang="en-US" sz="820" dirty="0"/>
          </a:p>
        </p:txBody>
      </p:sp>
      <p:sp>
        <p:nvSpPr>
          <p:cNvPr id="25" name="Shape 22"/>
          <p:cNvSpPr/>
          <p:nvPr/>
        </p:nvSpPr>
        <p:spPr>
          <a:xfrm>
            <a:off x="2139696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26" name="Text 23"/>
          <p:cNvSpPr/>
          <p:nvPr/>
        </p:nvSpPr>
        <p:spPr>
          <a:xfrm>
            <a:off x="2258568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258568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2258568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2998939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8,28 €/кг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332122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1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41850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32" name="Text 28"/>
          <p:cNvSpPr/>
          <p:nvPr/>
        </p:nvSpPr>
        <p:spPr>
          <a:xfrm>
            <a:off x="5923178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5923178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6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5923178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6981749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36" name="Text 32"/>
          <p:cNvSpPr/>
          <p:nvPr/>
        </p:nvSpPr>
        <p:spPr>
          <a:xfrm>
            <a:off x="6981749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палет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5923178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38" name="Text 34"/>
          <p:cNvSpPr/>
          <p:nvPr/>
        </p:nvSpPr>
        <p:spPr>
          <a:xfrm>
            <a:off x="5923178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11 200 пачок у постачанні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923178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40" name="Text 36"/>
          <p:cNvSpPr/>
          <p:nvPr/>
        </p:nvSpPr>
        <p:spPr>
          <a:xfrm>
            <a:off x="6042050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042050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2200" dirty="0"/>
          </a:p>
        </p:txBody>
      </p:sp>
      <p:sp>
        <p:nvSpPr>
          <p:cNvPr id="42" name="Text 38"/>
          <p:cNvSpPr/>
          <p:nvPr/>
        </p:nvSpPr>
        <p:spPr>
          <a:xfrm>
            <a:off x="6042050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6782422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7,77 €/кг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8115605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45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5333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46" name="Text 41"/>
          <p:cNvSpPr/>
          <p:nvPr/>
        </p:nvSpPr>
        <p:spPr>
          <a:xfrm>
            <a:off x="9706661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</a:t>
            </a:r>
            <a:endParaRPr lang="en-US" sz="1500" dirty="0"/>
          </a:p>
        </p:txBody>
      </p:sp>
      <p:sp>
        <p:nvSpPr>
          <p:cNvPr id="47" name="Text 42"/>
          <p:cNvSpPr/>
          <p:nvPr/>
        </p:nvSpPr>
        <p:spPr>
          <a:xfrm>
            <a:off x="9706661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4E9E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9706661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10765231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50" name="Text 45"/>
          <p:cNvSpPr/>
          <p:nvPr/>
        </p:nvSpPr>
        <p:spPr>
          <a:xfrm>
            <a:off x="10765231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палети</a:t>
            </a:r>
            <a:endParaRPr lang="en-US" sz="750" dirty="0"/>
          </a:p>
        </p:txBody>
      </p:sp>
      <p:sp>
        <p:nvSpPr>
          <p:cNvPr id="51" name="Text 46"/>
          <p:cNvSpPr/>
          <p:nvPr/>
        </p:nvSpPr>
        <p:spPr>
          <a:xfrm>
            <a:off x="9706661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52" name="Text 47"/>
          <p:cNvSpPr/>
          <p:nvPr/>
        </p:nvSpPr>
        <p:spPr>
          <a:xfrm>
            <a:off x="9706661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6 400 пачок у постачанні</a:t>
            </a:r>
            <a:endParaRPr lang="en-US" sz="820" dirty="0"/>
          </a:p>
        </p:txBody>
      </p:sp>
      <p:sp>
        <p:nvSpPr>
          <p:cNvPr id="53" name="Shape 48"/>
          <p:cNvSpPr/>
          <p:nvPr/>
        </p:nvSpPr>
        <p:spPr>
          <a:xfrm>
            <a:off x="9706661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54" name="Text 49"/>
          <p:cNvSpPr/>
          <p:nvPr/>
        </p:nvSpPr>
        <p:spPr>
          <a:xfrm>
            <a:off x="9825533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55" name="Text 50"/>
          <p:cNvSpPr/>
          <p:nvPr/>
        </p:nvSpPr>
        <p:spPr>
          <a:xfrm>
            <a:off x="9825533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56" name="Text 51"/>
          <p:cNvSpPr/>
          <p:nvPr/>
        </p:nvSpPr>
        <p:spPr>
          <a:xfrm>
            <a:off x="9825533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57" name="Text 52"/>
          <p:cNvSpPr/>
          <p:nvPr/>
        </p:nvSpPr>
        <p:spPr>
          <a:xfrm>
            <a:off x="10565904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7,81 €/кг</a:t>
            </a:r>
            <a:endParaRPr lang="en-US" sz="950" dirty="0"/>
          </a:p>
        </p:txBody>
      </p:sp>
      <p:sp>
        <p:nvSpPr>
          <p:cNvPr id="58" name="Shape 53"/>
          <p:cNvSpPr/>
          <p:nvPr/>
        </p:nvSpPr>
        <p:spPr>
          <a:xfrm>
            <a:off x="548640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59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60" name="Text 54"/>
          <p:cNvSpPr/>
          <p:nvPr/>
        </p:nvSpPr>
        <p:spPr>
          <a:xfrm>
            <a:off x="2139696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Гостра</a:t>
            </a:r>
            <a:endParaRPr lang="en-US" sz="1500" dirty="0"/>
          </a:p>
        </p:txBody>
      </p:sp>
      <p:sp>
        <p:nvSpPr>
          <p:cNvPr id="61" name="Text 55"/>
          <p:cNvSpPr/>
          <p:nvPr/>
        </p:nvSpPr>
        <p:spPr>
          <a:xfrm>
            <a:off x="2139696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C810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950" dirty="0"/>
          </a:p>
        </p:txBody>
      </p:sp>
      <p:sp>
        <p:nvSpPr>
          <p:cNvPr id="62" name="Text 56"/>
          <p:cNvSpPr/>
          <p:nvPr/>
        </p:nvSpPr>
        <p:spPr>
          <a:xfrm>
            <a:off x="2139696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250" dirty="0"/>
          </a:p>
        </p:txBody>
      </p:sp>
      <p:sp>
        <p:nvSpPr>
          <p:cNvPr id="63" name="Shape 57"/>
          <p:cNvSpPr/>
          <p:nvPr/>
        </p:nvSpPr>
        <p:spPr>
          <a:xfrm>
            <a:off x="3198266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64" name="Text 58"/>
          <p:cNvSpPr/>
          <p:nvPr/>
        </p:nvSpPr>
        <p:spPr>
          <a:xfrm>
            <a:off x="3198266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2139696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66" name="Text 60"/>
          <p:cNvSpPr/>
          <p:nvPr/>
        </p:nvSpPr>
        <p:spPr>
          <a:xfrm>
            <a:off x="2139696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пачок у постачанні</a:t>
            </a:r>
            <a:endParaRPr lang="en-US" sz="820" dirty="0"/>
          </a:p>
        </p:txBody>
      </p:sp>
      <p:sp>
        <p:nvSpPr>
          <p:cNvPr id="67" name="Shape 61"/>
          <p:cNvSpPr/>
          <p:nvPr/>
        </p:nvSpPr>
        <p:spPr>
          <a:xfrm>
            <a:off x="2139696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68" name="Text 62"/>
          <p:cNvSpPr/>
          <p:nvPr/>
        </p:nvSpPr>
        <p:spPr>
          <a:xfrm>
            <a:off x="2258568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69" name="Text 63"/>
          <p:cNvSpPr/>
          <p:nvPr/>
        </p:nvSpPr>
        <p:spPr>
          <a:xfrm>
            <a:off x="2258568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70" name="Text 64"/>
          <p:cNvSpPr/>
          <p:nvPr/>
        </p:nvSpPr>
        <p:spPr>
          <a:xfrm>
            <a:off x="2258568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2998939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7,84 €/кг</a:t>
            </a:r>
            <a:endParaRPr lang="en-US" sz="950" dirty="0"/>
          </a:p>
        </p:txBody>
      </p:sp>
      <p:sp>
        <p:nvSpPr>
          <p:cNvPr id="72" name="Shape 66"/>
          <p:cNvSpPr/>
          <p:nvPr/>
        </p:nvSpPr>
        <p:spPr>
          <a:xfrm>
            <a:off x="4332122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73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41850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74" name="Text 67"/>
          <p:cNvSpPr/>
          <p:nvPr/>
        </p:nvSpPr>
        <p:spPr>
          <a:xfrm>
            <a:off x="5923178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</a:t>
            </a:r>
            <a:endParaRPr lang="en-US" sz="1500" dirty="0"/>
          </a:p>
        </p:txBody>
      </p:sp>
      <p:sp>
        <p:nvSpPr>
          <p:cNvPr id="75" name="Text 68"/>
          <p:cNvSpPr/>
          <p:nvPr/>
        </p:nvSpPr>
        <p:spPr>
          <a:xfrm>
            <a:off x="5923178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A954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950" dirty="0"/>
          </a:p>
        </p:txBody>
      </p:sp>
      <p:sp>
        <p:nvSpPr>
          <p:cNvPr id="76" name="Text 69"/>
          <p:cNvSpPr/>
          <p:nvPr/>
        </p:nvSpPr>
        <p:spPr>
          <a:xfrm>
            <a:off x="5923178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77" name="Shape 70"/>
          <p:cNvSpPr/>
          <p:nvPr/>
        </p:nvSpPr>
        <p:spPr>
          <a:xfrm>
            <a:off x="6981749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78" name="Text 71"/>
          <p:cNvSpPr/>
          <p:nvPr/>
        </p:nvSpPr>
        <p:spPr>
          <a:xfrm>
            <a:off x="6981749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750" dirty="0"/>
          </a:p>
        </p:txBody>
      </p:sp>
      <p:sp>
        <p:nvSpPr>
          <p:cNvPr id="79" name="Text 72"/>
          <p:cNvSpPr/>
          <p:nvPr/>
        </p:nvSpPr>
        <p:spPr>
          <a:xfrm>
            <a:off x="5923178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80" name="Text 73"/>
          <p:cNvSpPr/>
          <p:nvPr/>
        </p:nvSpPr>
        <p:spPr>
          <a:xfrm>
            <a:off x="5923178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пачок у постачанні</a:t>
            </a:r>
            <a:endParaRPr lang="en-US" sz="820" dirty="0"/>
          </a:p>
        </p:txBody>
      </p:sp>
      <p:sp>
        <p:nvSpPr>
          <p:cNvPr id="81" name="Shape 74"/>
          <p:cNvSpPr/>
          <p:nvPr/>
        </p:nvSpPr>
        <p:spPr>
          <a:xfrm>
            <a:off x="5923178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82" name="Text 75"/>
          <p:cNvSpPr/>
          <p:nvPr/>
        </p:nvSpPr>
        <p:spPr>
          <a:xfrm>
            <a:off x="6042050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83" name="Text 76"/>
          <p:cNvSpPr/>
          <p:nvPr/>
        </p:nvSpPr>
        <p:spPr>
          <a:xfrm>
            <a:off x="6042050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84" name="Text 77"/>
          <p:cNvSpPr/>
          <p:nvPr/>
        </p:nvSpPr>
        <p:spPr>
          <a:xfrm>
            <a:off x="6042050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85" name="Text 78"/>
          <p:cNvSpPr/>
          <p:nvPr/>
        </p:nvSpPr>
        <p:spPr>
          <a:xfrm>
            <a:off x="6782422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7,81 €/кг</a:t>
            </a:r>
            <a:endParaRPr lang="en-US" sz="950" dirty="0"/>
          </a:p>
        </p:txBody>
      </p:sp>
      <p:sp>
        <p:nvSpPr>
          <p:cNvPr id="86" name="Shape 79"/>
          <p:cNvSpPr/>
          <p:nvPr/>
        </p:nvSpPr>
        <p:spPr>
          <a:xfrm>
            <a:off x="8115605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87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5333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88" name="Text 80"/>
          <p:cNvSpPr/>
          <p:nvPr/>
        </p:nvSpPr>
        <p:spPr>
          <a:xfrm>
            <a:off x="9706661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Курка</a:t>
            </a:r>
            <a:endParaRPr lang="en-US" sz="1500" dirty="0"/>
          </a:p>
        </p:txBody>
      </p:sp>
      <p:sp>
        <p:nvSpPr>
          <p:cNvPr id="89" name="Text 81"/>
          <p:cNvSpPr/>
          <p:nvPr/>
        </p:nvSpPr>
        <p:spPr>
          <a:xfrm>
            <a:off x="9706661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AA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950" dirty="0"/>
          </a:p>
        </p:txBody>
      </p:sp>
      <p:sp>
        <p:nvSpPr>
          <p:cNvPr id="90" name="Text 82"/>
          <p:cNvSpPr/>
          <p:nvPr/>
        </p:nvSpPr>
        <p:spPr>
          <a:xfrm>
            <a:off x="9706661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91" name="Shape 83"/>
          <p:cNvSpPr/>
          <p:nvPr/>
        </p:nvSpPr>
        <p:spPr>
          <a:xfrm>
            <a:off x="10765231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92" name="Text 84"/>
          <p:cNvSpPr/>
          <p:nvPr/>
        </p:nvSpPr>
        <p:spPr>
          <a:xfrm>
            <a:off x="10765231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750" dirty="0"/>
          </a:p>
        </p:txBody>
      </p:sp>
      <p:sp>
        <p:nvSpPr>
          <p:cNvPr id="93" name="Text 85"/>
          <p:cNvSpPr/>
          <p:nvPr/>
        </p:nvSpPr>
        <p:spPr>
          <a:xfrm>
            <a:off x="9706661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94" name="Text 86"/>
          <p:cNvSpPr/>
          <p:nvPr/>
        </p:nvSpPr>
        <p:spPr>
          <a:xfrm>
            <a:off x="9706661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пачок у постачанні</a:t>
            </a:r>
            <a:endParaRPr lang="en-US" sz="820" dirty="0"/>
          </a:p>
        </p:txBody>
      </p:sp>
      <p:sp>
        <p:nvSpPr>
          <p:cNvPr id="95" name="Shape 87"/>
          <p:cNvSpPr/>
          <p:nvPr/>
        </p:nvSpPr>
        <p:spPr>
          <a:xfrm>
            <a:off x="9706661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96" name="Text 88"/>
          <p:cNvSpPr/>
          <p:nvPr/>
        </p:nvSpPr>
        <p:spPr>
          <a:xfrm>
            <a:off x="9825533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97" name="Text 89"/>
          <p:cNvSpPr/>
          <p:nvPr/>
        </p:nvSpPr>
        <p:spPr>
          <a:xfrm>
            <a:off x="9825533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98" name="Text 90"/>
          <p:cNvSpPr/>
          <p:nvPr/>
        </p:nvSpPr>
        <p:spPr>
          <a:xfrm>
            <a:off x="9825533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99" name="Text 91"/>
          <p:cNvSpPr/>
          <p:nvPr/>
        </p:nvSpPr>
        <p:spPr>
          <a:xfrm>
            <a:off x="10565904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7,81 €/кг</a:t>
            </a:r>
            <a:endParaRPr lang="en-US" sz="950" dirty="0"/>
          </a:p>
        </p:txBody>
      </p:sp>
      <p:sp>
        <p:nvSpPr>
          <p:cNvPr id="100" name="Text 92"/>
          <p:cNvSpPr/>
          <p:nvPr/>
        </p:nvSpPr>
        <p:spPr>
          <a:xfrm>
            <a:off x="548640" y="63276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на 1 пачку: EXW Roye + логістика + брокер + митне оформлення + ПДВ-передфінансування, ставка ввізного мита 0% (EUR.1). Курс: 1 € ≈ 51,2 ₴.</a:t>
            </a:r>
            <a:endParaRPr lang="en-US" sz="820" dirty="0"/>
          </a:p>
        </p:txBody>
      </p:sp>
      <p:sp>
        <p:nvSpPr>
          <p:cNvPr id="101" name="Text 93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102" name="Text 94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ПАРТНЕРИ ·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Нам довіряють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76072" y="12984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рітейл, дистрибуція, HoReCa та meal-kit по всій Європі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55648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975104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8" name="Image 0" descr="/home/user/Chaplygin-Illya/sias_deck/logos/carrefo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148840"/>
            <a:ext cx="1361389" cy="7132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422093" y="1975104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0" name="Image 1" descr="/home/user/Chaplygin-Illya/sias_deck/logos/lecler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04973" y="2148840"/>
            <a:ext cx="1361389" cy="7132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295546" y="1975104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2" name="Image 2" descr="/home/user/Chaplygin-Illya/sias_deck/logos/systemeu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78426" y="2148840"/>
            <a:ext cx="1361389" cy="71323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169000" y="1975104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4" name="Image 3" descr="/home/user/Chaplygin-Illya/sias_deck/logos/ald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51880" y="2148840"/>
            <a:ext cx="1361389" cy="71323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042453" y="1975104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6" name="Image 4" descr="/home/user/Chaplygin-Illya/sias_deck/logos/eurospin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225333" y="2148840"/>
            <a:ext cx="1361389" cy="713232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9915906" y="1975104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8" name="Image 5" descr="/home/user/Chaplygin-Illya/sias_deck/logos/bofrost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098786" y="2148840"/>
            <a:ext cx="1361389" cy="713232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548640" y="3182112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20" name="Image 6" descr="/home/user/Chaplygin-Illya/sias_deck/logos/sysco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31520" y="3355848"/>
            <a:ext cx="1361389" cy="713232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2422093" y="3182112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22" name="Image 7" descr="/home/user/Chaplygin-Illya/sias_deck/logos/hellofresh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2604973" y="3355848"/>
            <a:ext cx="1361389" cy="713232"/>
          </a:xfrm>
          <a:prstGeom prst="rect">
            <a:avLst/>
          </a:prstGeom>
        </p:spPr>
      </p:pic>
      <p:sp>
        <p:nvSpPr>
          <p:cNvPr id="23" name="Shape 13"/>
          <p:cNvSpPr/>
          <p:nvPr/>
        </p:nvSpPr>
        <p:spPr>
          <a:xfrm>
            <a:off x="4295546" y="3182112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24" name="Image 8" descr="/home/user/Chaplygin-Illya/sias_deck/logos/wismettac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4478426" y="3355848"/>
            <a:ext cx="1361389" cy="713232"/>
          </a:xfrm>
          <a:prstGeom prst="rect">
            <a:avLst/>
          </a:prstGeom>
        </p:spPr>
      </p:pic>
      <p:sp>
        <p:nvSpPr>
          <p:cNvPr id="25" name="Shape 14"/>
          <p:cNvSpPr/>
          <p:nvPr/>
        </p:nvSpPr>
        <p:spPr>
          <a:xfrm>
            <a:off x="6169000" y="3182112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26" name="Image 9" descr="/home/user/Chaplygin-Illya/sias_deck/logos/geia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351880" y="3355848"/>
            <a:ext cx="1361389" cy="713232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8042453" y="3182112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28" name="Image 10" descr="/home/user/Chaplygin-Illya/sias_deck/logos/bibars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8225333" y="3355848"/>
            <a:ext cx="1361389" cy="713232"/>
          </a:xfrm>
          <a:prstGeom prst="rect">
            <a:avLst/>
          </a:prstGeom>
        </p:spPr>
      </p:pic>
      <p:sp>
        <p:nvSpPr>
          <p:cNvPr id="29" name="Shape 16"/>
          <p:cNvSpPr/>
          <p:nvPr/>
        </p:nvSpPr>
        <p:spPr>
          <a:xfrm>
            <a:off x="9915906" y="3182112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0" name="Image 11" descr="/home/user/Chaplygin-Illya/sias_deck/logos/dipsa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0098786" y="3355848"/>
            <a:ext cx="1361389" cy="713232"/>
          </a:xfrm>
          <a:prstGeom prst="rect">
            <a:avLst/>
          </a:prstGeom>
        </p:spPr>
      </p:pic>
      <p:sp>
        <p:nvSpPr>
          <p:cNvPr id="31" name="Shape 17"/>
          <p:cNvSpPr/>
          <p:nvPr/>
        </p:nvSpPr>
        <p:spPr>
          <a:xfrm>
            <a:off x="548640" y="4389120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2" name="Image 12" descr="/home/user/Chaplygin-Illya/sias_deck/logos/forezia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731520" y="4562856"/>
            <a:ext cx="1361389" cy="713232"/>
          </a:xfrm>
          <a:prstGeom prst="rect">
            <a:avLst/>
          </a:prstGeom>
        </p:spPr>
      </p:pic>
      <p:sp>
        <p:nvSpPr>
          <p:cNvPr id="33" name="Shape 18"/>
          <p:cNvSpPr/>
          <p:nvPr/>
        </p:nvSpPr>
        <p:spPr>
          <a:xfrm>
            <a:off x="2422093" y="4389120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4" name="Image 13" descr="/home/user/Chaplygin-Illya/sias_deck/logos/ttfoods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2604973" y="4562856"/>
            <a:ext cx="1361389" cy="713232"/>
          </a:xfrm>
          <a:prstGeom prst="rect">
            <a:avLst/>
          </a:prstGeom>
        </p:spPr>
      </p:pic>
      <p:sp>
        <p:nvSpPr>
          <p:cNvPr id="35" name="Shape 19"/>
          <p:cNvSpPr/>
          <p:nvPr/>
        </p:nvSpPr>
        <p:spPr>
          <a:xfrm>
            <a:off x="4295546" y="4389120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6" name="Image 14" descr="/home/user/Chaplygin-Illya/sias_deck/logos/gotiger.pn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478426" y="4562856"/>
            <a:ext cx="1361389" cy="713232"/>
          </a:xfrm>
          <a:prstGeom prst="rect">
            <a:avLst/>
          </a:prstGeom>
        </p:spPr>
      </p:pic>
      <p:sp>
        <p:nvSpPr>
          <p:cNvPr id="37" name="Shape 20"/>
          <p:cNvSpPr/>
          <p:nvPr/>
        </p:nvSpPr>
        <p:spPr>
          <a:xfrm>
            <a:off x="6169000" y="4389120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8" name="Image 15" descr="/home/user/Chaplygin-Illya/sias_deck/logos/foodex.pn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6351880" y="4562856"/>
            <a:ext cx="1361389" cy="713232"/>
          </a:xfrm>
          <a:prstGeom prst="rect">
            <a:avLst/>
          </a:prstGeom>
        </p:spPr>
      </p:pic>
      <p:sp>
        <p:nvSpPr>
          <p:cNvPr id="39" name="Shape 21"/>
          <p:cNvSpPr/>
          <p:nvPr/>
        </p:nvSpPr>
        <p:spPr>
          <a:xfrm>
            <a:off x="8042453" y="4389120"/>
            <a:ext cx="1727149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40" name="Image 16" descr="/home/user/Chaplygin-Illya/sias_deck/logos/senko.pn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8225333" y="4562856"/>
            <a:ext cx="1361389" cy="713232"/>
          </a:xfrm>
          <a:prstGeom prst="rect">
            <a:avLst/>
          </a:prstGeom>
        </p:spPr>
      </p:pic>
      <p:sp>
        <p:nvSpPr>
          <p:cNvPr id="41" name="Shape 22"/>
          <p:cNvSpPr/>
          <p:nvPr/>
        </p:nvSpPr>
        <p:spPr>
          <a:xfrm>
            <a:off x="548640" y="5742432"/>
            <a:ext cx="109728" cy="109728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42" name="Text 23"/>
          <p:cNvSpPr/>
          <p:nvPr/>
        </p:nvSpPr>
        <p:spPr>
          <a:xfrm>
            <a:off x="768096" y="5687568"/>
            <a:ext cx="32958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41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Рітейл-мережі</a:t>
            </a:r>
            <a:endParaRPr lang="en-US" sz="1100" dirty="0"/>
          </a:p>
        </p:txBody>
      </p:sp>
      <p:sp>
        <p:nvSpPr>
          <p:cNvPr id="43" name="Text 24"/>
          <p:cNvSpPr/>
          <p:nvPr/>
        </p:nvSpPr>
        <p:spPr>
          <a:xfrm>
            <a:off x="768096" y="5925312"/>
            <a:ext cx="3295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Carrefour · E.Leclerc · Système U · ALDI · EuroSpin</a:t>
            </a:r>
            <a:endParaRPr lang="en-US" sz="920" dirty="0"/>
          </a:p>
        </p:txBody>
      </p:sp>
      <p:sp>
        <p:nvSpPr>
          <p:cNvPr id="44" name="Shape 25"/>
          <p:cNvSpPr/>
          <p:nvPr/>
        </p:nvSpPr>
        <p:spPr>
          <a:xfrm>
            <a:off x="4338218" y="5742432"/>
            <a:ext cx="109728" cy="109728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45" name="Text 26"/>
          <p:cNvSpPr/>
          <p:nvPr/>
        </p:nvSpPr>
        <p:spPr>
          <a:xfrm>
            <a:off x="4557674" y="5687568"/>
            <a:ext cx="32958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41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Дистрибуція та HoReCa</a:t>
            </a:r>
            <a:endParaRPr lang="en-US" sz="1100" dirty="0"/>
          </a:p>
        </p:txBody>
      </p:sp>
      <p:sp>
        <p:nvSpPr>
          <p:cNvPr id="46" name="Text 27"/>
          <p:cNvSpPr/>
          <p:nvPr/>
        </p:nvSpPr>
        <p:spPr>
          <a:xfrm>
            <a:off x="4557674" y="5925312"/>
            <a:ext cx="3295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Sysco · Wismettac · Dipsa · Geia · Bofrost</a:t>
            </a:r>
            <a:endParaRPr lang="en-US" sz="920" dirty="0"/>
          </a:p>
        </p:txBody>
      </p:sp>
      <p:sp>
        <p:nvSpPr>
          <p:cNvPr id="47" name="Shape 28"/>
          <p:cNvSpPr/>
          <p:nvPr/>
        </p:nvSpPr>
        <p:spPr>
          <a:xfrm>
            <a:off x="8127797" y="5742432"/>
            <a:ext cx="109728" cy="109728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48" name="Text 29"/>
          <p:cNvSpPr/>
          <p:nvPr/>
        </p:nvSpPr>
        <p:spPr>
          <a:xfrm>
            <a:off x="8347253" y="5687568"/>
            <a:ext cx="32958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41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Meal-kit та спеціалізовані</a:t>
            </a:r>
            <a:endParaRPr lang="en-US" sz="1100" dirty="0"/>
          </a:p>
        </p:txBody>
      </p:sp>
      <p:sp>
        <p:nvSpPr>
          <p:cNvPr id="49" name="Text 30"/>
          <p:cNvSpPr/>
          <p:nvPr/>
        </p:nvSpPr>
        <p:spPr>
          <a:xfrm>
            <a:off x="8347253" y="5925312"/>
            <a:ext cx="3295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HelloFresh · Forezia · T&amp;T Foods · BiBars</a:t>
            </a:r>
            <a:endParaRPr lang="en-US" sz="920" dirty="0"/>
          </a:p>
        </p:txBody>
      </p:sp>
      <p:sp>
        <p:nvSpPr>
          <p:cNvPr id="50" name="Text 31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51" name="Text 32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 ВИРОБНИКА ·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Компанія та виробництво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76072" y="12984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 про групу SIAS і завод у Франції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55648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011680"/>
            <a:ext cx="2798064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15798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1997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3232" y="261518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рік заснування</a:t>
            </a:r>
            <a:endParaRPr lang="en-US" sz="95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групи SIAS (Корея)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511296" y="2011680"/>
            <a:ext cx="2798064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75888" y="215798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75888" y="261518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заводів: 7 у Кореї</a:t>
            </a:r>
            <a:endParaRPr lang="en-US" sz="95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2 у Франції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2798064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13232" y="352958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$180 млн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13232" y="398678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річний оборот</a:t>
            </a:r>
            <a:endParaRPr lang="en-US" sz="95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511296" y="3383280"/>
            <a:ext cx="2798064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75888" y="352958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2 100+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75888" y="398678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рецептур і понад</a:t>
            </a:r>
            <a:endParaRPr lang="en-US" sz="95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1 000 клієнтів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48640" y="475488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виробляють на власному заводі SIAS у Roye (Франція) — 16 000 м² площадки, лінія сушеної локшини завдовжки 150 метрів, від замісу тіста до пакування. Сертифікати IFS Food і BRC Food; походження ЄС дає сертифікат EUR.1 — 0% ввізного мита в Україну.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0" y="2011680"/>
            <a:ext cx="5059375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21" name="Image 0" descr="/home/user/Chaplygin-Illya/sias_deck/assets/production_li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29984" y="2157984"/>
            <a:ext cx="4766767" cy="169164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729984" y="3931920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5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Виробнича лінія сушеної локшини · 150 метрів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583680" y="4462272"/>
            <a:ext cx="5059375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784848" y="4590288"/>
            <a:ext cx="46570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spc="140" kern="0" dirty="0">
                <a:solidFill>
                  <a:srgbClr val="A88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СЕРТИФІКАТИ ТА ПОХОДЖЕННЯ</a:t>
            </a:r>
            <a:endParaRPr lang="en-US" sz="950" dirty="0"/>
          </a:p>
        </p:txBody>
      </p:sp>
      <p:pic>
        <p:nvPicPr>
          <p:cNvPr id="25" name="Image 1" descr="/home/user/Chaplygin-Illya/sias_deck/assets/cert_ifs_br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84848" y="4882896"/>
            <a:ext cx="1463040" cy="420624"/>
          </a:xfrm>
          <a:prstGeom prst="rect">
            <a:avLst/>
          </a:prstGeom>
        </p:spPr>
      </p:pic>
      <p:pic>
        <p:nvPicPr>
          <p:cNvPr id="26" name="Image 2" descr="/home/user/Chaplygin-Illya/sias_deck/assets/cert_france_relanc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12480" y="4828032"/>
            <a:ext cx="530352" cy="530352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9189720" y="4974336"/>
            <a:ext cx="140208" cy="274320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28" name="Shape 23"/>
          <p:cNvSpPr/>
          <p:nvPr/>
        </p:nvSpPr>
        <p:spPr>
          <a:xfrm>
            <a:off x="9329928" y="4974336"/>
            <a:ext cx="140208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4"/>
          <p:cNvSpPr/>
          <p:nvPr/>
        </p:nvSpPr>
        <p:spPr>
          <a:xfrm>
            <a:off x="9470136" y="4974336"/>
            <a:ext cx="140208" cy="274320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30" name="Text 25"/>
          <p:cNvSpPr/>
          <p:nvPr/>
        </p:nvSpPr>
        <p:spPr>
          <a:xfrm>
            <a:off x="969264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10012680" y="4974336"/>
            <a:ext cx="420624" cy="137160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32" name="Shape 27"/>
          <p:cNvSpPr/>
          <p:nvPr/>
        </p:nvSpPr>
        <p:spPr>
          <a:xfrm>
            <a:off x="10012680" y="5111496"/>
            <a:ext cx="420624" cy="137160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3" name="Text 28"/>
          <p:cNvSpPr/>
          <p:nvPr/>
        </p:nvSpPr>
        <p:spPr>
          <a:xfrm>
            <a:off x="10561320" y="49560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EUR.1 · 0%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6583680" y="5815584"/>
            <a:ext cx="5059375" cy="566928"/>
          </a:xfrm>
          <a:prstGeom prst="roundRect">
            <a:avLst>
              <a:gd name="adj" fmla="val 14516"/>
            </a:avLst>
          </a:prstGeom>
          <a:solidFill>
            <a:srgbClr val="14100E"/>
          </a:solidFill>
          <a:ln/>
        </p:spPr>
      </p:sp>
      <p:sp>
        <p:nvSpPr>
          <p:cNvPr id="35" name="Text 30"/>
          <p:cNvSpPr/>
          <p:nvPr/>
        </p:nvSpPr>
        <p:spPr>
          <a:xfrm>
            <a:off x="6583680" y="5815584"/>
            <a:ext cx="5059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EXW ROYE, FRANCE  ·  6 / 12 / 33 ПАЛЕТИ  ·  0% МИТО</a:t>
            </a:r>
            <a:endParaRPr lang="en-US" sz="1100" dirty="0"/>
          </a:p>
        </p:txBody>
      </p:sp>
      <p:sp>
        <p:nvSpPr>
          <p:cNvPr id="36" name="Text 31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2026-08-01T07:40:33Z</dcterms:created>
  <dcterms:modified xsi:type="dcterms:W3CDTF">2026-08-01T07:40:33Z</dcterms:modified>
</cp:coreProperties>
</file>