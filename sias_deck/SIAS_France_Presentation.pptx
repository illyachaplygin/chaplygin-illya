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image" Target="../media/image-6-14.png"/><Relationship Id="rId15" Type="http://schemas.openxmlformats.org/officeDocument/2006/relationships/image" Target="../media/image-6-15.png"/><Relationship Id="rId16" Type="http://schemas.openxmlformats.org/officeDocument/2006/relationships/image" Target="../media/image-6-16.png"/><Relationship Id="rId17" Type="http://schemas.openxmlformats.org/officeDocument/2006/relationships/image" Target="../media/image-6-17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haplygin-Illya/sias_deck/assets/cover_b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585216"/>
            <a:ext cx="10874959" cy="8230"/>
          </a:xfrm>
          <a:prstGeom prst="rect">
            <a:avLst/>
          </a:prstGeom>
          <a:solidFill>
            <a:srgbClr val="5A4A38"/>
          </a:solidFill>
          <a:ln/>
        </p:spPr>
      </p:sp>
      <p:sp>
        <p:nvSpPr>
          <p:cNvPr id="4" name="Text 1"/>
          <p:cNvSpPr/>
          <p:nvPr/>
        </p:nvSpPr>
        <p:spPr>
          <a:xfrm>
            <a:off x="658368" y="731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b="1" spc="340" kern="0" dirty="0">
                <a:solidFill>
                  <a:srgbClr val="D9C6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SIAS FRANCE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961327" y="731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00" spc="240" kern="0" dirty="0">
                <a:solidFill>
                  <a:srgbClr val="9C9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ПРАЙС-КАТАЛОГ · 2026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58368" y="131673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spc="500" kern="0" dirty="0">
                <a:solidFill>
                  <a:srgbClr val="C2A4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라면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594360" y="1591056"/>
            <a:ext cx="7315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CHOI'S</a:t>
            </a:r>
            <a:endParaRPr lang="en-US" sz="5800" dirty="0"/>
          </a:p>
        </p:txBody>
      </p:sp>
      <p:sp>
        <p:nvSpPr>
          <p:cNvPr id="8" name="Text 5"/>
          <p:cNvSpPr/>
          <p:nvPr/>
        </p:nvSpPr>
        <p:spPr>
          <a:xfrm>
            <a:off x="594360" y="2322576"/>
            <a:ext cx="8229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RAMYEON</a:t>
            </a:r>
            <a:endParaRPr lang="en-US" sz="5800" dirty="0"/>
          </a:p>
        </p:txBody>
      </p:sp>
      <p:sp>
        <p:nvSpPr>
          <p:cNvPr id="9" name="Text 6"/>
          <p:cNvSpPr/>
          <p:nvPr/>
        </p:nvSpPr>
        <p:spPr>
          <a:xfrm>
            <a:off x="658368" y="3200400"/>
            <a:ext cx="6766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i="1" dirty="0">
                <a:solidFill>
                  <a:srgbClr val="E6DC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Локшина швидкого приготування, вироблена у Франції.</a:t>
            </a:r>
            <a:endParaRPr lang="en-US" sz="13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50" i="1" dirty="0">
                <a:solidFill>
                  <a:srgbClr val="E6DC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Собівартість пачки для 6, 12 та 33 палет.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58368" y="3931920"/>
            <a:ext cx="10874959" cy="8230"/>
          </a:xfrm>
          <a:prstGeom prst="rect">
            <a:avLst/>
          </a:prstGeom>
          <a:solidFill>
            <a:srgbClr val="4E4034"/>
          </a:solidFill>
          <a:ln/>
        </p:spPr>
      </p:sp>
      <p:sp>
        <p:nvSpPr>
          <p:cNvPr id="11" name="Text 8"/>
          <p:cNvSpPr/>
          <p:nvPr/>
        </p:nvSpPr>
        <p:spPr>
          <a:xfrm>
            <a:off x="658368" y="404164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spc="160" kern="0" dirty="0">
                <a:solidFill>
                  <a:srgbClr val="CBB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СМАКІВ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2944368" y="404164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spc="160" kern="0" dirty="0">
                <a:solidFill>
                  <a:srgbClr val="CBB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 BAG · 112.5–131 G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6510528" y="40416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spc="160" kern="0" dirty="0">
                <a:solidFill>
                  <a:srgbClr val="CBBE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EXW ROYE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9155887" y="40416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950" b="1" spc="160" kern="0" dirty="0">
                <a:solidFill>
                  <a:srgbClr val="E0C9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EUR.1 · 0% МИТО</a:t>
            </a:r>
            <a:endParaRPr lang="en-US" sz="950" dirty="0"/>
          </a:p>
        </p:txBody>
      </p:sp>
      <p:pic>
        <p:nvPicPr>
          <p:cNvPr id="15" name="Image 1" descr="/home/user/Chaplygin-Illya/sias_deck/assets/cover_lineu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36604" y="4462272"/>
            <a:ext cx="10718487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66928"/>
            <a:ext cx="10874959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69494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spc="260" kern="0" dirty="0">
                <a:solidFill>
                  <a:srgbClr val="C4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ВИРОБНИК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12648" y="1042416"/>
            <a:ext cx="4206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00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SIAS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612648" y="1847088"/>
            <a:ext cx="4206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200" b="1" i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France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658368" y="2798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700" b="1" spc="300" kern="0" dirty="0">
                <a:solidFill>
                  <a:srgbClr val="9C7C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최씨라면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58368" y="3291840"/>
            <a:ext cx="4023360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3419856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120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Європейська виробнича площадка корейської групи SIAS. Тут, у Roye, виробляють лінійку Choi's Ramyeon за корейськими рецептурами.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58368" y="4160520"/>
            <a:ext cx="4023360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427939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16 000 м²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670048" y="434340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виробнича площадка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58368" y="4672584"/>
            <a:ext cx="4023360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" y="4791456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IFS · BRC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670048" y="485546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харчова безпека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58368" y="5184648"/>
            <a:ext cx="4023360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" y="530352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EXW Roye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670048" y="536752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умови відвантаження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58368" y="5696712"/>
            <a:ext cx="4023360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" y="581558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0 %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2670048" y="587959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мито в Україну · EUR.1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58368" y="6208776"/>
            <a:ext cx="4023360" cy="8230"/>
          </a:xfrm>
          <a:prstGeom prst="rect">
            <a:avLst/>
          </a:prstGeom>
          <a:solidFill>
            <a:srgbClr val="DCD4C6"/>
          </a:solidFill>
          <a:ln/>
        </p:spPr>
      </p:sp>
      <p:pic>
        <p:nvPicPr>
          <p:cNvPr id="22" name="Image 0" descr="/home/user/Chaplygin-Illya/sias_deck/assets/plant_mur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49240" y="1042416"/>
            <a:ext cx="6181344" cy="324612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5349240" y="4443984"/>
            <a:ext cx="6181344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24" name="Text 21"/>
          <p:cNvSpPr/>
          <p:nvPr/>
        </p:nvSpPr>
        <p:spPr>
          <a:xfrm>
            <a:off x="5349240" y="455371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Завод SIAS · Roye, Hauts-de-France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10454335" y="4535424"/>
            <a:ext cx="140208" cy="274320"/>
          </a:xfrm>
          <a:prstGeom prst="rect">
            <a:avLst/>
          </a:prstGeom>
          <a:solidFill>
            <a:srgbClr val="002654"/>
          </a:solidFill>
          <a:ln/>
        </p:spPr>
      </p:sp>
      <p:sp>
        <p:nvSpPr>
          <p:cNvPr id="26" name="Shape 23"/>
          <p:cNvSpPr/>
          <p:nvPr/>
        </p:nvSpPr>
        <p:spPr>
          <a:xfrm>
            <a:off x="10594543" y="4535424"/>
            <a:ext cx="140208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Shape 24"/>
          <p:cNvSpPr/>
          <p:nvPr/>
        </p:nvSpPr>
        <p:spPr>
          <a:xfrm>
            <a:off x="10734751" y="4535424"/>
            <a:ext cx="140208" cy="274320"/>
          </a:xfrm>
          <a:prstGeom prst="rect">
            <a:avLst/>
          </a:prstGeom>
          <a:solidFill>
            <a:srgbClr val="ED2939"/>
          </a:solidFill>
          <a:ln/>
        </p:spPr>
      </p:sp>
      <p:sp>
        <p:nvSpPr>
          <p:cNvPr id="28" name="Shape 25"/>
          <p:cNvSpPr/>
          <p:nvPr/>
        </p:nvSpPr>
        <p:spPr>
          <a:xfrm>
            <a:off x="11112703" y="4535424"/>
            <a:ext cx="420624" cy="137160"/>
          </a:xfrm>
          <a:prstGeom prst="rect">
            <a:avLst/>
          </a:prstGeom>
          <a:solidFill>
            <a:srgbClr val="0057B7"/>
          </a:solidFill>
          <a:ln/>
        </p:spPr>
      </p:sp>
      <p:sp>
        <p:nvSpPr>
          <p:cNvPr id="29" name="Shape 26"/>
          <p:cNvSpPr/>
          <p:nvPr/>
        </p:nvSpPr>
        <p:spPr>
          <a:xfrm>
            <a:off x="11112703" y="4672584"/>
            <a:ext cx="420624" cy="137160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30" name="Text 27"/>
          <p:cNvSpPr/>
          <p:nvPr/>
        </p:nvSpPr>
        <p:spPr>
          <a:xfrm>
            <a:off x="658368" y="6437376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50" spc="20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CHOI'S RAMYEON — SIAS FRANCE</a:t>
            </a:r>
            <a:endParaRPr lang="en-US" sz="750" dirty="0"/>
          </a:p>
        </p:txBody>
      </p:sp>
      <p:sp>
        <p:nvSpPr>
          <p:cNvPr id="31" name="Text 28"/>
          <p:cNvSpPr/>
          <p:nvPr/>
        </p:nvSpPr>
        <p:spPr>
          <a:xfrm>
            <a:off x="10710367" y="6291072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DCD4C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66928"/>
            <a:ext cx="10874959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69494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spc="260" kern="0" dirty="0">
                <a:solidFill>
                  <a:srgbClr val="C4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ВАРІАНТ ПОСТАЧАННЯ · 01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" y="932688"/>
            <a:ext cx="29260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20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6200" dirty="0"/>
          </a:p>
        </p:txBody>
      </p:sp>
      <p:sp>
        <p:nvSpPr>
          <p:cNvPr id="5" name="Text 3"/>
          <p:cNvSpPr/>
          <p:nvPr/>
        </p:nvSpPr>
        <p:spPr>
          <a:xfrm>
            <a:off x="2944368" y="129844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100" i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палет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658368" y="184708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i="1" dirty="0">
                <a:solidFill>
                  <a:srgbClr val="9C7C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пробна партія · по 1 палеті на кожен смак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184087" y="1060704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9 600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184087" y="149961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spc="6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пачок разом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967167" y="1060704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1 600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967167" y="149961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spc="6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пачок у палеті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750247" y="1060704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0 %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750247" y="149961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spc="6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мито · EUR.1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58368" y="2231136"/>
            <a:ext cx="10874959" cy="8230"/>
          </a:xfrm>
          <a:prstGeom prst="rect">
            <a:avLst/>
          </a:prstGeom>
          <a:solidFill>
            <a:srgbClr val="9C7C42"/>
          </a:solidFill>
          <a:ln/>
        </p:spPr>
      </p:sp>
      <p:pic>
        <p:nvPicPr>
          <p:cNvPr id="14" name="Image 0" descr="/home/user/Chaplygin-Illya/sias_deck/packs/goud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2450592"/>
            <a:ext cx="1170432" cy="1773936"/>
          </a:xfrm>
          <a:prstGeom prst="rect">
            <a:avLst/>
          </a:prstGeom>
          <a:effectLst>
            <a:outerShdw sx="100000" sy="100000" kx="0" ky="0" algn="bl" rotWithShape="0" blurRad="190500" dist="88900" dir="5400000">
              <a:srgbClr val="2A1F16">
                <a:alpha val="26000"/>
              </a:srgbClr>
            </a:outerShdw>
          </a:effectLst>
        </p:spPr>
      </p:pic>
      <p:sp>
        <p:nvSpPr>
          <p:cNvPr id="15" name="Text 12"/>
          <p:cNvSpPr/>
          <p:nvPr/>
        </p:nvSpPr>
        <p:spPr>
          <a:xfrm>
            <a:off x="1956816" y="2468880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16" name="Text 13"/>
          <p:cNvSpPr/>
          <p:nvPr/>
        </p:nvSpPr>
        <p:spPr>
          <a:xfrm>
            <a:off x="1956816" y="2633472"/>
            <a:ext cx="21131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GOUDA CHESSE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956816" y="3072384"/>
            <a:ext cx="21131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spc="100" kern="0" dirty="0">
                <a:solidFill>
                  <a:srgbClr val="9C7C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고다치즈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1956816" y="3291840"/>
            <a:ext cx="2040026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19" name="Text 16"/>
          <p:cNvSpPr/>
          <p:nvPr/>
        </p:nvSpPr>
        <p:spPr>
          <a:xfrm>
            <a:off x="1956816" y="336499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123 G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2962656" y="3392424"/>
            <a:ext cx="10341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1956816" y="3639312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9C7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22" name="Text 19"/>
          <p:cNvSpPr/>
          <p:nvPr/>
        </p:nvSpPr>
        <p:spPr>
          <a:xfrm>
            <a:off x="1956816" y="3803904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1,31 €</a:t>
            </a:r>
            <a:endParaRPr lang="en-US" sz="2300" dirty="0"/>
          </a:p>
        </p:txBody>
      </p:sp>
      <p:sp>
        <p:nvSpPr>
          <p:cNvPr id="23" name="Text 20"/>
          <p:cNvSpPr/>
          <p:nvPr/>
        </p:nvSpPr>
        <p:spPr>
          <a:xfrm>
            <a:off x="3099816" y="3913632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67,00 ₴</a:t>
            </a:r>
            <a:endParaRPr lang="en-US" sz="1050" dirty="0"/>
          </a:p>
        </p:txBody>
      </p:sp>
      <p:pic>
        <p:nvPicPr>
          <p:cNvPr id="24" name="Image 1" descr="/home/user/Chaplygin-Illya/sias_deck/packs/carbonar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90034" y="2450592"/>
            <a:ext cx="1170432" cy="1773936"/>
          </a:xfrm>
          <a:prstGeom prst="rect">
            <a:avLst/>
          </a:prstGeom>
          <a:effectLst>
            <a:outerShdw sx="100000" sy="100000" kx="0" ky="0" algn="bl" rotWithShape="0" blurRad="190500" dist="88900" dir="5400000">
              <a:srgbClr val="2A1F16">
                <a:alpha val="26000"/>
              </a:srgbClr>
            </a:outerShdw>
          </a:effectLst>
        </p:spPr>
      </p:pic>
      <p:sp>
        <p:nvSpPr>
          <p:cNvPr id="25" name="Text 21"/>
          <p:cNvSpPr/>
          <p:nvPr/>
        </p:nvSpPr>
        <p:spPr>
          <a:xfrm>
            <a:off x="5688482" y="2468880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26" name="Text 22"/>
          <p:cNvSpPr/>
          <p:nvPr/>
        </p:nvSpPr>
        <p:spPr>
          <a:xfrm>
            <a:off x="5688482" y="2633472"/>
            <a:ext cx="21131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CARBONARA SPICY</a:t>
            </a:r>
            <a:endParaRPr lang="en-US" sz="1350" dirty="0"/>
          </a:p>
        </p:txBody>
      </p:sp>
      <p:sp>
        <p:nvSpPr>
          <p:cNvPr id="27" name="Text 23"/>
          <p:cNvSpPr/>
          <p:nvPr/>
        </p:nvSpPr>
        <p:spPr>
          <a:xfrm>
            <a:off x="5688482" y="3072384"/>
            <a:ext cx="21131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spc="100" kern="0" dirty="0">
                <a:solidFill>
                  <a:srgbClr val="9C7C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까르보나라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5688482" y="3291840"/>
            <a:ext cx="2040026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29" name="Text 25"/>
          <p:cNvSpPr/>
          <p:nvPr/>
        </p:nvSpPr>
        <p:spPr>
          <a:xfrm>
            <a:off x="5688482" y="336499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 G</a:t>
            </a:r>
            <a:endParaRPr lang="en-US" sz="1100" dirty="0"/>
          </a:p>
        </p:txBody>
      </p:sp>
      <p:sp>
        <p:nvSpPr>
          <p:cNvPr id="30" name="Text 26"/>
          <p:cNvSpPr/>
          <p:nvPr/>
        </p:nvSpPr>
        <p:spPr>
          <a:xfrm>
            <a:off x="6694322" y="3392424"/>
            <a:ext cx="10341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850" dirty="0"/>
          </a:p>
        </p:txBody>
      </p:sp>
      <p:sp>
        <p:nvSpPr>
          <p:cNvPr id="31" name="Text 27"/>
          <p:cNvSpPr/>
          <p:nvPr/>
        </p:nvSpPr>
        <p:spPr>
          <a:xfrm>
            <a:off x="5688482" y="3639312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9C7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32" name="Text 28"/>
          <p:cNvSpPr/>
          <p:nvPr/>
        </p:nvSpPr>
        <p:spPr>
          <a:xfrm>
            <a:off x="5688482" y="3803904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1,31 €</a:t>
            </a:r>
            <a:endParaRPr lang="en-US" sz="2300" dirty="0"/>
          </a:p>
        </p:txBody>
      </p:sp>
      <p:sp>
        <p:nvSpPr>
          <p:cNvPr id="33" name="Text 29"/>
          <p:cNvSpPr/>
          <p:nvPr/>
        </p:nvSpPr>
        <p:spPr>
          <a:xfrm>
            <a:off x="6831482" y="3913632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67,00 ₴</a:t>
            </a:r>
            <a:endParaRPr lang="en-US" sz="1050" dirty="0"/>
          </a:p>
        </p:txBody>
      </p:sp>
      <p:pic>
        <p:nvPicPr>
          <p:cNvPr id="34" name="Image 2" descr="/home/user/Chaplygin-Illya/sias_deck/packs/vegetabl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21701" y="2450592"/>
            <a:ext cx="1170432" cy="1773936"/>
          </a:xfrm>
          <a:prstGeom prst="rect">
            <a:avLst/>
          </a:prstGeom>
          <a:effectLst>
            <a:outerShdw sx="100000" sy="100000" kx="0" ky="0" algn="bl" rotWithShape="0" blurRad="190500" dist="88900" dir="5400000">
              <a:srgbClr val="2A1F16">
                <a:alpha val="26000"/>
              </a:srgbClr>
            </a:outerShdw>
          </a:effectLst>
        </p:spPr>
      </p:pic>
      <p:sp>
        <p:nvSpPr>
          <p:cNvPr id="35" name="Text 30"/>
          <p:cNvSpPr/>
          <p:nvPr/>
        </p:nvSpPr>
        <p:spPr>
          <a:xfrm>
            <a:off x="9420149" y="2468880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36" name="Text 31"/>
          <p:cNvSpPr/>
          <p:nvPr/>
        </p:nvSpPr>
        <p:spPr>
          <a:xfrm>
            <a:off x="9420149" y="2633472"/>
            <a:ext cx="21131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VEGETABLE FLAVOR</a:t>
            </a:r>
            <a:endParaRPr lang="en-US" sz="1350" dirty="0"/>
          </a:p>
        </p:txBody>
      </p:sp>
      <p:sp>
        <p:nvSpPr>
          <p:cNvPr id="37" name="Text 32"/>
          <p:cNvSpPr/>
          <p:nvPr/>
        </p:nvSpPr>
        <p:spPr>
          <a:xfrm>
            <a:off x="9420149" y="3072384"/>
            <a:ext cx="21131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spc="100" kern="0" dirty="0">
                <a:solidFill>
                  <a:srgbClr val="9C7C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야채맛</a:t>
            </a:r>
            <a:endParaRPr lang="en-US" sz="900" dirty="0"/>
          </a:p>
        </p:txBody>
      </p:sp>
      <p:sp>
        <p:nvSpPr>
          <p:cNvPr id="38" name="Shape 33"/>
          <p:cNvSpPr/>
          <p:nvPr/>
        </p:nvSpPr>
        <p:spPr>
          <a:xfrm>
            <a:off x="9420149" y="3291840"/>
            <a:ext cx="2040026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39" name="Text 34"/>
          <p:cNvSpPr/>
          <p:nvPr/>
        </p:nvSpPr>
        <p:spPr>
          <a:xfrm>
            <a:off x="9420149" y="336499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G</a:t>
            </a:r>
            <a:endParaRPr lang="en-US" sz="1100" dirty="0"/>
          </a:p>
        </p:txBody>
      </p:sp>
      <p:sp>
        <p:nvSpPr>
          <p:cNvPr id="40" name="Text 35"/>
          <p:cNvSpPr/>
          <p:nvPr/>
        </p:nvSpPr>
        <p:spPr>
          <a:xfrm>
            <a:off x="10425989" y="3392424"/>
            <a:ext cx="10341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850" dirty="0"/>
          </a:p>
        </p:txBody>
      </p:sp>
      <p:sp>
        <p:nvSpPr>
          <p:cNvPr id="41" name="Text 36"/>
          <p:cNvSpPr/>
          <p:nvPr/>
        </p:nvSpPr>
        <p:spPr>
          <a:xfrm>
            <a:off x="9420149" y="3639312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9C7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42" name="Text 37"/>
          <p:cNvSpPr/>
          <p:nvPr/>
        </p:nvSpPr>
        <p:spPr>
          <a:xfrm>
            <a:off x="9420149" y="3803904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1,13 €</a:t>
            </a:r>
            <a:endParaRPr lang="en-US" sz="2300" dirty="0"/>
          </a:p>
        </p:txBody>
      </p:sp>
      <p:sp>
        <p:nvSpPr>
          <p:cNvPr id="43" name="Text 38"/>
          <p:cNvSpPr/>
          <p:nvPr/>
        </p:nvSpPr>
        <p:spPr>
          <a:xfrm>
            <a:off x="10563149" y="3913632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58,06 ₴</a:t>
            </a:r>
            <a:endParaRPr lang="en-US" sz="1050" dirty="0"/>
          </a:p>
        </p:txBody>
      </p:sp>
      <p:pic>
        <p:nvPicPr>
          <p:cNvPr id="44" name="Image 3" descr="/home/user/Chaplygin-Illya/sias_deck/packs/spicy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368" y="4443984"/>
            <a:ext cx="1170432" cy="1773936"/>
          </a:xfrm>
          <a:prstGeom prst="rect">
            <a:avLst/>
          </a:prstGeom>
          <a:effectLst>
            <a:outerShdw sx="100000" sy="100000" kx="0" ky="0" algn="bl" rotWithShape="0" blurRad="190500" dist="88900" dir="5400000">
              <a:srgbClr val="2A1F16">
                <a:alpha val="26000"/>
              </a:srgbClr>
            </a:outerShdw>
          </a:effectLst>
        </p:spPr>
      </p:pic>
      <p:sp>
        <p:nvSpPr>
          <p:cNvPr id="45" name="Text 39"/>
          <p:cNvSpPr/>
          <p:nvPr/>
        </p:nvSpPr>
        <p:spPr>
          <a:xfrm>
            <a:off x="1956816" y="4462272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46" name="Text 40"/>
          <p:cNvSpPr/>
          <p:nvPr/>
        </p:nvSpPr>
        <p:spPr>
          <a:xfrm>
            <a:off x="1956816" y="4626864"/>
            <a:ext cx="21131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SPICY FLAVOR</a:t>
            </a:r>
            <a:endParaRPr lang="en-US" sz="1350" dirty="0"/>
          </a:p>
        </p:txBody>
      </p:sp>
      <p:sp>
        <p:nvSpPr>
          <p:cNvPr id="47" name="Text 41"/>
          <p:cNvSpPr/>
          <p:nvPr/>
        </p:nvSpPr>
        <p:spPr>
          <a:xfrm>
            <a:off x="1956816" y="5065776"/>
            <a:ext cx="21131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spc="100" kern="0" dirty="0">
                <a:solidFill>
                  <a:srgbClr val="9C7C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매운맛</a:t>
            </a:r>
            <a:endParaRPr lang="en-US" sz="900" dirty="0"/>
          </a:p>
        </p:txBody>
      </p:sp>
      <p:sp>
        <p:nvSpPr>
          <p:cNvPr id="48" name="Shape 42"/>
          <p:cNvSpPr/>
          <p:nvPr/>
        </p:nvSpPr>
        <p:spPr>
          <a:xfrm>
            <a:off x="1956816" y="5285232"/>
            <a:ext cx="2040026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49" name="Text 43"/>
          <p:cNvSpPr/>
          <p:nvPr/>
        </p:nvSpPr>
        <p:spPr>
          <a:xfrm>
            <a:off x="1956816" y="535838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112.5 G</a:t>
            </a:r>
            <a:endParaRPr lang="en-US" sz="1100" dirty="0"/>
          </a:p>
        </p:txBody>
      </p:sp>
      <p:sp>
        <p:nvSpPr>
          <p:cNvPr id="50" name="Text 44"/>
          <p:cNvSpPr/>
          <p:nvPr/>
        </p:nvSpPr>
        <p:spPr>
          <a:xfrm>
            <a:off x="2962656" y="5385816"/>
            <a:ext cx="10341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850" dirty="0"/>
          </a:p>
        </p:txBody>
      </p:sp>
      <p:sp>
        <p:nvSpPr>
          <p:cNvPr id="51" name="Text 45"/>
          <p:cNvSpPr/>
          <p:nvPr/>
        </p:nvSpPr>
        <p:spPr>
          <a:xfrm>
            <a:off x="1956816" y="5632704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9C7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52" name="Text 46"/>
          <p:cNvSpPr/>
          <p:nvPr/>
        </p:nvSpPr>
        <p:spPr>
          <a:xfrm>
            <a:off x="1956816" y="5797296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1,13 €</a:t>
            </a:r>
            <a:endParaRPr lang="en-US" sz="2300" dirty="0"/>
          </a:p>
        </p:txBody>
      </p:sp>
      <p:sp>
        <p:nvSpPr>
          <p:cNvPr id="53" name="Text 47"/>
          <p:cNvSpPr/>
          <p:nvPr/>
        </p:nvSpPr>
        <p:spPr>
          <a:xfrm>
            <a:off x="3099816" y="5907024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58,06 ₴</a:t>
            </a:r>
            <a:endParaRPr lang="en-US" sz="1050" dirty="0"/>
          </a:p>
        </p:txBody>
      </p:sp>
      <p:pic>
        <p:nvPicPr>
          <p:cNvPr id="54" name="Image 4" descr="/home/user/Chaplygin-Illya/sias_deck/packs/beef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390034" y="4443984"/>
            <a:ext cx="1170432" cy="1773936"/>
          </a:xfrm>
          <a:prstGeom prst="rect">
            <a:avLst/>
          </a:prstGeom>
          <a:effectLst>
            <a:outerShdw sx="100000" sy="100000" kx="0" ky="0" algn="bl" rotWithShape="0" blurRad="190500" dist="88900" dir="5400000">
              <a:srgbClr val="2A1F16">
                <a:alpha val="26000"/>
              </a:srgbClr>
            </a:outerShdw>
          </a:effectLst>
        </p:spPr>
      </p:pic>
      <p:sp>
        <p:nvSpPr>
          <p:cNvPr id="55" name="Text 48"/>
          <p:cNvSpPr/>
          <p:nvPr/>
        </p:nvSpPr>
        <p:spPr>
          <a:xfrm>
            <a:off x="5688482" y="4462272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56" name="Text 49"/>
          <p:cNvSpPr/>
          <p:nvPr/>
        </p:nvSpPr>
        <p:spPr>
          <a:xfrm>
            <a:off x="5688482" y="4626864"/>
            <a:ext cx="21131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BEEF FLAVOR</a:t>
            </a:r>
            <a:endParaRPr lang="en-US" sz="1350" dirty="0"/>
          </a:p>
        </p:txBody>
      </p:sp>
      <p:sp>
        <p:nvSpPr>
          <p:cNvPr id="57" name="Text 50"/>
          <p:cNvSpPr/>
          <p:nvPr/>
        </p:nvSpPr>
        <p:spPr>
          <a:xfrm>
            <a:off x="5688482" y="5065776"/>
            <a:ext cx="21131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spc="100" kern="0" dirty="0">
                <a:solidFill>
                  <a:srgbClr val="9C7C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소고기맛</a:t>
            </a:r>
            <a:endParaRPr lang="en-US" sz="900" dirty="0"/>
          </a:p>
        </p:txBody>
      </p:sp>
      <p:sp>
        <p:nvSpPr>
          <p:cNvPr id="58" name="Shape 51"/>
          <p:cNvSpPr/>
          <p:nvPr/>
        </p:nvSpPr>
        <p:spPr>
          <a:xfrm>
            <a:off x="5688482" y="5285232"/>
            <a:ext cx="2040026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59" name="Text 52"/>
          <p:cNvSpPr/>
          <p:nvPr/>
        </p:nvSpPr>
        <p:spPr>
          <a:xfrm>
            <a:off x="5688482" y="535838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G</a:t>
            </a:r>
            <a:endParaRPr lang="en-US" sz="1100" dirty="0"/>
          </a:p>
        </p:txBody>
      </p:sp>
      <p:sp>
        <p:nvSpPr>
          <p:cNvPr id="60" name="Text 53"/>
          <p:cNvSpPr/>
          <p:nvPr/>
        </p:nvSpPr>
        <p:spPr>
          <a:xfrm>
            <a:off x="6694322" y="5385816"/>
            <a:ext cx="10341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850" dirty="0"/>
          </a:p>
        </p:txBody>
      </p:sp>
      <p:sp>
        <p:nvSpPr>
          <p:cNvPr id="61" name="Text 54"/>
          <p:cNvSpPr/>
          <p:nvPr/>
        </p:nvSpPr>
        <p:spPr>
          <a:xfrm>
            <a:off x="5688482" y="5632704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9C7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62" name="Text 55"/>
          <p:cNvSpPr/>
          <p:nvPr/>
        </p:nvSpPr>
        <p:spPr>
          <a:xfrm>
            <a:off x="5688482" y="5797296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1,13 €</a:t>
            </a:r>
            <a:endParaRPr lang="en-US" sz="2300" dirty="0"/>
          </a:p>
        </p:txBody>
      </p:sp>
      <p:sp>
        <p:nvSpPr>
          <p:cNvPr id="63" name="Text 56"/>
          <p:cNvSpPr/>
          <p:nvPr/>
        </p:nvSpPr>
        <p:spPr>
          <a:xfrm>
            <a:off x="6831482" y="5907024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58,06 ₴</a:t>
            </a:r>
            <a:endParaRPr lang="en-US" sz="1050" dirty="0"/>
          </a:p>
        </p:txBody>
      </p:sp>
      <p:pic>
        <p:nvPicPr>
          <p:cNvPr id="64" name="Image 5" descr="/home/user/Chaplygin-Illya/sias_deck/packs/chicken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121701" y="4443984"/>
            <a:ext cx="1170432" cy="1773936"/>
          </a:xfrm>
          <a:prstGeom prst="rect">
            <a:avLst/>
          </a:prstGeom>
          <a:effectLst>
            <a:outerShdw sx="100000" sy="100000" kx="0" ky="0" algn="bl" rotWithShape="0" blurRad="190500" dist="88900" dir="5400000">
              <a:srgbClr val="2A1F16">
                <a:alpha val="26000"/>
              </a:srgbClr>
            </a:outerShdw>
          </a:effectLst>
        </p:spPr>
      </p:pic>
      <p:sp>
        <p:nvSpPr>
          <p:cNvPr id="65" name="Text 57"/>
          <p:cNvSpPr/>
          <p:nvPr/>
        </p:nvSpPr>
        <p:spPr>
          <a:xfrm>
            <a:off x="9420149" y="4462272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66" name="Text 58"/>
          <p:cNvSpPr/>
          <p:nvPr/>
        </p:nvSpPr>
        <p:spPr>
          <a:xfrm>
            <a:off x="9420149" y="4626864"/>
            <a:ext cx="21131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CHICKEN FLAVOR</a:t>
            </a:r>
            <a:endParaRPr lang="en-US" sz="1350" dirty="0"/>
          </a:p>
        </p:txBody>
      </p:sp>
      <p:sp>
        <p:nvSpPr>
          <p:cNvPr id="67" name="Text 59"/>
          <p:cNvSpPr/>
          <p:nvPr/>
        </p:nvSpPr>
        <p:spPr>
          <a:xfrm>
            <a:off x="9420149" y="5065776"/>
            <a:ext cx="21131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spc="100" kern="0" dirty="0">
                <a:solidFill>
                  <a:srgbClr val="9C7C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치킨맛</a:t>
            </a:r>
            <a:endParaRPr lang="en-US" sz="900" dirty="0"/>
          </a:p>
        </p:txBody>
      </p:sp>
      <p:sp>
        <p:nvSpPr>
          <p:cNvPr id="68" name="Shape 60"/>
          <p:cNvSpPr/>
          <p:nvPr/>
        </p:nvSpPr>
        <p:spPr>
          <a:xfrm>
            <a:off x="9420149" y="5285232"/>
            <a:ext cx="2040026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69" name="Text 61"/>
          <p:cNvSpPr/>
          <p:nvPr/>
        </p:nvSpPr>
        <p:spPr>
          <a:xfrm>
            <a:off x="9420149" y="535838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G</a:t>
            </a:r>
            <a:endParaRPr lang="en-US" sz="1100" dirty="0"/>
          </a:p>
        </p:txBody>
      </p:sp>
      <p:sp>
        <p:nvSpPr>
          <p:cNvPr id="70" name="Text 62"/>
          <p:cNvSpPr/>
          <p:nvPr/>
        </p:nvSpPr>
        <p:spPr>
          <a:xfrm>
            <a:off x="10425989" y="5385816"/>
            <a:ext cx="10341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850" dirty="0"/>
          </a:p>
        </p:txBody>
      </p:sp>
      <p:sp>
        <p:nvSpPr>
          <p:cNvPr id="71" name="Text 63"/>
          <p:cNvSpPr/>
          <p:nvPr/>
        </p:nvSpPr>
        <p:spPr>
          <a:xfrm>
            <a:off x="9420149" y="5632704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9C7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72" name="Text 64"/>
          <p:cNvSpPr/>
          <p:nvPr/>
        </p:nvSpPr>
        <p:spPr>
          <a:xfrm>
            <a:off x="9420149" y="5797296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1,13 €</a:t>
            </a:r>
            <a:endParaRPr lang="en-US" sz="2300" dirty="0"/>
          </a:p>
        </p:txBody>
      </p:sp>
      <p:sp>
        <p:nvSpPr>
          <p:cNvPr id="73" name="Text 65"/>
          <p:cNvSpPr/>
          <p:nvPr/>
        </p:nvSpPr>
        <p:spPr>
          <a:xfrm>
            <a:off x="10563149" y="5907024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58,06 ₴</a:t>
            </a:r>
            <a:endParaRPr lang="en-US" sz="1050" dirty="0"/>
          </a:p>
        </p:txBody>
      </p:sp>
      <p:sp>
        <p:nvSpPr>
          <p:cNvPr id="74" name="Shape 66"/>
          <p:cNvSpPr/>
          <p:nvPr/>
        </p:nvSpPr>
        <p:spPr>
          <a:xfrm>
            <a:off x="658368" y="6345936"/>
            <a:ext cx="10874959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75" name="Text 67"/>
          <p:cNvSpPr/>
          <p:nvPr/>
        </p:nvSpPr>
        <p:spPr>
          <a:xfrm>
            <a:off x="658368" y="6455664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i="1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1 пачки: EXW Roye + логістика + брокер + митне оформлення + ПДВ-передфінансування · мито 0% (EUR.1) · курс 1 € ≈ 51,2 ₴</a:t>
            </a:r>
            <a:endParaRPr lang="en-US" sz="800" dirty="0"/>
          </a:p>
        </p:txBody>
      </p:sp>
      <p:sp>
        <p:nvSpPr>
          <p:cNvPr id="76" name="Text 68"/>
          <p:cNvSpPr/>
          <p:nvPr/>
        </p:nvSpPr>
        <p:spPr>
          <a:xfrm>
            <a:off x="10710367" y="6291072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DCD4C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66928"/>
            <a:ext cx="10874959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69494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spc="260" kern="0" dirty="0">
                <a:solidFill>
                  <a:srgbClr val="C4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ВАРІАНТ ПОСТАЧАННЯ · 02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" y="932688"/>
            <a:ext cx="29260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20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6200" dirty="0"/>
          </a:p>
        </p:txBody>
      </p:sp>
      <p:sp>
        <p:nvSpPr>
          <p:cNvPr id="5" name="Text 3"/>
          <p:cNvSpPr/>
          <p:nvPr/>
        </p:nvSpPr>
        <p:spPr>
          <a:xfrm>
            <a:off x="2944368" y="129844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100" i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палет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658368" y="184708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i="1" dirty="0">
                <a:solidFill>
                  <a:srgbClr val="9C7C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середній обсяг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184087" y="1060704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19 200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184087" y="149961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spc="6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пачок разом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967167" y="1060704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1 600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967167" y="149961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spc="6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пачок у палеті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750247" y="1060704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0 %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750247" y="149961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spc="6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мито · EUR.1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58368" y="2231136"/>
            <a:ext cx="10874959" cy="8230"/>
          </a:xfrm>
          <a:prstGeom prst="rect">
            <a:avLst/>
          </a:prstGeom>
          <a:solidFill>
            <a:srgbClr val="9C7C42"/>
          </a:solidFill>
          <a:ln/>
        </p:spPr>
      </p:sp>
      <p:pic>
        <p:nvPicPr>
          <p:cNvPr id="14" name="Image 0" descr="/home/user/Chaplygin-Illya/sias_deck/packs/goud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2450592"/>
            <a:ext cx="1170432" cy="1773936"/>
          </a:xfrm>
          <a:prstGeom prst="rect">
            <a:avLst/>
          </a:prstGeom>
          <a:effectLst>
            <a:outerShdw sx="100000" sy="100000" kx="0" ky="0" algn="bl" rotWithShape="0" blurRad="190500" dist="88900" dir="5400000">
              <a:srgbClr val="2A1F16">
                <a:alpha val="26000"/>
              </a:srgbClr>
            </a:outerShdw>
          </a:effectLst>
        </p:spPr>
      </p:pic>
      <p:sp>
        <p:nvSpPr>
          <p:cNvPr id="15" name="Text 12"/>
          <p:cNvSpPr/>
          <p:nvPr/>
        </p:nvSpPr>
        <p:spPr>
          <a:xfrm>
            <a:off x="1956816" y="2468880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16" name="Text 13"/>
          <p:cNvSpPr/>
          <p:nvPr/>
        </p:nvSpPr>
        <p:spPr>
          <a:xfrm>
            <a:off x="1956816" y="2633472"/>
            <a:ext cx="21131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GOUDA CHESSE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956816" y="3072384"/>
            <a:ext cx="21131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spc="100" kern="0" dirty="0">
                <a:solidFill>
                  <a:srgbClr val="9C7C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고다치즈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1956816" y="3291840"/>
            <a:ext cx="2040026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19" name="Text 16"/>
          <p:cNvSpPr/>
          <p:nvPr/>
        </p:nvSpPr>
        <p:spPr>
          <a:xfrm>
            <a:off x="1956816" y="336499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123 G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2962656" y="3392424"/>
            <a:ext cx="10341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палети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1956816" y="3639312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9C7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22" name="Text 19"/>
          <p:cNvSpPr/>
          <p:nvPr/>
        </p:nvSpPr>
        <p:spPr>
          <a:xfrm>
            <a:off x="1956816" y="3803904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1,11 €</a:t>
            </a:r>
            <a:endParaRPr lang="en-US" sz="2300" dirty="0"/>
          </a:p>
        </p:txBody>
      </p:sp>
      <p:sp>
        <p:nvSpPr>
          <p:cNvPr id="23" name="Text 20"/>
          <p:cNvSpPr/>
          <p:nvPr/>
        </p:nvSpPr>
        <p:spPr>
          <a:xfrm>
            <a:off x="3099816" y="3913632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56,88 ₴</a:t>
            </a:r>
            <a:endParaRPr lang="en-US" sz="1050" dirty="0"/>
          </a:p>
        </p:txBody>
      </p:sp>
      <p:pic>
        <p:nvPicPr>
          <p:cNvPr id="24" name="Image 1" descr="/home/user/Chaplygin-Illya/sias_deck/packs/carbonar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90034" y="2450592"/>
            <a:ext cx="1170432" cy="1773936"/>
          </a:xfrm>
          <a:prstGeom prst="rect">
            <a:avLst/>
          </a:prstGeom>
          <a:effectLst>
            <a:outerShdw sx="100000" sy="100000" kx="0" ky="0" algn="bl" rotWithShape="0" blurRad="190500" dist="88900" dir="5400000">
              <a:srgbClr val="2A1F16">
                <a:alpha val="26000"/>
              </a:srgbClr>
            </a:outerShdw>
          </a:effectLst>
        </p:spPr>
      </p:pic>
      <p:sp>
        <p:nvSpPr>
          <p:cNvPr id="25" name="Text 21"/>
          <p:cNvSpPr/>
          <p:nvPr/>
        </p:nvSpPr>
        <p:spPr>
          <a:xfrm>
            <a:off x="5688482" y="2468880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26" name="Text 22"/>
          <p:cNvSpPr/>
          <p:nvPr/>
        </p:nvSpPr>
        <p:spPr>
          <a:xfrm>
            <a:off x="5688482" y="2633472"/>
            <a:ext cx="21131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CARBONARA SPICY</a:t>
            </a:r>
            <a:endParaRPr lang="en-US" sz="1350" dirty="0"/>
          </a:p>
        </p:txBody>
      </p:sp>
      <p:sp>
        <p:nvSpPr>
          <p:cNvPr id="27" name="Text 23"/>
          <p:cNvSpPr/>
          <p:nvPr/>
        </p:nvSpPr>
        <p:spPr>
          <a:xfrm>
            <a:off x="5688482" y="3072384"/>
            <a:ext cx="21131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spc="100" kern="0" dirty="0">
                <a:solidFill>
                  <a:srgbClr val="9C7C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까르보나라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5688482" y="3291840"/>
            <a:ext cx="2040026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29" name="Text 25"/>
          <p:cNvSpPr/>
          <p:nvPr/>
        </p:nvSpPr>
        <p:spPr>
          <a:xfrm>
            <a:off x="5688482" y="336499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 G</a:t>
            </a:r>
            <a:endParaRPr lang="en-US" sz="1100" dirty="0"/>
          </a:p>
        </p:txBody>
      </p:sp>
      <p:sp>
        <p:nvSpPr>
          <p:cNvPr id="30" name="Text 26"/>
          <p:cNvSpPr/>
          <p:nvPr/>
        </p:nvSpPr>
        <p:spPr>
          <a:xfrm>
            <a:off x="6694322" y="3392424"/>
            <a:ext cx="10341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палети</a:t>
            </a:r>
            <a:endParaRPr lang="en-US" sz="850" dirty="0"/>
          </a:p>
        </p:txBody>
      </p:sp>
      <p:sp>
        <p:nvSpPr>
          <p:cNvPr id="31" name="Text 27"/>
          <p:cNvSpPr/>
          <p:nvPr/>
        </p:nvSpPr>
        <p:spPr>
          <a:xfrm>
            <a:off x="5688482" y="3639312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9C7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32" name="Text 28"/>
          <p:cNvSpPr/>
          <p:nvPr/>
        </p:nvSpPr>
        <p:spPr>
          <a:xfrm>
            <a:off x="5688482" y="3803904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1,11 €</a:t>
            </a:r>
            <a:endParaRPr lang="en-US" sz="2300" dirty="0"/>
          </a:p>
        </p:txBody>
      </p:sp>
      <p:sp>
        <p:nvSpPr>
          <p:cNvPr id="33" name="Text 29"/>
          <p:cNvSpPr/>
          <p:nvPr/>
        </p:nvSpPr>
        <p:spPr>
          <a:xfrm>
            <a:off x="6831482" y="3913632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56,88 ₴</a:t>
            </a:r>
            <a:endParaRPr lang="en-US" sz="1050" dirty="0"/>
          </a:p>
        </p:txBody>
      </p:sp>
      <p:pic>
        <p:nvPicPr>
          <p:cNvPr id="34" name="Image 2" descr="/home/user/Chaplygin-Illya/sias_deck/packs/vegetabl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21701" y="2450592"/>
            <a:ext cx="1170432" cy="1773936"/>
          </a:xfrm>
          <a:prstGeom prst="rect">
            <a:avLst/>
          </a:prstGeom>
          <a:effectLst>
            <a:outerShdw sx="100000" sy="100000" kx="0" ky="0" algn="bl" rotWithShape="0" blurRad="190500" dist="88900" dir="5400000">
              <a:srgbClr val="2A1F16">
                <a:alpha val="26000"/>
              </a:srgbClr>
            </a:outerShdw>
          </a:effectLst>
        </p:spPr>
      </p:pic>
      <p:sp>
        <p:nvSpPr>
          <p:cNvPr id="35" name="Text 30"/>
          <p:cNvSpPr/>
          <p:nvPr/>
        </p:nvSpPr>
        <p:spPr>
          <a:xfrm>
            <a:off x="9420149" y="2468880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36" name="Text 31"/>
          <p:cNvSpPr/>
          <p:nvPr/>
        </p:nvSpPr>
        <p:spPr>
          <a:xfrm>
            <a:off x="9420149" y="2633472"/>
            <a:ext cx="21131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VEGETABLE FLAVOR</a:t>
            </a:r>
            <a:endParaRPr lang="en-US" sz="1350" dirty="0"/>
          </a:p>
        </p:txBody>
      </p:sp>
      <p:sp>
        <p:nvSpPr>
          <p:cNvPr id="37" name="Text 32"/>
          <p:cNvSpPr/>
          <p:nvPr/>
        </p:nvSpPr>
        <p:spPr>
          <a:xfrm>
            <a:off x="9420149" y="3072384"/>
            <a:ext cx="21131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spc="100" kern="0" dirty="0">
                <a:solidFill>
                  <a:srgbClr val="9C7C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야채맛</a:t>
            </a:r>
            <a:endParaRPr lang="en-US" sz="900" dirty="0"/>
          </a:p>
        </p:txBody>
      </p:sp>
      <p:sp>
        <p:nvSpPr>
          <p:cNvPr id="38" name="Shape 33"/>
          <p:cNvSpPr/>
          <p:nvPr/>
        </p:nvSpPr>
        <p:spPr>
          <a:xfrm>
            <a:off x="9420149" y="3291840"/>
            <a:ext cx="2040026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39" name="Text 34"/>
          <p:cNvSpPr/>
          <p:nvPr/>
        </p:nvSpPr>
        <p:spPr>
          <a:xfrm>
            <a:off x="9420149" y="336499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G</a:t>
            </a:r>
            <a:endParaRPr lang="en-US" sz="1100" dirty="0"/>
          </a:p>
        </p:txBody>
      </p:sp>
      <p:sp>
        <p:nvSpPr>
          <p:cNvPr id="40" name="Text 35"/>
          <p:cNvSpPr/>
          <p:nvPr/>
        </p:nvSpPr>
        <p:spPr>
          <a:xfrm>
            <a:off x="10425989" y="3392424"/>
            <a:ext cx="10341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850" dirty="0"/>
          </a:p>
        </p:txBody>
      </p:sp>
      <p:sp>
        <p:nvSpPr>
          <p:cNvPr id="41" name="Text 36"/>
          <p:cNvSpPr/>
          <p:nvPr/>
        </p:nvSpPr>
        <p:spPr>
          <a:xfrm>
            <a:off x="9420149" y="3639312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9C7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42" name="Text 37"/>
          <p:cNvSpPr/>
          <p:nvPr/>
        </p:nvSpPr>
        <p:spPr>
          <a:xfrm>
            <a:off x="9420149" y="3803904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0,96 €</a:t>
            </a:r>
            <a:endParaRPr lang="en-US" sz="2300" dirty="0"/>
          </a:p>
        </p:txBody>
      </p:sp>
      <p:sp>
        <p:nvSpPr>
          <p:cNvPr id="43" name="Text 38"/>
          <p:cNvSpPr/>
          <p:nvPr/>
        </p:nvSpPr>
        <p:spPr>
          <a:xfrm>
            <a:off x="10563149" y="3913632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49,29 ₴</a:t>
            </a:r>
            <a:endParaRPr lang="en-US" sz="1050" dirty="0"/>
          </a:p>
        </p:txBody>
      </p:sp>
      <p:pic>
        <p:nvPicPr>
          <p:cNvPr id="44" name="Image 3" descr="/home/user/Chaplygin-Illya/sias_deck/packs/spicy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368" y="4443984"/>
            <a:ext cx="1170432" cy="1773936"/>
          </a:xfrm>
          <a:prstGeom prst="rect">
            <a:avLst/>
          </a:prstGeom>
          <a:effectLst>
            <a:outerShdw sx="100000" sy="100000" kx="0" ky="0" algn="bl" rotWithShape="0" blurRad="190500" dist="88900" dir="5400000">
              <a:srgbClr val="2A1F16">
                <a:alpha val="26000"/>
              </a:srgbClr>
            </a:outerShdw>
          </a:effectLst>
        </p:spPr>
      </p:pic>
      <p:sp>
        <p:nvSpPr>
          <p:cNvPr id="45" name="Text 39"/>
          <p:cNvSpPr/>
          <p:nvPr/>
        </p:nvSpPr>
        <p:spPr>
          <a:xfrm>
            <a:off x="1956816" y="4462272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46" name="Text 40"/>
          <p:cNvSpPr/>
          <p:nvPr/>
        </p:nvSpPr>
        <p:spPr>
          <a:xfrm>
            <a:off x="1956816" y="4626864"/>
            <a:ext cx="21131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SPICY FLAVOR</a:t>
            </a:r>
            <a:endParaRPr lang="en-US" sz="1350" dirty="0"/>
          </a:p>
        </p:txBody>
      </p:sp>
      <p:sp>
        <p:nvSpPr>
          <p:cNvPr id="47" name="Text 41"/>
          <p:cNvSpPr/>
          <p:nvPr/>
        </p:nvSpPr>
        <p:spPr>
          <a:xfrm>
            <a:off x="1956816" y="5065776"/>
            <a:ext cx="21131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spc="100" kern="0" dirty="0">
                <a:solidFill>
                  <a:srgbClr val="9C7C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매운맛</a:t>
            </a:r>
            <a:endParaRPr lang="en-US" sz="900" dirty="0"/>
          </a:p>
        </p:txBody>
      </p:sp>
      <p:sp>
        <p:nvSpPr>
          <p:cNvPr id="48" name="Shape 42"/>
          <p:cNvSpPr/>
          <p:nvPr/>
        </p:nvSpPr>
        <p:spPr>
          <a:xfrm>
            <a:off x="1956816" y="5285232"/>
            <a:ext cx="2040026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49" name="Text 43"/>
          <p:cNvSpPr/>
          <p:nvPr/>
        </p:nvSpPr>
        <p:spPr>
          <a:xfrm>
            <a:off x="1956816" y="535838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112.5 G</a:t>
            </a:r>
            <a:endParaRPr lang="en-US" sz="1100" dirty="0"/>
          </a:p>
        </p:txBody>
      </p:sp>
      <p:sp>
        <p:nvSpPr>
          <p:cNvPr id="50" name="Text 44"/>
          <p:cNvSpPr/>
          <p:nvPr/>
        </p:nvSpPr>
        <p:spPr>
          <a:xfrm>
            <a:off x="2962656" y="5385816"/>
            <a:ext cx="10341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палети</a:t>
            </a:r>
            <a:endParaRPr lang="en-US" sz="850" dirty="0"/>
          </a:p>
        </p:txBody>
      </p:sp>
      <p:sp>
        <p:nvSpPr>
          <p:cNvPr id="51" name="Text 45"/>
          <p:cNvSpPr/>
          <p:nvPr/>
        </p:nvSpPr>
        <p:spPr>
          <a:xfrm>
            <a:off x="1956816" y="5632704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9C7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52" name="Text 46"/>
          <p:cNvSpPr/>
          <p:nvPr/>
        </p:nvSpPr>
        <p:spPr>
          <a:xfrm>
            <a:off x="1956816" y="5797296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0,96 €</a:t>
            </a:r>
            <a:endParaRPr lang="en-US" sz="2300" dirty="0"/>
          </a:p>
        </p:txBody>
      </p:sp>
      <p:sp>
        <p:nvSpPr>
          <p:cNvPr id="53" name="Text 47"/>
          <p:cNvSpPr/>
          <p:nvPr/>
        </p:nvSpPr>
        <p:spPr>
          <a:xfrm>
            <a:off x="3099816" y="5907024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49,29 ₴</a:t>
            </a:r>
            <a:endParaRPr lang="en-US" sz="1050" dirty="0"/>
          </a:p>
        </p:txBody>
      </p:sp>
      <p:pic>
        <p:nvPicPr>
          <p:cNvPr id="54" name="Image 4" descr="/home/user/Chaplygin-Illya/sias_deck/packs/beef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390034" y="4443984"/>
            <a:ext cx="1170432" cy="1773936"/>
          </a:xfrm>
          <a:prstGeom prst="rect">
            <a:avLst/>
          </a:prstGeom>
          <a:effectLst>
            <a:outerShdw sx="100000" sy="100000" kx="0" ky="0" algn="bl" rotWithShape="0" blurRad="190500" dist="88900" dir="5400000">
              <a:srgbClr val="2A1F16">
                <a:alpha val="26000"/>
              </a:srgbClr>
            </a:outerShdw>
          </a:effectLst>
        </p:spPr>
      </p:pic>
      <p:sp>
        <p:nvSpPr>
          <p:cNvPr id="55" name="Text 48"/>
          <p:cNvSpPr/>
          <p:nvPr/>
        </p:nvSpPr>
        <p:spPr>
          <a:xfrm>
            <a:off x="5688482" y="4462272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56" name="Text 49"/>
          <p:cNvSpPr/>
          <p:nvPr/>
        </p:nvSpPr>
        <p:spPr>
          <a:xfrm>
            <a:off x="5688482" y="4626864"/>
            <a:ext cx="21131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BEEF FLAVOR</a:t>
            </a:r>
            <a:endParaRPr lang="en-US" sz="1350" dirty="0"/>
          </a:p>
        </p:txBody>
      </p:sp>
      <p:sp>
        <p:nvSpPr>
          <p:cNvPr id="57" name="Text 50"/>
          <p:cNvSpPr/>
          <p:nvPr/>
        </p:nvSpPr>
        <p:spPr>
          <a:xfrm>
            <a:off x="5688482" y="5065776"/>
            <a:ext cx="21131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spc="100" kern="0" dirty="0">
                <a:solidFill>
                  <a:srgbClr val="9C7C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소고기맛</a:t>
            </a:r>
            <a:endParaRPr lang="en-US" sz="900" dirty="0"/>
          </a:p>
        </p:txBody>
      </p:sp>
      <p:sp>
        <p:nvSpPr>
          <p:cNvPr id="58" name="Shape 51"/>
          <p:cNvSpPr/>
          <p:nvPr/>
        </p:nvSpPr>
        <p:spPr>
          <a:xfrm>
            <a:off x="5688482" y="5285232"/>
            <a:ext cx="2040026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59" name="Text 52"/>
          <p:cNvSpPr/>
          <p:nvPr/>
        </p:nvSpPr>
        <p:spPr>
          <a:xfrm>
            <a:off x="5688482" y="535838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G</a:t>
            </a:r>
            <a:endParaRPr lang="en-US" sz="1100" dirty="0"/>
          </a:p>
        </p:txBody>
      </p:sp>
      <p:sp>
        <p:nvSpPr>
          <p:cNvPr id="60" name="Text 53"/>
          <p:cNvSpPr/>
          <p:nvPr/>
        </p:nvSpPr>
        <p:spPr>
          <a:xfrm>
            <a:off x="6694322" y="5385816"/>
            <a:ext cx="10341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палети</a:t>
            </a:r>
            <a:endParaRPr lang="en-US" sz="850" dirty="0"/>
          </a:p>
        </p:txBody>
      </p:sp>
      <p:sp>
        <p:nvSpPr>
          <p:cNvPr id="61" name="Text 54"/>
          <p:cNvSpPr/>
          <p:nvPr/>
        </p:nvSpPr>
        <p:spPr>
          <a:xfrm>
            <a:off x="5688482" y="5632704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9C7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62" name="Text 55"/>
          <p:cNvSpPr/>
          <p:nvPr/>
        </p:nvSpPr>
        <p:spPr>
          <a:xfrm>
            <a:off x="5688482" y="5797296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0,96 €</a:t>
            </a:r>
            <a:endParaRPr lang="en-US" sz="2300" dirty="0"/>
          </a:p>
        </p:txBody>
      </p:sp>
      <p:sp>
        <p:nvSpPr>
          <p:cNvPr id="63" name="Text 56"/>
          <p:cNvSpPr/>
          <p:nvPr/>
        </p:nvSpPr>
        <p:spPr>
          <a:xfrm>
            <a:off x="6831482" y="5907024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49,29 ₴</a:t>
            </a:r>
            <a:endParaRPr lang="en-US" sz="1050" dirty="0"/>
          </a:p>
        </p:txBody>
      </p:sp>
      <p:pic>
        <p:nvPicPr>
          <p:cNvPr id="64" name="Image 5" descr="/home/user/Chaplygin-Illya/sias_deck/packs/chicken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121701" y="4443984"/>
            <a:ext cx="1170432" cy="1773936"/>
          </a:xfrm>
          <a:prstGeom prst="rect">
            <a:avLst/>
          </a:prstGeom>
          <a:effectLst>
            <a:outerShdw sx="100000" sy="100000" kx="0" ky="0" algn="bl" rotWithShape="0" blurRad="190500" dist="88900" dir="5400000">
              <a:srgbClr val="2A1F16">
                <a:alpha val="26000"/>
              </a:srgbClr>
            </a:outerShdw>
          </a:effectLst>
        </p:spPr>
      </p:pic>
      <p:sp>
        <p:nvSpPr>
          <p:cNvPr id="65" name="Text 57"/>
          <p:cNvSpPr/>
          <p:nvPr/>
        </p:nvSpPr>
        <p:spPr>
          <a:xfrm>
            <a:off x="9420149" y="4462272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66" name="Text 58"/>
          <p:cNvSpPr/>
          <p:nvPr/>
        </p:nvSpPr>
        <p:spPr>
          <a:xfrm>
            <a:off x="9420149" y="4626864"/>
            <a:ext cx="21131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CHICKEN FLAVOR</a:t>
            </a:r>
            <a:endParaRPr lang="en-US" sz="1350" dirty="0"/>
          </a:p>
        </p:txBody>
      </p:sp>
      <p:sp>
        <p:nvSpPr>
          <p:cNvPr id="67" name="Text 59"/>
          <p:cNvSpPr/>
          <p:nvPr/>
        </p:nvSpPr>
        <p:spPr>
          <a:xfrm>
            <a:off x="9420149" y="5065776"/>
            <a:ext cx="21131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spc="100" kern="0" dirty="0">
                <a:solidFill>
                  <a:srgbClr val="9C7C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치킨맛</a:t>
            </a:r>
            <a:endParaRPr lang="en-US" sz="900" dirty="0"/>
          </a:p>
        </p:txBody>
      </p:sp>
      <p:sp>
        <p:nvSpPr>
          <p:cNvPr id="68" name="Shape 60"/>
          <p:cNvSpPr/>
          <p:nvPr/>
        </p:nvSpPr>
        <p:spPr>
          <a:xfrm>
            <a:off x="9420149" y="5285232"/>
            <a:ext cx="2040026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69" name="Text 61"/>
          <p:cNvSpPr/>
          <p:nvPr/>
        </p:nvSpPr>
        <p:spPr>
          <a:xfrm>
            <a:off x="9420149" y="535838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G</a:t>
            </a:r>
            <a:endParaRPr lang="en-US" sz="1100" dirty="0"/>
          </a:p>
        </p:txBody>
      </p:sp>
      <p:sp>
        <p:nvSpPr>
          <p:cNvPr id="70" name="Text 62"/>
          <p:cNvSpPr/>
          <p:nvPr/>
        </p:nvSpPr>
        <p:spPr>
          <a:xfrm>
            <a:off x="10425989" y="5385816"/>
            <a:ext cx="10341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850" dirty="0"/>
          </a:p>
        </p:txBody>
      </p:sp>
      <p:sp>
        <p:nvSpPr>
          <p:cNvPr id="71" name="Text 63"/>
          <p:cNvSpPr/>
          <p:nvPr/>
        </p:nvSpPr>
        <p:spPr>
          <a:xfrm>
            <a:off x="9420149" y="5632704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9C7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72" name="Text 64"/>
          <p:cNvSpPr/>
          <p:nvPr/>
        </p:nvSpPr>
        <p:spPr>
          <a:xfrm>
            <a:off x="9420149" y="5797296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0,96 €</a:t>
            </a:r>
            <a:endParaRPr lang="en-US" sz="2300" dirty="0"/>
          </a:p>
        </p:txBody>
      </p:sp>
      <p:sp>
        <p:nvSpPr>
          <p:cNvPr id="73" name="Text 65"/>
          <p:cNvSpPr/>
          <p:nvPr/>
        </p:nvSpPr>
        <p:spPr>
          <a:xfrm>
            <a:off x="10563149" y="5907024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49,29 ₴</a:t>
            </a:r>
            <a:endParaRPr lang="en-US" sz="1050" dirty="0"/>
          </a:p>
        </p:txBody>
      </p:sp>
      <p:sp>
        <p:nvSpPr>
          <p:cNvPr id="74" name="Shape 66"/>
          <p:cNvSpPr/>
          <p:nvPr/>
        </p:nvSpPr>
        <p:spPr>
          <a:xfrm>
            <a:off x="658368" y="6345936"/>
            <a:ext cx="10874959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75" name="Text 67"/>
          <p:cNvSpPr/>
          <p:nvPr/>
        </p:nvSpPr>
        <p:spPr>
          <a:xfrm>
            <a:off x="658368" y="6455664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i="1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1 пачки: EXW Roye + логістика + брокер + митне оформлення + ПДВ-передфінансування · мито 0% (EUR.1) · курс 1 € ≈ 51,2 ₴</a:t>
            </a:r>
            <a:endParaRPr lang="en-US" sz="800" dirty="0"/>
          </a:p>
        </p:txBody>
      </p:sp>
      <p:sp>
        <p:nvSpPr>
          <p:cNvPr id="76" name="Text 68"/>
          <p:cNvSpPr/>
          <p:nvPr/>
        </p:nvSpPr>
        <p:spPr>
          <a:xfrm>
            <a:off x="10710367" y="6291072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DCD4C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66928"/>
            <a:ext cx="10874959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69494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spc="260" kern="0" dirty="0">
                <a:solidFill>
                  <a:srgbClr val="C4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ВАРІАНТ ПОСТАЧАННЯ · 03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03504" y="932688"/>
            <a:ext cx="29260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20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6200" dirty="0"/>
          </a:p>
        </p:txBody>
      </p:sp>
      <p:sp>
        <p:nvSpPr>
          <p:cNvPr id="5" name="Text 3"/>
          <p:cNvSpPr/>
          <p:nvPr/>
        </p:nvSpPr>
        <p:spPr>
          <a:xfrm>
            <a:off x="2944368" y="129844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100" i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палети · Full Truck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658368" y="184708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i="1" dirty="0">
                <a:solidFill>
                  <a:srgbClr val="9C7C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повне авто · найнижча собівартість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184087" y="1060704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52 800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184087" y="149961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spc="6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пачок разом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967167" y="1060704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1 600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967167" y="149961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spc="6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пачок у палеті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750247" y="1060704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0 %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750247" y="149961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spc="6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мито · EUR.1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58368" y="2231136"/>
            <a:ext cx="10874959" cy="8230"/>
          </a:xfrm>
          <a:prstGeom prst="rect">
            <a:avLst/>
          </a:prstGeom>
          <a:solidFill>
            <a:srgbClr val="9C7C42"/>
          </a:solidFill>
          <a:ln/>
        </p:spPr>
      </p:sp>
      <p:pic>
        <p:nvPicPr>
          <p:cNvPr id="14" name="Image 0" descr="/home/user/Chaplygin-Illya/sias_deck/packs/goud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2450592"/>
            <a:ext cx="1170432" cy="1773936"/>
          </a:xfrm>
          <a:prstGeom prst="rect">
            <a:avLst/>
          </a:prstGeom>
          <a:effectLst>
            <a:outerShdw sx="100000" sy="100000" kx="0" ky="0" algn="bl" rotWithShape="0" blurRad="190500" dist="88900" dir="5400000">
              <a:srgbClr val="2A1F16">
                <a:alpha val="26000"/>
              </a:srgbClr>
            </a:outerShdw>
          </a:effectLst>
        </p:spPr>
      </p:pic>
      <p:sp>
        <p:nvSpPr>
          <p:cNvPr id="15" name="Text 12"/>
          <p:cNvSpPr/>
          <p:nvPr/>
        </p:nvSpPr>
        <p:spPr>
          <a:xfrm>
            <a:off x="1956816" y="2468880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16" name="Text 13"/>
          <p:cNvSpPr/>
          <p:nvPr/>
        </p:nvSpPr>
        <p:spPr>
          <a:xfrm>
            <a:off x="1956816" y="2633472"/>
            <a:ext cx="21131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GOUDA CHESSE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956816" y="3072384"/>
            <a:ext cx="21131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spc="100" kern="0" dirty="0">
                <a:solidFill>
                  <a:srgbClr val="9C7C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고다치즈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1956816" y="3291840"/>
            <a:ext cx="2040026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19" name="Text 16"/>
          <p:cNvSpPr/>
          <p:nvPr/>
        </p:nvSpPr>
        <p:spPr>
          <a:xfrm>
            <a:off x="1956816" y="336499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123 G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2962656" y="3392424"/>
            <a:ext cx="10341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палет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1956816" y="3639312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9C7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22" name="Text 19"/>
          <p:cNvSpPr/>
          <p:nvPr/>
        </p:nvSpPr>
        <p:spPr>
          <a:xfrm>
            <a:off x="1956816" y="3803904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1,02 €</a:t>
            </a:r>
            <a:endParaRPr lang="en-US" sz="2300" dirty="0"/>
          </a:p>
        </p:txBody>
      </p:sp>
      <p:sp>
        <p:nvSpPr>
          <p:cNvPr id="23" name="Text 20"/>
          <p:cNvSpPr/>
          <p:nvPr/>
        </p:nvSpPr>
        <p:spPr>
          <a:xfrm>
            <a:off x="3099816" y="3913632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52,13 ₴</a:t>
            </a:r>
            <a:endParaRPr lang="en-US" sz="1050" dirty="0"/>
          </a:p>
        </p:txBody>
      </p:sp>
      <p:pic>
        <p:nvPicPr>
          <p:cNvPr id="24" name="Image 1" descr="/home/user/Chaplygin-Illya/sias_deck/packs/carbonar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90034" y="2450592"/>
            <a:ext cx="1170432" cy="1773936"/>
          </a:xfrm>
          <a:prstGeom prst="rect">
            <a:avLst/>
          </a:prstGeom>
          <a:effectLst>
            <a:outerShdw sx="100000" sy="100000" kx="0" ky="0" algn="bl" rotWithShape="0" blurRad="190500" dist="88900" dir="5400000">
              <a:srgbClr val="2A1F16">
                <a:alpha val="26000"/>
              </a:srgbClr>
            </a:outerShdw>
          </a:effectLst>
        </p:spPr>
      </p:pic>
      <p:sp>
        <p:nvSpPr>
          <p:cNvPr id="25" name="Text 21"/>
          <p:cNvSpPr/>
          <p:nvPr/>
        </p:nvSpPr>
        <p:spPr>
          <a:xfrm>
            <a:off x="5688482" y="2468880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26" name="Text 22"/>
          <p:cNvSpPr/>
          <p:nvPr/>
        </p:nvSpPr>
        <p:spPr>
          <a:xfrm>
            <a:off x="5688482" y="2633472"/>
            <a:ext cx="21131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CARBONARA SPICY</a:t>
            </a:r>
            <a:endParaRPr lang="en-US" sz="1350" dirty="0"/>
          </a:p>
        </p:txBody>
      </p:sp>
      <p:sp>
        <p:nvSpPr>
          <p:cNvPr id="27" name="Text 23"/>
          <p:cNvSpPr/>
          <p:nvPr/>
        </p:nvSpPr>
        <p:spPr>
          <a:xfrm>
            <a:off x="5688482" y="3072384"/>
            <a:ext cx="21131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spc="100" kern="0" dirty="0">
                <a:solidFill>
                  <a:srgbClr val="9C7C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까르보나라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5688482" y="3291840"/>
            <a:ext cx="2040026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29" name="Text 25"/>
          <p:cNvSpPr/>
          <p:nvPr/>
        </p:nvSpPr>
        <p:spPr>
          <a:xfrm>
            <a:off x="5688482" y="336499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 G</a:t>
            </a:r>
            <a:endParaRPr lang="en-US" sz="1100" dirty="0"/>
          </a:p>
        </p:txBody>
      </p:sp>
      <p:sp>
        <p:nvSpPr>
          <p:cNvPr id="30" name="Text 26"/>
          <p:cNvSpPr/>
          <p:nvPr/>
        </p:nvSpPr>
        <p:spPr>
          <a:xfrm>
            <a:off x="6694322" y="3392424"/>
            <a:ext cx="10341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палет</a:t>
            </a:r>
            <a:endParaRPr lang="en-US" sz="850" dirty="0"/>
          </a:p>
        </p:txBody>
      </p:sp>
      <p:sp>
        <p:nvSpPr>
          <p:cNvPr id="31" name="Text 27"/>
          <p:cNvSpPr/>
          <p:nvPr/>
        </p:nvSpPr>
        <p:spPr>
          <a:xfrm>
            <a:off x="5688482" y="3639312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9C7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32" name="Text 28"/>
          <p:cNvSpPr/>
          <p:nvPr/>
        </p:nvSpPr>
        <p:spPr>
          <a:xfrm>
            <a:off x="5688482" y="3803904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1,02 €</a:t>
            </a:r>
            <a:endParaRPr lang="en-US" sz="2300" dirty="0"/>
          </a:p>
        </p:txBody>
      </p:sp>
      <p:sp>
        <p:nvSpPr>
          <p:cNvPr id="33" name="Text 29"/>
          <p:cNvSpPr/>
          <p:nvPr/>
        </p:nvSpPr>
        <p:spPr>
          <a:xfrm>
            <a:off x="6831482" y="3913632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52,13 ₴</a:t>
            </a:r>
            <a:endParaRPr lang="en-US" sz="1050" dirty="0"/>
          </a:p>
        </p:txBody>
      </p:sp>
      <p:pic>
        <p:nvPicPr>
          <p:cNvPr id="34" name="Image 2" descr="/home/user/Chaplygin-Illya/sias_deck/packs/vegetabl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21701" y="2450592"/>
            <a:ext cx="1170432" cy="1773936"/>
          </a:xfrm>
          <a:prstGeom prst="rect">
            <a:avLst/>
          </a:prstGeom>
          <a:effectLst>
            <a:outerShdw sx="100000" sy="100000" kx="0" ky="0" algn="bl" rotWithShape="0" blurRad="190500" dist="88900" dir="5400000">
              <a:srgbClr val="2A1F16">
                <a:alpha val="26000"/>
              </a:srgbClr>
            </a:outerShdw>
          </a:effectLst>
        </p:spPr>
      </p:pic>
      <p:sp>
        <p:nvSpPr>
          <p:cNvPr id="35" name="Text 30"/>
          <p:cNvSpPr/>
          <p:nvPr/>
        </p:nvSpPr>
        <p:spPr>
          <a:xfrm>
            <a:off x="9420149" y="2468880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36" name="Text 31"/>
          <p:cNvSpPr/>
          <p:nvPr/>
        </p:nvSpPr>
        <p:spPr>
          <a:xfrm>
            <a:off x="9420149" y="2633472"/>
            <a:ext cx="21131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VEGETABLE FLAVOR</a:t>
            </a:r>
            <a:endParaRPr lang="en-US" sz="1350" dirty="0"/>
          </a:p>
        </p:txBody>
      </p:sp>
      <p:sp>
        <p:nvSpPr>
          <p:cNvPr id="37" name="Text 32"/>
          <p:cNvSpPr/>
          <p:nvPr/>
        </p:nvSpPr>
        <p:spPr>
          <a:xfrm>
            <a:off x="9420149" y="3072384"/>
            <a:ext cx="21131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spc="100" kern="0" dirty="0">
                <a:solidFill>
                  <a:srgbClr val="9C7C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야채맛</a:t>
            </a:r>
            <a:endParaRPr lang="en-US" sz="900" dirty="0"/>
          </a:p>
        </p:txBody>
      </p:sp>
      <p:sp>
        <p:nvSpPr>
          <p:cNvPr id="38" name="Shape 33"/>
          <p:cNvSpPr/>
          <p:nvPr/>
        </p:nvSpPr>
        <p:spPr>
          <a:xfrm>
            <a:off x="9420149" y="3291840"/>
            <a:ext cx="2040026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39" name="Text 34"/>
          <p:cNvSpPr/>
          <p:nvPr/>
        </p:nvSpPr>
        <p:spPr>
          <a:xfrm>
            <a:off x="9420149" y="336499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G</a:t>
            </a:r>
            <a:endParaRPr lang="en-US" sz="1100" dirty="0"/>
          </a:p>
        </p:txBody>
      </p:sp>
      <p:sp>
        <p:nvSpPr>
          <p:cNvPr id="40" name="Text 35"/>
          <p:cNvSpPr/>
          <p:nvPr/>
        </p:nvSpPr>
        <p:spPr>
          <a:xfrm>
            <a:off x="10425989" y="3392424"/>
            <a:ext cx="10341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палети</a:t>
            </a:r>
            <a:endParaRPr lang="en-US" sz="850" dirty="0"/>
          </a:p>
        </p:txBody>
      </p:sp>
      <p:sp>
        <p:nvSpPr>
          <p:cNvPr id="41" name="Text 36"/>
          <p:cNvSpPr/>
          <p:nvPr/>
        </p:nvSpPr>
        <p:spPr>
          <a:xfrm>
            <a:off x="9420149" y="3639312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9C7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42" name="Text 37"/>
          <p:cNvSpPr/>
          <p:nvPr/>
        </p:nvSpPr>
        <p:spPr>
          <a:xfrm>
            <a:off x="9420149" y="3803904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0,88 €</a:t>
            </a:r>
            <a:endParaRPr lang="en-US" sz="2300" dirty="0"/>
          </a:p>
        </p:txBody>
      </p:sp>
      <p:sp>
        <p:nvSpPr>
          <p:cNvPr id="43" name="Text 38"/>
          <p:cNvSpPr/>
          <p:nvPr/>
        </p:nvSpPr>
        <p:spPr>
          <a:xfrm>
            <a:off x="10563149" y="3913632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45,18 ₴</a:t>
            </a:r>
            <a:endParaRPr lang="en-US" sz="1050" dirty="0"/>
          </a:p>
        </p:txBody>
      </p:sp>
      <p:pic>
        <p:nvPicPr>
          <p:cNvPr id="44" name="Image 3" descr="/home/user/Chaplygin-Illya/sias_deck/packs/spicy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368" y="4443984"/>
            <a:ext cx="1170432" cy="1773936"/>
          </a:xfrm>
          <a:prstGeom prst="rect">
            <a:avLst/>
          </a:prstGeom>
          <a:effectLst>
            <a:outerShdw sx="100000" sy="100000" kx="0" ky="0" algn="bl" rotWithShape="0" blurRad="190500" dist="88900" dir="5400000">
              <a:srgbClr val="2A1F16">
                <a:alpha val="26000"/>
              </a:srgbClr>
            </a:outerShdw>
          </a:effectLst>
        </p:spPr>
      </p:pic>
      <p:sp>
        <p:nvSpPr>
          <p:cNvPr id="45" name="Text 39"/>
          <p:cNvSpPr/>
          <p:nvPr/>
        </p:nvSpPr>
        <p:spPr>
          <a:xfrm>
            <a:off x="1956816" y="4462272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46" name="Text 40"/>
          <p:cNvSpPr/>
          <p:nvPr/>
        </p:nvSpPr>
        <p:spPr>
          <a:xfrm>
            <a:off x="1956816" y="4626864"/>
            <a:ext cx="21131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SPICY FLAVOR</a:t>
            </a:r>
            <a:endParaRPr lang="en-US" sz="1350" dirty="0"/>
          </a:p>
        </p:txBody>
      </p:sp>
      <p:sp>
        <p:nvSpPr>
          <p:cNvPr id="47" name="Text 41"/>
          <p:cNvSpPr/>
          <p:nvPr/>
        </p:nvSpPr>
        <p:spPr>
          <a:xfrm>
            <a:off x="1956816" y="5065776"/>
            <a:ext cx="21131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spc="100" kern="0" dirty="0">
                <a:solidFill>
                  <a:srgbClr val="9C7C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매운맛</a:t>
            </a:r>
            <a:endParaRPr lang="en-US" sz="900" dirty="0"/>
          </a:p>
        </p:txBody>
      </p:sp>
      <p:sp>
        <p:nvSpPr>
          <p:cNvPr id="48" name="Shape 42"/>
          <p:cNvSpPr/>
          <p:nvPr/>
        </p:nvSpPr>
        <p:spPr>
          <a:xfrm>
            <a:off x="1956816" y="5285232"/>
            <a:ext cx="2040026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49" name="Text 43"/>
          <p:cNvSpPr/>
          <p:nvPr/>
        </p:nvSpPr>
        <p:spPr>
          <a:xfrm>
            <a:off x="1956816" y="535838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112.5 G</a:t>
            </a:r>
            <a:endParaRPr lang="en-US" sz="1100" dirty="0"/>
          </a:p>
        </p:txBody>
      </p:sp>
      <p:sp>
        <p:nvSpPr>
          <p:cNvPr id="50" name="Text 44"/>
          <p:cNvSpPr/>
          <p:nvPr/>
        </p:nvSpPr>
        <p:spPr>
          <a:xfrm>
            <a:off x="2962656" y="5385816"/>
            <a:ext cx="10341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палет</a:t>
            </a:r>
            <a:endParaRPr lang="en-US" sz="850" dirty="0"/>
          </a:p>
        </p:txBody>
      </p:sp>
      <p:sp>
        <p:nvSpPr>
          <p:cNvPr id="51" name="Text 45"/>
          <p:cNvSpPr/>
          <p:nvPr/>
        </p:nvSpPr>
        <p:spPr>
          <a:xfrm>
            <a:off x="1956816" y="5632704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9C7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52" name="Text 46"/>
          <p:cNvSpPr/>
          <p:nvPr/>
        </p:nvSpPr>
        <p:spPr>
          <a:xfrm>
            <a:off x="1956816" y="5797296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0,88 €</a:t>
            </a:r>
            <a:endParaRPr lang="en-US" sz="2300" dirty="0"/>
          </a:p>
        </p:txBody>
      </p:sp>
      <p:sp>
        <p:nvSpPr>
          <p:cNvPr id="53" name="Text 47"/>
          <p:cNvSpPr/>
          <p:nvPr/>
        </p:nvSpPr>
        <p:spPr>
          <a:xfrm>
            <a:off x="3099816" y="5907024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45,18 ₴</a:t>
            </a:r>
            <a:endParaRPr lang="en-US" sz="1050" dirty="0"/>
          </a:p>
        </p:txBody>
      </p:sp>
      <p:pic>
        <p:nvPicPr>
          <p:cNvPr id="54" name="Image 4" descr="/home/user/Chaplygin-Illya/sias_deck/packs/beef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390034" y="4443984"/>
            <a:ext cx="1170432" cy="1773936"/>
          </a:xfrm>
          <a:prstGeom prst="rect">
            <a:avLst/>
          </a:prstGeom>
          <a:effectLst>
            <a:outerShdw sx="100000" sy="100000" kx="0" ky="0" algn="bl" rotWithShape="0" blurRad="190500" dist="88900" dir="5400000">
              <a:srgbClr val="2A1F16">
                <a:alpha val="26000"/>
              </a:srgbClr>
            </a:outerShdw>
          </a:effectLst>
        </p:spPr>
      </p:pic>
      <p:sp>
        <p:nvSpPr>
          <p:cNvPr id="55" name="Text 48"/>
          <p:cNvSpPr/>
          <p:nvPr/>
        </p:nvSpPr>
        <p:spPr>
          <a:xfrm>
            <a:off x="5688482" y="4462272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56" name="Text 49"/>
          <p:cNvSpPr/>
          <p:nvPr/>
        </p:nvSpPr>
        <p:spPr>
          <a:xfrm>
            <a:off x="5688482" y="4626864"/>
            <a:ext cx="21131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BEEF FLAVOR</a:t>
            </a:r>
            <a:endParaRPr lang="en-US" sz="1350" dirty="0"/>
          </a:p>
        </p:txBody>
      </p:sp>
      <p:sp>
        <p:nvSpPr>
          <p:cNvPr id="57" name="Text 50"/>
          <p:cNvSpPr/>
          <p:nvPr/>
        </p:nvSpPr>
        <p:spPr>
          <a:xfrm>
            <a:off x="5688482" y="5065776"/>
            <a:ext cx="21131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spc="100" kern="0" dirty="0">
                <a:solidFill>
                  <a:srgbClr val="9C7C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소고기맛</a:t>
            </a:r>
            <a:endParaRPr lang="en-US" sz="900" dirty="0"/>
          </a:p>
        </p:txBody>
      </p:sp>
      <p:sp>
        <p:nvSpPr>
          <p:cNvPr id="58" name="Shape 51"/>
          <p:cNvSpPr/>
          <p:nvPr/>
        </p:nvSpPr>
        <p:spPr>
          <a:xfrm>
            <a:off x="5688482" y="5285232"/>
            <a:ext cx="2040026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59" name="Text 52"/>
          <p:cNvSpPr/>
          <p:nvPr/>
        </p:nvSpPr>
        <p:spPr>
          <a:xfrm>
            <a:off x="5688482" y="535838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G</a:t>
            </a:r>
            <a:endParaRPr lang="en-US" sz="1100" dirty="0"/>
          </a:p>
        </p:txBody>
      </p:sp>
      <p:sp>
        <p:nvSpPr>
          <p:cNvPr id="60" name="Text 53"/>
          <p:cNvSpPr/>
          <p:nvPr/>
        </p:nvSpPr>
        <p:spPr>
          <a:xfrm>
            <a:off x="6694322" y="5385816"/>
            <a:ext cx="10341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палет</a:t>
            </a:r>
            <a:endParaRPr lang="en-US" sz="850" dirty="0"/>
          </a:p>
        </p:txBody>
      </p:sp>
      <p:sp>
        <p:nvSpPr>
          <p:cNvPr id="61" name="Text 54"/>
          <p:cNvSpPr/>
          <p:nvPr/>
        </p:nvSpPr>
        <p:spPr>
          <a:xfrm>
            <a:off x="5688482" y="5632704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9C7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62" name="Text 55"/>
          <p:cNvSpPr/>
          <p:nvPr/>
        </p:nvSpPr>
        <p:spPr>
          <a:xfrm>
            <a:off x="5688482" y="5797296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0,88 €</a:t>
            </a:r>
            <a:endParaRPr lang="en-US" sz="2300" dirty="0"/>
          </a:p>
        </p:txBody>
      </p:sp>
      <p:sp>
        <p:nvSpPr>
          <p:cNvPr id="63" name="Text 56"/>
          <p:cNvSpPr/>
          <p:nvPr/>
        </p:nvSpPr>
        <p:spPr>
          <a:xfrm>
            <a:off x="6831482" y="5907024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45,18 ₴</a:t>
            </a:r>
            <a:endParaRPr lang="en-US" sz="1050" dirty="0"/>
          </a:p>
        </p:txBody>
      </p:sp>
      <p:pic>
        <p:nvPicPr>
          <p:cNvPr id="64" name="Image 5" descr="/home/user/Chaplygin-Illya/sias_deck/packs/chicken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121701" y="4443984"/>
            <a:ext cx="1170432" cy="1773936"/>
          </a:xfrm>
          <a:prstGeom prst="rect">
            <a:avLst/>
          </a:prstGeom>
          <a:effectLst>
            <a:outerShdw sx="100000" sy="100000" kx="0" ky="0" algn="bl" rotWithShape="0" blurRad="190500" dist="88900" dir="5400000">
              <a:srgbClr val="2A1F16">
                <a:alpha val="26000"/>
              </a:srgbClr>
            </a:outerShdw>
          </a:effectLst>
        </p:spPr>
      </p:pic>
      <p:sp>
        <p:nvSpPr>
          <p:cNvPr id="65" name="Text 57"/>
          <p:cNvSpPr/>
          <p:nvPr/>
        </p:nvSpPr>
        <p:spPr>
          <a:xfrm>
            <a:off x="9420149" y="4462272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00" spc="14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NOODLE · RAMEN BAG</a:t>
            </a:r>
            <a:endParaRPr lang="en-US" sz="700" dirty="0"/>
          </a:p>
        </p:txBody>
      </p:sp>
      <p:sp>
        <p:nvSpPr>
          <p:cNvPr id="66" name="Text 58"/>
          <p:cNvSpPr/>
          <p:nvPr/>
        </p:nvSpPr>
        <p:spPr>
          <a:xfrm>
            <a:off x="9420149" y="4626864"/>
            <a:ext cx="21131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CHICKEN FLAVOR</a:t>
            </a:r>
            <a:endParaRPr lang="en-US" sz="1350" dirty="0"/>
          </a:p>
        </p:txBody>
      </p:sp>
      <p:sp>
        <p:nvSpPr>
          <p:cNvPr id="67" name="Text 59"/>
          <p:cNvSpPr/>
          <p:nvPr/>
        </p:nvSpPr>
        <p:spPr>
          <a:xfrm>
            <a:off x="9420149" y="5065776"/>
            <a:ext cx="21131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spc="100" kern="0" dirty="0">
                <a:solidFill>
                  <a:srgbClr val="9C7C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치킨맛</a:t>
            </a:r>
            <a:endParaRPr lang="en-US" sz="900" dirty="0"/>
          </a:p>
        </p:txBody>
      </p:sp>
      <p:sp>
        <p:nvSpPr>
          <p:cNvPr id="68" name="Shape 60"/>
          <p:cNvSpPr/>
          <p:nvPr/>
        </p:nvSpPr>
        <p:spPr>
          <a:xfrm>
            <a:off x="9420149" y="5285232"/>
            <a:ext cx="2040026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69" name="Text 61"/>
          <p:cNvSpPr/>
          <p:nvPr/>
        </p:nvSpPr>
        <p:spPr>
          <a:xfrm>
            <a:off x="9420149" y="535838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7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G</a:t>
            </a:r>
            <a:endParaRPr lang="en-US" sz="1100" dirty="0"/>
          </a:p>
        </p:txBody>
      </p:sp>
      <p:sp>
        <p:nvSpPr>
          <p:cNvPr id="70" name="Text 62"/>
          <p:cNvSpPr/>
          <p:nvPr/>
        </p:nvSpPr>
        <p:spPr>
          <a:xfrm>
            <a:off x="10425989" y="5385816"/>
            <a:ext cx="10341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палет</a:t>
            </a:r>
            <a:endParaRPr lang="en-US" sz="850" dirty="0"/>
          </a:p>
        </p:txBody>
      </p:sp>
      <p:sp>
        <p:nvSpPr>
          <p:cNvPr id="71" name="Text 63"/>
          <p:cNvSpPr/>
          <p:nvPr/>
        </p:nvSpPr>
        <p:spPr>
          <a:xfrm>
            <a:off x="9420149" y="5632704"/>
            <a:ext cx="211317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80" b="1" spc="120" kern="0" dirty="0">
                <a:solidFill>
                  <a:srgbClr val="9C7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ЗА 1 ПАЧКУ</a:t>
            </a:r>
            <a:endParaRPr lang="en-US" sz="680" dirty="0"/>
          </a:p>
        </p:txBody>
      </p:sp>
      <p:sp>
        <p:nvSpPr>
          <p:cNvPr id="72" name="Text 64"/>
          <p:cNvSpPr/>
          <p:nvPr/>
        </p:nvSpPr>
        <p:spPr>
          <a:xfrm>
            <a:off x="9420149" y="5797296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C41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0,88 €</a:t>
            </a:r>
            <a:endParaRPr lang="en-US" sz="2300" dirty="0"/>
          </a:p>
        </p:txBody>
      </p:sp>
      <p:sp>
        <p:nvSpPr>
          <p:cNvPr id="73" name="Text 65"/>
          <p:cNvSpPr/>
          <p:nvPr/>
        </p:nvSpPr>
        <p:spPr>
          <a:xfrm>
            <a:off x="10563149" y="5907024"/>
            <a:ext cx="897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45,18 ₴</a:t>
            </a:r>
            <a:endParaRPr lang="en-US" sz="1050" dirty="0"/>
          </a:p>
        </p:txBody>
      </p:sp>
      <p:sp>
        <p:nvSpPr>
          <p:cNvPr id="74" name="Shape 66"/>
          <p:cNvSpPr/>
          <p:nvPr/>
        </p:nvSpPr>
        <p:spPr>
          <a:xfrm>
            <a:off x="658368" y="6345936"/>
            <a:ext cx="10874959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75" name="Text 67"/>
          <p:cNvSpPr/>
          <p:nvPr/>
        </p:nvSpPr>
        <p:spPr>
          <a:xfrm>
            <a:off x="658368" y="6455664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i="1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1 пачки: EXW Roye + логістика + брокер + митне оформлення + ПДВ-передфінансування · мито 0% (EUR.1) · курс 1 € ≈ 51,2 ₴</a:t>
            </a:r>
            <a:endParaRPr lang="en-US" sz="800" dirty="0"/>
          </a:p>
        </p:txBody>
      </p:sp>
      <p:sp>
        <p:nvSpPr>
          <p:cNvPr id="76" name="Text 68"/>
          <p:cNvSpPr/>
          <p:nvPr/>
        </p:nvSpPr>
        <p:spPr>
          <a:xfrm>
            <a:off x="10710367" y="6291072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DCD4C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66928"/>
            <a:ext cx="10874959" cy="8230"/>
          </a:xfrm>
          <a:prstGeom prst="rect">
            <a:avLst/>
          </a:prstGeom>
          <a:solidFill>
            <a:srgbClr val="DCD4C6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69494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spc="260" kern="0" dirty="0">
                <a:solidFill>
                  <a:srgbClr val="C4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РИНОК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12648" y="969264"/>
            <a:ext cx="10881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17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 представлена продукція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58368" y="181051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9C7C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мережі та дистриб'ютори, з якими працює SIAS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58368" y="2286000"/>
            <a:ext cx="10874959" cy="8230"/>
          </a:xfrm>
          <a:prstGeom prst="rect">
            <a:avLst/>
          </a:prstGeom>
          <a:solidFill>
            <a:srgbClr val="9C7C42"/>
          </a:solidFill>
          <a:ln/>
        </p:spPr>
      </p:sp>
      <p:pic>
        <p:nvPicPr>
          <p:cNvPr id="7" name="Image 0" descr="/home/user/Chaplygin-Illya/sias_deck/logos/carrefou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8096" y="2596896"/>
            <a:ext cx="1410157" cy="87782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58368" y="3694176"/>
            <a:ext cx="1629613" cy="8230"/>
          </a:xfrm>
          <a:prstGeom prst="rect">
            <a:avLst/>
          </a:prstGeom>
          <a:solidFill>
            <a:srgbClr val="DCD4C6"/>
          </a:solidFill>
          <a:ln/>
        </p:spPr>
      </p:sp>
      <p:pic>
        <p:nvPicPr>
          <p:cNvPr id="9" name="Image 1" descr="/home/user/Chaplygin-Illya/sias_deck/logos/lecler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617165" y="2596896"/>
            <a:ext cx="1410157" cy="877824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2507437" y="3694176"/>
            <a:ext cx="1629613" cy="8230"/>
          </a:xfrm>
          <a:prstGeom prst="rect">
            <a:avLst/>
          </a:prstGeom>
          <a:solidFill>
            <a:srgbClr val="DCD4C6"/>
          </a:solidFill>
          <a:ln/>
        </p:spPr>
      </p:sp>
      <p:pic>
        <p:nvPicPr>
          <p:cNvPr id="11" name="Image 2" descr="/home/user/Chaplygin-Illya/sias_deck/logos/systemeu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466234" y="2596896"/>
            <a:ext cx="1410157" cy="877824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356506" y="3694176"/>
            <a:ext cx="1629613" cy="8230"/>
          </a:xfrm>
          <a:prstGeom prst="rect">
            <a:avLst/>
          </a:prstGeom>
          <a:solidFill>
            <a:srgbClr val="DCD4C6"/>
          </a:solidFill>
          <a:ln/>
        </p:spPr>
      </p:sp>
      <p:pic>
        <p:nvPicPr>
          <p:cNvPr id="13" name="Image 3" descr="/home/user/Chaplygin-Illya/sias_deck/logos/aldi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315304" y="2596896"/>
            <a:ext cx="1410157" cy="877824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205576" y="3694176"/>
            <a:ext cx="1629613" cy="8230"/>
          </a:xfrm>
          <a:prstGeom prst="rect">
            <a:avLst/>
          </a:prstGeom>
          <a:solidFill>
            <a:srgbClr val="DCD4C6"/>
          </a:solidFill>
          <a:ln/>
        </p:spPr>
      </p:sp>
      <p:pic>
        <p:nvPicPr>
          <p:cNvPr id="15" name="Image 4" descr="/home/user/Chaplygin-Illya/sias_deck/logos/eurospin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164373" y="2596896"/>
            <a:ext cx="1410157" cy="877824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8054645" y="3694176"/>
            <a:ext cx="1629613" cy="8230"/>
          </a:xfrm>
          <a:prstGeom prst="rect">
            <a:avLst/>
          </a:prstGeom>
          <a:solidFill>
            <a:srgbClr val="DCD4C6"/>
          </a:solidFill>
          <a:ln/>
        </p:spPr>
      </p:sp>
      <p:pic>
        <p:nvPicPr>
          <p:cNvPr id="17" name="Image 5" descr="/home/user/Chaplygin-Illya/sias_deck/logos/bofrost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10013442" y="2596896"/>
            <a:ext cx="1410157" cy="877824"/>
          </a:xfrm>
          <a:prstGeom prst="rect">
            <a:avLst/>
          </a:prstGeom>
        </p:spPr>
      </p:pic>
      <p:sp>
        <p:nvSpPr>
          <p:cNvPr id="18" name="Shape 10"/>
          <p:cNvSpPr/>
          <p:nvPr/>
        </p:nvSpPr>
        <p:spPr>
          <a:xfrm>
            <a:off x="9903714" y="3694176"/>
            <a:ext cx="1629613" cy="8230"/>
          </a:xfrm>
          <a:prstGeom prst="rect">
            <a:avLst/>
          </a:prstGeom>
          <a:solidFill>
            <a:srgbClr val="DCD4C6"/>
          </a:solidFill>
          <a:ln/>
        </p:spPr>
      </p:sp>
      <p:pic>
        <p:nvPicPr>
          <p:cNvPr id="19" name="Image 6" descr="/home/user/Chaplygin-Illya/sias_deck/logos/sysco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768096" y="3913632"/>
            <a:ext cx="1410157" cy="877824"/>
          </a:xfrm>
          <a:prstGeom prst="rect">
            <a:avLst/>
          </a:prstGeom>
        </p:spPr>
      </p:pic>
      <p:sp>
        <p:nvSpPr>
          <p:cNvPr id="20" name="Shape 11"/>
          <p:cNvSpPr/>
          <p:nvPr/>
        </p:nvSpPr>
        <p:spPr>
          <a:xfrm>
            <a:off x="658368" y="5010912"/>
            <a:ext cx="1629613" cy="8230"/>
          </a:xfrm>
          <a:prstGeom prst="rect">
            <a:avLst/>
          </a:prstGeom>
          <a:solidFill>
            <a:srgbClr val="DCD4C6"/>
          </a:solidFill>
          <a:ln/>
        </p:spPr>
      </p:sp>
      <p:pic>
        <p:nvPicPr>
          <p:cNvPr id="21" name="Image 7" descr="/home/user/Chaplygin-Illya/sias_deck/logos/hellofresh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2617165" y="3913632"/>
            <a:ext cx="1410157" cy="877824"/>
          </a:xfrm>
          <a:prstGeom prst="rect">
            <a:avLst/>
          </a:prstGeom>
        </p:spPr>
      </p:pic>
      <p:sp>
        <p:nvSpPr>
          <p:cNvPr id="22" name="Shape 12"/>
          <p:cNvSpPr/>
          <p:nvPr/>
        </p:nvSpPr>
        <p:spPr>
          <a:xfrm>
            <a:off x="2507437" y="5010912"/>
            <a:ext cx="1629613" cy="8230"/>
          </a:xfrm>
          <a:prstGeom prst="rect">
            <a:avLst/>
          </a:prstGeom>
          <a:solidFill>
            <a:srgbClr val="DCD4C6"/>
          </a:solidFill>
          <a:ln/>
        </p:spPr>
      </p:sp>
      <p:pic>
        <p:nvPicPr>
          <p:cNvPr id="23" name="Image 8" descr="/home/user/Chaplygin-Illya/sias_deck/logos/wismettac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4466234" y="3913632"/>
            <a:ext cx="1410157" cy="877824"/>
          </a:xfrm>
          <a:prstGeom prst="rect">
            <a:avLst/>
          </a:prstGeom>
        </p:spPr>
      </p:pic>
      <p:sp>
        <p:nvSpPr>
          <p:cNvPr id="24" name="Shape 13"/>
          <p:cNvSpPr/>
          <p:nvPr/>
        </p:nvSpPr>
        <p:spPr>
          <a:xfrm>
            <a:off x="4356506" y="5010912"/>
            <a:ext cx="1629613" cy="8230"/>
          </a:xfrm>
          <a:prstGeom prst="rect">
            <a:avLst/>
          </a:prstGeom>
          <a:solidFill>
            <a:srgbClr val="DCD4C6"/>
          </a:solidFill>
          <a:ln/>
        </p:spPr>
      </p:sp>
      <p:pic>
        <p:nvPicPr>
          <p:cNvPr id="25" name="Image 9" descr="/home/user/Chaplygin-Illya/sias_deck/logos/geia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6315304" y="3913632"/>
            <a:ext cx="1410157" cy="877824"/>
          </a:xfrm>
          <a:prstGeom prst="rect">
            <a:avLst/>
          </a:prstGeom>
        </p:spPr>
      </p:pic>
      <p:sp>
        <p:nvSpPr>
          <p:cNvPr id="26" name="Shape 14"/>
          <p:cNvSpPr/>
          <p:nvPr/>
        </p:nvSpPr>
        <p:spPr>
          <a:xfrm>
            <a:off x="6205576" y="5010912"/>
            <a:ext cx="1629613" cy="8230"/>
          </a:xfrm>
          <a:prstGeom prst="rect">
            <a:avLst/>
          </a:prstGeom>
          <a:solidFill>
            <a:srgbClr val="DCD4C6"/>
          </a:solidFill>
          <a:ln/>
        </p:spPr>
      </p:sp>
      <p:pic>
        <p:nvPicPr>
          <p:cNvPr id="27" name="Image 10" descr="/home/user/Chaplygin-Illya/sias_deck/logos/bibars.pn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8164373" y="3913632"/>
            <a:ext cx="1410157" cy="877824"/>
          </a:xfrm>
          <a:prstGeom prst="rect">
            <a:avLst/>
          </a:prstGeom>
        </p:spPr>
      </p:pic>
      <p:sp>
        <p:nvSpPr>
          <p:cNvPr id="28" name="Shape 15"/>
          <p:cNvSpPr/>
          <p:nvPr/>
        </p:nvSpPr>
        <p:spPr>
          <a:xfrm>
            <a:off x="8054645" y="5010912"/>
            <a:ext cx="1629613" cy="8230"/>
          </a:xfrm>
          <a:prstGeom prst="rect">
            <a:avLst/>
          </a:prstGeom>
          <a:solidFill>
            <a:srgbClr val="DCD4C6"/>
          </a:solidFill>
          <a:ln/>
        </p:spPr>
      </p:sp>
      <p:pic>
        <p:nvPicPr>
          <p:cNvPr id="29" name="Image 11" descr="/home/user/Chaplygin-Illya/sias_deck/logos/dipsa.pn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10013442" y="3913632"/>
            <a:ext cx="1410157" cy="877824"/>
          </a:xfrm>
          <a:prstGeom prst="rect">
            <a:avLst/>
          </a:prstGeom>
        </p:spPr>
      </p:pic>
      <p:sp>
        <p:nvSpPr>
          <p:cNvPr id="30" name="Shape 16"/>
          <p:cNvSpPr/>
          <p:nvPr/>
        </p:nvSpPr>
        <p:spPr>
          <a:xfrm>
            <a:off x="9903714" y="5010912"/>
            <a:ext cx="1629613" cy="8230"/>
          </a:xfrm>
          <a:prstGeom prst="rect">
            <a:avLst/>
          </a:prstGeom>
          <a:solidFill>
            <a:srgbClr val="DCD4C6"/>
          </a:solidFill>
          <a:ln/>
        </p:spPr>
      </p:sp>
      <p:pic>
        <p:nvPicPr>
          <p:cNvPr id="31" name="Image 12" descr="/home/user/Chaplygin-Illya/sias_deck/logos/forezia.pn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768096" y="5230368"/>
            <a:ext cx="1410157" cy="877824"/>
          </a:xfrm>
          <a:prstGeom prst="rect">
            <a:avLst/>
          </a:prstGeom>
        </p:spPr>
      </p:pic>
      <p:pic>
        <p:nvPicPr>
          <p:cNvPr id="32" name="Image 13" descr="/home/user/Chaplygin-Illya/sias_deck/logos/ttfoods.png">    </p:cNvPr>
          <p:cNvPicPr>
            <a:picLocks noChangeAspect="1"/>
          </p:cNvPicPr>
          <p:nvPr/>
        </p:nvPicPr>
        <p:blipFill>
          <a:blip r:embed="rId14"/>
          <a:srcRect l="0" r="0" t="0" b="0"/>
          <a:stretch/>
        </p:blipFill>
        <p:spPr>
          <a:xfrm>
            <a:off x="2617165" y="5230368"/>
            <a:ext cx="1410157" cy="877824"/>
          </a:xfrm>
          <a:prstGeom prst="rect">
            <a:avLst/>
          </a:prstGeom>
        </p:spPr>
      </p:pic>
      <p:pic>
        <p:nvPicPr>
          <p:cNvPr id="33" name="Image 14" descr="/home/user/Chaplygin-Illya/sias_deck/logos/gotiger.png">    </p:cNvPr>
          <p:cNvPicPr>
            <a:picLocks noChangeAspect="1"/>
          </p:cNvPicPr>
          <p:nvPr/>
        </p:nvPicPr>
        <p:blipFill>
          <a:blip r:embed="rId15"/>
          <a:srcRect l="0" r="0" t="0" b="0"/>
          <a:stretch/>
        </p:blipFill>
        <p:spPr>
          <a:xfrm>
            <a:off x="4466234" y="5230368"/>
            <a:ext cx="1410157" cy="877824"/>
          </a:xfrm>
          <a:prstGeom prst="rect">
            <a:avLst/>
          </a:prstGeom>
        </p:spPr>
      </p:pic>
      <p:pic>
        <p:nvPicPr>
          <p:cNvPr id="34" name="Image 15" descr="/home/user/Chaplygin-Illya/sias_deck/logos/foodex.png">    </p:cNvPr>
          <p:cNvPicPr>
            <a:picLocks noChangeAspect="1"/>
          </p:cNvPicPr>
          <p:nvPr/>
        </p:nvPicPr>
        <p:blipFill>
          <a:blip r:embed="rId16"/>
          <a:srcRect l="0" r="0" t="0" b="0"/>
          <a:stretch/>
        </p:blipFill>
        <p:spPr>
          <a:xfrm>
            <a:off x="6315304" y="5230368"/>
            <a:ext cx="1410157" cy="877824"/>
          </a:xfrm>
          <a:prstGeom prst="rect">
            <a:avLst/>
          </a:prstGeom>
        </p:spPr>
      </p:pic>
      <p:pic>
        <p:nvPicPr>
          <p:cNvPr id="35" name="Image 16" descr="/home/user/Chaplygin-Illya/sias_deck/logos/senko.png">    </p:cNvPr>
          <p:cNvPicPr>
            <a:picLocks noChangeAspect="1"/>
          </p:cNvPicPr>
          <p:nvPr/>
        </p:nvPicPr>
        <p:blipFill>
          <a:blip r:embed="rId17"/>
          <a:srcRect l="0" r="0" t="0" b="0"/>
          <a:stretch/>
        </p:blipFill>
        <p:spPr>
          <a:xfrm>
            <a:off x="8164373" y="5230368"/>
            <a:ext cx="1410157" cy="877824"/>
          </a:xfrm>
          <a:prstGeom prst="rect">
            <a:avLst/>
          </a:prstGeom>
        </p:spPr>
      </p:pic>
      <p:sp>
        <p:nvSpPr>
          <p:cNvPr id="36" name="Text 17"/>
          <p:cNvSpPr/>
          <p:nvPr/>
        </p:nvSpPr>
        <p:spPr>
          <a:xfrm>
            <a:off x="658368" y="6437376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50" spc="200" kern="0" dirty="0">
                <a:solidFill>
                  <a:srgbClr val="8A81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CHOI'S RAMYEON — SIAS FRANCE</a:t>
            </a:r>
            <a:endParaRPr lang="en-US" sz="750" dirty="0"/>
          </a:p>
        </p:txBody>
      </p:sp>
      <p:sp>
        <p:nvSpPr>
          <p:cNvPr id="37" name="Text 18"/>
          <p:cNvSpPr/>
          <p:nvPr/>
        </p:nvSpPr>
        <p:spPr>
          <a:xfrm>
            <a:off x="10710367" y="6291072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DCD4C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2026-08-01T08:20:08Z</dcterms:created>
  <dcterms:modified xsi:type="dcterms:W3CDTF">2026-08-01T08:20:08Z</dcterms:modified>
</cp:coreProperties>
</file>