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Тариф 0,65 €/уп. (Курица, Говядина, Овощная, Острая)</c:v>
                </c:pt>
              </c:strCache>
            </c:strRef>
          </c:tx>
          <c:spPr>
            <a:solidFill>
              <a:srgbClr val="D80F19"/>
            </a:solidFill>
            <a:effectLst/>
          </c:spPr>
          <c:invertIfNegative val="0"/>
          <c:dLbls>
            <c:numFmt formatCode="0.00&quot; €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 паллет</c:v>
                  </c:pt>
                  <c:pt idx="1">
                    <c:v>12 паллет</c:v>
                  </c:pt>
                  <c:pt idx="2">
                    <c:v>33 паллеты (Full Truck)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10.04</c:v>
                </c:pt>
                <c:pt idx="1">
                  <c:v>8.52</c:v>
                </c:pt>
                <c:pt idx="2">
                  <c:v>7.81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Тариф 0,75 €/уп. (Гауда, Карбонара)</c:v>
                </c:pt>
              </c:strCache>
            </c:strRef>
          </c:tx>
          <c:spPr>
            <a:solidFill>
              <a:srgbClr val="C9962C"/>
            </a:solidFill>
            <a:effectLst/>
          </c:spPr>
          <c:invertIfNegative val="0"/>
          <c:dLbls>
            <c:numFmt formatCode="0.00&quot; €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 паллет</c:v>
                  </c:pt>
                  <c:pt idx="1">
                    <c:v>12 паллет</c:v>
                  </c:pt>
                  <c:pt idx="2">
                    <c:v>33 паллеты (Full Truck)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10.64</c:v>
                </c:pt>
                <c:pt idx="1">
                  <c:v>9.03</c:v>
                </c:pt>
                <c:pt idx="2">
                  <c:v>8.28</c:v>
                </c:pt>
              </c:numCache>
            </c:numRef>
          </c:val>
        </c:ser>
        <c:dLbls>
          <c:numFmt formatCode="0.00&quot; €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9E5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€ / кг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hero_bow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0"/>
            <a:ext cx="62023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892040"/>
            <a:ext cx="6035040" cy="1965960"/>
          </a:xfrm>
          <a:prstGeom prst="rect">
            <a:avLst/>
          </a:prstGeom>
          <a:solidFill>
            <a:srgbClr val="7A0A10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5669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spc="200" kern="0" dirty="0">
                <a:solidFill>
                  <a:srgbClr val="E8B7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  ·  CHOI'S RAMYEON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21792" y="14173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Корейская лапша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европейского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производства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658368" y="3977640"/>
            <a:ext cx="502920" cy="5029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i="1" dirty="0">
                <a:solidFill>
                  <a:srgbClr val="F0D9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 Noodle Bag · коммерческое предложение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5138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 во Франции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0080" y="546811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2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Сертификат EUR.1 — 0% ввозной пошлины в Украину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5989320"/>
            <a:ext cx="167640" cy="338328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12" name="Shape 9"/>
          <p:cNvSpPr/>
          <p:nvPr/>
        </p:nvSpPr>
        <p:spPr>
          <a:xfrm>
            <a:off x="826008" y="5989320"/>
            <a:ext cx="1676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993648" y="5989320"/>
            <a:ext cx="167640" cy="338328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14" name="Shape 11"/>
          <p:cNvSpPr/>
          <p:nvPr/>
        </p:nvSpPr>
        <p:spPr>
          <a:xfrm>
            <a:off x="658368" y="5989320"/>
            <a:ext cx="502920" cy="338328"/>
          </a:xfrm>
          <a:prstGeom prst="rect">
            <a:avLst/>
          </a:prstGeom>
          <a:ln w="9525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98448" y="5989320"/>
            <a:ext cx="502920" cy="169164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16" name="Shape 13"/>
          <p:cNvSpPr/>
          <p:nvPr/>
        </p:nvSpPr>
        <p:spPr>
          <a:xfrm>
            <a:off x="1298448" y="6158484"/>
            <a:ext cx="502920" cy="1691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7" name="Shape 14"/>
          <p:cNvSpPr/>
          <p:nvPr/>
        </p:nvSpPr>
        <p:spPr>
          <a:xfrm>
            <a:off x="1298448" y="5989320"/>
            <a:ext cx="502920" cy="338328"/>
          </a:xfrm>
          <a:prstGeom prst="rect">
            <a:avLst/>
          </a:prstGeom>
          <a:ln w="9525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96596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8B7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 →  UA · EXW Roye, France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0774375" y="457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rice_bow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 компании SIAS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30352" y="148132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spc="12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ЮЖНОКОРЕЙСКАЯ ГРУППА · С 1997 ГОДА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874520"/>
            <a:ext cx="6903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входит в южнокорейскую группу SIAS — одного из ключевых игроков агропродовольственного рынка. Компания более 25 лет специализируется на замороженных продуктах и блюдах корейской и японской гастрономии, разрабатывая рецептуры под заказ для производителей, дистрибьюторов и розничных сетей (B2B, MDD/RHD).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30352" y="3794760"/>
            <a:ext cx="1664208" cy="1508760"/>
          </a:xfrm>
          <a:prstGeom prst="roundRect">
            <a:avLst>
              <a:gd name="adj" fmla="val 5455"/>
            </a:avLst>
          </a:prstGeom>
          <a:solidFill>
            <a:srgbClr val="F7F5F3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950208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$180 млн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40080" y="457200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годовой оборот группы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31720" y="3794760"/>
            <a:ext cx="1664208" cy="1508760"/>
          </a:xfrm>
          <a:prstGeom prst="roundRect">
            <a:avLst>
              <a:gd name="adj" fmla="val 5455"/>
            </a:avLst>
          </a:prstGeom>
          <a:solidFill>
            <a:srgbClr val="F7F5F3"/>
          </a:solidFill>
          <a:ln/>
        </p:spPr>
      </p:sp>
      <p:sp>
        <p:nvSpPr>
          <p:cNvPr id="12" name="Text 9"/>
          <p:cNvSpPr/>
          <p:nvPr/>
        </p:nvSpPr>
        <p:spPr>
          <a:xfrm>
            <a:off x="2441448" y="3950208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2 100+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441448" y="457200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рецептур в портфеле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33088" y="3794760"/>
            <a:ext cx="1664208" cy="1508760"/>
          </a:xfrm>
          <a:prstGeom prst="roundRect">
            <a:avLst>
              <a:gd name="adj" fmla="val 5455"/>
            </a:avLst>
          </a:prstGeom>
          <a:solidFill>
            <a:srgbClr val="F7F5F3"/>
          </a:solidFill>
          <a:ln/>
        </p:spPr>
      </p:sp>
      <p:sp>
        <p:nvSpPr>
          <p:cNvPr id="15" name="Text 12"/>
          <p:cNvSpPr/>
          <p:nvPr/>
        </p:nvSpPr>
        <p:spPr>
          <a:xfrm>
            <a:off x="4242816" y="3950208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1 000+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242816" y="457200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клиентов по всему миру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34456" y="3794760"/>
            <a:ext cx="1664208" cy="1508760"/>
          </a:xfrm>
          <a:prstGeom prst="roundRect">
            <a:avLst>
              <a:gd name="adj" fmla="val 5455"/>
            </a:avLst>
          </a:prstGeom>
          <a:solidFill>
            <a:srgbClr val="F7F5F3"/>
          </a:solidFill>
          <a:ln/>
        </p:spPr>
      </p:sp>
      <p:sp>
        <p:nvSpPr>
          <p:cNvPr id="18" name="Text 15"/>
          <p:cNvSpPr/>
          <p:nvPr/>
        </p:nvSpPr>
        <p:spPr>
          <a:xfrm>
            <a:off x="6044184" y="3950208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60%+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044184" y="457200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 — экспорт, в основном в ЕС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30352" y="5486400"/>
            <a:ext cx="6903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26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«Импортируем корейское know-how в сердце Европы, адаптируя рецептуры под европейского потребителя»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Группа SIAS и её развитие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691640"/>
            <a:ext cx="2651760" cy="3063240"/>
          </a:xfrm>
          <a:prstGeom prst="roundRect">
            <a:avLst>
              <a:gd name="adj" fmla="val 3103"/>
            </a:avLst>
          </a:prstGeom>
          <a:solidFill>
            <a:srgbClr val="FBEAE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D80F1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5877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KOREA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22494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промышленных площадок в Корее · основа группы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46704" y="1691640"/>
            <a:ext cx="2651760" cy="3063240"/>
          </a:xfrm>
          <a:prstGeom prst="roundRect">
            <a:avLst>
              <a:gd name="adj" fmla="val 3103"/>
            </a:avLst>
          </a:prstGeom>
          <a:solidFill>
            <a:srgbClr val="FBEAEA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192024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47872" y="25877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ROYE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3063240"/>
            <a:ext cx="22494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завод во Франции — в центре Европы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3056" y="1691640"/>
            <a:ext cx="2651760" cy="3063240"/>
          </a:xfrm>
          <a:prstGeom prst="roundRect">
            <a:avLst>
              <a:gd name="adj" fmla="val 3103"/>
            </a:avLst>
          </a:prstGeom>
          <a:solidFill>
            <a:srgbClr val="F7F5F3"/>
          </a:solidFill>
          <a:ln/>
        </p:spPr>
      </p:sp>
      <p:sp>
        <p:nvSpPr>
          <p:cNvPr id="15" name="Shape 13"/>
          <p:cNvSpPr/>
          <p:nvPr/>
        </p:nvSpPr>
        <p:spPr>
          <a:xfrm>
            <a:off x="6364224" y="1920240"/>
            <a:ext cx="457200" cy="457200"/>
          </a:xfrm>
          <a:prstGeom prst="ellipse">
            <a:avLst/>
          </a:prstGeom>
          <a:solidFill>
            <a:srgbClr val="D80F19"/>
          </a:solidFill>
          <a:ln/>
        </p:spPr>
      </p:sp>
      <p:sp>
        <p:nvSpPr>
          <p:cNvPr id="16" name="Text 14"/>
          <p:cNvSpPr/>
          <p:nvPr/>
        </p:nvSpPr>
        <p:spPr>
          <a:xfrm>
            <a:off x="636422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64224" y="25877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YOMIA BY SIAS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364224" y="3063240"/>
            <a:ext cx="22494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Национальный французский бренд для розницы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79408" y="1691640"/>
            <a:ext cx="2651760" cy="3063240"/>
          </a:xfrm>
          <a:prstGeom prst="roundRect">
            <a:avLst>
              <a:gd name="adj" fmla="val 3103"/>
            </a:avLst>
          </a:prstGeom>
          <a:solidFill>
            <a:srgbClr val="F7F5F3"/>
          </a:solidFill>
          <a:ln/>
        </p:spPr>
      </p:sp>
      <p:sp>
        <p:nvSpPr>
          <p:cNvPr id="20" name="Shape 18"/>
          <p:cNvSpPr/>
          <p:nvPr/>
        </p:nvSpPr>
        <p:spPr>
          <a:xfrm>
            <a:off x="9180576" y="192024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" name="Text 19"/>
          <p:cNvSpPr/>
          <p:nvPr/>
        </p:nvSpPr>
        <p:spPr>
          <a:xfrm>
            <a:off x="918057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80576" y="25877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ALSACE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180576" y="3063240"/>
            <a:ext cx="22494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в Wisches: производство сушёной лапши Choi's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30352" y="5029200"/>
            <a:ext cx="11155680" cy="1325880"/>
          </a:xfrm>
          <a:prstGeom prst="roundRect">
            <a:avLst>
              <a:gd name="adj" fmla="val 6897"/>
            </a:avLst>
          </a:prstGeom>
          <a:solidFill>
            <a:srgbClr val="1A1A1A"/>
          </a:solidFill>
          <a:ln/>
        </p:spPr>
      </p:sp>
      <p:sp>
        <p:nvSpPr>
          <p:cNvPr id="25" name="Text 23"/>
          <p:cNvSpPr/>
          <p:nvPr/>
        </p:nvSpPr>
        <p:spPr>
          <a:xfrm>
            <a:off x="758952" y="519379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99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58952" y="574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заводов в Ю. Корее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547872" y="519379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99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3547872" y="574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завода во Франции (Roye, Wisches)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36792" y="519379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99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336792" y="574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сотрудников на площадках во Франции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25712" y="519379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99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125712" y="574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производственные линии FR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Производство SIAS France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691640"/>
            <a:ext cx="5806440" cy="3520440"/>
          </a:xfrm>
          <a:prstGeom prst="roundRect">
            <a:avLst>
              <a:gd name="adj" fmla="val 2597"/>
            </a:avLst>
          </a:prstGeom>
          <a:solidFill>
            <a:srgbClr val="F7F5F3"/>
          </a:solidFill>
          <a:ln/>
        </p:spPr>
      </p:sp>
      <p:pic>
        <p:nvPicPr>
          <p:cNvPr id="5" name="Image 0" descr="/home/user/Chaplygin-Illya/sias_deck/assets/factor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" y="1874520"/>
            <a:ext cx="5440680" cy="2651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461772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SIAS · Roye, Франция (регион О-де-Франс)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83680" y="1783080"/>
            <a:ext cx="5074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16 000 м² площадки, из них 3 000 м² — производство, склад и офисы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Стратегическое расположение — «перекрёсток Европы»: рядом Лондон, Брюссель, Кёльн, Париж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2024: автоматизация линии гёдза и оптимизация линии риса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 France Relance, сертификаты IFS Food и BRC Food</a:t>
            </a:r>
            <a:endParaRPr lang="en-US" sz="1300" dirty="0"/>
          </a:p>
        </p:txBody>
      </p:sp>
      <p:pic>
        <p:nvPicPr>
          <p:cNvPr id="8" name="Image 1" descr="/home/user/Chaplygin-Illya/sias_deck/assets/europe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03720" y="4160520"/>
            <a:ext cx="1874520" cy="1874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006840" y="4297680"/>
            <a:ext cx="146304" cy="146304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0" name="Text 6"/>
          <p:cNvSpPr/>
          <p:nvPr/>
        </p:nvSpPr>
        <p:spPr>
          <a:xfrm>
            <a:off x="9281160" y="4215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IFS Food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006840" y="4919472"/>
            <a:ext cx="146304" cy="146304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2" name="Text 8"/>
          <p:cNvSpPr/>
          <p:nvPr/>
        </p:nvSpPr>
        <p:spPr>
          <a:xfrm>
            <a:off x="9281160" y="48371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Food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9006840" y="5541264"/>
            <a:ext cx="146304" cy="146304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4" name="Text 10"/>
          <p:cNvSpPr/>
          <p:nvPr/>
        </p:nvSpPr>
        <p:spPr>
          <a:xfrm>
            <a:off x="9281160" y="5458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Relance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9006840" y="6172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надёжности и государственная поддержка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7A0A1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F0AE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Сделано в ЕС — ключевое преимущество для Украины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30352" y="1783080"/>
            <a:ext cx="3566160" cy="4160520"/>
          </a:xfrm>
          <a:prstGeom prst="roundRect">
            <a:avLst>
              <a:gd name="adj" fmla="val 3590"/>
            </a:avLst>
          </a:prstGeom>
          <a:solidFill>
            <a:srgbClr val="17784A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214884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530352" y="3611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ВВОЗНАЯ ПОШЛИНА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0352" y="4069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импорте в Украину благодаря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сертификату EUR.1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5074920"/>
            <a:ext cx="260604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i="1" dirty="0">
                <a:solidFill>
                  <a:srgbClr val="D7E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учтено в расчёте себестоимости</a:t>
            </a:r>
            <a:endParaRPr lang="en-US" sz="11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00" i="1" dirty="0">
                <a:solidFill>
                  <a:srgbClr val="D7E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этом предложении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82880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это работает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34840" y="2331720"/>
            <a:ext cx="384048" cy="384048"/>
          </a:xfrm>
          <a:prstGeom prst="ellipse">
            <a:avLst/>
          </a:prstGeom>
          <a:solidFill>
            <a:srgbClr val="C9962C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65192" y="230428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Страна происхождения — ЕС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5192" y="2660904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Линейка Choi's Ramyeon Bag производится на заводах SIAS во Франции (Roye / Wisches).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34840" y="3319272"/>
            <a:ext cx="384048" cy="384048"/>
          </a:xfrm>
          <a:prstGeom prst="ellipse">
            <a:avLst/>
          </a:prstGeom>
          <a:solidFill>
            <a:srgbClr val="C9962C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65192" y="32918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Сертификат EUR.1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65192" y="3648456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предоставляет сертификат перемещения товара EUR.1, подтверждающий преференциальное происхождение продукции.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34840" y="4306824"/>
            <a:ext cx="384048" cy="384048"/>
          </a:xfrm>
          <a:prstGeom prst="ellipse">
            <a:avLst/>
          </a:prstGeom>
          <a:solidFill>
            <a:srgbClr val="C9962C"/>
          </a:solidFill>
          <a:ln/>
        </p:spPr>
      </p:sp>
      <p:sp>
        <p:nvSpPr>
          <p:cNvPr id="21" name="Text 19"/>
          <p:cNvSpPr/>
          <p:nvPr/>
        </p:nvSpPr>
        <p:spPr>
          <a:xfrm>
            <a:off x="4434840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65192" y="427939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Соглашение об ассоциации Украина–ЕС (DCFTA)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65192" y="4636008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даёт право на 0% ввозной пошлины при таможенном оформлении в Украине — вместо стандартной ставки.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34840" y="5294376"/>
            <a:ext cx="384048" cy="384048"/>
          </a:xfrm>
          <a:prstGeom prst="ellipse">
            <a:avLst/>
          </a:prstGeom>
          <a:solidFill>
            <a:srgbClr val="C9962C"/>
          </a:solidFill>
          <a:ln/>
        </p:spPr>
      </p:sp>
      <p:sp>
        <p:nvSpPr>
          <p:cNvPr id="25" name="Text 23"/>
          <p:cNvSpPr/>
          <p:nvPr/>
        </p:nvSpPr>
        <p:spPr>
          <a:xfrm>
            <a:off x="4434840" y="5294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65192" y="5266944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Прозрачный расчёт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65192" y="56235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в этом предложении уже построена по ставке пошлины 0% — цифры на следующих слайдах отражают реальные условия поставки.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34840" y="6355080"/>
            <a:ext cx="128016" cy="256032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29" name="Shape 27"/>
          <p:cNvSpPr/>
          <p:nvPr/>
        </p:nvSpPr>
        <p:spPr>
          <a:xfrm>
            <a:off x="4562856" y="6355080"/>
            <a:ext cx="128016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4690872" y="6355080"/>
            <a:ext cx="128016" cy="256032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4840" y="6355080"/>
            <a:ext cx="384048" cy="256032"/>
          </a:xfrm>
          <a:prstGeom prst="rect">
            <a:avLst/>
          </a:prstGeom>
          <a:ln w="9525">
            <a:solidFill>
              <a:srgbClr val="D9D9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28" y="6355080"/>
            <a:ext cx="384048" cy="128016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33" name="Shape 31"/>
          <p:cNvSpPr/>
          <p:nvPr/>
        </p:nvSpPr>
        <p:spPr>
          <a:xfrm>
            <a:off x="4910328" y="6483096"/>
            <a:ext cx="384048" cy="12801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4" name="Shape 32"/>
          <p:cNvSpPr/>
          <p:nvPr/>
        </p:nvSpPr>
        <p:spPr>
          <a:xfrm>
            <a:off x="4910328" y="6355080"/>
            <a:ext cx="384048" cy="256032"/>
          </a:xfrm>
          <a:prstGeom prst="rect">
            <a:avLst/>
          </a:prstGeom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6309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7C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(EXW Roye)  →  Ukraine, 0% duty (EUR.1)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Нам доверяют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 розничных сетей, дистрибьюторов и HoReCa Европы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0352" y="1920240"/>
            <a:ext cx="11155680" cy="4297680"/>
          </a:xfrm>
          <a:prstGeom prst="roundRect">
            <a:avLst>
              <a:gd name="adj" fmla="val 2128"/>
            </a:avLst>
          </a:prstGeom>
          <a:solidFill>
            <a:srgbClr val="F7F5F3"/>
          </a:solidFill>
          <a:ln/>
        </p:spPr>
      </p:sp>
      <p:pic>
        <p:nvPicPr>
          <p:cNvPr id="6" name="Image 0" descr="/home/user/Chaplygin-Illya/sias_deck/assets/clients_log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148840"/>
            <a:ext cx="10561320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 Ramyeon — Instant Noodle Bag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вкусов · пакет (bag) · 20 шт/короб · 80 коробов/паллета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0352" y="2057400"/>
            <a:ext cx="1755648" cy="416052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6" name="Image 0" descr="/home/user/Chaplygin-Illya/sias_deck/products/gouda_123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2221992"/>
            <a:ext cx="1426464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" y="4681728"/>
            <a:ext cx="1481328" cy="12802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8" name="Text 5"/>
          <p:cNvSpPr/>
          <p:nvPr/>
        </p:nvSpPr>
        <p:spPr>
          <a:xfrm>
            <a:off x="658368" y="4773168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 (сыр)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5303520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427732" y="2057400"/>
            <a:ext cx="1755648" cy="416052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11" name="Image 1" descr="/home/user/Chaplygin-Illya/sias_deck/products/carbonara_131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92324" y="2221992"/>
            <a:ext cx="1426464" cy="2331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564892" y="4681728"/>
            <a:ext cx="1481328" cy="12802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13" name="Text 9"/>
          <p:cNvSpPr/>
          <p:nvPr/>
        </p:nvSpPr>
        <p:spPr>
          <a:xfrm>
            <a:off x="2555748" y="4773168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 пикантная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2555748" y="5303520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25112" y="2057400"/>
            <a:ext cx="1755648" cy="416052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16" name="Image 2" descr="/home/user/Chaplygin-Illya/sias_deck/products/vegetable_113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89704" y="2221992"/>
            <a:ext cx="1426464" cy="233172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462272" y="4681728"/>
            <a:ext cx="1481328" cy="12802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18" name="Text 13"/>
          <p:cNvSpPr/>
          <p:nvPr/>
        </p:nvSpPr>
        <p:spPr>
          <a:xfrm>
            <a:off x="4453128" y="4773168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Овощная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453128" y="5303520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222492" y="2057400"/>
            <a:ext cx="1755648" cy="416052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21" name="Image 3" descr="/home/user/Chaplygin-Illya/sias_deck/products/spicy_112.5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87084" y="2221992"/>
            <a:ext cx="1426464" cy="23317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59652" y="4681728"/>
            <a:ext cx="1481328" cy="12802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23" name="Text 17"/>
          <p:cNvSpPr/>
          <p:nvPr/>
        </p:nvSpPr>
        <p:spPr>
          <a:xfrm>
            <a:off x="6350508" y="4773168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Острая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350508" y="5303520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8119872" y="2057400"/>
            <a:ext cx="1755648" cy="416052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26" name="Image 4" descr="/home/user/Chaplygin-Illya/sias_deck/products/beef_113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84464" y="2221992"/>
            <a:ext cx="1426464" cy="233172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8257032" y="4681728"/>
            <a:ext cx="1481328" cy="12802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28" name="Text 21"/>
          <p:cNvSpPr/>
          <p:nvPr/>
        </p:nvSpPr>
        <p:spPr>
          <a:xfrm>
            <a:off x="8247888" y="4773168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Говядина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8247888" y="5303520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10017252" y="2057400"/>
            <a:ext cx="1755648" cy="416052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31" name="Image 5" descr="/home/user/Chaplygin-Illya/sias_deck/products/chicken_113g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181844" y="2221992"/>
            <a:ext cx="1426464" cy="2331720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10154412" y="4681728"/>
            <a:ext cx="1481328" cy="12802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33" name="Text 25"/>
          <p:cNvSpPr/>
          <p:nvPr/>
        </p:nvSpPr>
        <p:spPr>
          <a:xfrm>
            <a:off x="10145268" y="4773168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Курица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10145268" y="5303520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30352" y="63550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 France  ·  без ГМО  ·  без консервантов  ·  формула clean label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Себестоимость — 6 паллет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1463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Пробная партия · 1 паллета на каждый SKU · 9 600 пачек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464040" y="502920"/>
            <a:ext cx="2212848" cy="1051560"/>
          </a:xfrm>
          <a:prstGeom prst="roundRect">
            <a:avLst>
              <a:gd name="adj" fmla="val 8696"/>
            </a:avLst>
          </a:prstGeom>
          <a:solidFill>
            <a:srgbClr val="D80F19"/>
          </a:solidFill>
          <a:ln/>
        </p:spPr>
      </p:sp>
      <p:sp>
        <p:nvSpPr>
          <p:cNvPr id="6" name="Text 4"/>
          <p:cNvSpPr/>
          <p:nvPr/>
        </p:nvSpPr>
        <p:spPr>
          <a:xfrm>
            <a:off x="9464040" y="603504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ПАЛЛЕТ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464040" y="10972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6D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 → Украина, DDP расчёт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3035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9" name="Image 0" descr="/home/user/Chaplygin-Illya/sias_deck/products/gouda_123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066544"/>
            <a:ext cx="1316736" cy="1417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 (сыр)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грн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0467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10,64 € / кг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2763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19" name="Text 16"/>
          <p:cNvSpPr/>
          <p:nvPr/>
        </p:nvSpPr>
        <p:spPr>
          <a:xfrm>
            <a:off x="162763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42773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21" name="Image 1" descr="/home/user/Chaplygin-Illya/sias_deck/products/carbonara_131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7188" y="2066544"/>
            <a:ext cx="1316736" cy="1417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53746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 пикантная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253746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253746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253746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253746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53746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грн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270205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29" name="Text 25"/>
          <p:cNvSpPr/>
          <p:nvPr/>
        </p:nvSpPr>
        <p:spPr>
          <a:xfrm>
            <a:off x="253746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9,99 € / кг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52501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1" name="Text 27"/>
          <p:cNvSpPr/>
          <p:nvPr/>
        </p:nvSpPr>
        <p:spPr>
          <a:xfrm>
            <a:off x="352501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432511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33" name="Image 2" descr="/home/user/Chaplygin-Illya/sias_deck/products/vegetable_113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4568" y="2066544"/>
            <a:ext cx="1316736" cy="1417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43484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Овощная</a:t>
            </a:r>
            <a:endParaRPr lang="en-US" sz="1150" dirty="0"/>
          </a:p>
        </p:txBody>
      </p:sp>
      <p:sp>
        <p:nvSpPr>
          <p:cNvPr id="35" name="Text 30"/>
          <p:cNvSpPr/>
          <p:nvPr/>
        </p:nvSpPr>
        <p:spPr>
          <a:xfrm>
            <a:off x="443484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43484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7" name="Text 32"/>
          <p:cNvSpPr/>
          <p:nvPr/>
        </p:nvSpPr>
        <p:spPr>
          <a:xfrm>
            <a:off x="443484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443484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443484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грн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459943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41" name="Text 36"/>
          <p:cNvSpPr/>
          <p:nvPr/>
        </p:nvSpPr>
        <p:spPr>
          <a:xfrm>
            <a:off x="443484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 / кг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542239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43" name="Text 38"/>
          <p:cNvSpPr/>
          <p:nvPr/>
        </p:nvSpPr>
        <p:spPr>
          <a:xfrm>
            <a:off x="542239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622249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45" name="Image 3" descr="/home/user/Chaplygin-Illya/sias_deck/products/spicy_112.5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41948" y="2066544"/>
            <a:ext cx="1316736" cy="1417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633222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Острая</a:t>
            </a:r>
            <a:endParaRPr lang="en-US" sz="1150" dirty="0"/>
          </a:p>
        </p:txBody>
      </p:sp>
      <p:sp>
        <p:nvSpPr>
          <p:cNvPr id="47" name="Text 41"/>
          <p:cNvSpPr/>
          <p:nvPr/>
        </p:nvSpPr>
        <p:spPr>
          <a:xfrm>
            <a:off x="633222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633222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49" name="Text 43"/>
          <p:cNvSpPr/>
          <p:nvPr/>
        </p:nvSpPr>
        <p:spPr>
          <a:xfrm>
            <a:off x="633222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50" name="Text 44"/>
          <p:cNvSpPr/>
          <p:nvPr/>
        </p:nvSpPr>
        <p:spPr>
          <a:xfrm>
            <a:off x="633222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1800" dirty="0"/>
          </a:p>
        </p:txBody>
      </p:sp>
      <p:sp>
        <p:nvSpPr>
          <p:cNvPr id="51" name="Text 45"/>
          <p:cNvSpPr/>
          <p:nvPr/>
        </p:nvSpPr>
        <p:spPr>
          <a:xfrm>
            <a:off x="633222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грн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49681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53" name="Text 47"/>
          <p:cNvSpPr/>
          <p:nvPr/>
        </p:nvSpPr>
        <p:spPr>
          <a:xfrm>
            <a:off x="633222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10,08 € / кг</a:t>
            </a:r>
            <a:endParaRPr lang="en-US" sz="1100" dirty="0"/>
          </a:p>
        </p:txBody>
      </p:sp>
      <p:sp>
        <p:nvSpPr>
          <p:cNvPr id="54" name="Shape 48"/>
          <p:cNvSpPr/>
          <p:nvPr/>
        </p:nvSpPr>
        <p:spPr>
          <a:xfrm>
            <a:off x="731977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55" name="Text 49"/>
          <p:cNvSpPr/>
          <p:nvPr/>
        </p:nvSpPr>
        <p:spPr>
          <a:xfrm>
            <a:off x="731977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56" name="Shape 50"/>
          <p:cNvSpPr/>
          <p:nvPr/>
        </p:nvSpPr>
        <p:spPr>
          <a:xfrm>
            <a:off x="811987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57" name="Image 4" descr="/home/user/Chaplygin-Illya/sias_deck/products/beef_113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339328" y="2066544"/>
            <a:ext cx="1316736" cy="1417320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822960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Говядина</a:t>
            </a:r>
            <a:endParaRPr lang="en-US" sz="1150" dirty="0"/>
          </a:p>
        </p:txBody>
      </p:sp>
      <p:sp>
        <p:nvSpPr>
          <p:cNvPr id="59" name="Text 52"/>
          <p:cNvSpPr/>
          <p:nvPr/>
        </p:nvSpPr>
        <p:spPr>
          <a:xfrm>
            <a:off x="822960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60" name="Shape 53"/>
          <p:cNvSpPr/>
          <p:nvPr/>
        </p:nvSpPr>
        <p:spPr>
          <a:xfrm>
            <a:off x="822960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61" name="Text 54"/>
          <p:cNvSpPr/>
          <p:nvPr/>
        </p:nvSpPr>
        <p:spPr>
          <a:xfrm>
            <a:off x="822960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62" name="Text 55"/>
          <p:cNvSpPr/>
          <p:nvPr/>
        </p:nvSpPr>
        <p:spPr>
          <a:xfrm>
            <a:off x="822960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1800" dirty="0"/>
          </a:p>
        </p:txBody>
      </p:sp>
      <p:sp>
        <p:nvSpPr>
          <p:cNvPr id="63" name="Text 56"/>
          <p:cNvSpPr/>
          <p:nvPr/>
        </p:nvSpPr>
        <p:spPr>
          <a:xfrm>
            <a:off x="822960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грн</a:t>
            </a:r>
            <a:endParaRPr lang="en-US" sz="900" dirty="0"/>
          </a:p>
        </p:txBody>
      </p:sp>
      <p:sp>
        <p:nvSpPr>
          <p:cNvPr id="64" name="Shape 57"/>
          <p:cNvSpPr/>
          <p:nvPr/>
        </p:nvSpPr>
        <p:spPr>
          <a:xfrm>
            <a:off x="839419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65" name="Text 58"/>
          <p:cNvSpPr/>
          <p:nvPr/>
        </p:nvSpPr>
        <p:spPr>
          <a:xfrm>
            <a:off x="822960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 / кг</a:t>
            </a:r>
            <a:endParaRPr lang="en-US" sz="1100" dirty="0"/>
          </a:p>
        </p:txBody>
      </p:sp>
      <p:sp>
        <p:nvSpPr>
          <p:cNvPr id="66" name="Shape 59"/>
          <p:cNvSpPr/>
          <p:nvPr/>
        </p:nvSpPr>
        <p:spPr>
          <a:xfrm>
            <a:off x="921715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67" name="Text 60"/>
          <p:cNvSpPr/>
          <p:nvPr/>
        </p:nvSpPr>
        <p:spPr>
          <a:xfrm>
            <a:off x="921715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68" name="Shape 61"/>
          <p:cNvSpPr/>
          <p:nvPr/>
        </p:nvSpPr>
        <p:spPr>
          <a:xfrm>
            <a:off x="1001725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69" name="Image 5" descr="/home/user/Chaplygin-Illya/sias_deck/products/chicken_113g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236708" y="2066544"/>
            <a:ext cx="1316736" cy="1417320"/>
          </a:xfrm>
          <a:prstGeom prst="rect">
            <a:avLst/>
          </a:prstGeom>
        </p:spPr>
      </p:pic>
      <p:sp>
        <p:nvSpPr>
          <p:cNvPr id="70" name="Text 62"/>
          <p:cNvSpPr/>
          <p:nvPr/>
        </p:nvSpPr>
        <p:spPr>
          <a:xfrm>
            <a:off x="1012698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Курица</a:t>
            </a:r>
            <a:endParaRPr lang="en-US" sz="1150" dirty="0"/>
          </a:p>
        </p:txBody>
      </p:sp>
      <p:sp>
        <p:nvSpPr>
          <p:cNvPr id="71" name="Text 63"/>
          <p:cNvSpPr/>
          <p:nvPr/>
        </p:nvSpPr>
        <p:spPr>
          <a:xfrm>
            <a:off x="1012698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72" name="Shape 64"/>
          <p:cNvSpPr/>
          <p:nvPr/>
        </p:nvSpPr>
        <p:spPr>
          <a:xfrm>
            <a:off x="1012698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73" name="Text 65"/>
          <p:cNvSpPr/>
          <p:nvPr/>
        </p:nvSpPr>
        <p:spPr>
          <a:xfrm>
            <a:off x="1012698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74" name="Text 66"/>
          <p:cNvSpPr/>
          <p:nvPr/>
        </p:nvSpPr>
        <p:spPr>
          <a:xfrm>
            <a:off x="1012698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1800" dirty="0"/>
          </a:p>
        </p:txBody>
      </p:sp>
      <p:sp>
        <p:nvSpPr>
          <p:cNvPr id="75" name="Text 67"/>
          <p:cNvSpPr/>
          <p:nvPr/>
        </p:nvSpPr>
        <p:spPr>
          <a:xfrm>
            <a:off x="1012698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грн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1029157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77" name="Text 69"/>
          <p:cNvSpPr/>
          <p:nvPr/>
        </p:nvSpPr>
        <p:spPr>
          <a:xfrm>
            <a:off x="1012698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 / кг</a:t>
            </a:r>
            <a:endParaRPr lang="en-US" sz="1100" dirty="0"/>
          </a:p>
        </p:txBody>
      </p:sp>
      <p:sp>
        <p:nvSpPr>
          <p:cNvPr id="78" name="Shape 70"/>
          <p:cNvSpPr/>
          <p:nvPr/>
        </p:nvSpPr>
        <p:spPr>
          <a:xfrm>
            <a:off x="1111453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79" name="Text 71"/>
          <p:cNvSpPr/>
          <p:nvPr/>
        </p:nvSpPr>
        <p:spPr>
          <a:xfrm>
            <a:off x="1111453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80" name="Text 72"/>
          <p:cNvSpPr/>
          <p:nvPr/>
        </p:nvSpPr>
        <p:spPr>
          <a:xfrm>
            <a:off x="530352" y="61081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включает: EXW-цену, международную логистику, брокерские услуги, таможенное оформление и НДС-предфинансирование, при ставке ввозной пошлины 0% (сертификат EUR.1). Курс расчёта: 1 € ≈ 51,2 грн.</a:t>
            </a:r>
            <a:endParaRPr lang="en-US" sz="900" dirty="0"/>
          </a:p>
        </p:txBody>
      </p:sp>
      <p:sp>
        <p:nvSpPr>
          <p:cNvPr id="81" name="Text 73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82" name="Text 74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Себестоимость — 12 паллет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1463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объём · 19 200 пачек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464040" y="502920"/>
            <a:ext cx="2212848" cy="1051560"/>
          </a:xfrm>
          <a:prstGeom prst="roundRect">
            <a:avLst>
              <a:gd name="adj" fmla="val 8696"/>
            </a:avLst>
          </a:prstGeom>
          <a:solidFill>
            <a:srgbClr val="D80F19"/>
          </a:solidFill>
          <a:ln/>
        </p:spPr>
      </p:sp>
      <p:sp>
        <p:nvSpPr>
          <p:cNvPr id="6" name="Text 4"/>
          <p:cNvSpPr/>
          <p:nvPr/>
        </p:nvSpPr>
        <p:spPr>
          <a:xfrm>
            <a:off x="9464040" y="603504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ПАЛЛЕТ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464040" y="10972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6D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 → Украина, DDP расчёт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3035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9" name="Image 0" descr="/home/user/Chaplygin-Illya/sias_deck/products/gouda_123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066544"/>
            <a:ext cx="1316736" cy="1417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 (сыр)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грн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0467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9,03 € / кг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2763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19" name="Text 16"/>
          <p:cNvSpPr/>
          <p:nvPr/>
        </p:nvSpPr>
        <p:spPr>
          <a:xfrm>
            <a:off x="162763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42773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21" name="Image 1" descr="/home/user/Chaplygin-Illya/sias_deck/products/carbonara_131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7188" y="2066544"/>
            <a:ext cx="1316736" cy="1417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53746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 пикантная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253746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253746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253746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253746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53746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грн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270205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29" name="Text 25"/>
          <p:cNvSpPr/>
          <p:nvPr/>
        </p:nvSpPr>
        <p:spPr>
          <a:xfrm>
            <a:off x="253746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8,48 € / кг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52501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1" name="Text 27"/>
          <p:cNvSpPr/>
          <p:nvPr/>
        </p:nvSpPr>
        <p:spPr>
          <a:xfrm>
            <a:off x="352501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пал.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432511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33" name="Image 2" descr="/home/user/Chaplygin-Illya/sias_deck/products/vegetable_113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4568" y="2066544"/>
            <a:ext cx="1316736" cy="1417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43484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Овощная</a:t>
            </a:r>
            <a:endParaRPr lang="en-US" sz="1150" dirty="0"/>
          </a:p>
        </p:txBody>
      </p:sp>
      <p:sp>
        <p:nvSpPr>
          <p:cNvPr id="35" name="Text 30"/>
          <p:cNvSpPr/>
          <p:nvPr/>
        </p:nvSpPr>
        <p:spPr>
          <a:xfrm>
            <a:off x="443484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43484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7" name="Text 32"/>
          <p:cNvSpPr/>
          <p:nvPr/>
        </p:nvSpPr>
        <p:spPr>
          <a:xfrm>
            <a:off x="443484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443484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443484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грн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459943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41" name="Text 36"/>
          <p:cNvSpPr/>
          <p:nvPr/>
        </p:nvSpPr>
        <p:spPr>
          <a:xfrm>
            <a:off x="443484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 / кг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542239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43" name="Text 38"/>
          <p:cNvSpPr/>
          <p:nvPr/>
        </p:nvSpPr>
        <p:spPr>
          <a:xfrm>
            <a:off x="542239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622249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45" name="Image 3" descr="/home/user/Chaplygin-Illya/sias_deck/products/spicy_112.5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41948" y="2066544"/>
            <a:ext cx="1316736" cy="1417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633222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Острая</a:t>
            </a:r>
            <a:endParaRPr lang="en-US" sz="1150" dirty="0"/>
          </a:p>
        </p:txBody>
      </p:sp>
      <p:sp>
        <p:nvSpPr>
          <p:cNvPr id="47" name="Text 41"/>
          <p:cNvSpPr/>
          <p:nvPr/>
        </p:nvSpPr>
        <p:spPr>
          <a:xfrm>
            <a:off x="633222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633222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49" name="Text 43"/>
          <p:cNvSpPr/>
          <p:nvPr/>
        </p:nvSpPr>
        <p:spPr>
          <a:xfrm>
            <a:off x="633222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50" name="Text 44"/>
          <p:cNvSpPr/>
          <p:nvPr/>
        </p:nvSpPr>
        <p:spPr>
          <a:xfrm>
            <a:off x="633222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1800" dirty="0"/>
          </a:p>
        </p:txBody>
      </p:sp>
      <p:sp>
        <p:nvSpPr>
          <p:cNvPr id="51" name="Text 45"/>
          <p:cNvSpPr/>
          <p:nvPr/>
        </p:nvSpPr>
        <p:spPr>
          <a:xfrm>
            <a:off x="633222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грн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49681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53" name="Text 47"/>
          <p:cNvSpPr/>
          <p:nvPr/>
        </p:nvSpPr>
        <p:spPr>
          <a:xfrm>
            <a:off x="633222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8,56 € / кг</a:t>
            </a:r>
            <a:endParaRPr lang="en-US" sz="1100" dirty="0"/>
          </a:p>
        </p:txBody>
      </p:sp>
      <p:sp>
        <p:nvSpPr>
          <p:cNvPr id="54" name="Shape 48"/>
          <p:cNvSpPr/>
          <p:nvPr/>
        </p:nvSpPr>
        <p:spPr>
          <a:xfrm>
            <a:off x="731977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55" name="Text 49"/>
          <p:cNvSpPr/>
          <p:nvPr/>
        </p:nvSpPr>
        <p:spPr>
          <a:xfrm>
            <a:off x="731977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пал.</a:t>
            </a:r>
            <a:endParaRPr lang="en-US" sz="800" dirty="0"/>
          </a:p>
        </p:txBody>
      </p:sp>
      <p:sp>
        <p:nvSpPr>
          <p:cNvPr id="56" name="Shape 50"/>
          <p:cNvSpPr/>
          <p:nvPr/>
        </p:nvSpPr>
        <p:spPr>
          <a:xfrm>
            <a:off x="811987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57" name="Image 4" descr="/home/user/Chaplygin-Illya/sias_deck/products/beef_113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339328" y="2066544"/>
            <a:ext cx="1316736" cy="1417320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822960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Говядина</a:t>
            </a:r>
            <a:endParaRPr lang="en-US" sz="1150" dirty="0"/>
          </a:p>
        </p:txBody>
      </p:sp>
      <p:sp>
        <p:nvSpPr>
          <p:cNvPr id="59" name="Text 52"/>
          <p:cNvSpPr/>
          <p:nvPr/>
        </p:nvSpPr>
        <p:spPr>
          <a:xfrm>
            <a:off x="822960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60" name="Shape 53"/>
          <p:cNvSpPr/>
          <p:nvPr/>
        </p:nvSpPr>
        <p:spPr>
          <a:xfrm>
            <a:off x="822960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61" name="Text 54"/>
          <p:cNvSpPr/>
          <p:nvPr/>
        </p:nvSpPr>
        <p:spPr>
          <a:xfrm>
            <a:off x="822960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62" name="Text 55"/>
          <p:cNvSpPr/>
          <p:nvPr/>
        </p:nvSpPr>
        <p:spPr>
          <a:xfrm>
            <a:off x="822960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1800" dirty="0"/>
          </a:p>
        </p:txBody>
      </p:sp>
      <p:sp>
        <p:nvSpPr>
          <p:cNvPr id="63" name="Text 56"/>
          <p:cNvSpPr/>
          <p:nvPr/>
        </p:nvSpPr>
        <p:spPr>
          <a:xfrm>
            <a:off x="822960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грн</a:t>
            </a:r>
            <a:endParaRPr lang="en-US" sz="900" dirty="0"/>
          </a:p>
        </p:txBody>
      </p:sp>
      <p:sp>
        <p:nvSpPr>
          <p:cNvPr id="64" name="Shape 57"/>
          <p:cNvSpPr/>
          <p:nvPr/>
        </p:nvSpPr>
        <p:spPr>
          <a:xfrm>
            <a:off x="839419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65" name="Text 58"/>
          <p:cNvSpPr/>
          <p:nvPr/>
        </p:nvSpPr>
        <p:spPr>
          <a:xfrm>
            <a:off x="822960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 / кг</a:t>
            </a:r>
            <a:endParaRPr lang="en-US" sz="1100" dirty="0"/>
          </a:p>
        </p:txBody>
      </p:sp>
      <p:sp>
        <p:nvSpPr>
          <p:cNvPr id="66" name="Shape 59"/>
          <p:cNvSpPr/>
          <p:nvPr/>
        </p:nvSpPr>
        <p:spPr>
          <a:xfrm>
            <a:off x="921715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67" name="Text 60"/>
          <p:cNvSpPr/>
          <p:nvPr/>
        </p:nvSpPr>
        <p:spPr>
          <a:xfrm>
            <a:off x="921715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пал.</a:t>
            </a:r>
            <a:endParaRPr lang="en-US" sz="800" dirty="0"/>
          </a:p>
        </p:txBody>
      </p:sp>
      <p:sp>
        <p:nvSpPr>
          <p:cNvPr id="68" name="Shape 61"/>
          <p:cNvSpPr/>
          <p:nvPr/>
        </p:nvSpPr>
        <p:spPr>
          <a:xfrm>
            <a:off x="1001725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69" name="Image 5" descr="/home/user/Chaplygin-Illya/sias_deck/products/chicken_113g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236708" y="2066544"/>
            <a:ext cx="1316736" cy="1417320"/>
          </a:xfrm>
          <a:prstGeom prst="rect">
            <a:avLst/>
          </a:prstGeom>
        </p:spPr>
      </p:pic>
      <p:sp>
        <p:nvSpPr>
          <p:cNvPr id="70" name="Text 62"/>
          <p:cNvSpPr/>
          <p:nvPr/>
        </p:nvSpPr>
        <p:spPr>
          <a:xfrm>
            <a:off x="1012698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Курица</a:t>
            </a:r>
            <a:endParaRPr lang="en-US" sz="1150" dirty="0"/>
          </a:p>
        </p:txBody>
      </p:sp>
      <p:sp>
        <p:nvSpPr>
          <p:cNvPr id="71" name="Text 63"/>
          <p:cNvSpPr/>
          <p:nvPr/>
        </p:nvSpPr>
        <p:spPr>
          <a:xfrm>
            <a:off x="1012698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72" name="Shape 64"/>
          <p:cNvSpPr/>
          <p:nvPr/>
        </p:nvSpPr>
        <p:spPr>
          <a:xfrm>
            <a:off x="1012698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73" name="Text 65"/>
          <p:cNvSpPr/>
          <p:nvPr/>
        </p:nvSpPr>
        <p:spPr>
          <a:xfrm>
            <a:off x="1012698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74" name="Text 66"/>
          <p:cNvSpPr/>
          <p:nvPr/>
        </p:nvSpPr>
        <p:spPr>
          <a:xfrm>
            <a:off x="1012698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1800" dirty="0"/>
          </a:p>
        </p:txBody>
      </p:sp>
      <p:sp>
        <p:nvSpPr>
          <p:cNvPr id="75" name="Text 67"/>
          <p:cNvSpPr/>
          <p:nvPr/>
        </p:nvSpPr>
        <p:spPr>
          <a:xfrm>
            <a:off x="1012698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грн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1029157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77" name="Text 69"/>
          <p:cNvSpPr/>
          <p:nvPr/>
        </p:nvSpPr>
        <p:spPr>
          <a:xfrm>
            <a:off x="1012698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 / кг</a:t>
            </a:r>
            <a:endParaRPr lang="en-US" sz="1100" dirty="0"/>
          </a:p>
        </p:txBody>
      </p:sp>
      <p:sp>
        <p:nvSpPr>
          <p:cNvPr id="78" name="Shape 70"/>
          <p:cNvSpPr/>
          <p:nvPr/>
        </p:nvSpPr>
        <p:spPr>
          <a:xfrm>
            <a:off x="1111453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79" name="Text 71"/>
          <p:cNvSpPr/>
          <p:nvPr/>
        </p:nvSpPr>
        <p:spPr>
          <a:xfrm>
            <a:off x="1111453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пал.</a:t>
            </a:r>
            <a:endParaRPr lang="en-US" sz="800" dirty="0"/>
          </a:p>
        </p:txBody>
      </p:sp>
      <p:sp>
        <p:nvSpPr>
          <p:cNvPr id="80" name="Text 72"/>
          <p:cNvSpPr/>
          <p:nvPr/>
        </p:nvSpPr>
        <p:spPr>
          <a:xfrm>
            <a:off x="530352" y="61081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включает: EXW-цену, международную логистику, брокерские услуги, таможенное оформление и НДС-предфинансирование, при ставке ввозной пошлины 0% (сертификат EUR.1). Курс расчёта: 1 € ≈ 51,2 грн.</a:t>
            </a:r>
            <a:endParaRPr lang="en-US" sz="900" dirty="0"/>
          </a:p>
        </p:txBody>
      </p:sp>
      <p:sp>
        <p:nvSpPr>
          <p:cNvPr id="81" name="Text 73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82" name="Text 74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Себестоимость — Full Truck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1463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тираж · 33 паллеты · 52 800 пачек · максимальная экономия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464040" y="502920"/>
            <a:ext cx="2212848" cy="1051560"/>
          </a:xfrm>
          <a:prstGeom prst="roundRect">
            <a:avLst>
              <a:gd name="adj" fmla="val 8696"/>
            </a:avLst>
          </a:prstGeom>
          <a:solidFill>
            <a:srgbClr val="D80F19"/>
          </a:solidFill>
          <a:ln/>
        </p:spPr>
      </p:sp>
      <p:sp>
        <p:nvSpPr>
          <p:cNvPr id="6" name="Text 4"/>
          <p:cNvSpPr/>
          <p:nvPr/>
        </p:nvSpPr>
        <p:spPr>
          <a:xfrm>
            <a:off x="9464040" y="603504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ПАЛЛЕТЫ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464040" y="10972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6D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 → Украина, DDP расчёт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3035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9" name="Image 0" descr="/home/user/Chaplygin-Illya/sias_deck/products/gouda_123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066544"/>
            <a:ext cx="1316736" cy="1417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 (сыр)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грн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0467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8,28 € / кг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2763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19" name="Text 16"/>
          <p:cNvSpPr/>
          <p:nvPr/>
        </p:nvSpPr>
        <p:spPr>
          <a:xfrm>
            <a:off x="162763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42773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21" name="Image 1" descr="/home/user/Chaplygin-Illya/sias_deck/products/carbonara_131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7188" y="2066544"/>
            <a:ext cx="1316736" cy="1417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53746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 пикантная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253746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253746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253746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253746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53746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грн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270205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29" name="Text 25"/>
          <p:cNvSpPr/>
          <p:nvPr/>
        </p:nvSpPr>
        <p:spPr>
          <a:xfrm>
            <a:off x="253746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7,77 € / кг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52501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1" name="Text 27"/>
          <p:cNvSpPr/>
          <p:nvPr/>
        </p:nvSpPr>
        <p:spPr>
          <a:xfrm>
            <a:off x="352501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пал.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432511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33" name="Image 2" descr="/home/user/Chaplygin-Illya/sias_deck/products/vegetable_113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4568" y="2066544"/>
            <a:ext cx="1316736" cy="1417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43484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Овощная</a:t>
            </a:r>
            <a:endParaRPr lang="en-US" sz="1150" dirty="0"/>
          </a:p>
        </p:txBody>
      </p:sp>
      <p:sp>
        <p:nvSpPr>
          <p:cNvPr id="35" name="Text 30"/>
          <p:cNvSpPr/>
          <p:nvPr/>
        </p:nvSpPr>
        <p:spPr>
          <a:xfrm>
            <a:off x="443484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43484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7" name="Text 32"/>
          <p:cNvSpPr/>
          <p:nvPr/>
        </p:nvSpPr>
        <p:spPr>
          <a:xfrm>
            <a:off x="443484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443484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443484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грн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459943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41" name="Text 36"/>
          <p:cNvSpPr/>
          <p:nvPr/>
        </p:nvSpPr>
        <p:spPr>
          <a:xfrm>
            <a:off x="443484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 / кг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542239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43" name="Text 38"/>
          <p:cNvSpPr/>
          <p:nvPr/>
        </p:nvSpPr>
        <p:spPr>
          <a:xfrm>
            <a:off x="542239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пал.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622249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45" name="Image 3" descr="/home/user/Chaplygin-Illya/sias_deck/products/spicy_112.5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41948" y="2066544"/>
            <a:ext cx="1316736" cy="1417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633222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Острая</a:t>
            </a:r>
            <a:endParaRPr lang="en-US" sz="1150" dirty="0"/>
          </a:p>
        </p:txBody>
      </p:sp>
      <p:sp>
        <p:nvSpPr>
          <p:cNvPr id="47" name="Text 41"/>
          <p:cNvSpPr/>
          <p:nvPr/>
        </p:nvSpPr>
        <p:spPr>
          <a:xfrm>
            <a:off x="633222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633222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49" name="Text 43"/>
          <p:cNvSpPr/>
          <p:nvPr/>
        </p:nvSpPr>
        <p:spPr>
          <a:xfrm>
            <a:off x="633222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50" name="Text 44"/>
          <p:cNvSpPr/>
          <p:nvPr/>
        </p:nvSpPr>
        <p:spPr>
          <a:xfrm>
            <a:off x="633222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800" dirty="0"/>
          </a:p>
        </p:txBody>
      </p:sp>
      <p:sp>
        <p:nvSpPr>
          <p:cNvPr id="51" name="Text 45"/>
          <p:cNvSpPr/>
          <p:nvPr/>
        </p:nvSpPr>
        <p:spPr>
          <a:xfrm>
            <a:off x="633222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грн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49681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53" name="Text 47"/>
          <p:cNvSpPr/>
          <p:nvPr/>
        </p:nvSpPr>
        <p:spPr>
          <a:xfrm>
            <a:off x="633222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7,84 € / кг</a:t>
            </a:r>
            <a:endParaRPr lang="en-US" sz="1100" dirty="0"/>
          </a:p>
        </p:txBody>
      </p:sp>
      <p:sp>
        <p:nvSpPr>
          <p:cNvPr id="54" name="Shape 48"/>
          <p:cNvSpPr/>
          <p:nvPr/>
        </p:nvSpPr>
        <p:spPr>
          <a:xfrm>
            <a:off x="731977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55" name="Text 49"/>
          <p:cNvSpPr/>
          <p:nvPr/>
        </p:nvSpPr>
        <p:spPr>
          <a:xfrm>
            <a:off x="731977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пал.</a:t>
            </a:r>
            <a:endParaRPr lang="en-US" sz="800" dirty="0"/>
          </a:p>
        </p:txBody>
      </p:sp>
      <p:sp>
        <p:nvSpPr>
          <p:cNvPr id="56" name="Shape 50"/>
          <p:cNvSpPr/>
          <p:nvPr/>
        </p:nvSpPr>
        <p:spPr>
          <a:xfrm>
            <a:off x="811987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57" name="Image 4" descr="/home/user/Chaplygin-Illya/sias_deck/products/beef_113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339328" y="2066544"/>
            <a:ext cx="1316736" cy="1417320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822960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Говядина</a:t>
            </a:r>
            <a:endParaRPr lang="en-US" sz="1150" dirty="0"/>
          </a:p>
        </p:txBody>
      </p:sp>
      <p:sp>
        <p:nvSpPr>
          <p:cNvPr id="59" name="Text 52"/>
          <p:cNvSpPr/>
          <p:nvPr/>
        </p:nvSpPr>
        <p:spPr>
          <a:xfrm>
            <a:off x="822960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60" name="Shape 53"/>
          <p:cNvSpPr/>
          <p:nvPr/>
        </p:nvSpPr>
        <p:spPr>
          <a:xfrm>
            <a:off x="822960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61" name="Text 54"/>
          <p:cNvSpPr/>
          <p:nvPr/>
        </p:nvSpPr>
        <p:spPr>
          <a:xfrm>
            <a:off x="822960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62" name="Text 55"/>
          <p:cNvSpPr/>
          <p:nvPr/>
        </p:nvSpPr>
        <p:spPr>
          <a:xfrm>
            <a:off x="822960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800" dirty="0"/>
          </a:p>
        </p:txBody>
      </p:sp>
      <p:sp>
        <p:nvSpPr>
          <p:cNvPr id="63" name="Text 56"/>
          <p:cNvSpPr/>
          <p:nvPr/>
        </p:nvSpPr>
        <p:spPr>
          <a:xfrm>
            <a:off x="822960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грн</a:t>
            </a:r>
            <a:endParaRPr lang="en-US" sz="900" dirty="0"/>
          </a:p>
        </p:txBody>
      </p:sp>
      <p:sp>
        <p:nvSpPr>
          <p:cNvPr id="64" name="Shape 57"/>
          <p:cNvSpPr/>
          <p:nvPr/>
        </p:nvSpPr>
        <p:spPr>
          <a:xfrm>
            <a:off x="839419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65" name="Text 58"/>
          <p:cNvSpPr/>
          <p:nvPr/>
        </p:nvSpPr>
        <p:spPr>
          <a:xfrm>
            <a:off x="822960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 / кг</a:t>
            </a:r>
            <a:endParaRPr lang="en-US" sz="1100" dirty="0"/>
          </a:p>
        </p:txBody>
      </p:sp>
      <p:sp>
        <p:nvSpPr>
          <p:cNvPr id="66" name="Shape 59"/>
          <p:cNvSpPr/>
          <p:nvPr/>
        </p:nvSpPr>
        <p:spPr>
          <a:xfrm>
            <a:off x="921715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67" name="Text 60"/>
          <p:cNvSpPr/>
          <p:nvPr/>
        </p:nvSpPr>
        <p:spPr>
          <a:xfrm>
            <a:off x="921715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пал.</a:t>
            </a:r>
            <a:endParaRPr lang="en-US" sz="800" dirty="0"/>
          </a:p>
        </p:txBody>
      </p:sp>
      <p:sp>
        <p:nvSpPr>
          <p:cNvPr id="68" name="Shape 61"/>
          <p:cNvSpPr/>
          <p:nvPr/>
        </p:nvSpPr>
        <p:spPr>
          <a:xfrm>
            <a:off x="10017252" y="1920240"/>
            <a:ext cx="1755648" cy="3977640"/>
          </a:xfrm>
          <a:prstGeom prst="roundRect">
            <a:avLst>
              <a:gd name="adj" fmla="val 5208"/>
            </a:avLst>
          </a:prstGeom>
          <a:solidFill>
            <a:srgbClr val="F7F5F3"/>
          </a:solidFill>
          <a:ln/>
        </p:spPr>
      </p:sp>
      <p:pic>
        <p:nvPicPr>
          <p:cNvPr id="69" name="Image 5" descr="/home/user/Chaplygin-Illya/sias_deck/products/chicken_113g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236708" y="2066544"/>
            <a:ext cx="1316736" cy="1417320"/>
          </a:xfrm>
          <a:prstGeom prst="rect">
            <a:avLst/>
          </a:prstGeom>
        </p:spPr>
      </p:pic>
      <p:sp>
        <p:nvSpPr>
          <p:cNvPr id="70" name="Text 62"/>
          <p:cNvSpPr/>
          <p:nvPr/>
        </p:nvSpPr>
        <p:spPr>
          <a:xfrm>
            <a:off x="10126980" y="35753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Курица</a:t>
            </a:r>
            <a:endParaRPr lang="en-US" sz="1150" dirty="0"/>
          </a:p>
        </p:txBody>
      </p:sp>
      <p:sp>
        <p:nvSpPr>
          <p:cNvPr id="71" name="Text 63"/>
          <p:cNvSpPr/>
          <p:nvPr/>
        </p:nvSpPr>
        <p:spPr>
          <a:xfrm>
            <a:off x="10126980" y="39593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050" dirty="0"/>
          </a:p>
        </p:txBody>
      </p:sp>
      <p:sp>
        <p:nvSpPr>
          <p:cNvPr id="72" name="Shape 64"/>
          <p:cNvSpPr/>
          <p:nvPr/>
        </p:nvSpPr>
        <p:spPr>
          <a:xfrm>
            <a:off x="10126980" y="4233672"/>
            <a:ext cx="15361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73" name="Text 65"/>
          <p:cNvSpPr/>
          <p:nvPr/>
        </p:nvSpPr>
        <p:spPr>
          <a:xfrm>
            <a:off x="10126980" y="42885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50" b="1" spc="5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/ ПАЧКА</a:t>
            </a:r>
            <a:endParaRPr lang="en-US" sz="750" dirty="0"/>
          </a:p>
        </p:txBody>
      </p:sp>
      <p:sp>
        <p:nvSpPr>
          <p:cNvPr id="74" name="Text 66"/>
          <p:cNvSpPr/>
          <p:nvPr/>
        </p:nvSpPr>
        <p:spPr>
          <a:xfrm>
            <a:off x="10126980" y="4489704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800" dirty="0"/>
          </a:p>
        </p:txBody>
      </p:sp>
      <p:sp>
        <p:nvSpPr>
          <p:cNvPr id="75" name="Text 67"/>
          <p:cNvSpPr/>
          <p:nvPr/>
        </p:nvSpPr>
        <p:spPr>
          <a:xfrm>
            <a:off x="10126980" y="4828032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грн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10291572" y="5093208"/>
            <a:ext cx="1207008" cy="10973"/>
          </a:xfrm>
          <a:prstGeom prst="rect">
            <a:avLst/>
          </a:prstGeom>
          <a:solidFill>
            <a:srgbClr val="E9E5E1"/>
          </a:solidFill>
          <a:ln/>
        </p:spPr>
      </p:sp>
      <p:sp>
        <p:nvSpPr>
          <p:cNvPr id="77" name="Text 69"/>
          <p:cNvSpPr/>
          <p:nvPr/>
        </p:nvSpPr>
        <p:spPr>
          <a:xfrm>
            <a:off x="10126980" y="515721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 / кг</a:t>
            </a:r>
            <a:endParaRPr lang="en-US" sz="1100" dirty="0"/>
          </a:p>
        </p:txBody>
      </p:sp>
      <p:sp>
        <p:nvSpPr>
          <p:cNvPr id="78" name="Shape 70"/>
          <p:cNvSpPr/>
          <p:nvPr/>
        </p:nvSpPr>
        <p:spPr>
          <a:xfrm>
            <a:off x="11114532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79" name="Text 71"/>
          <p:cNvSpPr/>
          <p:nvPr/>
        </p:nvSpPr>
        <p:spPr>
          <a:xfrm>
            <a:off x="11114532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пал.</a:t>
            </a:r>
            <a:endParaRPr lang="en-US" sz="800" dirty="0"/>
          </a:p>
        </p:txBody>
      </p:sp>
      <p:sp>
        <p:nvSpPr>
          <p:cNvPr id="80" name="Text 72"/>
          <p:cNvSpPr/>
          <p:nvPr/>
        </p:nvSpPr>
        <p:spPr>
          <a:xfrm>
            <a:off x="530352" y="61081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включает: EXW-цену, международную логистику, брокерские услуги, таможенное оформление и НДС-предфинансирование, при ставке ввозной пошлины 0% (сертификат EUR.1). Курс расчёта: 1 € ≈ 51,2 грн.</a:t>
            </a:r>
            <a:endParaRPr lang="en-US" sz="900" dirty="0"/>
          </a:p>
        </p:txBody>
      </p:sp>
      <p:sp>
        <p:nvSpPr>
          <p:cNvPr id="81" name="Text 73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2" name="Text 74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Эффект масштаба поставки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за 1 кг продукта, €, в зависимости от объёма поставки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30352" y="196596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96596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1A1A1A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2194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spc="1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ОБЪЁМА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-22%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50392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себестоимость/кг тарифа 0,65 € с ростом 6 → 33 паллеты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503920" y="3794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-22%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503920" y="43434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себестоимость/кг тарифа 0,75 € с ростом 6 → 33 паллеты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503920" y="48920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503920" y="54406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пошлина на всех объёмах — сертификат EUR.1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i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SIAS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691640"/>
            <a:ext cx="11155680" cy="1965960"/>
          </a:xfrm>
          <a:prstGeom prst="roundRect">
            <a:avLst>
              <a:gd name="adj" fmla="val 4651"/>
            </a:avLst>
          </a:prstGeom>
          <a:solidFill>
            <a:srgbClr val="F7F5F3"/>
          </a:solidFill>
          <a:ln/>
        </p:spPr>
      </p:sp>
      <p:pic>
        <p:nvPicPr>
          <p:cNvPr id="5" name="Image 0" descr="/home/user/Chaplygin-Illya/sias_deck/assets/production_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1056132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310128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производственная линия — 150 метров, от замеса теста до упаковки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30352" y="397764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BEAEA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4206240"/>
            <a:ext cx="384048" cy="38404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47548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Эффективное производство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31520" y="5239512"/>
            <a:ext cx="2249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Автоматизированные линии обеспечивают высокую производительность без потери качества.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46704" y="397764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7F5F3"/>
          </a:solidFill>
          <a:ln/>
        </p:spPr>
      </p:sp>
      <p:sp>
        <p:nvSpPr>
          <p:cNvPr id="13" name="Shape 10"/>
          <p:cNvSpPr/>
          <p:nvPr/>
        </p:nvSpPr>
        <p:spPr>
          <a:xfrm>
            <a:off x="3547872" y="4206240"/>
            <a:ext cx="384048" cy="38404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14" name="Text 11"/>
          <p:cNvSpPr/>
          <p:nvPr/>
        </p:nvSpPr>
        <p:spPr>
          <a:xfrm>
            <a:off x="354787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547872" y="47548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Контроль качества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547872" y="5239512"/>
            <a:ext cx="2249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Регулярные тесты и проверки на каждом этапе — уверенность потребителей в продукте.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63056" y="397764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BEAEA"/>
          </a:solidFill>
          <a:ln/>
        </p:spPr>
      </p:sp>
      <p:sp>
        <p:nvSpPr>
          <p:cNvPr id="18" name="Shape 15"/>
          <p:cNvSpPr/>
          <p:nvPr/>
        </p:nvSpPr>
        <p:spPr>
          <a:xfrm>
            <a:off x="6364224" y="4206240"/>
            <a:ext cx="384048" cy="38404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19" name="Text 16"/>
          <p:cNvSpPr/>
          <p:nvPr/>
        </p:nvSpPr>
        <p:spPr>
          <a:xfrm>
            <a:off x="6364224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364224" y="47548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Быстрая поставка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364224" y="5239512"/>
            <a:ext cx="2249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Большая производственная мощность формирует быструю и надёжную цепочку поставок.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979408" y="397764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7F5F3"/>
          </a:solidFill>
          <a:ln/>
        </p:spPr>
      </p:sp>
      <p:sp>
        <p:nvSpPr>
          <p:cNvPr id="23" name="Shape 20"/>
          <p:cNvSpPr/>
          <p:nvPr/>
        </p:nvSpPr>
        <p:spPr>
          <a:xfrm>
            <a:off x="9180576" y="4206240"/>
            <a:ext cx="384048" cy="38404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24" name="Text 21"/>
          <p:cNvSpPr/>
          <p:nvPr/>
        </p:nvSpPr>
        <p:spPr>
          <a:xfrm>
            <a:off x="918057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180576" y="47548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Технологии и R&amp;D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180576" y="5239512"/>
            <a:ext cx="2249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Современное оборудование и разработки для улучшения вкуса и качества лапши.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i="1" dirty="0">
                <a:solidFill>
                  <a:srgbClr val="D9B8B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Готовы обсудить объёмы поставки, условия EXW/DDP и сроки производства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7A0A1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4160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FRANCE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Rue du Champ Macret · BP 20041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80700 ROYE, France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5212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FA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SIRET 883 646 739 00028 · TVA FR69 883 646 739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72200" y="3977640"/>
            <a:ext cx="5166360" cy="1691640"/>
          </a:xfrm>
          <a:prstGeom prst="roundRect">
            <a:avLst>
              <a:gd name="adj" fmla="val 5405"/>
            </a:avLst>
          </a:prstGeom>
          <a:solidFill>
            <a:srgbClr val="17784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4160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 пошлина · EUR.1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4553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7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 France · IFS &amp; BRC Food certified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493776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B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Партия готова к отгрузке от 6 паллет до Full Truck (33 паллеты)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5989320"/>
            <a:ext cx="152400" cy="310896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15" name="Shape 13"/>
          <p:cNvSpPr/>
          <p:nvPr/>
        </p:nvSpPr>
        <p:spPr>
          <a:xfrm>
            <a:off x="975360" y="5989320"/>
            <a:ext cx="1524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27760" y="5989320"/>
            <a:ext cx="152400" cy="310896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5989320"/>
            <a:ext cx="457200" cy="310896"/>
          </a:xfrm>
          <a:prstGeom prst="rect">
            <a:avLst/>
          </a:prstGeom>
          <a:ln w="9525">
            <a:solidFill>
              <a:srgbClr val="D9D9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17320" y="5989320"/>
            <a:ext cx="457200" cy="155448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19" name="Shape 17"/>
          <p:cNvSpPr/>
          <p:nvPr/>
        </p:nvSpPr>
        <p:spPr>
          <a:xfrm>
            <a:off x="1417320" y="6144768"/>
            <a:ext cx="457200" cy="155448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417320" y="5989320"/>
            <a:ext cx="457200" cy="310896"/>
          </a:xfrm>
          <a:prstGeom prst="rect">
            <a:avLst/>
          </a:prstGeom>
          <a:ln w="9525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5058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2026-07-31T19:28:53Z</dcterms:created>
  <dcterms:modified xsi:type="dcterms:W3CDTF">2026-07-31T19:28:53Z</dcterms:modified>
</cp:coreProperties>
</file>