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image" Target="../media/image-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haplygin-Illya/sias_deck/assets/cover_b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502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50" b="1" spc="300" kern="0" dirty="0">
                <a:solidFill>
                  <a:srgbClr val="E6D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SIAS FRANCE</a:t>
            </a:r>
            <a:endParaRPr lang="en-US" sz="1150" dirty="0"/>
          </a:p>
        </p:txBody>
      </p:sp>
      <p:sp>
        <p:nvSpPr>
          <p:cNvPr id="4" name="Shape 1"/>
          <p:cNvSpPr/>
          <p:nvPr/>
        </p:nvSpPr>
        <p:spPr>
          <a:xfrm>
            <a:off x="548640" y="886968"/>
            <a:ext cx="1371600" cy="10058"/>
          </a:xfrm>
          <a:prstGeom prst="rect">
            <a:avLst/>
          </a:prstGeom>
          <a:solidFill>
            <a:srgbClr val="8A6F3E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241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spc="180" kern="0" dirty="0">
                <a:solidFill>
                  <a:srgbClr val="C4B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ПРАЙС-КАТАЛОГ ДЛЯ КОМАНДИ  ·  2026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48640" y="22860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3000" b="1" spc="400" kern="0" dirty="0">
                <a:solidFill>
                  <a:srgbClr val="E6D6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라면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02920" y="283464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CHOI'S</a:t>
            </a:r>
            <a:endParaRPr lang="en-US" sz="8000" dirty="0"/>
          </a:p>
        </p:txBody>
      </p:sp>
      <p:sp>
        <p:nvSpPr>
          <p:cNvPr id="8" name="Text 5"/>
          <p:cNvSpPr/>
          <p:nvPr/>
        </p:nvSpPr>
        <p:spPr>
          <a:xfrm>
            <a:off x="502920" y="3749040"/>
            <a:ext cx="8778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RAMYEON</a:t>
            </a:r>
            <a:endParaRPr lang="en-US" sz="8000" dirty="0"/>
          </a:p>
        </p:txBody>
      </p:sp>
      <p:sp>
        <p:nvSpPr>
          <p:cNvPr id="9" name="Shape 6"/>
          <p:cNvSpPr/>
          <p:nvPr/>
        </p:nvSpPr>
        <p:spPr>
          <a:xfrm>
            <a:off x="548640" y="5084064"/>
            <a:ext cx="658368" cy="10058"/>
          </a:xfrm>
          <a:prstGeom prst="rect">
            <a:avLst/>
          </a:prstGeom>
          <a:solidFill>
            <a:srgbClr val="A8874E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5248656"/>
            <a:ext cx="6583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F2EA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Корейська локшина швидкого приготування,</a:t>
            </a:r>
            <a:endParaRPr lang="en-US" sz="17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F2EA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вироблена у Франції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548640" y="6199632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spc="80" kern="0" dirty="0">
                <a:solidFill>
                  <a:srgbClr val="E4D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СМАКІВ · ФОРМАТ BAG      /      6 / 12 / 33 ПАЛЕТИ      /      EUR.1 · 0% МИТО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0500055" y="6144768"/>
            <a:ext cx="152400" cy="301752"/>
          </a:xfrm>
          <a:prstGeom prst="rect">
            <a:avLst/>
          </a:prstGeom>
          <a:solidFill>
            <a:srgbClr val="002654"/>
          </a:solidFill>
          <a:ln/>
        </p:spPr>
      </p:sp>
      <p:sp>
        <p:nvSpPr>
          <p:cNvPr id="13" name="Shape 10"/>
          <p:cNvSpPr/>
          <p:nvPr/>
        </p:nvSpPr>
        <p:spPr>
          <a:xfrm>
            <a:off x="10652455" y="6144768"/>
            <a:ext cx="1524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1"/>
          <p:cNvSpPr/>
          <p:nvPr/>
        </p:nvSpPr>
        <p:spPr>
          <a:xfrm>
            <a:off x="10804855" y="6144768"/>
            <a:ext cx="152400" cy="301752"/>
          </a:xfrm>
          <a:prstGeom prst="rect">
            <a:avLst/>
          </a:prstGeom>
          <a:solidFill>
            <a:srgbClr val="ED2939"/>
          </a:solidFill>
          <a:ln/>
        </p:spPr>
      </p:sp>
      <p:sp>
        <p:nvSpPr>
          <p:cNvPr id="15" name="Shape 12"/>
          <p:cNvSpPr/>
          <p:nvPr/>
        </p:nvSpPr>
        <p:spPr>
          <a:xfrm>
            <a:off x="11094415" y="6144768"/>
            <a:ext cx="457200" cy="150876"/>
          </a:xfrm>
          <a:prstGeom prst="rect">
            <a:avLst/>
          </a:prstGeom>
          <a:solidFill>
            <a:srgbClr val="0057B7"/>
          </a:solidFill>
          <a:ln/>
        </p:spPr>
      </p:sp>
      <p:sp>
        <p:nvSpPr>
          <p:cNvPr id="16" name="Shape 13"/>
          <p:cNvSpPr/>
          <p:nvPr/>
        </p:nvSpPr>
        <p:spPr>
          <a:xfrm>
            <a:off x="11094415" y="6295644"/>
            <a:ext cx="457200" cy="150876"/>
          </a:xfrm>
          <a:prstGeom prst="rect">
            <a:avLst/>
          </a:prstGeom>
          <a:solidFill>
            <a:srgbClr val="FFD7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D80F19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57200"/>
            <a:ext cx="173736" cy="173736"/>
          </a:xfrm>
          <a:prstGeom prst="rect">
            <a:avLst/>
          </a:prstGeom>
          <a:solidFill>
            <a:srgbClr val="D80F19"/>
          </a:solidFill>
          <a:ln/>
        </p:spPr>
      </p:sp>
      <p:sp>
        <p:nvSpPr>
          <p:cNvPr id="4" name="Text 2"/>
          <p:cNvSpPr/>
          <p:nvPr/>
        </p:nvSpPr>
        <p:spPr>
          <a:xfrm>
            <a:off x="832104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b="1" spc="16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ВИРОБНИК · 01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749808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SIAS France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76072" y="12984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i="1" dirty="0">
                <a:solidFill>
                  <a:srgbClr val="A887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Choi's Ramyeon · Instant Noodle Bag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1965960" cy="402336"/>
          </a:xfrm>
          <a:prstGeom prst="roundRect">
            <a:avLst>
              <a:gd name="adj" fmla="val 50000"/>
            </a:avLst>
          </a:prstGeom>
          <a:solidFill>
            <a:srgbClr val="14100E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828800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EXW ROYE, FRANCE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8640" y="2450592"/>
            <a:ext cx="6858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300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Європейська виробнича площадка корейської групи SIAS (на ринку азійської гастрономії з 1997 року). Лінійку Choi's Ramyeon виробляють на заводах у Roye та Wisches за корейськими рецептурами, адаптованими під європейського споживача.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675888"/>
            <a:ext cx="6858000" cy="10058"/>
          </a:xfrm>
          <a:prstGeom prst="rect">
            <a:avLst/>
          </a:prstGeom>
          <a:solidFill>
            <a:srgbClr val="DCD3C6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3895344"/>
            <a:ext cx="1604772" cy="1133856"/>
          </a:xfrm>
          <a:prstGeom prst="roundRect">
            <a:avLst>
              <a:gd name="adj" fmla="val 7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76656" y="4005072"/>
            <a:ext cx="13487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2020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76656" y="4462272"/>
            <a:ext cx="13487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8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рік запуску заводу</a:t>
            </a:r>
            <a:endParaRPr lang="en-US" sz="88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88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SIAS Roye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2299716" y="3895344"/>
            <a:ext cx="1604772" cy="1133856"/>
          </a:xfrm>
          <a:prstGeom prst="roundRect">
            <a:avLst>
              <a:gd name="adj" fmla="val 7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427732" y="4005072"/>
            <a:ext cx="13487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16 000 м²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2427732" y="4462272"/>
            <a:ext cx="13487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8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 виробничого</a:t>
            </a:r>
            <a:endParaRPr lang="en-US" sz="88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88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майданчика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4050792" y="3895344"/>
            <a:ext cx="1604772" cy="1133856"/>
          </a:xfrm>
          <a:prstGeom prst="roundRect">
            <a:avLst>
              <a:gd name="adj" fmla="val 7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78808" y="4005072"/>
            <a:ext cx="13487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IFS · BRC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4178808" y="4462272"/>
            <a:ext cx="13487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8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сертифікати</a:t>
            </a:r>
            <a:endParaRPr lang="en-US" sz="88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88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харчової безпеки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801868" y="3895344"/>
            <a:ext cx="1604772" cy="1133856"/>
          </a:xfrm>
          <a:prstGeom prst="roundRect">
            <a:avLst>
              <a:gd name="adj" fmla="val 7258"/>
            </a:avLst>
          </a:prstGeom>
          <a:solidFill>
            <a:srgbClr val="D80F19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929884" y="4005072"/>
            <a:ext cx="13487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0 %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5929884" y="4462272"/>
            <a:ext cx="13487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80" dirty="0">
                <a:solidFill>
                  <a:srgbClr val="FBD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мито в Україну</a:t>
            </a:r>
            <a:endParaRPr lang="en-US" sz="88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880" dirty="0">
                <a:solidFill>
                  <a:srgbClr val="FBD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EUR.1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48640" y="52852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spc="150" kern="0" dirty="0">
                <a:solidFill>
                  <a:srgbClr val="A88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СЕРТИФІКАТИ</a:t>
            </a:r>
            <a:endParaRPr lang="en-US" sz="950" dirty="0"/>
          </a:p>
        </p:txBody>
      </p:sp>
      <p:pic>
        <p:nvPicPr>
          <p:cNvPr id="24" name="Image 0" descr="/home/user/Chaplygin-Illya/sias_deck/assets/cert_ifs_br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5559552"/>
            <a:ext cx="1554480" cy="438912"/>
          </a:xfrm>
          <a:prstGeom prst="rect">
            <a:avLst/>
          </a:prstGeom>
        </p:spPr>
      </p:pic>
      <p:pic>
        <p:nvPicPr>
          <p:cNvPr id="25" name="Image 1" descr="/home/user/Chaplygin-Illya/sias_deck/assets/cert_france_relanc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286000" y="5486400"/>
            <a:ext cx="566928" cy="566928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548640" y="629107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i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in France — сертифікат EUR.1 дає 0% ввізного мита при розмитненні в Україні.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8092440" y="566928"/>
            <a:ext cx="356616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</p:spPr>
      </p:sp>
      <p:pic>
        <p:nvPicPr>
          <p:cNvPr id="28" name="Image 2" descr="/home/user/Chaplygin-Illya/sias_deck/assets/sias_logo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66760" y="841248"/>
            <a:ext cx="3017520" cy="73152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8092440" y="2029968"/>
            <a:ext cx="3566160" cy="29718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</p:spPr>
      </p:sp>
      <p:pic>
        <p:nvPicPr>
          <p:cNvPr id="30" name="Image 3" descr="/home/user/Chaplygin-Illya/sias_deck/assets/factory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229600" y="2167128"/>
            <a:ext cx="3291840" cy="219456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8229600" y="44805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5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Завод SIAS · Roye, Франція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8092440" y="5257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50" b="1" spc="160" kern="0" dirty="0">
                <a:solidFill>
                  <a:srgbClr val="F7C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ВИРОБНИЦТВО</a:t>
            </a:r>
            <a:endParaRPr lang="en-US" sz="950" dirty="0"/>
          </a:p>
        </p:txBody>
      </p:sp>
      <p:sp>
        <p:nvSpPr>
          <p:cNvPr id="33" name="Text 27"/>
          <p:cNvSpPr/>
          <p:nvPr/>
        </p:nvSpPr>
        <p:spPr>
          <a:xfrm>
            <a:off x="8092440" y="550468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Франція</a:t>
            </a:r>
            <a:endParaRPr lang="en-US" sz="2400" dirty="0"/>
          </a:p>
        </p:txBody>
      </p:sp>
      <p:sp>
        <p:nvSpPr>
          <p:cNvPr id="34" name="Shape 28"/>
          <p:cNvSpPr/>
          <p:nvPr/>
        </p:nvSpPr>
        <p:spPr>
          <a:xfrm>
            <a:off x="9418320" y="6089904"/>
            <a:ext cx="152400" cy="301752"/>
          </a:xfrm>
          <a:prstGeom prst="rect">
            <a:avLst/>
          </a:prstGeom>
          <a:solidFill>
            <a:srgbClr val="002654"/>
          </a:solidFill>
          <a:ln/>
        </p:spPr>
      </p:sp>
      <p:sp>
        <p:nvSpPr>
          <p:cNvPr id="35" name="Shape 29"/>
          <p:cNvSpPr/>
          <p:nvPr/>
        </p:nvSpPr>
        <p:spPr>
          <a:xfrm>
            <a:off x="9570720" y="6089904"/>
            <a:ext cx="1524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0"/>
          <p:cNvSpPr/>
          <p:nvPr/>
        </p:nvSpPr>
        <p:spPr>
          <a:xfrm>
            <a:off x="9723120" y="6089904"/>
            <a:ext cx="152400" cy="301752"/>
          </a:xfrm>
          <a:prstGeom prst="rect">
            <a:avLst/>
          </a:prstGeom>
          <a:solidFill>
            <a:srgbClr val="ED2939"/>
          </a:solidFill>
          <a:ln/>
        </p:spPr>
      </p:sp>
      <p:sp>
        <p:nvSpPr>
          <p:cNvPr id="37" name="Shape 31"/>
          <p:cNvSpPr/>
          <p:nvPr/>
        </p:nvSpPr>
        <p:spPr>
          <a:xfrm>
            <a:off x="10012680" y="6089904"/>
            <a:ext cx="457200" cy="150876"/>
          </a:xfrm>
          <a:prstGeom prst="rect">
            <a:avLst/>
          </a:prstGeom>
          <a:solidFill>
            <a:srgbClr val="0057B7"/>
          </a:solidFill>
          <a:ln/>
        </p:spPr>
      </p:sp>
      <p:sp>
        <p:nvSpPr>
          <p:cNvPr id="38" name="Shape 32"/>
          <p:cNvSpPr/>
          <p:nvPr/>
        </p:nvSpPr>
        <p:spPr>
          <a:xfrm>
            <a:off x="10012680" y="6240780"/>
            <a:ext cx="457200" cy="150876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9" name="Text 33"/>
          <p:cNvSpPr/>
          <p:nvPr/>
        </p:nvSpPr>
        <p:spPr>
          <a:xfrm>
            <a:off x="548640" y="64922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00" spc="14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CHOI'S RAMYEON  ·  SIAS FRANCE  ·  2026</a:t>
            </a:r>
            <a:endParaRPr lang="en-US" sz="800" dirty="0"/>
          </a:p>
        </p:txBody>
      </p:sp>
      <p:sp>
        <p:nvSpPr>
          <p:cNvPr id="40" name="Text 34"/>
          <p:cNvSpPr/>
          <p:nvPr/>
        </p:nvSpPr>
        <p:spPr>
          <a:xfrm>
            <a:off x="11094415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6E68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" cy="173736"/>
          </a:xfrm>
          <a:prstGeom prst="rect">
            <a:avLst/>
          </a:prstGeom>
          <a:solidFill>
            <a:srgbClr val="D80F19"/>
          </a:solidFill>
          <a:ln/>
        </p:spPr>
      </p:sp>
      <p:sp>
        <p:nvSpPr>
          <p:cNvPr id="3" name="Text 1"/>
          <p:cNvSpPr/>
          <p:nvPr/>
        </p:nvSpPr>
        <p:spPr>
          <a:xfrm>
            <a:off x="832104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b="1" spc="16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АСОРТИМЕНТ · 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Шість смаків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76072" y="12984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i="1" dirty="0">
                <a:solidFill>
                  <a:srgbClr val="A887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формат Bag · 20 шт/короб · 80 короб/палета · 1 палета = 1 600 пачок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11094415" cy="10058"/>
          </a:xfrm>
          <a:prstGeom prst="rect">
            <a:avLst/>
          </a:prstGeom>
          <a:solidFill>
            <a:srgbClr val="A8874E"/>
          </a:solidFill>
          <a:ln/>
        </p:spPr>
      </p:sp>
      <p:pic>
        <p:nvPicPr>
          <p:cNvPr id="7" name="Image 0" descr="/home/user/Chaplygin-Illya/sias_deck/packs/gou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938528"/>
            <a:ext cx="1636776" cy="2121408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8" name="Shape 5"/>
          <p:cNvSpPr/>
          <p:nvPr/>
        </p:nvSpPr>
        <p:spPr>
          <a:xfrm>
            <a:off x="548640" y="4361688"/>
            <a:ext cx="91440" cy="91440"/>
          </a:xfrm>
          <a:prstGeom prst="rect">
            <a:avLst/>
          </a:prstGeom>
          <a:solidFill>
            <a:srgbClr val="F07C1E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4306824"/>
            <a:ext cx="1453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F07C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고다치즈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48640" y="4590288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6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Гауда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4956048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 г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48640" y="5248656"/>
            <a:ext cx="1014801" cy="10058"/>
          </a:xfrm>
          <a:prstGeom prst="rect">
            <a:avLst/>
          </a:prstGeom>
          <a:solidFill>
            <a:srgbClr val="DCD3C6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5340096"/>
            <a:ext cx="1636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Bibimmyeon · вершковий сир гауда</a:t>
            </a:r>
            <a:endParaRPr lang="en-US" sz="900" dirty="0"/>
          </a:p>
        </p:txBody>
      </p:sp>
      <p:pic>
        <p:nvPicPr>
          <p:cNvPr id="14" name="Image 1" descr="/home/user/Chaplygin-Illya/sias_deck/packs/carbonar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440168" y="1938528"/>
            <a:ext cx="1636776" cy="2121408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15" name="Shape 11"/>
          <p:cNvSpPr/>
          <p:nvPr/>
        </p:nvSpPr>
        <p:spPr>
          <a:xfrm>
            <a:off x="2440168" y="4361688"/>
            <a:ext cx="91440" cy="91440"/>
          </a:xfrm>
          <a:prstGeom prst="rect">
            <a:avLst/>
          </a:prstGeom>
          <a:solidFill>
            <a:srgbClr val="D96A88"/>
          </a:solidFill>
          <a:ln/>
        </p:spPr>
      </p:sp>
      <p:sp>
        <p:nvSpPr>
          <p:cNvPr id="16" name="Text 12"/>
          <p:cNvSpPr/>
          <p:nvPr/>
        </p:nvSpPr>
        <p:spPr>
          <a:xfrm>
            <a:off x="2623048" y="4306824"/>
            <a:ext cx="1453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D96A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까르보나라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2440168" y="4590288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6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Карбонара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2440168" y="4956048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г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2440168" y="5248656"/>
            <a:ext cx="1014801" cy="10058"/>
          </a:xfrm>
          <a:prstGeom prst="rect">
            <a:avLst/>
          </a:prstGeom>
          <a:solidFill>
            <a:srgbClr val="DCD3C6"/>
          </a:solidFill>
          <a:ln/>
        </p:spPr>
      </p:sp>
      <p:sp>
        <p:nvSpPr>
          <p:cNvPr id="20" name="Text 16"/>
          <p:cNvSpPr/>
          <p:nvPr/>
        </p:nvSpPr>
        <p:spPr>
          <a:xfrm>
            <a:off x="2440168" y="5340096"/>
            <a:ext cx="1636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Ramyeon · вершкова, гостра HOT</a:t>
            </a:r>
            <a:endParaRPr lang="en-US" sz="900" dirty="0"/>
          </a:p>
        </p:txBody>
      </p:sp>
      <p:pic>
        <p:nvPicPr>
          <p:cNvPr id="21" name="Image 2" descr="/home/user/Chaplygin-Illya/sias_deck/packs/vegetab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331696" y="1938528"/>
            <a:ext cx="1636776" cy="2121408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22" name="Shape 17"/>
          <p:cNvSpPr/>
          <p:nvPr/>
        </p:nvSpPr>
        <p:spPr>
          <a:xfrm>
            <a:off x="4331696" y="4361688"/>
            <a:ext cx="91440" cy="91440"/>
          </a:xfrm>
          <a:prstGeom prst="rect">
            <a:avLst/>
          </a:prstGeom>
          <a:solidFill>
            <a:srgbClr val="4E9E2A"/>
          </a:solidFill>
          <a:ln/>
        </p:spPr>
      </p:sp>
      <p:sp>
        <p:nvSpPr>
          <p:cNvPr id="23" name="Text 18"/>
          <p:cNvSpPr/>
          <p:nvPr/>
        </p:nvSpPr>
        <p:spPr>
          <a:xfrm>
            <a:off x="4514576" y="4306824"/>
            <a:ext cx="1453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4E9E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야채맛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4331696" y="4590288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6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Овочева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4331696" y="4956048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4331696" y="5248656"/>
            <a:ext cx="1014801" cy="10058"/>
          </a:xfrm>
          <a:prstGeom prst="rect">
            <a:avLst/>
          </a:prstGeom>
          <a:solidFill>
            <a:srgbClr val="DCD3C6"/>
          </a:solidFill>
          <a:ln/>
        </p:spPr>
      </p:sp>
      <p:sp>
        <p:nvSpPr>
          <p:cNvPr id="27" name="Text 22"/>
          <p:cNvSpPr/>
          <p:nvPr/>
        </p:nvSpPr>
        <p:spPr>
          <a:xfrm>
            <a:off x="4331696" y="5340096"/>
            <a:ext cx="1636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Ramyeon · без гостроти</a:t>
            </a:r>
            <a:endParaRPr lang="en-US" sz="900" dirty="0"/>
          </a:p>
        </p:txBody>
      </p:sp>
      <p:pic>
        <p:nvPicPr>
          <p:cNvPr id="28" name="Image 3" descr="/home/user/Chaplygin-Illya/sias_deck/packs/spicy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23224" y="1938528"/>
            <a:ext cx="1636776" cy="2121408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29" name="Shape 23"/>
          <p:cNvSpPr/>
          <p:nvPr/>
        </p:nvSpPr>
        <p:spPr>
          <a:xfrm>
            <a:off x="6223224" y="4361688"/>
            <a:ext cx="91440" cy="91440"/>
          </a:xfrm>
          <a:prstGeom prst="rect">
            <a:avLst/>
          </a:prstGeom>
          <a:solidFill>
            <a:srgbClr val="C8101C"/>
          </a:solidFill>
          <a:ln/>
        </p:spPr>
      </p:sp>
      <p:sp>
        <p:nvSpPr>
          <p:cNvPr id="30" name="Text 24"/>
          <p:cNvSpPr/>
          <p:nvPr/>
        </p:nvSpPr>
        <p:spPr>
          <a:xfrm>
            <a:off x="6406104" y="4306824"/>
            <a:ext cx="1453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C810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매운맛</a:t>
            </a:r>
            <a:endParaRPr lang="en-US" sz="1050" dirty="0"/>
          </a:p>
        </p:txBody>
      </p:sp>
      <p:sp>
        <p:nvSpPr>
          <p:cNvPr id="31" name="Text 25"/>
          <p:cNvSpPr/>
          <p:nvPr/>
        </p:nvSpPr>
        <p:spPr>
          <a:xfrm>
            <a:off x="6223224" y="4590288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6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Гостра</a:t>
            </a:r>
            <a:endParaRPr lang="en-US" sz="1600" dirty="0"/>
          </a:p>
        </p:txBody>
      </p:sp>
      <p:sp>
        <p:nvSpPr>
          <p:cNvPr id="32" name="Text 26"/>
          <p:cNvSpPr/>
          <p:nvPr/>
        </p:nvSpPr>
        <p:spPr>
          <a:xfrm>
            <a:off x="6223224" y="4956048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112,5 г</a:t>
            </a:r>
            <a:endParaRPr lang="en-US" sz="1250" dirty="0"/>
          </a:p>
        </p:txBody>
      </p:sp>
      <p:sp>
        <p:nvSpPr>
          <p:cNvPr id="33" name="Shape 27"/>
          <p:cNvSpPr/>
          <p:nvPr/>
        </p:nvSpPr>
        <p:spPr>
          <a:xfrm>
            <a:off x="6223224" y="5248656"/>
            <a:ext cx="1014801" cy="10058"/>
          </a:xfrm>
          <a:prstGeom prst="rect">
            <a:avLst/>
          </a:prstGeom>
          <a:solidFill>
            <a:srgbClr val="DCD3C6"/>
          </a:solidFill>
          <a:ln/>
        </p:spPr>
      </p:sp>
      <p:sp>
        <p:nvSpPr>
          <p:cNvPr id="34" name="Text 28"/>
          <p:cNvSpPr/>
          <p:nvPr/>
        </p:nvSpPr>
        <p:spPr>
          <a:xfrm>
            <a:off x="6223224" y="5340096"/>
            <a:ext cx="1636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Ramyeon · гострота MEDIUM</a:t>
            </a:r>
            <a:endParaRPr lang="en-US" sz="900" dirty="0"/>
          </a:p>
        </p:txBody>
      </p:sp>
      <p:pic>
        <p:nvPicPr>
          <p:cNvPr id="35" name="Image 4" descr="/home/user/Chaplygin-Illya/sias_deck/packs/beef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14751" y="1938528"/>
            <a:ext cx="1636776" cy="2121408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36" name="Shape 29"/>
          <p:cNvSpPr/>
          <p:nvPr/>
        </p:nvSpPr>
        <p:spPr>
          <a:xfrm>
            <a:off x="8114751" y="4361688"/>
            <a:ext cx="91440" cy="91440"/>
          </a:xfrm>
          <a:prstGeom prst="rect">
            <a:avLst/>
          </a:prstGeom>
          <a:solidFill>
            <a:srgbClr val="A9541A"/>
          </a:solidFill>
          <a:ln/>
        </p:spPr>
      </p:sp>
      <p:sp>
        <p:nvSpPr>
          <p:cNvPr id="37" name="Text 30"/>
          <p:cNvSpPr/>
          <p:nvPr/>
        </p:nvSpPr>
        <p:spPr>
          <a:xfrm>
            <a:off x="8297631" y="4306824"/>
            <a:ext cx="1453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A954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소고기맛</a:t>
            </a:r>
            <a:endParaRPr lang="en-US" sz="1050" dirty="0"/>
          </a:p>
        </p:txBody>
      </p:sp>
      <p:sp>
        <p:nvSpPr>
          <p:cNvPr id="38" name="Text 31"/>
          <p:cNvSpPr/>
          <p:nvPr/>
        </p:nvSpPr>
        <p:spPr>
          <a:xfrm>
            <a:off x="8114751" y="4590288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6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Яловичина</a:t>
            </a:r>
            <a:endParaRPr lang="en-US" sz="1600" dirty="0"/>
          </a:p>
        </p:txBody>
      </p:sp>
      <p:sp>
        <p:nvSpPr>
          <p:cNvPr id="39" name="Text 32"/>
          <p:cNvSpPr/>
          <p:nvPr/>
        </p:nvSpPr>
        <p:spPr>
          <a:xfrm>
            <a:off x="8114751" y="4956048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40" name="Shape 33"/>
          <p:cNvSpPr/>
          <p:nvPr/>
        </p:nvSpPr>
        <p:spPr>
          <a:xfrm>
            <a:off x="8114751" y="5248656"/>
            <a:ext cx="1014801" cy="10058"/>
          </a:xfrm>
          <a:prstGeom prst="rect">
            <a:avLst/>
          </a:prstGeom>
          <a:solidFill>
            <a:srgbClr val="DCD3C6"/>
          </a:solidFill>
          <a:ln/>
        </p:spPr>
      </p:sp>
      <p:sp>
        <p:nvSpPr>
          <p:cNvPr id="41" name="Text 34"/>
          <p:cNvSpPr/>
          <p:nvPr/>
        </p:nvSpPr>
        <p:spPr>
          <a:xfrm>
            <a:off x="8114751" y="5340096"/>
            <a:ext cx="1636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Ramyeon · гострота MILD</a:t>
            </a:r>
            <a:endParaRPr lang="en-US" sz="900" dirty="0"/>
          </a:p>
        </p:txBody>
      </p:sp>
      <p:pic>
        <p:nvPicPr>
          <p:cNvPr id="42" name="Image 5" descr="/home/user/Chaplygin-Illya/sias_deck/packs/chicken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0006279" y="1938528"/>
            <a:ext cx="1636776" cy="2121408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43" name="Shape 35"/>
          <p:cNvSpPr/>
          <p:nvPr/>
        </p:nvSpPr>
        <p:spPr>
          <a:xfrm>
            <a:off x="10006279" y="4361688"/>
            <a:ext cx="91440" cy="91440"/>
          </a:xfrm>
          <a:prstGeom prst="rect">
            <a:avLst/>
          </a:prstGeom>
          <a:solidFill>
            <a:srgbClr val="D9AA05"/>
          </a:solidFill>
          <a:ln/>
        </p:spPr>
      </p:sp>
      <p:sp>
        <p:nvSpPr>
          <p:cNvPr id="44" name="Text 36"/>
          <p:cNvSpPr/>
          <p:nvPr/>
        </p:nvSpPr>
        <p:spPr>
          <a:xfrm>
            <a:off x="10189159" y="4306824"/>
            <a:ext cx="1453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D9AA0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치킨맛</a:t>
            </a:r>
            <a:endParaRPr lang="en-US" sz="1050" dirty="0"/>
          </a:p>
        </p:txBody>
      </p:sp>
      <p:sp>
        <p:nvSpPr>
          <p:cNvPr id="45" name="Text 37"/>
          <p:cNvSpPr/>
          <p:nvPr/>
        </p:nvSpPr>
        <p:spPr>
          <a:xfrm>
            <a:off x="10006279" y="4590288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6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Курка</a:t>
            </a:r>
            <a:endParaRPr lang="en-US" sz="1600" dirty="0"/>
          </a:p>
        </p:txBody>
      </p:sp>
      <p:sp>
        <p:nvSpPr>
          <p:cNvPr id="46" name="Text 38"/>
          <p:cNvSpPr/>
          <p:nvPr/>
        </p:nvSpPr>
        <p:spPr>
          <a:xfrm>
            <a:off x="10006279" y="4956048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47" name="Shape 39"/>
          <p:cNvSpPr/>
          <p:nvPr/>
        </p:nvSpPr>
        <p:spPr>
          <a:xfrm>
            <a:off x="10006279" y="5248656"/>
            <a:ext cx="1014801" cy="10058"/>
          </a:xfrm>
          <a:prstGeom prst="rect">
            <a:avLst/>
          </a:prstGeom>
          <a:solidFill>
            <a:srgbClr val="DCD3C6"/>
          </a:solidFill>
          <a:ln/>
        </p:spPr>
      </p:sp>
      <p:sp>
        <p:nvSpPr>
          <p:cNvPr id="48" name="Text 40"/>
          <p:cNvSpPr/>
          <p:nvPr/>
        </p:nvSpPr>
        <p:spPr>
          <a:xfrm>
            <a:off x="10006279" y="5340096"/>
            <a:ext cx="1636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Ramyeon · без гостроти</a:t>
            </a:r>
            <a:endParaRPr lang="en-US" sz="900" dirty="0"/>
          </a:p>
        </p:txBody>
      </p:sp>
      <p:sp>
        <p:nvSpPr>
          <p:cNvPr id="49" name="Text 41"/>
          <p:cNvSpPr/>
          <p:nvPr/>
        </p:nvSpPr>
        <p:spPr>
          <a:xfrm>
            <a:off x="548640" y="64922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00" spc="14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CHOI'S RAMYEON  ·  SIAS FRANCE  ·  2026</a:t>
            </a:r>
            <a:endParaRPr lang="en-US" sz="800" dirty="0"/>
          </a:p>
        </p:txBody>
      </p:sp>
      <p:sp>
        <p:nvSpPr>
          <p:cNvPr id="50" name="Text 42"/>
          <p:cNvSpPr/>
          <p:nvPr/>
        </p:nvSpPr>
        <p:spPr>
          <a:xfrm>
            <a:off x="11094415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6E68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" cy="173736"/>
          </a:xfrm>
          <a:prstGeom prst="rect">
            <a:avLst/>
          </a:prstGeom>
          <a:solidFill>
            <a:srgbClr val="D80F19"/>
          </a:solidFill>
          <a:ln/>
        </p:spPr>
      </p:sp>
      <p:sp>
        <p:nvSpPr>
          <p:cNvPr id="3" name="Text 1"/>
          <p:cNvSpPr/>
          <p:nvPr/>
        </p:nvSpPr>
        <p:spPr>
          <a:xfrm>
            <a:off x="832104" y="4114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b="1" spc="16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ВАРІАНТ ПОСТАЧАННЯ · 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палет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76072" y="131673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i="1" dirty="0">
                <a:solidFill>
                  <a:srgbClr val="A887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пробна партія · по 1 палеті на кожен смак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943039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052767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034479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палет у постачанні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552383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62111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9 600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643823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пачок разом</a:t>
            </a:r>
            <a:endParaRPr lang="en-US" sz="820" dirty="0"/>
          </a:p>
        </p:txBody>
      </p:sp>
      <p:sp>
        <p:nvSpPr>
          <p:cNvPr id="12" name="Shape 10"/>
          <p:cNvSpPr/>
          <p:nvPr/>
        </p:nvSpPr>
        <p:spPr>
          <a:xfrm>
            <a:off x="10161727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D80F19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0271455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0 %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0253167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FBD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мито · EUR.1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548640" y="1700784"/>
            <a:ext cx="11094415" cy="10058"/>
          </a:xfrm>
          <a:prstGeom prst="rect">
            <a:avLst/>
          </a:prstGeom>
          <a:solidFill>
            <a:srgbClr val="A8874E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17" name="Image 0" descr="/home/user/Chaplygin-Illya/sias_deck/packs/gou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18" name="Text 15"/>
          <p:cNvSpPr/>
          <p:nvPr/>
        </p:nvSpPr>
        <p:spPr>
          <a:xfrm>
            <a:off x="2139696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Гауда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2139696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7C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고다치즈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2139696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 г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198266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22" name="Text 19"/>
          <p:cNvSpPr/>
          <p:nvPr/>
        </p:nvSpPr>
        <p:spPr>
          <a:xfrm>
            <a:off x="3198266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2139696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24" name="Text 21"/>
          <p:cNvSpPr/>
          <p:nvPr/>
        </p:nvSpPr>
        <p:spPr>
          <a:xfrm>
            <a:off x="2139696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1 600 пачок у постачанні</a:t>
            </a:r>
            <a:endParaRPr lang="en-US" sz="820" dirty="0"/>
          </a:p>
        </p:txBody>
      </p:sp>
      <p:sp>
        <p:nvSpPr>
          <p:cNvPr id="25" name="Shape 22"/>
          <p:cNvSpPr/>
          <p:nvPr/>
        </p:nvSpPr>
        <p:spPr>
          <a:xfrm>
            <a:off x="2139696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26" name="Text 23"/>
          <p:cNvSpPr/>
          <p:nvPr/>
        </p:nvSpPr>
        <p:spPr>
          <a:xfrm>
            <a:off x="2258568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258568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1,31 €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2258568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67,00 ₴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2998939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10,64 €/кг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4332122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31" name="Image 1" descr="/home/user/Chaplygin-Illya/sias_deck/packs/carbonar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41850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32" name="Text 28"/>
          <p:cNvSpPr/>
          <p:nvPr/>
        </p:nvSpPr>
        <p:spPr>
          <a:xfrm>
            <a:off x="5923178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Карбонара</a:t>
            </a:r>
            <a:endParaRPr lang="en-US" sz="1500" dirty="0"/>
          </a:p>
        </p:txBody>
      </p:sp>
      <p:sp>
        <p:nvSpPr>
          <p:cNvPr id="33" name="Text 29"/>
          <p:cNvSpPr/>
          <p:nvPr/>
        </p:nvSpPr>
        <p:spPr>
          <a:xfrm>
            <a:off x="5923178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D96A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까르보나라</a:t>
            </a:r>
            <a:endParaRPr lang="en-US" sz="950" dirty="0"/>
          </a:p>
        </p:txBody>
      </p:sp>
      <p:sp>
        <p:nvSpPr>
          <p:cNvPr id="34" name="Text 30"/>
          <p:cNvSpPr/>
          <p:nvPr/>
        </p:nvSpPr>
        <p:spPr>
          <a:xfrm>
            <a:off x="5923178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г</a:t>
            </a:r>
            <a:endParaRPr lang="en-US" sz="1250" dirty="0"/>
          </a:p>
        </p:txBody>
      </p:sp>
      <p:sp>
        <p:nvSpPr>
          <p:cNvPr id="35" name="Shape 31"/>
          <p:cNvSpPr/>
          <p:nvPr/>
        </p:nvSpPr>
        <p:spPr>
          <a:xfrm>
            <a:off x="6981749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36" name="Text 32"/>
          <p:cNvSpPr/>
          <p:nvPr/>
        </p:nvSpPr>
        <p:spPr>
          <a:xfrm>
            <a:off x="6981749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750" dirty="0"/>
          </a:p>
        </p:txBody>
      </p:sp>
      <p:sp>
        <p:nvSpPr>
          <p:cNvPr id="37" name="Text 33"/>
          <p:cNvSpPr/>
          <p:nvPr/>
        </p:nvSpPr>
        <p:spPr>
          <a:xfrm>
            <a:off x="5923178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38" name="Text 34"/>
          <p:cNvSpPr/>
          <p:nvPr/>
        </p:nvSpPr>
        <p:spPr>
          <a:xfrm>
            <a:off x="5923178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1 600 пачок у постачанні</a:t>
            </a:r>
            <a:endParaRPr lang="en-US" sz="820" dirty="0"/>
          </a:p>
        </p:txBody>
      </p:sp>
      <p:sp>
        <p:nvSpPr>
          <p:cNvPr id="39" name="Shape 35"/>
          <p:cNvSpPr/>
          <p:nvPr/>
        </p:nvSpPr>
        <p:spPr>
          <a:xfrm>
            <a:off x="5923178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40" name="Text 36"/>
          <p:cNvSpPr/>
          <p:nvPr/>
        </p:nvSpPr>
        <p:spPr>
          <a:xfrm>
            <a:off x="6042050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41" name="Text 37"/>
          <p:cNvSpPr/>
          <p:nvPr/>
        </p:nvSpPr>
        <p:spPr>
          <a:xfrm>
            <a:off x="6042050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1,31 €</a:t>
            </a:r>
            <a:endParaRPr lang="en-US" sz="2200" dirty="0"/>
          </a:p>
        </p:txBody>
      </p:sp>
      <p:sp>
        <p:nvSpPr>
          <p:cNvPr id="42" name="Text 38"/>
          <p:cNvSpPr/>
          <p:nvPr/>
        </p:nvSpPr>
        <p:spPr>
          <a:xfrm>
            <a:off x="6042050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67,00 ₴</a:t>
            </a:r>
            <a:endParaRPr lang="en-US" sz="950" dirty="0"/>
          </a:p>
        </p:txBody>
      </p:sp>
      <p:sp>
        <p:nvSpPr>
          <p:cNvPr id="43" name="Text 39"/>
          <p:cNvSpPr/>
          <p:nvPr/>
        </p:nvSpPr>
        <p:spPr>
          <a:xfrm>
            <a:off x="6782422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9,99 €/кг</a:t>
            </a:r>
            <a:endParaRPr lang="en-US" sz="950" dirty="0"/>
          </a:p>
        </p:txBody>
      </p:sp>
      <p:sp>
        <p:nvSpPr>
          <p:cNvPr id="44" name="Shape 40"/>
          <p:cNvSpPr/>
          <p:nvPr/>
        </p:nvSpPr>
        <p:spPr>
          <a:xfrm>
            <a:off x="8115605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45" name="Image 2" descr="/home/user/Chaplygin-Illya/sias_deck/packs/vegetab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225333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46" name="Text 41"/>
          <p:cNvSpPr/>
          <p:nvPr/>
        </p:nvSpPr>
        <p:spPr>
          <a:xfrm>
            <a:off x="9706661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Овочева</a:t>
            </a:r>
            <a:endParaRPr lang="en-US" sz="1500" dirty="0"/>
          </a:p>
        </p:txBody>
      </p:sp>
      <p:sp>
        <p:nvSpPr>
          <p:cNvPr id="47" name="Text 42"/>
          <p:cNvSpPr/>
          <p:nvPr/>
        </p:nvSpPr>
        <p:spPr>
          <a:xfrm>
            <a:off x="9706661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4E9E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야채맛</a:t>
            </a:r>
            <a:endParaRPr lang="en-US" sz="950" dirty="0"/>
          </a:p>
        </p:txBody>
      </p:sp>
      <p:sp>
        <p:nvSpPr>
          <p:cNvPr id="48" name="Text 43"/>
          <p:cNvSpPr/>
          <p:nvPr/>
        </p:nvSpPr>
        <p:spPr>
          <a:xfrm>
            <a:off x="9706661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49" name="Shape 44"/>
          <p:cNvSpPr/>
          <p:nvPr/>
        </p:nvSpPr>
        <p:spPr>
          <a:xfrm>
            <a:off x="10765231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50" name="Text 45"/>
          <p:cNvSpPr/>
          <p:nvPr/>
        </p:nvSpPr>
        <p:spPr>
          <a:xfrm>
            <a:off x="10765231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750" dirty="0"/>
          </a:p>
        </p:txBody>
      </p:sp>
      <p:sp>
        <p:nvSpPr>
          <p:cNvPr id="51" name="Text 46"/>
          <p:cNvSpPr/>
          <p:nvPr/>
        </p:nvSpPr>
        <p:spPr>
          <a:xfrm>
            <a:off x="9706661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52" name="Text 47"/>
          <p:cNvSpPr/>
          <p:nvPr/>
        </p:nvSpPr>
        <p:spPr>
          <a:xfrm>
            <a:off x="9706661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1 600 пачок у постачанні</a:t>
            </a:r>
            <a:endParaRPr lang="en-US" sz="820" dirty="0"/>
          </a:p>
        </p:txBody>
      </p:sp>
      <p:sp>
        <p:nvSpPr>
          <p:cNvPr id="53" name="Shape 48"/>
          <p:cNvSpPr/>
          <p:nvPr/>
        </p:nvSpPr>
        <p:spPr>
          <a:xfrm>
            <a:off x="9706661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54" name="Text 49"/>
          <p:cNvSpPr/>
          <p:nvPr/>
        </p:nvSpPr>
        <p:spPr>
          <a:xfrm>
            <a:off x="9825533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55" name="Text 50"/>
          <p:cNvSpPr/>
          <p:nvPr/>
        </p:nvSpPr>
        <p:spPr>
          <a:xfrm>
            <a:off x="9825533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1,13 €</a:t>
            </a:r>
            <a:endParaRPr lang="en-US" sz="2200" dirty="0"/>
          </a:p>
        </p:txBody>
      </p:sp>
      <p:sp>
        <p:nvSpPr>
          <p:cNvPr id="56" name="Text 51"/>
          <p:cNvSpPr/>
          <p:nvPr/>
        </p:nvSpPr>
        <p:spPr>
          <a:xfrm>
            <a:off x="9825533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₴</a:t>
            </a:r>
            <a:endParaRPr lang="en-US" sz="950" dirty="0"/>
          </a:p>
        </p:txBody>
      </p:sp>
      <p:sp>
        <p:nvSpPr>
          <p:cNvPr id="57" name="Text 52"/>
          <p:cNvSpPr/>
          <p:nvPr/>
        </p:nvSpPr>
        <p:spPr>
          <a:xfrm>
            <a:off x="10565904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10,04 €/кг</a:t>
            </a:r>
            <a:endParaRPr lang="en-US" sz="950" dirty="0"/>
          </a:p>
        </p:txBody>
      </p:sp>
      <p:sp>
        <p:nvSpPr>
          <p:cNvPr id="58" name="Shape 53"/>
          <p:cNvSpPr/>
          <p:nvPr/>
        </p:nvSpPr>
        <p:spPr>
          <a:xfrm>
            <a:off x="548640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59" name="Image 3" descr="/home/user/Chaplygin-Illya/sias_deck/packs/spicy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60" name="Text 54"/>
          <p:cNvSpPr/>
          <p:nvPr/>
        </p:nvSpPr>
        <p:spPr>
          <a:xfrm>
            <a:off x="2139696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Гостра</a:t>
            </a:r>
            <a:endParaRPr lang="en-US" sz="1500" dirty="0"/>
          </a:p>
        </p:txBody>
      </p:sp>
      <p:sp>
        <p:nvSpPr>
          <p:cNvPr id="61" name="Text 55"/>
          <p:cNvSpPr/>
          <p:nvPr/>
        </p:nvSpPr>
        <p:spPr>
          <a:xfrm>
            <a:off x="2139696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C810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매운맛</a:t>
            </a:r>
            <a:endParaRPr lang="en-US" sz="950" dirty="0"/>
          </a:p>
        </p:txBody>
      </p:sp>
      <p:sp>
        <p:nvSpPr>
          <p:cNvPr id="62" name="Text 56"/>
          <p:cNvSpPr/>
          <p:nvPr/>
        </p:nvSpPr>
        <p:spPr>
          <a:xfrm>
            <a:off x="2139696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112,5 г</a:t>
            </a:r>
            <a:endParaRPr lang="en-US" sz="1250" dirty="0"/>
          </a:p>
        </p:txBody>
      </p:sp>
      <p:sp>
        <p:nvSpPr>
          <p:cNvPr id="63" name="Shape 57"/>
          <p:cNvSpPr/>
          <p:nvPr/>
        </p:nvSpPr>
        <p:spPr>
          <a:xfrm>
            <a:off x="3198266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64" name="Text 58"/>
          <p:cNvSpPr/>
          <p:nvPr/>
        </p:nvSpPr>
        <p:spPr>
          <a:xfrm>
            <a:off x="3198266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750" dirty="0"/>
          </a:p>
        </p:txBody>
      </p:sp>
      <p:sp>
        <p:nvSpPr>
          <p:cNvPr id="65" name="Text 59"/>
          <p:cNvSpPr/>
          <p:nvPr/>
        </p:nvSpPr>
        <p:spPr>
          <a:xfrm>
            <a:off x="2139696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66" name="Text 60"/>
          <p:cNvSpPr/>
          <p:nvPr/>
        </p:nvSpPr>
        <p:spPr>
          <a:xfrm>
            <a:off x="2139696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1 600 пачок у постачанні</a:t>
            </a:r>
            <a:endParaRPr lang="en-US" sz="820" dirty="0"/>
          </a:p>
        </p:txBody>
      </p:sp>
      <p:sp>
        <p:nvSpPr>
          <p:cNvPr id="67" name="Shape 61"/>
          <p:cNvSpPr/>
          <p:nvPr/>
        </p:nvSpPr>
        <p:spPr>
          <a:xfrm>
            <a:off x="2139696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68" name="Text 62"/>
          <p:cNvSpPr/>
          <p:nvPr/>
        </p:nvSpPr>
        <p:spPr>
          <a:xfrm>
            <a:off x="2258568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69" name="Text 63"/>
          <p:cNvSpPr/>
          <p:nvPr/>
        </p:nvSpPr>
        <p:spPr>
          <a:xfrm>
            <a:off x="2258568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1,13 €</a:t>
            </a:r>
            <a:endParaRPr lang="en-US" sz="2200" dirty="0"/>
          </a:p>
        </p:txBody>
      </p:sp>
      <p:sp>
        <p:nvSpPr>
          <p:cNvPr id="70" name="Text 64"/>
          <p:cNvSpPr/>
          <p:nvPr/>
        </p:nvSpPr>
        <p:spPr>
          <a:xfrm>
            <a:off x="2258568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₴</a:t>
            </a:r>
            <a:endParaRPr lang="en-US" sz="950" dirty="0"/>
          </a:p>
        </p:txBody>
      </p:sp>
      <p:sp>
        <p:nvSpPr>
          <p:cNvPr id="71" name="Text 65"/>
          <p:cNvSpPr/>
          <p:nvPr/>
        </p:nvSpPr>
        <p:spPr>
          <a:xfrm>
            <a:off x="2998939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10,08 €/кг</a:t>
            </a:r>
            <a:endParaRPr lang="en-US" sz="950" dirty="0"/>
          </a:p>
        </p:txBody>
      </p:sp>
      <p:sp>
        <p:nvSpPr>
          <p:cNvPr id="72" name="Shape 66"/>
          <p:cNvSpPr/>
          <p:nvPr/>
        </p:nvSpPr>
        <p:spPr>
          <a:xfrm>
            <a:off x="4332122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73" name="Image 4" descr="/home/user/Chaplygin-Illya/sias_deck/packs/beef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441850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74" name="Text 67"/>
          <p:cNvSpPr/>
          <p:nvPr/>
        </p:nvSpPr>
        <p:spPr>
          <a:xfrm>
            <a:off x="5923178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Яловичина</a:t>
            </a:r>
            <a:endParaRPr lang="en-US" sz="1500" dirty="0"/>
          </a:p>
        </p:txBody>
      </p:sp>
      <p:sp>
        <p:nvSpPr>
          <p:cNvPr id="75" name="Text 68"/>
          <p:cNvSpPr/>
          <p:nvPr/>
        </p:nvSpPr>
        <p:spPr>
          <a:xfrm>
            <a:off x="5923178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A954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소고기맛</a:t>
            </a:r>
            <a:endParaRPr lang="en-US" sz="950" dirty="0"/>
          </a:p>
        </p:txBody>
      </p:sp>
      <p:sp>
        <p:nvSpPr>
          <p:cNvPr id="76" name="Text 69"/>
          <p:cNvSpPr/>
          <p:nvPr/>
        </p:nvSpPr>
        <p:spPr>
          <a:xfrm>
            <a:off x="5923178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77" name="Shape 70"/>
          <p:cNvSpPr/>
          <p:nvPr/>
        </p:nvSpPr>
        <p:spPr>
          <a:xfrm>
            <a:off x="6981749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78" name="Text 71"/>
          <p:cNvSpPr/>
          <p:nvPr/>
        </p:nvSpPr>
        <p:spPr>
          <a:xfrm>
            <a:off x="6981749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750" dirty="0"/>
          </a:p>
        </p:txBody>
      </p:sp>
      <p:sp>
        <p:nvSpPr>
          <p:cNvPr id="79" name="Text 72"/>
          <p:cNvSpPr/>
          <p:nvPr/>
        </p:nvSpPr>
        <p:spPr>
          <a:xfrm>
            <a:off x="5923178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80" name="Text 73"/>
          <p:cNvSpPr/>
          <p:nvPr/>
        </p:nvSpPr>
        <p:spPr>
          <a:xfrm>
            <a:off x="5923178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1 600 пачок у постачанні</a:t>
            </a:r>
            <a:endParaRPr lang="en-US" sz="820" dirty="0"/>
          </a:p>
        </p:txBody>
      </p:sp>
      <p:sp>
        <p:nvSpPr>
          <p:cNvPr id="81" name="Shape 74"/>
          <p:cNvSpPr/>
          <p:nvPr/>
        </p:nvSpPr>
        <p:spPr>
          <a:xfrm>
            <a:off x="5923178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82" name="Text 75"/>
          <p:cNvSpPr/>
          <p:nvPr/>
        </p:nvSpPr>
        <p:spPr>
          <a:xfrm>
            <a:off x="6042050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83" name="Text 76"/>
          <p:cNvSpPr/>
          <p:nvPr/>
        </p:nvSpPr>
        <p:spPr>
          <a:xfrm>
            <a:off x="6042050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1,13 €</a:t>
            </a:r>
            <a:endParaRPr lang="en-US" sz="2200" dirty="0"/>
          </a:p>
        </p:txBody>
      </p:sp>
      <p:sp>
        <p:nvSpPr>
          <p:cNvPr id="84" name="Text 77"/>
          <p:cNvSpPr/>
          <p:nvPr/>
        </p:nvSpPr>
        <p:spPr>
          <a:xfrm>
            <a:off x="6042050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₴</a:t>
            </a:r>
            <a:endParaRPr lang="en-US" sz="950" dirty="0"/>
          </a:p>
        </p:txBody>
      </p:sp>
      <p:sp>
        <p:nvSpPr>
          <p:cNvPr id="85" name="Text 78"/>
          <p:cNvSpPr/>
          <p:nvPr/>
        </p:nvSpPr>
        <p:spPr>
          <a:xfrm>
            <a:off x="6782422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10,04 €/кг</a:t>
            </a:r>
            <a:endParaRPr lang="en-US" sz="950" dirty="0"/>
          </a:p>
        </p:txBody>
      </p:sp>
      <p:sp>
        <p:nvSpPr>
          <p:cNvPr id="86" name="Shape 79"/>
          <p:cNvSpPr/>
          <p:nvPr/>
        </p:nvSpPr>
        <p:spPr>
          <a:xfrm>
            <a:off x="8115605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87" name="Image 5" descr="/home/user/Chaplygin-Illya/sias_deck/packs/chicken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225333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88" name="Text 80"/>
          <p:cNvSpPr/>
          <p:nvPr/>
        </p:nvSpPr>
        <p:spPr>
          <a:xfrm>
            <a:off x="9706661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Курка</a:t>
            </a:r>
            <a:endParaRPr lang="en-US" sz="1500" dirty="0"/>
          </a:p>
        </p:txBody>
      </p:sp>
      <p:sp>
        <p:nvSpPr>
          <p:cNvPr id="89" name="Text 81"/>
          <p:cNvSpPr/>
          <p:nvPr/>
        </p:nvSpPr>
        <p:spPr>
          <a:xfrm>
            <a:off x="9706661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D9AA0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치킨맛</a:t>
            </a:r>
            <a:endParaRPr lang="en-US" sz="950" dirty="0"/>
          </a:p>
        </p:txBody>
      </p:sp>
      <p:sp>
        <p:nvSpPr>
          <p:cNvPr id="90" name="Text 82"/>
          <p:cNvSpPr/>
          <p:nvPr/>
        </p:nvSpPr>
        <p:spPr>
          <a:xfrm>
            <a:off x="9706661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91" name="Shape 83"/>
          <p:cNvSpPr/>
          <p:nvPr/>
        </p:nvSpPr>
        <p:spPr>
          <a:xfrm>
            <a:off x="10765231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92" name="Text 84"/>
          <p:cNvSpPr/>
          <p:nvPr/>
        </p:nvSpPr>
        <p:spPr>
          <a:xfrm>
            <a:off x="10765231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750" dirty="0"/>
          </a:p>
        </p:txBody>
      </p:sp>
      <p:sp>
        <p:nvSpPr>
          <p:cNvPr id="93" name="Text 85"/>
          <p:cNvSpPr/>
          <p:nvPr/>
        </p:nvSpPr>
        <p:spPr>
          <a:xfrm>
            <a:off x="9706661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94" name="Text 86"/>
          <p:cNvSpPr/>
          <p:nvPr/>
        </p:nvSpPr>
        <p:spPr>
          <a:xfrm>
            <a:off x="9706661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1 600 пачок у постачанні</a:t>
            </a:r>
            <a:endParaRPr lang="en-US" sz="820" dirty="0"/>
          </a:p>
        </p:txBody>
      </p:sp>
      <p:sp>
        <p:nvSpPr>
          <p:cNvPr id="95" name="Shape 87"/>
          <p:cNvSpPr/>
          <p:nvPr/>
        </p:nvSpPr>
        <p:spPr>
          <a:xfrm>
            <a:off x="9706661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96" name="Text 88"/>
          <p:cNvSpPr/>
          <p:nvPr/>
        </p:nvSpPr>
        <p:spPr>
          <a:xfrm>
            <a:off x="9825533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97" name="Text 89"/>
          <p:cNvSpPr/>
          <p:nvPr/>
        </p:nvSpPr>
        <p:spPr>
          <a:xfrm>
            <a:off x="9825533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1,13 €</a:t>
            </a:r>
            <a:endParaRPr lang="en-US" sz="2200" dirty="0"/>
          </a:p>
        </p:txBody>
      </p:sp>
      <p:sp>
        <p:nvSpPr>
          <p:cNvPr id="98" name="Text 90"/>
          <p:cNvSpPr/>
          <p:nvPr/>
        </p:nvSpPr>
        <p:spPr>
          <a:xfrm>
            <a:off x="9825533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₴</a:t>
            </a:r>
            <a:endParaRPr lang="en-US" sz="950" dirty="0"/>
          </a:p>
        </p:txBody>
      </p:sp>
      <p:sp>
        <p:nvSpPr>
          <p:cNvPr id="99" name="Text 91"/>
          <p:cNvSpPr/>
          <p:nvPr/>
        </p:nvSpPr>
        <p:spPr>
          <a:xfrm>
            <a:off x="10565904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10,04 €/кг</a:t>
            </a:r>
            <a:endParaRPr lang="en-US" sz="950" dirty="0"/>
          </a:p>
        </p:txBody>
      </p:sp>
      <p:sp>
        <p:nvSpPr>
          <p:cNvPr id="100" name="Text 92"/>
          <p:cNvSpPr/>
          <p:nvPr/>
        </p:nvSpPr>
        <p:spPr>
          <a:xfrm>
            <a:off x="548640" y="63276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на 1 пачку: EXW Roye + логістика + брокер + митне оформлення + ПДВ-передфінансування, ставка ввізного мита 0% (EUR.1). Курс: 1 € ≈ 51,2 ₴.</a:t>
            </a:r>
            <a:endParaRPr lang="en-US" sz="820" dirty="0"/>
          </a:p>
        </p:txBody>
      </p:sp>
      <p:sp>
        <p:nvSpPr>
          <p:cNvPr id="101" name="Text 93"/>
          <p:cNvSpPr/>
          <p:nvPr/>
        </p:nvSpPr>
        <p:spPr>
          <a:xfrm>
            <a:off x="548640" y="64922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00" spc="14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CHOI'S RAMYEON  ·  SIAS FRANCE  ·  2026</a:t>
            </a:r>
            <a:endParaRPr lang="en-US" sz="800" dirty="0"/>
          </a:p>
        </p:txBody>
      </p:sp>
      <p:sp>
        <p:nvSpPr>
          <p:cNvPr id="102" name="Text 94"/>
          <p:cNvSpPr/>
          <p:nvPr/>
        </p:nvSpPr>
        <p:spPr>
          <a:xfrm>
            <a:off x="11094415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6E68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" cy="173736"/>
          </a:xfrm>
          <a:prstGeom prst="rect">
            <a:avLst/>
          </a:prstGeom>
          <a:solidFill>
            <a:srgbClr val="D80F19"/>
          </a:solidFill>
          <a:ln/>
        </p:spPr>
      </p:sp>
      <p:sp>
        <p:nvSpPr>
          <p:cNvPr id="3" name="Text 1"/>
          <p:cNvSpPr/>
          <p:nvPr/>
        </p:nvSpPr>
        <p:spPr>
          <a:xfrm>
            <a:off x="832104" y="4114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b="1" spc="16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ВАРІАНТ ПОСТАЧАННЯ · 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палет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76072" y="131673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i="1" dirty="0">
                <a:solidFill>
                  <a:srgbClr val="A887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середній обсяг · акцент на вершкових смаках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943039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052767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034479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палет у постачанні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552383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62111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19 200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643823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пачок разом</a:t>
            </a:r>
            <a:endParaRPr lang="en-US" sz="820" dirty="0"/>
          </a:p>
        </p:txBody>
      </p:sp>
      <p:sp>
        <p:nvSpPr>
          <p:cNvPr id="12" name="Shape 10"/>
          <p:cNvSpPr/>
          <p:nvPr/>
        </p:nvSpPr>
        <p:spPr>
          <a:xfrm>
            <a:off x="10161727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D80F19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0271455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0 %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0253167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FBD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мито · EUR.1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548640" y="1700784"/>
            <a:ext cx="11094415" cy="10058"/>
          </a:xfrm>
          <a:prstGeom prst="rect">
            <a:avLst/>
          </a:prstGeom>
          <a:solidFill>
            <a:srgbClr val="A8874E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17" name="Image 0" descr="/home/user/Chaplygin-Illya/sias_deck/packs/gou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18" name="Text 15"/>
          <p:cNvSpPr/>
          <p:nvPr/>
        </p:nvSpPr>
        <p:spPr>
          <a:xfrm>
            <a:off x="2139696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Гауда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2139696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7C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고다치즈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2139696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 г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198266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22" name="Text 19"/>
          <p:cNvSpPr/>
          <p:nvPr/>
        </p:nvSpPr>
        <p:spPr>
          <a:xfrm>
            <a:off x="3198266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палети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2139696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24" name="Text 21"/>
          <p:cNvSpPr/>
          <p:nvPr/>
        </p:nvSpPr>
        <p:spPr>
          <a:xfrm>
            <a:off x="2139696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4 800 пачок у постачанні</a:t>
            </a:r>
            <a:endParaRPr lang="en-US" sz="820" dirty="0"/>
          </a:p>
        </p:txBody>
      </p:sp>
      <p:sp>
        <p:nvSpPr>
          <p:cNvPr id="25" name="Shape 22"/>
          <p:cNvSpPr/>
          <p:nvPr/>
        </p:nvSpPr>
        <p:spPr>
          <a:xfrm>
            <a:off x="2139696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26" name="Text 23"/>
          <p:cNvSpPr/>
          <p:nvPr/>
        </p:nvSpPr>
        <p:spPr>
          <a:xfrm>
            <a:off x="2258568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258568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1,11 €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2258568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56,88 ₴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2998939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9,03 €/кг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4332122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31" name="Image 1" descr="/home/user/Chaplygin-Illya/sias_deck/packs/carbonar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41850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32" name="Text 28"/>
          <p:cNvSpPr/>
          <p:nvPr/>
        </p:nvSpPr>
        <p:spPr>
          <a:xfrm>
            <a:off x="5923178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Карбонара</a:t>
            </a:r>
            <a:endParaRPr lang="en-US" sz="1500" dirty="0"/>
          </a:p>
        </p:txBody>
      </p:sp>
      <p:sp>
        <p:nvSpPr>
          <p:cNvPr id="33" name="Text 29"/>
          <p:cNvSpPr/>
          <p:nvPr/>
        </p:nvSpPr>
        <p:spPr>
          <a:xfrm>
            <a:off x="5923178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D96A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까르보나라</a:t>
            </a:r>
            <a:endParaRPr lang="en-US" sz="950" dirty="0"/>
          </a:p>
        </p:txBody>
      </p:sp>
      <p:sp>
        <p:nvSpPr>
          <p:cNvPr id="34" name="Text 30"/>
          <p:cNvSpPr/>
          <p:nvPr/>
        </p:nvSpPr>
        <p:spPr>
          <a:xfrm>
            <a:off x="5923178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г</a:t>
            </a:r>
            <a:endParaRPr lang="en-US" sz="1250" dirty="0"/>
          </a:p>
        </p:txBody>
      </p:sp>
      <p:sp>
        <p:nvSpPr>
          <p:cNvPr id="35" name="Shape 31"/>
          <p:cNvSpPr/>
          <p:nvPr/>
        </p:nvSpPr>
        <p:spPr>
          <a:xfrm>
            <a:off x="6981749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36" name="Text 32"/>
          <p:cNvSpPr/>
          <p:nvPr/>
        </p:nvSpPr>
        <p:spPr>
          <a:xfrm>
            <a:off x="6981749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палети</a:t>
            </a:r>
            <a:endParaRPr lang="en-US" sz="750" dirty="0"/>
          </a:p>
        </p:txBody>
      </p:sp>
      <p:sp>
        <p:nvSpPr>
          <p:cNvPr id="37" name="Text 33"/>
          <p:cNvSpPr/>
          <p:nvPr/>
        </p:nvSpPr>
        <p:spPr>
          <a:xfrm>
            <a:off x="5923178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38" name="Text 34"/>
          <p:cNvSpPr/>
          <p:nvPr/>
        </p:nvSpPr>
        <p:spPr>
          <a:xfrm>
            <a:off x="5923178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4 800 пачок у постачанні</a:t>
            </a:r>
            <a:endParaRPr lang="en-US" sz="820" dirty="0"/>
          </a:p>
        </p:txBody>
      </p:sp>
      <p:sp>
        <p:nvSpPr>
          <p:cNvPr id="39" name="Shape 35"/>
          <p:cNvSpPr/>
          <p:nvPr/>
        </p:nvSpPr>
        <p:spPr>
          <a:xfrm>
            <a:off x="5923178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40" name="Text 36"/>
          <p:cNvSpPr/>
          <p:nvPr/>
        </p:nvSpPr>
        <p:spPr>
          <a:xfrm>
            <a:off x="6042050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41" name="Text 37"/>
          <p:cNvSpPr/>
          <p:nvPr/>
        </p:nvSpPr>
        <p:spPr>
          <a:xfrm>
            <a:off x="6042050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1,11 €</a:t>
            </a:r>
            <a:endParaRPr lang="en-US" sz="2200" dirty="0"/>
          </a:p>
        </p:txBody>
      </p:sp>
      <p:sp>
        <p:nvSpPr>
          <p:cNvPr id="42" name="Text 38"/>
          <p:cNvSpPr/>
          <p:nvPr/>
        </p:nvSpPr>
        <p:spPr>
          <a:xfrm>
            <a:off x="6042050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56,88 ₴</a:t>
            </a:r>
            <a:endParaRPr lang="en-US" sz="950" dirty="0"/>
          </a:p>
        </p:txBody>
      </p:sp>
      <p:sp>
        <p:nvSpPr>
          <p:cNvPr id="43" name="Text 39"/>
          <p:cNvSpPr/>
          <p:nvPr/>
        </p:nvSpPr>
        <p:spPr>
          <a:xfrm>
            <a:off x="6782422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8,48 €/кг</a:t>
            </a:r>
            <a:endParaRPr lang="en-US" sz="950" dirty="0"/>
          </a:p>
        </p:txBody>
      </p:sp>
      <p:sp>
        <p:nvSpPr>
          <p:cNvPr id="44" name="Shape 40"/>
          <p:cNvSpPr/>
          <p:nvPr/>
        </p:nvSpPr>
        <p:spPr>
          <a:xfrm>
            <a:off x="8115605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45" name="Image 2" descr="/home/user/Chaplygin-Illya/sias_deck/packs/vegetab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225333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46" name="Text 41"/>
          <p:cNvSpPr/>
          <p:nvPr/>
        </p:nvSpPr>
        <p:spPr>
          <a:xfrm>
            <a:off x="9706661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Овочева</a:t>
            </a:r>
            <a:endParaRPr lang="en-US" sz="1500" dirty="0"/>
          </a:p>
        </p:txBody>
      </p:sp>
      <p:sp>
        <p:nvSpPr>
          <p:cNvPr id="47" name="Text 42"/>
          <p:cNvSpPr/>
          <p:nvPr/>
        </p:nvSpPr>
        <p:spPr>
          <a:xfrm>
            <a:off x="9706661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4E9E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야채맛</a:t>
            </a:r>
            <a:endParaRPr lang="en-US" sz="950" dirty="0"/>
          </a:p>
        </p:txBody>
      </p:sp>
      <p:sp>
        <p:nvSpPr>
          <p:cNvPr id="48" name="Text 43"/>
          <p:cNvSpPr/>
          <p:nvPr/>
        </p:nvSpPr>
        <p:spPr>
          <a:xfrm>
            <a:off x="9706661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49" name="Shape 44"/>
          <p:cNvSpPr/>
          <p:nvPr/>
        </p:nvSpPr>
        <p:spPr>
          <a:xfrm>
            <a:off x="10765231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50" name="Text 45"/>
          <p:cNvSpPr/>
          <p:nvPr/>
        </p:nvSpPr>
        <p:spPr>
          <a:xfrm>
            <a:off x="10765231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750" dirty="0"/>
          </a:p>
        </p:txBody>
      </p:sp>
      <p:sp>
        <p:nvSpPr>
          <p:cNvPr id="51" name="Text 46"/>
          <p:cNvSpPr/>
          <p:nvPr/>
        </p:nvSpPr>
        <p:spPr>
          <a:xfrm>
            <a:off x="9706661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52" name="Text 47"/>
          <p:cNvSpPr/>
          <p:nvPr/>
        </p:nvSpPr>
        <p:spPr>
          <a:xfrm>
            <a:off x="9706661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1 600 пачок у постачанні</a:t>
            </a:r>
            <a:endParaRPr lang="en-US" sz="820" dirty="0"/>
          </a:p>
        </p:txBody>
      </p:sp>
      <p:sp>
        <p:nvSpPr>
          <p:cNvPr id="53" name="Shape 48"/>
          <p:cNvSpPr/>
          <p:nvPr/>
        </p:nvSpPr>
        <p:spPr>
          <a:xfrm>
            <a:off x="9706661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54" name="Text 49"/>
          <p:cNvSpPr/>
          <p:nvPr/>
        </p:nvSpPr>
        <p:spPr>
          <a:xfrm>
            <a:off x="9825533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55" name="Text 50"/>
          <p:cNvSpPr/>
          <p:nvPr/>
        </p:nvSpPr>
        <p:spPr>
          <a:xfrm>
            <a:off x="9825533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0,96 €</a:t>
            </a:r>
            <a:endParaRPr lang="en-US" sz="2200" dirty="0"/>
          </a:p>
        </p:txBody>
      </p:sp>
      <p:sp>
        <p:nvSpPr>
          <p:cNvPr id="56" name="Text 51"/>
          <p:cNvSpPr/>
          <p:nvPr/>
        </p:nvSpPr>
        <p:spPr>
          <a:xfrm>
            <a:off x="9825533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₴</a:t>
            </a:r>
            <a:endParaRPr lang="en-US" sz="950" dirty="0"/>
          </a:p>
        </p:txBody>
      </p:sp>
      <p:sp>
        <p:nvSpPr>
          <p:cNvPr id="57" name="Text 52"/>
          <p:cNvSpPr/>
          <p:nvPr/>
        </p:nvSpPr>
        <p:spPr>
          <a:xfrm>
            <a:off x="10565904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8,52 €/кг</a:t>
            </a:r>
            <a:endParaRPr lang="en-US" sz="950" dirty="0"/>
          </a:p>
        </p:txBody>
      </p:sp>
      <p:sp>
        <p:nvSpPr>
          <p:cNvPr id="58" name="Shape 53"/>
          <p:cNvSpPr/>
          <p:nvPr/>
        </p:nvSpPr>
        <p:spPr>
          <a:xfrm>
            <a:off x="548640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59" name="Image 3" descr="/home/user/Chaplygin-Illya/sias_deck/packs/spicy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60" name="Text 54"/>
          <p:cNvSpPr/>
          <p:nvPr/>
        </p:nvSpPr>
        <p:spPr>
          <a:xfrm>
            <a:off x="2139696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Гостра</a:t>
            </a:r>
            <a:endParaRPr lang="en-US" sz="1500" dirty="0"/>
          </a:p>
        </p:txBody>
      </p:sp>
      <p:sp>
        <p:nvSpPr>
          <p:cNvPr id="61" name="Text 55"/>
          <p:cNvSpPr/>
          <p:nvPr/>
        </p:nvSpPr>
        <p:spPr>
          <a:xfrm>
            <a:off x="2139696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C810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매운맛</a:t>
            </a:r>
            <a:endParaRPr lang="en-US" sz="950" dirty="0"/>
          </a:p>
        </p:txBody>
      </p:sp>
      <p:sp>
        <p:nvSpPr>
          <p:cNvPr id="62" name="Text 56"/>
          <p:cNvSpPr/>
          <p:nvPr/>
        </p:nvSpPr>
        <p:spPr>
          <a:xfrm>
            <a:off x="2139696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112,5 г</a:t>
            </a:r>
            <a:endParaRPr lang="en-US" sz="1250" dirty="0"/>
          </a:p>
        </p:txBody>
      </p:sp>
      <p:sp>
        <p:nvSpPr>
          <p:cNvPr id="63" name="Shape 57"/>
          <p:cNvSpPr/>
          <p:nvPr/>
        </p:nvSpPr>
        <p:spPr>
          <a:xfrm>
            <a:off x="3198266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64" name="Text 58"/>
          <p:cNvSpPr/>
          <p:nvPr/>
        </p:nvSpPr>
        <p:spPr>
          <a:xfrm>
            <a:off x="3198266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палети</a:t>
            </a:r>
            <a:endParaRPr lang="en-US" sz="750" dirty="0"/>
          </a:p>
        </p:txBody>
      </p:sp>
      <p:sp>
        <p:nvSpPr>
          <p:cNvPr id="65" name="Text 59"/>
          <p:cNvSpPr/>
          <p:nvPr/>
        </p:nvSpPr>
        <p:spPr>
          <a:xfrm>
            <a:off x="2139696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66" name="Text 60"/>
          <p:cNvSpPr/>
          <p:nvPr/>
        </p:nvSpPr>
        <p:spPr>
          <a:xfrm>
            <a:off x="2139696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3 200 пачок у постачанні</a:t>
            </a:r>
            <a:endParaRPr lang="en-US" sz="820" dirty="0"/>
          </a:p>
        </p:txBody>
      </p:sp>
      <p:sp>
        <p:nvSpPr>
          <p:cNvPr id="67" name="Shape 61"/>
          <p:cNvSpPr/>
          <p:nvPr/>
        </p:nvSpPr>
        <p:spPr>
          <a:xfrm>
            <a:off x="2139696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68" name="Text 62"/>
          <p:cNvSpPr/>
          <p:nvPr/>
        </p:nvSpPr>
        <p:spPr>
          <a:xfrm>
            <a:off x="2258568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69" name="Text 63"/>
          <p:cNvSpPr/>
          <p:nvPr/>
        </p:nvSpPr>
        <p:spPr>
          <a:xfrm>
            <a:off x="2258568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0,96 €</a:t>
            </a:r>
            <a:endParaRPr lang="en-US" sz="2200" dirty="0"/>
          </a:p>
        </p:txBody>
      </p:sp>
      <p:sp>
        <p:nvSpPr>
          <p:cNvPr id="70" name="Text 64"/>
          <p:cNvSpPr/>
          <p:nvPr/>
        </p:nvSpPr>
        <p:spPr>
          <a:xfrm>
            <a:off x="2258568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₴</a:t>
            </a:r>
            <a:endParaRPr lang="en-US" sz="950" dirty="0"/>
          </a:p>
        </p:txBody>
      </p:sp>
      <p:sp>
        <p:nvSpPr>
          <p:cNvPr id="71" name="Text 65"/>
          <p:cNvSpPr/>
          <p:nvPr/>
        </p:nvSpPr>
        <p:spPr>
          <a:xfrm>
            <a:off x="2998939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8,56 €/кг</a:t>
            </a:r>
            <a:endParaRPr lang="en-US" sz="950" dirty="0"/>
          </a:p>
        </p:txBody>
      </p:sp>
      <p:sp>
        <p:nvSpPr>
          <p:cNvPr id="72" name="Shape 66"/>
          <p:cNvSpPr/>
          <p:nvPr/>
        </p:nvSpPr>
        <p:spPr>
          <a:xfrm>
            <a:off x="4332122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73" name="Image 4" descr="/home/user/Chaplygin-Illya/sias_deck/packs/beef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441850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74" name="Text 67"/>
          <p:cNvSpPr/>
          <p:nvPr/>
        </p:nvSpPr>
        <p:spPr>
          <a:xfrm>
            <a:off x="5923178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Яловичина</a:t>
            </a:r>
            <a:endParaRPr lang="en-US" sz="1500" dirty="0"/>
          </a:p>
        </p:txBody>
      </p:sp>
      <p:sp>
        <p:nvSpPr>
          <p:cNvPr id="75" name="Text 68"/>
          <p:cNvSpPr/>
          <p:nvPr/>
        </p:nvSpPr>
        <p:spPr>
          <a:xfrm>
            <a:off x="5923178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A954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소고기맛</a:t>
            </a:r>
            <a:endParaRPr lang="en-US" sz="950" dirty="0"/>
          </a:p>
        </p:txBody>
      </p:sp>
      <p:sp>
        <p:nvSpPr>
          <p:cNvPr id="76" name="Text 69"/>
          <p:cNvSpPr/>
          <p:nvPr/>
        </p:nvSpPr>
        <p:spPr>
          <a:xfrm>
            <a:off x="5923178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77" name="Shape 70"/>
          <p:cNvSpPr/>
          <p:nvPr/>
        </p:nvSpPr>
        <p:spPr>
          <a:xfrm>
            <a:off x="6981749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78" name="Text 71"/>
          <p:cNvSpPr/>
          <p:nvPr/>
        </p:nvSpPr>
        <p:spPr>
          <a:xfrm>
            <a:off x="6981749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палети</a:t>
            </a:r>
            <a:endParaRPr lang="en-US" sz="750" dirty="0"/>
          </a:p>
        </p:txBody>
      </p:sp>
      <p:sp>
        <p:nvSpPr>
          <p:cNvPr id="79" name="Text 72"/>
          <p:cNvSpPr/>
          <p:nvPr/>
        </p:nvSpPr>
        <p:spPr>
          <a:xfrm>
            <a:off x="5923178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80" name="Text 73"/>
          <p:cNvSpPr/>
          <p:nvPr/>
        </p:nvSpPr>
        <p:spPr>
          <a:xfrm>
            <a:off x="5923178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3 200 пачок у постачанні</a:t>
            </a:r>
            <a:endParaRPr lang="en-US" sz="820" dirty="0"/>
          </a:p>
        </p:txBody>
      </p:sp>
      <p:sp>
        <p:nvSpPr>
          <p:cNvPr id="81" name="Shape 74"/>
          <p:cNvSpPr/>
          <p:nvPr/>
        </p:nvSpPr>
        <p:spPr>
          <a:xfrm>
            <a:off x="5923178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82" name="Text 75"/>
          <p:cNvSpPr/>
          <p:nvPr/>
        </p:nvSpPr>
        <p:spPr>
          <a:xfrm>
            <a:off x="6042050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83" name="Text 76"/>
          <p:cNvSpPr/>
          <p:nvPr/>
        </p:nvSpPr>
        <p:spPr>
          <a:xfrm>
            <a:off x="6042050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0,96 €</a:t>
            </a:r>
            <a:endParaRPr lang="en-US" sz="2200" dirty="0"/>
          </a:p>
        </p:txBody>
      </p:sp>
      <p:sp>
        <p:nvSpPr>
          <p:cNvPr id="84" name="Text 77"/>
          <p:cNvSpPr/>
          <p:nvPr/>
        </p:nvSpPr>
        <p:spPr>
          <a:xfrm>
            <a:off x="6042050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₴</a:t>
            </a:r>
            <a:endParaRPr lang="en-US" sz="950" dirty="0"/>
          </a:p>
        </p:txBody>
      </p:sp>
      <p:sp>
        <p:nvSpPr>
          <p:cNvPr id="85" name="Text 78"/>
          <p:cNvSpPr/>
          <p:nvPr/>
        </p:nvSpPr>
        <p:spPr>
          <a:xfrm>
            <a:off x="6782422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8,52 €/кг</a:t>
            </a:r>
            <a:endParaRPr lang="en-US" sz="950" dirty="0"/>
          </a:p>
        </p:txBody>
      </p:sp>
      <p:sp>
        <p:nvSpPr>
          <p:cNvPr id="86" name="Shape 79"/>
          <p:cNvSpPr/>
          <p:nvPr/>
        </p:nvSpPr>
        <p:spPr>
          <a:xfrm>
            <a:off x="8115605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87" name="Image 5" descr="/home/user/Chaplygin-Illya/sias_deck/packs/chicken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225333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88" name="Text 80"/>
          <p:cNvSpPr/>
          <p:nvPr/>
        </p:nvSpPr>
        <p:spPr>
          <a:xfrm>
            <a:off x="9706661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Курка</a:t>
            </a:r>
            <a:endParaRPr lang="en-US" sz="1500" dirty="0"/>
          </a:p>
        </p:txBody>
      </p:sp>
      <p:sp>
        <p:nvSpPr>
          <p:cNvPr id="89" name="Text 81"/>
          <p:cNvSpPr/>
          <p:nvPr/>
        </p:nvSpPr>
        <p:spPr>
          <a:xfrm>
            <a:off x="9706661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D9AA0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치킨맛</a:t>
            </a:r>
            <a:endParaRPr lang="en-US" sz="950" dirty="0"/>
          </a:p>
        </p:txBody>
      </p:sp>
      <p:sp>
        <p:nvSpPr>
          <p:cNvPr id="90" name="Text 82"/>
          <p:cNvSpPr/>
          <p:nvPr/>
        </p:nvSpPr>
        <p:spPr>
          <a:xfrm>
            <a:off x="9706661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91" name="Shape 83"/>
          <p:cNvSpPr/>
          <p:nvPr/>
        </p:nvSpPr>
        <p:spPr>
          <a:xfrm>
            <a:off x="10765231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92" name="Text 84"/>
          <p:cNvSpPr/>
          <p:nvPr/>
        </p:nvSpPr>
        <p:spPr>
          <a:xfrm>
            <a:off x="10765231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750" dirty="0"/>
          </a:p>
        </p:txBody>
      </p:sp>
      <p:sp>
        <p:nvSpPr>
          <p:cNvPr id="93" name="Text 85"/>
          <p:cNvSpPr/>
          <p:nvPr/>
        </p:nvSpPr>
        <p:spPr>
          <a:xfrm>
            <a:off x="9706661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94" name="Text 86"/>
          <p:cNvSpPr/>
          <p:nvPr/>
        </p:nvSpPr>
        <p:spPr>
          <a:xfrm>
            <a:off x="9706661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1 600 пачок у постачанні</a:t>
            </a:r>
            <a:endParaRPr lang="en-US" sz="820" dirty="0"/>
          </a:p>
        </p:txBody>
      </p:sp>
      <p:sp>
        <p:nvSpPr>
          <p:cNvPr id="95" name="Shape 87"/>
          <p:cNvSpPr/>
          <p:nvPr/>
        </p:nvSpPr>
        <p:spPr>
          <a:xfrm>
            <a:off x="9706661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96" name="Text 88"/>
          <p:cNvSpPr/>
          <p:nvPr/>
        </p:nvSpPr>
        <p:spPr>
          <a:xfrm>
            <a:off x="9825533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97" name="Text 89"/>
          <p:cNvSpPr/>
          <p:nvPr/>
        </p:nvSpPr>
        <p:spPr>
          <a:xfrm>
            <a:off x="9825533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0,96 €</a:t>
            </a:r>
            <a:endParaRPr lang="en-US" sz="2200" dirty="0"/>
          </a:p>
        </p:txBody>
      </p:sp>
      <p:sp>
        <p:nvSpPr>
          <p:cNvPr id="98" name="Text 90"/>
          <p:cNvSpPr/>
          <p:nvPr/>
        </p:nvSpPr>
        <p:spPr>
          <a:xfrm>
            <a:off x="9825533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₴</a:t>
            </a:r>
            <a:endParaRPr lang="en-US" sz="950" dirty="0"/>
          </a:p>
        </p:txBody>
      </p:sp>
      <p:sp>
        <p:nvSpPr>
          <p:cNvPr id="99" name="Text 91"/>
          <p:cNvSpPr/>
          <p:nvPr/>
        </p:nvSpPr>
        <p:spPr>
          <a:xfrm>
            <a:off x="10565904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8,52 €/кг</a:t>
            </a:r>
            <a:endParaRPr lang="en-US" sz="950" dirty="0"/>
          </a:p>
        </p:txBody>
      </p:sp>
      <p:sp>
        <p:nvSpPr>
          <p:cNvPr id="100" name="Text 92"/>
          <p:cNvSpPr/>
          <p:nvPr/>
        </p:nvSpPr>
        <p:spPr>
          <a:xfrm>
            <a:off x="548640" y="63276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на 1 пачку: EXW Roye + логістика + брокер + митне оформлення + ПДВ-передфінансування, ставка ввізного мита 0% (EUR.1). Курс: 1 € ≈ 51,2 ₴.</a:t>
            </a:r>
            <a:endParaRPr lang="en-US" sz="820" dirty="0"/>
          </a:p>
        </p:txBody>
      </p:sp>
      <p:sp>
        <p:nvSpPr>
          <p:cNvPr id="101" name="Text 93"/>
          <p:cNvSpPr/>
          <p:nvPr/>
        </p:nvSpPr>
        <p:spPr>
          <a:xfrm>
            <a:off x="548640" y="64922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00" spc="14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CHOI'S RAMYEON  ·  SIAS FRANCE  ·  2026</a:t>
            </a:r>
            <a:endParaRPr lang="en-US" sz="800" dirty="0"/>
          </a:p>
        </p:txBody>
      </p:sp>
      <p:sp>
        <p:nvSpPr>
          <p:cNvPr id="102" name="Text 94"/>
          <p:cNvSpPr/>
          <p:nvPr/>
        </p:nvSpPr>
        <p:spPr>
          <a:xfrm>
            <a:off x="11094415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6E68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" cy="173736"/>
          </a:xfrm>
          <a:prstGeom prst="rect">
            <a:avLst/>
          </a:prstGeom>
          <a:solidFill>
            <a:srgbClr val="D80F19"/>
          </a:solidFill>
          <a:ln/>
        </p:spPr>
      </p:sp>
      <p:sp>
        <p:nvSpPr>
          <p:cNvPr id="3" name="Text 1"/>
          <p:cNvSpPr/>
          <p:nvPr/>
        </p:nvSpPr>
        <p:spPr>
          <a:xfrm>
            <a:off x="832104" y="4114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b="1" spc="16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ВАРІАНТ ПОСТАЧАННЯ · 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 палети · Full Truck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76072" y="131673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i="1" dirty="0">
                <a:solidFill>
                  <a:srgbClr val="A887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повне авто · найнижча собівартість пачки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943039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052767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034479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палет у постачанні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552383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62111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52 800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643823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пачок разом</a:t>
            </a:r>
            <a:endParaRPr lang="en-US" sz="820" dirty="0"/>
          </a:p>
        </p:txBody>
      </p:sp>
      <p:sp>
        <p:nvSpPr>
          <p:cNvPr id="12" name="Shape 10"/>
          <p:cNvSpPr/>
          <p:nvPr/>
        </p:nvSpPr>
        <p:spPr>
          <a:xfrm>
            <a:off x="10161727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D80F19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0271455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0 %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0253167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FBD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мито · EUR.1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548640" y="1700784"/>
            <a:ext cx="11094415" cy="10058"/>
          </a:xfrm>
          <a:prstGeom prst="rect">
            <a:avLst/>
          </a:prstGeom>
          <a:solidFill>
            <a:srgbClr val="A8874E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17" name="Image 0" descr="/home/user/Chaplygin-Illya/sias_deck/packs/gou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18" name="Text 15"/>
          <p:cNvSpPr/>
          <p:nvPr/>
        </p:nvSpPr>
        <p:spPr>
          <a:xfrm>
            <a:off x="2139696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Гауда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2139696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7C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고다치즈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2139696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 г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198266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22" name="Text 19"/>
          <p:cNvSpPr/>
          <p:nvPr/>
        </p:nvSpPr>
        <p:spPr>
          <a:xfrm>
            <a:off x="3198266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палет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2139696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24" name="Text 21"/>
          <p:cNvSpPr/>
          <p:nvPr/>
        </p:nvSpPr>
        <p:spPr>
          <a:xfrm>
            <a:off x="2139696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11 200 пачок у постачанні</a:t>
            </a:r>
            <a:endParaRPr lang="en-US" sz="820" dirty="0"/>
          </a:p>
        </p:txBody>
      </p:sp>
      <p:sp>
        <p:nvSpPr>
          <p:cNvPr id="25" name="Shape 22"/>
          <p:cNvSpPr/>
          <p:nvPr/>
        </p:nvSpPr>
        <p:spPr>
          <a:xfrm>
            <a:off x="2139696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26" name="Text 23"/>
          <p:cNvSpPr/>
          <p:nvPr/>
        </p:nvSpPr>
        <p:spPr>
          <a:xfrm>
            <a:off x="2258568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258568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1,02 €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2258568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52,13 ₴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2998939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8,28 €/кг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4332122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31" name="Image 1" descr="/home/user/Chaplygin-Illya/sias_deck/packs/carbonar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41850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32" name="Text 28"/>
          <p:cNvSpPr/>
          <p:nvPr/>
        </p:nvSpPr>
        <p:spPr>
          <a:xfrm>
            <a:off x="5923178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Карбонара</a:t>
            </a:r>
            <a:endParaRPr lang="en-US" sz="1500" dirty="0"/>
          </a:p>
        </p:txBody>
      </p:sp>
      <p:sp>
        <p:nvSpPr>
          <p:cNvPr id="33" name="Text 29"/>
          <p:cNvSpPr/>
          <p:nvPr/>
        </p:nvSpPr>
        <p:spPr>
          <a:xfrm>
            <a:off x="5923178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D96A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까르보나라</a:t>
            </a:r>
            <a:endParaRPr lang="en-US" sz="950" dirty="0"/>
          </a:p>
        </p:txBody>
      </p:sp>
      <p:sp>
        <p:nvSpPr>
          <p:cNvPr id="34" name="Text 30"/>
          <p:cNvSpPr/>
          <p:nvPr/>
        </p:nvSpPr>
        <p:spPr>
          <a:xfrm>
            <a:off x="5923178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г</a:t>
            </a:r>
            <a:endParaRPr lang="en-US" sz="1250" dirty="0"/>
          </a:p>
        </p:txBody>
      </p:sp>
      <p:sp>
        <p:nvSpPr>
          <p:cNvPr id="35" name="Shape 31"/>
          <p:cNvSpPr/>
          <p:nvPr/>
        </p:nvSpPr>
        <p:spPr>
          <a:xfrm>
            <a:off x="6981749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36" name="Text 32"/>
          <p:cNvSpPr/>
          <p:nvPr/>
        </p:nvSpPr>
        <p:spPr>
          <a:xfrm>
            <a:off x="6981749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палет</a:t>
            </a:r>
            <a:endParaRPr lang="en-US" sz="750" dirty="0"/>
          </a:p>
        </p:txBody>
      </p:sp>
      <p:sp>
        <p:nvSpPr>
          <p:cNvPr id="37" name="Text 33"/>
          <p:cNvSpPr/>
          <p:nvPr/>
        </p:nvSpPr>
        <p:spPr>
          <a:xfrm>
            <a:off x="5923178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38" name="Text 34"/>
          <p:cNvSpPr/>
          <p:nvPr/>
        </p:nvSpPr>
        <p:spPr>
          <a:xfrm>
            <a:off x="5923178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11 200 пачок у постачанні</a:t>
            </a:r>
            <a:endParaRPr lang="en-US" sz="820" dirty="0"/>
          </a:p>
        </p:txBody>
      </p:sp>
      <p:sp>
        <p:nvSpPr>
          <p:cNvPr id="39" name="Shape 35"/>
          <p:cNvSpPr/>
          <p:nvPr/>
        </p:nvSpPr>
        <p:spPr>
          <a:xfrm>
            <a:off x="5923178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40" name="Text 36"/>
          <p:cNvSpPr/>
          <p:nvPr/>
        </p:nvSpPr>
        <p:spPr>
          <a:xfrm>
            <a:off x="6042050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41" name="Text 37"/>
          <p:cNvSpPr/>
          <p:nvPr/>
        </p:nvSpPr>
        <p:spPr>
          <a:xfrm>
            <a:off x="6042050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1,02 €</a:t>
            </a:r>
            <a:endParaRPr lang="en-US" sz="2200" dirty="0"/>
          </a:p>
        </p:txBody>
      </p:sp>
      <p:sp>
        <p:nvSpPr>
          <p:cNvPr id="42" name="Text 38"/>
          <p:cNvSpPr/>
          <p:nvPr/>
        </p:nvSpPr>
        <p:spPr>
          <a:xfrm>
            <a:off x="6042050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52,13 ₴</a:t>
            </a:r>
            <a:endParaRPr lang="en-US" sz="950" dirty="0"/>
          </a:p>
        </p:txBody>
      </p:sp>
      <p:sp>
        <p:nvSpPr>
          <p:cNvPr id="43" name="Text 39"/>
          <p:cNvSpPr/>
          <p:nvPr/>
        </p:nvSpPr>
        <p:spPr>
          <a:xfrm>
            <a:off x="6782422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7,77 €/кг</a:t>
            </a:r>
            <a:endParaRPr lang="en-US" sz="950" dirty="0"/>
          </a:p>
        </p:txBody>
      </p:sp>
      <p:sp>
        <p:nvSpPr>
          <p:cNvPr id="44" name="Shape 40"/>
          <p:cNvSpPr/>
          <p:nvPr/>
        </p:nvSpPr>
        <p:spPr>
          <a:xfrm>
            <a:off x="8115605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45" name="Image 2" descr="/home/user/Chaplygin-Illya/sias_deck/packs/vegetab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225333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46" name="Text 41"/>
          <p:cNvSpPr/>
          <p:nvPr/>
        </p:nvSpPr>
        <p:spPr>
          <a:xfrm>
            <a:off x="9706661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Овочева</a:t>
            </a:r>
            <a:endParaRPr lang="en-US" sz="1500" dirty="0"/>
          </a:p>
        </p:txBody>
      </p:sp>
      <p:sp>
        <p:nvSpPr>
          <p:cNvPr id="47" name="Text 42"/>
          <p:cNvSpPr/>
          <p:nvPr/>
        </p:nvSpPr>
        <p:spPr>
          <a:xfrm>
            <a:off x="9706661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4E9E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야채맛</a:t>
            </a:r>
            <a:endParaRPr lang="en-US" sz="950" dirty="0"/>
          </a:p>
        </p:txBody>
      </p:sp>
      <p:sp>
        <p:nvSpPr>
          <p:cNvPr id="48" name="Text 43"/>
          <p:cNvSpPr/>
          <p:nvPr/>
        </p:nvSpPr>
        <p:spPr>
          <a:xfrm>
            <a:off x="9706661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49" name="Shape 44"/>
          <p:cNvSpPr/>
          <p:nvPr/>
        </p:nvSpPr>
        <p:spPr>
          <a:xfrm>
            <a:off x="10765231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50" name="Text 45"/>
          <p:cNvSpPr/>
          <p:nvPr/>
        </p:nvSpPr>
        <p:spPr>
          <a:xfrm>
            <a:off x="10765231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палети</a:t>
            </a:r>
            <a:endParaRPr lang="en-US" sz="750" dirty="0"/>
          </a:p>
        </p:txBody>
      </p:sp>
      <p:sp>
        <p:nvSpPr>
          <p:cNvPr id="51" name="Text 46"/>
          <p:cNvSpPr/>
          <p:nvPr/>
        </p:nvSpPr>
        <p:spPr>
          <a:xfrm>
            <a:off x="9706661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52" name="Text 47"/>
          <p:cNvSpPr/>
          <p:nvPr/>
        </p:nvSpPr>
        <p:spPr>
          <a:xfrm>
            <a:off x="9706661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6 400 пачок у постачанні</a:t>
            </a:r>
            <a:endParaRPr lang="en-US" sz="820" dirty="0"/>
          </a:p>
        </p:txBody>
      </p:sp>
      <p:sp>
        <p:nvSpPr>
          <p:cNvPr id="53" name="Shape 48"/>
          <p:cNvSpPr/>
          <p:nvPr/>
        </p:nvSpPr>
        <p:spPr>
          <a:xfrm>
            <a:off x="9706661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54" name="Text 49"/>
          <p:cNvSpPr/>
          <p:nvPr/>
        </p:nvSpPr>
        <p:spPr>
          <a:xfrm>
            <a:off x="9825533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55" name="Text 50"/>
          <p:cNvSpPr/>
          <p:nvPr/>
        </p:nvSpPr>
        <p:spPr>
          <a:xfrm>
            <a:off x="9825533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2200" dirty="0"/>
          </a:p>
        </p:txBody>
      </p:sp>
      <p:sp>
        <p:nvSpPr>
          <p:cNvPr id="56" name="Text 51"/>
          <p:cNvSpPr/>
          <p:nvPr/>
        </p:nvSpPr>
        <p:spPr>
          <a:xfrm>
            <a:off x="9825533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₴</a:t>
            </a:r>
            <a:endParaRPr lang="en-US" sz="950" dirty="0"/>
          </a:p>
        </p:txBody>
      </p:sp>
      <p:sp>
        <p:nvSpPr>
          <p:cNvPr id="57" name="Text 52"/>
          <p:cNvSpPr/>
          <p:nvPr/>
        </p:nvSpPr>
        <p:spPr>
          <a:xfrm>
            <a:off x="10565904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7,81 €/кг</a:t>
            </a:r>
            <a:endParaRPr lang="en-US" sz="950" dirty="0"/>
          </a:p>
        </p:txBody>
      </p:sp>
      <p:sp>
        <p:nvSpPr>
          <p:cNvPr id="58" name="Shape 53"/>
          <p:cNvSpPr/>
          <p:nvPr/>
        </p:nvSpPr>
        <p:spPr>
          <a:xfrm>
            <a:off x="548640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59" name="Image 3" descr="/home/user/Chaplygin-Illya/sias_deck/packs/spicy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60" name="Text 54"/>
          <p:cNvSpPr/>
          <p:nvPr/>
        </p:nvSpPr>
        <p:spPr>
          <a:xfrm>
            <a:off x="2139696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Гостра</a:t>
            </a:r>
            <a:endParaRPr lang="en-US" sz="1500" dirty="0"/>
          </a:p>
        </p:txBody>
      </p:sp>
      <p:sp>
        <p:nvSpPr>
          <p:cNvPr id="61" name="Text 55"/>
          <p:cNvSpPr/>
          <p:nvPr/>
        </p:nvSpPr>
        <p:spPr>
          <a:xfrm>
            <a:off x="2139696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C810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매운맛</a:t>
            </a:r>
            <a:endParaRPr lang="en-US" sz="950" dirty="0"/>
          </a:p>
        </p:txBody>
      </p:sp>
      <p:sp>
        <p:nvSpPr>
          <p:cNvPr id="62" name="Text 56"/>
          <p:cNvSpPr/>
          <p:nvPr/>
        </p:nvSpPr>
        <p:spPr>
          <a:xfrm>
            <a:off x="2139696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112,5 г</a:t>
            </a:r>
            <a:endParaRPr lang="en-US" sz="1250" dirty="0"/>
          </a:p>
        </p:txBody>
      </p:sp>
      <p:sp>
        <p:nvSpPr>
          <p:cNvPr id="63" name="Shape 57"/>
          <p:cNvSpPr/>
          <p:nvPr/>
        </p:nvSpPr>
        <p:spPr>
          <a:xfrm>
            <a:off x="3198266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64" name="Text 58"/>
          <p:cNvSpPr/>
          <p:nvPr/>
        </p:nvSpPr>
        <p:spPr>
          <a:xfrm>
            <a:off x="3198266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палет</a:t>
            </a:r>
            <a:endParaRPr lang="en-US" sz="750" dirty="0"/>
          </a:p>
        </p:txBody>
      </p:sp>
      <p:sp>
        <p:nvSpPr>
          <p:cNvPr id="65" name="Text 59"/>
          <p:cNvSpPr/>
          <p:nvPr/>
        </p:nvSpPr>
        <p:spPr>
          <a:xfrm>
            <a:off x="2139696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66" name="Text 60"/>
          <p:cNvSpPr/>
          <p:nvPr/>
        </p:nvSpPr>
        <p:spPr>
          <a:xfrm>
            <a:off x="2139696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8 000 пачок у постачанні</a:t>
            </a:r>
            <a:endParaRPr lang="en-US" sz="820" dirty="0"/>
          </a:p>
        </p:txBody>
      </p:sp>
      <p:sp>
        <p:nvSpPr>
          <p:cNvPr id="67" name="Shape 61"/>
          <p:cNvSpPr/>
          <p:nvPr/>
        </p:nvSpPr>
        <p:spPr>
          <a:xfrm>
            <a:off x="2139696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68" name="Text 62"/>
          <p:cNvSpPr/>
          <p:nvPr/>
        </p:nvSpPr>
        <p:spPr>
          <a:xfrm>
            <a:off x="2258568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69" name="Text 63"/>
          <p:cNvSpPr/>
          <p:nvPr/>
        </p:nvSpPr>
        <p:spPr>
          <a:xfrm>
            <a:off x="2258568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2200" dirty="0"/>
          </a:p>
        </p:txBody>
      </p:sp>
      <p:sp>
        <p:nvSpPr>
          <p:cNvPr id="70" name="Text 64"/>
          <p:cNvSpPr/>
          <p:nvPr/>
        </p:nvSpPr>
        <p:spPr>
          <a:xfrm>
            <a:off x="2258568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₴</a:t>
            </a:r>
            <a:endParaRPr lang="en-US" sz="950" dirty="0"/>
          </a:p>
        </p:txBody>
      </p:sp>
      <p:sp>
        <p:nvSpPr>
          <p:cNvPr id="71" name="Text 65"/>
          <p:cNvSpPr/>
          <p:nvPr/>
        </p:nvSpPr>
        <p:spPr>
          <a:xfrm>
            <a:off x="2998939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7,84 €/кг</a:t>
            </a:r>
            <a:endParaRPr lang="en-US" sz="950" dirty="0"/>
          </a:p>
        </p:txBody>
      </p:sp>
      <p:sp>
        <p:nvSpPr>
          <p:cNvPr id="72" name="Shape 66"/>
          <p:cNvSpPr/>
          <p:nvPr/>
        </p:nvSpPr>
        <p:spPr>
          <a:xfrm>
            <a:off x="4332122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73" name="Image 4" descr="/home/user/Chaplygin-Illya/sias_deck/packs/beef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441850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74" name="Text 67"/>
          <p:cNvSpPr/>
          <p:nvPr/>
        </p:nvSpPr>
        <p:spPr>
          <a:xfrm>
            <a:off x="5923178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Яловичина</a:t>
            </a:r>
            <a:endParaRPr lang="en-US" sz="1500" dirty="0"/>
          </a:p>
        </p:txBody>
      </p:sp>
      <p:sp>
        <p:nvSpPr>
          <p:cNvPr id="75" name="Text 68"/>
          <p:cNvSpPr/>
          <p:nvPr/>
        </p:nvSpPr>
        <p:spPr>
          <a:xfrm>
            <a:off x="5923178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A954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소고기맛</a:t>
            </a:r>
            <a:endParaRPr lang="en-US" sz="950" dirty="0"/>
          </a:p>
        </p:txBody>
      </p:sp>
      <p:sp>
        <p:nvSpPr>
          <p:cNvPr id="76" name="Text 69"/>
          <p:cNvSpPr/>
          <p:nvPr/>
        </p:nvSpPr>
        <p:spPr>
          <a:xfrm>
            <a:off x="5923178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77" name="Shape 70"/>
          <p:cNvSpPr/>
          <p:nvPr/>
        </p:nvSpPr>
        <p:spPr>
          <a:xfrm>
            <a:off x="6981749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78" name="Text 71"/>
          <p:cNvSpPr/>
          <p:nvPr/>
        </p:nvSpPr>
        <p:spPr>
          <a:xfrm>
            <a:off x="6981749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палет</a:t>
            </a:r>
            <a:endParaRPr lang="en-US" sz="750" dirty="0"/>
          </a:p>
        </p:txBody>
      </p:sp>
      <p:sp>
        <p:nvSpPr>
          <p:cNvPr id="79" name="Text 72"/>
          <p:cNvSpPr/>
          <p:nvPr/>
        </p:nvSpPr>
        <p:spPr>
          <a:xfrm>
            <a:off x="5923178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80" name="Text 73"/>
          <p:cNvSpPr/>
          <p:nvPr/>
        </p:nvSpPr>
        <p:spPr>
          <a:xfrm>
            <a:off x="5923178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8 000 пачок у постачанні</a:t>
            </a:r>
            <a:endParaRPr lang="en-US" sz="820" dirty="0"/>
          </a:p>
        </p:txBody>
      </p:sp>
      <p:sp>
        <p:nvSpPr>
          <p:cNvPr id="81" name="Shape 74"/>
          <p:cNvSpPr/>
          <p:nvPr/>
        </p:nvSpPr>
        <p:spPr>
          <a:xfrm>
            <a:off x="5923178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82" name="Text 75"/>
          <p:cNvSpPr/>
          <p:nvPr/>
        </p:nvSpPr>
        <p:spPr>
          <a:xfrm>
            <a:off x="6042050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83" name="Text 76"/>
          <p:cNvSpPr/>
          <p:nvPr/>
        </p:nvSpPr>
        <p:spPr>
          <a:xfrm>
            <a:off x="6042050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2200" dirty="0"/>
          </a:p>
        </p:txBody>
      </p:sp>
      <p:sp>
        <p:nvSpPr>
          <p:cNvPr id="84" name="Text 77"/>
          <p:cNvSpPr/>
          <p:nvPr/>
        </p:nvSpPr>
        <p:spPr>
          <a:xfrm>
            <a:off x="6042050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₴</a:t>
            </a:r>
            <a:endParaRPr lang="en-US" sz="950" dirty="0"/>
          </a:p>
        </p:txBody>
      </p:sp>
      <p:sp>
        <p:nvSpPr>
          <p:cNvPr id="85" name="Text 78"/>
          <p:cNvSpPr/>
          <p:nvPr/>
        </p:nvSpPr>
        <p:spPr>
          <a:xfrm>
            <a:off x="6782422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7,81 €/кг</a:t>
            </a:r>
            <a:endParaRPr lang="en-US" sz="950" dirty="0"/>
          </a:p>
        </p:txBody>
      </p:sp>
      <p:sp>
        <p:nvSpPr>
          <p:cNvPr id="86" name="Shape 79"/>
          <p:cNvSpPr/>
          <p:nvPr/>
        </p:nvSpPr>
        <p:spPr>
          <a:xfrm>
            <a:off x="8115605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87" name="Image 5" descr="/home/user/Chaplygin-Illya/sias_deck/packs/chicken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225333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88" name="Text 80"/>
          <p:cNvSpPr/>
          <p:nvPr/>
        </p:nvSpPr>
        <p:spPr>
          <a:xfrm>
            <a:off x="9706661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Курка</a:t>
            </a:r>
            <a:endParaRPr lang="en-US" sz="1500" dirty="0"/>
          </a:p>
        </p:txBody>
      </p:sp>
      <p:sp>
        <p:nvSpPr>
          <p:cNvPr id="89" name="Text 81"/>
          <p:cNvSpPr/>
          <p:nvPr/>
        </p:nvSpPr>
        <p:spPr>
          <a:xfrm>
            <a:off x="9706661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D9AA0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치킨맛</a:t>
            </a:r>
            <a:endParaRPr lang="en-US" sz="950" dirty="0"/>
          </a:p>
        </p:txBody>
      </p:sp>
      <p:sp>
        <p:nvSpPr>
          <p:cNvPr id="90" name="Text 82"/>
          <p:cNvSpPr/>
          <p:nvPr/>
        </p:nvSpPr>
        <p:spPr>
          <a:xfrm>
            <a:off x="9706661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91" name="Shape 83"/>
          <p:cNvSpPr/>
          <p:nvPr/>
        </p:nvSpPr>
        <p:spPr>
          <a:xfrm>
            <a:off x="10765231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92" name="Text 84"/>
          <p:cNvSpPr/>
          <p:nvPr/>
        </p:nvSpPr>
        <p:spPr>
          <a:xfrm>
            <a:off x="10765231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палет</a:t>
            </a:r>
            <a:endParaRPr lang="en-US" sz="750" dirty="0"/>
          </a:p>
        </p:txBody>
      </p:sp>
      <p:sp>
        <p:nvSpPr>
          <p:cNvPr id="93" name="Text 85"/>
          <p:cNvSpPr/>
          <p:nvPr/>
        </p:nvSpPr>
        <p:spPr>
          <a:xfrm>
            <a:off x="9706661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94" name="Text 86"/>
          <p:cNvSpPr/>
          <p:nvPr/>
        </p:nvSpPr>
        <p:spPr>
          <a:xfrm>
            <a:off x="9706661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8 000 пачок у постачанні</a:t>
            </a:r>
            <a:endParaRPr lang="en-US" sz="820" dirty="0"/>
          </a:p>
        </p:txBody>
      </p:sp>
      <p:sp>
        <p:nvSpPr>
          <p:cNvPr id="95" name="Shape 87"/>
          <p:cNvSpPr/>
          <p:nvPr/>
        </p:nvSpPr>
        <p:spPr>
          <a:xfrm>
            <a:off x="9706661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96" name="Text 88"/>
          <p:cNvSpPr/>
          <p:nvPr/>
        </p:nvSpPr>
        <p:spPr>
          <a:xfrm>
            <a:off x="9825533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97" name="Text 89"/>
          <p:cNvSpPr/>
          <p:nvPr/>
        </p:nvSpPr>
        <p:spPr>
          <a:xfrm>
            <a:off x="9825533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2200" dirty="0"/>
          </a:p>
        </p:txBody>
      </p:sp>
      <p:sp>
        <p:nvSpPr>
          <p:cNvPr id="98" name="Text 90"/>
          <p:cNvSpPr/>
          <p:nvPr/>
        </p:nvSpPr>
        <p:spPr>
          <a:xfrm>
            <a:off x="9825533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₴</a:t>
            </a:r>
            <a:endParaRPr lang="en-US" sz="950" dirty="0"/>
          </a:p>
        </p:txBody>
      </p:sp>
      <p:sp>
        <p:nvSpPr>
          <p:cNvPr id="99" name="Text 91"/>
          <p:cNvSpPr/>
          <p:nvPr/>
        </p:nvSpPr>
        <p:spPr>
          <a:xfrm>
            <a:off x="10565904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7,81 €/кг</a:t>
            </a:r>
            <a:endParaRPr lang="en-US" sz="950" dirty="0"/>
          </a:p>
        </p:txBody>
      </p:sp>
      <p:sp>
        <p:nvSpPr>
          <p:cNvPr id="100" name="Text 92"/>
          <p:cNvSpPr/>
          <p:nvPr/>
        </p:nvSpPr>
        <p:spPr>
          <a:xfrm>
            <a:off x="548640" y="63276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на 1 пачку: EXW Roye + логістика + брокер + митне оформлення + ПДВ-передфінансування, ставка ввізного мита 0% (EUR.1). Курс: 1 € ≈ 51,2 ₴.</a:t>
            </a:r>
            <a:endParaRPr lang="en-US" sz="820" dirty="0"/>
          </a:p>
        </p:txBody>
      </p:sp>
      <p:sp>
        <p:nvSpPr>
          <p:cNvPr id="101" name="Text 93"/>
          <p:cNvSpPr/>
          <p:nvPr/>
        </p:nvSpPr>
        <p:spPr>
          <a:xfrm>
            <a:off x="548640" y="64922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00" spc="14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CHOI'S RAMYEON  ·  SIAS FRANCE  ·  2026</a:t>
            </a:r>
            <a:endParaRPr lang="en-US" sz="800" dirty="0"/>
          </a:p>
        </p:txBody>
      </p:sp>
      <p:sp>
        <p:nvSpPr>
          <p:cNvPr id="102" name="Text 94"/>
          <p:cNvSpPr/>
          <p:nvPr/>
        </p:nvSpPr>
        <p:spPr>
          <a:xfrm>
            <a:off x="11094415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6E68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2026-07-31T20:29:01Z</dcterms:created>
  <dcterms:modified xsi:type="dcterms:W3CDTF">2026-07-31T20:29:01Z</dcterms:modified>
</cp:coreProperties>
</file>