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548640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6766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b="1" spc="28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SIAS FRANCE · ROYE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06463" y="6766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00" spc="24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ПРАЙС-КАТАЛОГ ·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13232" y="12252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spc="300" kern="0" dirty="0">
                <a:solidFill>
                  <a:srgbClr val="F048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최씨라면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67512" y="1554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6600" b="1" spc="-20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CHOI'S RAMYEON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713232" y="25968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Локшина швидкого приготування, вироблена у Франції.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287121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однієї пачки для трьох обсягів постачання.</a:t>
            </a:r>
            <a:endParaRPr lang="en-US" sz="1350" dirty="0"/>
          </a:p>
        </p:txBody>
      </p:sp>
      <p:pic>
        <p:nvPicPr>
          <p:cNvPr id="9" name="Image 0" descr="/home/user/Chaplygin-Illya/sias_deck/assets/noodle_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" y="3346704"/>
            <a:ext cx="10765231" cy="2849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13232" y="35844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13232" y="3931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999232" y="35844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112,5–131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999232" y="3931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ГРАМІВ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285232" y="35844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5285232" y="3931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 / КОРОБ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571232" y="35844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571232" y="3931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МИТО · EUR.1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735263" y="36393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spc="16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EXW ROYE, FRANCE</a:t>
            </a:r>
            <a:endParaRPr lang="en-US" sz="950" dirty="0"/>
          </a:p>
        </p:txBody>
      </p:sp>
      <p:pic>
        <p:nvPicPr>
          <p:cNvPr id="19" name="Image 1" descr="/home/user/Chaplygin-Illya/sias_deck/assets/lineup_dar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1752" y="4053244"/>
            <a:ext cx="11588191" cy="26584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548640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67665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b="1" spc="28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ВИРОБНИК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93268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spc="-4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SIAS FRANCE · ROYE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1883664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Європейська площадка корейської групи SIAS, що працює з 1997 року. Лінійку Choi's Ramyeon виробляють тут за оригінальними корейськими рецептурами.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907792"/>
            <a:ext cx="4754880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3054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16 000 м²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24912" y="31089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виробнича площадка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13232" y="3474720"/>
            <a:ext cx="4754880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36210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IFS · BRC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24912" y="36758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сертифікати харчової безпеки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13232" y="4041648"/>
            <a:ext cx="4754880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41879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EXW Roye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24912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умови відвантаження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13232" y="4608576"/>
            <a:ext cx="4754880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4754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724912" y="4809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ввізного мита в Україну · EUR.1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13232" y="5175504"/>
            <a:ext cx="4754880" cy="8230"/>
          </a:xfrm>
          <a:prstGeom prst="rect">
            <a:avLst/>
          </a:prstGeom>
          <a:solidFill>
            <a:srgbClr val="312A26"/>
          </a:solidFill>
          <a:ln/>
        </p:spPr>
      </p:sp>
      <p:pic>
        <p:nvPicPr>
          <p:cNvPr id="19" name="Image 0" descr="/home/user/Chaplygin-Illya/sias_deck/assets/plant_mur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792224"/>
            <a:ext cx="5534863" cy="3976195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43600" y="5914723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SIAS · Roye, Hauts-de-France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8595360" y="5896435"/>
            <a:ext cx="134112" cy="265176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22" name="Shape 19"/>
          <p:cNvSpPr/>
          <p:nvPr/>
        </p:nvSpPr>
        <p:spPr>
          <a:xfrm>
            <a:off x="8729472" y="5896435"/>
            <a:ext cx="134112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3584" y="5896435"/>
            <a:ext cx="134112" cy="265176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24" name="Shape 21"/>
          <p:cNvSpPr/>
          <p:nvPr/>
        </p:nvSpPr>
        <p:spPr>
          <a:xfrm>
            <a:off x="9107424" y="5896435"/>
            <a:ext cx="402336" cy="132588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25" name="Shape 22"/>
          <p:cNvSpPr/>
          <p:nvPr/>
        </p:nvSpPr>
        <p:spPr>
          <a:xfrm>
            <a:off x="9107424" y="6029023"/>
            <a:ext cx="402336" cy="132588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26" name="Text 23"/>
          <p:cNvSpPr/>
          <p:nvPr/>
        </p:nvSpPr>
        <p:spPr>
          <a:xfrm>
            <a:off x="713232" y="6455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50" spc="200" kern="0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10746943" y="634593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548640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67665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b="1" spc="28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ОБСЯГ ПОСТАЧАННЯ ·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4000" b="1" spc="-10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ПАЛЕТ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16642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Пробна партія — по одній палеті на кожен смак.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922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12922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палет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91230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9 600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91230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69538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9538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2048256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pic>
        <p:nvPicPr>
          <p:cNvPr id="13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" y="2249424"/>
            <a:ext cx="1243584" cy="186537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103120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GOUDA CHESSE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103120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03120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17" name="Shape 14"/>
          <p:cNvSpPr/>
          <p:nvPr/>
        </p:nvSpPr>
        <p:spPr>
          <a:xfrm>
            <a:off x="2103120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8" name="Text 15"/>
          <p:cNvSpPr/>
          <p:nvPr/>
        </p:nvSpPr>
        <p:spPr>
          <a:xfrm>
            <a:off x="2267712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46704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103120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2103120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1,31 €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3474720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23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29658" y="2249424"/>
            <a:ext cx="1243584" cy="186537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819546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CARBONARA SPICY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819546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819546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27" name="Shape 23"/>
          <p:cNvSpPr/>
          <p:nvPr/>
        </p:nvSpPr>
        <p:spPr>
          <a:xfrm>
            <a:off x="5819546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8" name="Text 24"/>
          <p:cNvSpPr/>
          <p:nvPr/>
        </p:nvSpPr>
        <p:spPr>
          <a:xfrm>
            <a:off x="5984138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7063130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819546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5819546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1,31 €</a:t>
            </a:r>
            <a:endParaRPr lang="en-US" sz="2700" dirty="0"/>
          </a:p>
        </p:txBody>
      </p:sp>
      <p:sp>
        <p:nvSpPr>
          <p:cNvPr id="32" name="Text 28"/>
          <p:cNvSpPr/>
          <p:nvPr/>
        </p:nvSpPr>
        <p:spPr>
          <a:xfrm>
            <a:off x="7191146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33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46085" y="2249424"/>
            <a:ext cx="1243584" cy="186537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535973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VEGETABLE FLAVOR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9535973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9535973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7" name="Shape 32"/>
          <p:cNvSpPr/>
          <p:nvPr/>
        </p:nvSpPr>
        <p:spPr>
          <a:xfrm>
            <a:off x="9535973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8" name="Text 33"/>
          <p:cNvSpPr/>
          <p:nvPr/>
        </p:nvSpPr>
        <p:spPr>
          <a:xfrm>
            <a:off x="9700565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10779557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35973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41" name="Text 36"/>
          <p:cNvSpPr/>
          <p:nvPr/>
        </p:nvSpPr>
        <p:spPr>
          <a:xfrm>
            <a:off x="9535973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1,13 €</a:t>
            </a:r>
            <a:endParaRPr lang="en-US" sz="2700" dirty="0"/>
          </a:p>
        </p:txBody>
      </p:sp>
      <p:sp>
        <p:nvSpPr>
          <p:cNvPr id="42" name="Text 37"/>
          <p:cNvSpPr/>
          <p:nvPr/>
        </p:nvSpPr>
        <p:spPr>
          <a:xfrm>
            <a:off x="10907573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43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3232" y="4389120"/>
            <a:ext cx="1243584" cy="1865376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2103120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SPICY FLAVOR</a:t>
            </a:r>
            <a:endParaRPr lang="en-US" sz="1250" dirty="0"/>
          </a:p>
        </p:txBody>
      </p:sp>
      <p:sp>
        <p:nvSpPr>
          <p:cNvPr id="45" name="Text 39"/>
          <p:cNvSpPr/>
          <p:nvPr/>
        </p:nvSpPr>
        <p:spPr>
          <a:xfrm>
            <a:off x="2103120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2103120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47" name="Shape 41"/>
          <p:cNvSpPr/>
          <p:nvPr/>
        </p:nvSpPr>
        <p:spPr>
          <a:xfrm>
            <a:off x="2103120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8" name="Text 42"/>
          <p:cNvSpPr/>
          <p:nvPr/>
        </p:nvSpPr>
        <p:spPr>
          <a:xfrm>
            <a:off x="2267712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3346704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50" name="Text 44"/>
          <p:cNvSpPr/>
          <p:nvPr/>
        </p:nvSpPr>
        <p:spPr>
          <a:xfrm>
            <a:off x="2103120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51" name="Text 45"/>
          <p:cNvSpPr/>
          <p:nvPr/>
        </p:nvSpPr>
        <p:spPr>
          <a:xfrm>
            <a:off x="2103120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1,13 €</a:t>
            </a:r>
            <a:endParaRPr lang="en-US" sz="2700" dirty="0"/>
          </a:p>
        </p:txBody>
      </p:sp>
      <p:sp>
        <p:nvSpPr>
          <p:cNvPr id="52" name="Text 46"/>
          <p:cNvSpPr/>
          <p:nvPr/>
        </p:nvSpPr>
        <p:spPr>
          <a:xfrm>
            <a:off x="3474720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5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29658" y="4389120"/>
            <a:ext cx="1243584" cy="1865376"/>
          </a:xfrm>
          <a:prstGeom prst="rect">
            <a:avLst/>
          </a:prstGeom>
        </p:spPr>
      </p:pic>
      <p:sp>
        <p:nvSpPr>
          <p:cNvPr id="54" name="Text 47"/>
          <p:cNvSpPr/>
          <p:nvPr/>
        </p:nvSpPr>
        <p:spPr>
          <a:xfrm>
            <a:off x="5819546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BEEF FLAVOR</a:t>
            </a:r>
            <a:endParaRPr lang="en-US" sz="1250" dirty="0"/>
          </a:p>
        </p:txBody>
      </p:sp>
      <p:sp>
        <p:nvSpPr>
          <p:cNvPr id="55" name="Text 48"/>
          <p:cNvSpPr/>
          <p:nvPr/>
        </p:nvSpPr>
        <p:spPr>
          <a:xfrm>
            <a:off x="5819546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5819546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57" name="Shape 50"/>
          <p:cNvSpPr/>
          <p:nvPr/>
        </p:nvSpPr>
        <p:spPr>
          <a:xfrm>
            <a:off x="5819546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8" name="Text 51"/>
          <p:cNvSpPr/>
          <p:nvPr/>
        </p:nvSpPr>
        <p:spPr>
          <a:xfrm>
            <a:off x="5984138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59" name="Text 52"/>
          <p:cNvSpPr/>
          <p:nvPr/>
        </p:nvSpPr>
        <p:spPr>
          <a:xfrm>
            <a:off x="7063130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60" name="Text 53"/>
          <p:cNvSpPr/>
          <p:nvPr/>
        </p:nvSpPr>
        <p:spPr>
          <a:xfrm>
            <a:off x="5819546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61" name="Text 54"/>
          <p:cNvSpPr/>
          <p:nvPr/>
        </p:nvSpPr>
        <p:spPr>
          <a:xfrm>
            <a:off x="5819546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1,13 €</a:t>
            </a:r>
            <a:endParaRPr lang="en-US" sz="2700" dirty="0"/>
          </a:p>
        </p:txBody>
      </p:sp>
      <p:sp>
        <p:nvSpPr>
          <p:cNvPr id="62" name="Text 55"/>
          <p:cNvSpPr/>
          <p:nvPr/>
        </p:nvSpPr>
        <p:spPr>
          <a:xfrm>
            <a:off x="7191146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63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46085" y="4389120"/>
            <a:ext cx="1243584" cy="1865376"/>
          </a:xfrm>
          <a:prstGeom prst="rect">
            <a:avLst/>
          </a:prstGeom>
        </p:spPr>
      </p:pic>
      <p:sp>
        <p:nvSpPr>
          <p:cNvPr id="64" name="Text 56"/>
          <p:cNvSpPr/>
          <p:nvPr/>
        </p:nvSpPr>
        <p:spPr>
          <a:xfrm>
            <a:off x="9535973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 FLAVOR</a:t>
            </a:r>
            <a:endParaRPr lang="en-US" sz="1250" dirty="0"/>
          </a:p>
        </p:txBody>
      </p:sp>
      <p:sp>
        <p:nvSpPr>
          <p:cNvPr id="65" name="Text 57"/>
          <p:cNvSpPr/>
          <p:nvPr/>
        </p:nvSpPr>
        <p:spPr>
          <a:xfrm>
            <a:off x="9535973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9535973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67" name="Shape 59"/>
          <p:cNvSpPr/>
          <p:nvPr/>
        </p:nvSpPr>
        <p:spPr>
          <a:xfrm>
            <a:off x="9535973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8" name="Text 60"/>
          <p:cNvSpPr/>
          <p:nvPr/>
        </p:nvSpPr>
        <p:spPr>
          <a:xfrm>
            <a:off x="9700565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69" name="Text 61"/>
          <p:cNvSpPr/>
          <p:nvPr/>
        </p:nvSpPr>
        <p:spPr>
          <a:xfrm>
            <a:off x="10779557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70" name="Text 62"/>
          <p:cNvSpPr/>
          <p:nvPr/>
        </p:nvSpPr>
        <p:spPr>
          <a:xfrm>
            <a:off x="9535973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71" name="Text 63"/>
          <p:cNvSpPr/>
          <p:nvPr/>
        </p:nvSpPr>
        <p:spPr>
          <a:xfrm>
            <a:off x="9535973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1,13 €</a:t>
            </a:r>
            <a:endParaRPr lang="en-US" sz="2700" dirty="0"/>
          </a:p>
        </p:txBody>
      </p:sp>
      <p:sp>
        <p:nvSpPr>
          <p:cNvPr id="72" name="Text 64"/>
          <p:cNvSpPr/>
          <p:nvPr/>
        </p:nvSpPr>
        <p:spPr>
          <a:xfrm>
            <a:off x="10907573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58,06 ₴</a:t>
            </a:r>
            <a:endParaRPr lang="en-US" sz="1050" dirty="0"/>
          </a:p>
        </p:txBody>
      </p:sp>
      <p:sp>
        <p:nvSpPr>
          <p:cNvPr id="73" name="Text 65"/>
          <p:cNvSpPr/>
          <p:nvPr/>
        </p:nvSpPr>
        <p:spPr>
          <a:xfrm>
            <a:off x="713232" y="647395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50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однієї пачки включає ціну EXW Roye, логістику, брокерські послуги, митне оформлення та ПДВ-передфінансування · мито 0% за EUR.1 · курс 1 € ≈ 51,2 ₴</a:t>
            </a:r>
            <a:endParaRPr lang="en-US" sz="750" dirty="0"/>
          </a:p>
        </p:txBody>
      </p:sp>
      <p:sp>
        <p:nvSpPr>
          <p:cNvPr id="74" name="Text 66"/>
          <p:cNvSpPr/>
          <p:nvPr/>
        </p:nvSpPr>
        <p:spPr>
          <a:xfrm>
            <a:off x="10746943" y="634593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548640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67665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b="1" spc="28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ОБСЯГ ПОСТАЧАННЯ ·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4000" b="1" spc="-10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ПАЛЕТ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16642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Робочий обсяг з акцентом на вершкових смаках — Gouda та Carbonara.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922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12922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палет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91230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19 200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91230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69538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9538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2048256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pic>
        <p:nvPicPr>
          <p:cNvPr id="13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" y="2249424"/>
            <a:ext cx="1243584" cy="186537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103120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GOUDA CHESSE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103120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03120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17" name="Shape 14"/>
          <p:cNvSpPr/>
          <p:nvPr/>
        </p:nvSpPr>
        <p:spPr>
          <a:xfrm>
            <a:off x="2103120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8" name="Text 15"/>
          <p:cNvSpPr/>
          <p:nvPr/>
        </p:nvSpPr>
        <p:spPr>
          <a:xfrm>
            <a:off x="2267712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палети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46704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4 800 пачок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103120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2103120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1,11 €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3474720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23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29658" y="2249424"/>
            <a:ext cx="1243584" cy="186537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819546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CARBONARA SPICY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819546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819546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27" name="Shape 23"/>
          <p:cNvSpPr/>
          <p:nvPr/>
        </p:nvSpPr>
        <p:spPr>
          <a:xfrm>
            <a:off x="5819546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8" name="Text 24"/>
          <p:cNvSpPr/>
          <p:nvPr/>
        </p:nvSpPr>
        <p:spPr>
          <a:xfrm>
            <a:off x="5984138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палети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7063130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4 800 пачок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819546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5819546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1,11 €</a:t>
            </a:r>
            <a:endParaRPr lang="en-US" sz="2700" dirty="0"/>
          </a:p>
        </p:txBody>
      </p:sp>
      <p:sp>
        <p:nvSpPr>
          <p:cNvPr id="32" name="Text 28"/>
          <p:cNvSpPr/>
          <p:nvPr/>
        </p:nvSpPr>
        <p:spPr>
          <a:xfrm>
            <a:off x="7191146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33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46085" y="2249424"/>
            <a:ext cx="1243584" cy="186537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535973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VEGETABLE FLAVOR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9535973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9535973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7" name="Shape 32"/>
          <p:cNvSpPr/>
          <p:nvPr/>
        </p:nvSpPr>
        <p:spPr>
          <a:xfrm>
            <a:off x="9535973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8" name="Text 33"/>
          <p:cNvSpPr/>
          <p:nvPr/>
        </p:nvSpPr>
        <p:spPr>
          <a:xfrm>
            <a:off x="9700565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10779557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35973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41" name="Text 36"/>
          <p:cNvSpPr/>
          <p:nvPr/>
        </p:nvSpPr>
        <p:spPr>
          <a:xfrm>
            <a:off x="9535973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0,96 €</a:t>
            </a:r>
            <a:endParaRPr lang="en-US" sz="2700" dirty="0"/>
          </a:p>
        </p:txBody>
      </p:sp>
      <p:sp>
        <p:nvSpPr>
          <p:cNvPr id="42" name="Text 37"/>
          <p:cNvSpPr/>
          <p:nvPr/>
        </p:nvSpPr>
        <p:spPr>
          <a:xfrm>
            <a:off x="10907573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43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3232" y="4389120"/>
            <a:ext cx="1243584" cy="1865376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2103120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SPICY FLAVOR</a:t>
            </a:r>
            <a:endParaRPr lang="en-US" sz="1250" dirty="0"/>
          </a:p>
        </p:txBody>
      </p:sp>
      <p:sp>
        <p:nvSpPr>
          <p:cNvPr id="45" name="Text 39"/>
          <p:cNvSpPr/>
          <p:nvPr/>
        </p:nvSpPr>
        <p:spPr>
          <a:xfrm>
            <a:off x="2103120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2103120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47" name="Shape 41"/>
          <p:cNvSpPr/>
          <p:nvPr/>
        </p:nvSpPr>
        <p:spPr>
          <a:xfrm>
            <a:off x="2103120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8" name="Text 42"/>
          <p:cNvSpPr/>
          <p:nvPr/>
        </p:nvSpPr>
        <p:spPr>
          <a:xfrm>
            <a:off x="2267712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палети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3346704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3 200 пачок</a:t>
            </a:r>
            <a:endParaRPr lang="en-US" sz="850" dirty="0"/>
          </a:p>
        </p:txBody>
      </p:sp>
      <p:sp>
        <p:nvSpPr>
          <p:cNvPr id="50" name="Text 44"/>
          <p:cNvSpPr/>
          <p:nvPr/>
        </p:nvSpPr>
        <p:spPr>
          <a:xfrm>
            <a:off x="2103120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51" name="Text 45"/>
          <p:cNvSpPr/>
          <p:nvPr/>
        </p:nvSpPr>
        <p:spPr>
          <a:xfrm>
            <a:off x="2103120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0,96 €</a:t>
            </a:r>
            <a:endParaRPr lang="en-US" sz="2700" dirty="0"/>
          </a:p>
        </p:txBody>
      </p:sp>
      <p:sp>
        <p:nvSpPr>
          <p:cNvPr id="52" name="Text 46"/>
          <p:cNvSpPr/>
          <p:nvPr/>
        </p:nvSpPr>
        <p:spPr>
          <a:xfrm>
            <a:off x="3474720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5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29658" y="4389120"/>
            <a:ext cx="1243584" cy="1865376"/>
          </a:xfrm>
          <a:prstGeom prst="rect">
            <a:avLst/>
          </a:prstGeom>
        </p:spPr>
      </p:pic>
      <p:sp>
        <p:nvSpPr>
          <p:cNvPr id="54" name="Text 47"/>
          <p:cNvSpPr/>
          <p:nvPr/>
        </p:nvSpPr>
        <p:spPr>
          <a:xfrm>
            <a:off x="5819546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BEEF FLAVOR</a:t>
            </a:r>
            <a:endParaRPr lang="en-US" sz="1250" dirty="0"/>
          </a:p>
        </p:txBody>
      </p:sp>
      <p:sp>
        <p:nvSpPr>
          <p:cNvPr id="55" name="Text 48"/>
          <p:cNvSpPr/>
          <p:nvPr/>
        </p:nvSpPr>
        <p:spPr>
          <a:xfrm>
            <a:off x="5819546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5819546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57" name="Shape 50"/>
          <p:cNvSpPr/>
          <p:nvPr/>
        </p:nvSpPr>
        <p:spPr>
          <a:xfrm>
            <a:off x="5819546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8" name="Text 51"/>
          <p:cNvSpPr/>
          <p:nvPr/>
        </p:nvSpPr>
        <p:spPr>
          <a:xfrm>
            <a:off x="5984138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палети</a:t>
            </a:r>
            <a:endParaRPr lang="en-US" sz="1100" dirty="0"/>
          </a:p>
        </p:txBody>
      </p:sp>
      <p:sp>
        <p:nvSpPr>
          <p:cNvPr id="59" name="Text 52"/>
          <p:cNvSpPr/>
          <p:nvPr/>
        </p:nvSpPr>
        <p:spPr>
          <a:xfrm>
            <a:off x="7063130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3 200 пачок</a:t>
            </a:r>
            <a:endParaRPr lang="en-US" sz="850" dirty="0"/>
          </a:p>
        </p:txBody>
      </p:sp>
      <p:sp>
        <p:nvSpPr>
          <p:cNvPr id="60" name="Text 53"/>
          <p:cNvSpPr/>
          <p:nvPr/>
        </p:nvSpPr>
        <p:spPr>
          <a:xfrm>
            <a:off x="5819546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61" name="Text 54"/>
          <p:cNvSpPr/>
          <p:nvPr/>
        </p:nvSpPr>
        <p:spPr>
          <a:xfrm>
            <a:off x="5819546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0,96 €</a:t>
            </a:r>
            <a:endParaRPr lang="en-US" sz="2700" dirty="0"/>
          </a:p>
        </p:txBody>
      </p:sp>
      <p:sp>
        <p:nvSpPr>
          <p:cNvPr id="62" name="Text 55"/>
          <p:cNvSpPr/>
          <p:nvPr/>
        </p:nvSpPr>
        <p:spPr>
          <a:xfrm>
            <a:off x="7191146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63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46085" y="4389120"/>
            <a:ext cx="1243584" cy="1865376"/>
          </a:xfrm>
          <a:prstGeom prst="rect">
            <a:avLst/>
          </a:prstGeom>
        </p:spPr>
      </p:pic>
      <p:sp>
        <p:nvSpPr>
          <p:cNvPr id="64" name="Text 56"/>
          <p:cNvSpPr/>
          <p:nvPr/>
        </p:nvSpPr>
        <p:spPr>
          <a:xfrm>
            <a:off x="9535973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 FLAVOR</a:t>
            </a:r>
            <a:endParaRPr lang="en-US" sz="1250" dirty="0"/>
          </a:p>
        </p:txBody>
      </p:sp>
      <p:sp>
        <p:nvSpPr>
          <p:cNvPr id="65" name="Text 57"/>
          <p:cNvSpPr/>
          <p:nvPr/>
        </p:nvSpPr>
        <p:spPr>
          <a:xfrm>
            <a:off x="9535973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9535973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67" name="Shape 59"/>
          <p:cNvSpPr/>
          <p:nvPr/>
        </p:nvSpPr>
        <p:spPr>
          <a:xfrm>
            <a:off x="9535973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8" name="Text 60"/>
          <p:cNvSpPr/>
          <p:nvPr/>
        </p:nvSpPr>
        <p:spPr>
          <a:xfrm>
            <a:off x="9700565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палета</a:t>
            </a:r>
            <a:endParaRPr lang="en-US" sz="1100" dirty="0"/>
          </a:p>
        </p:txBody>
      </p:sp>
      <p:sp>
        <p:nvSpPr>
          <p:cNvPr id="69" name="Text 61"/>
          <p:cNvSpPr/>
          <p:nvPr/>
        </p:nvSpPr>
        <p:spPr>
          <a:xfrm>
            <a:off x="10779557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1 600 пачок</a:t>
            </a:r>
            <a:endParaRPr lang="en-US" sz="850" dirty="0"/>
          </a:p>
        </p:txBody>
      </p:sp>
      <p:sp>
        <p:nvSpPr>
          <p:cNvPr id="70" name="Text 62"/>
          <p:cNvSpPr/>
          <p:nvPr/>
        </p:nvSpPr>
        <p:spPr>
          <a:xfrm>
            <a:off x="9535973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71" name="Text 63"/>
          <p:cNvSpPr/>
          <p:nvPr/>
        </p:nvSpPr>
        <p:spPr>
          <a:xfrm>
            <a:off x="9535973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0,96 €</a:t>
            </a:r>
            <a:endParaRPr lang="en-US" sz="2700" dirty="0"/>
          </a:p>
        </p:txBody>
      </p:sp>
      <p:sp>
        <p:nvSpPr>
          <p:cNvPr id="72" name="Text 64"/>
          <p:cNvSpPr/>
          <p:nvPr/>
        </p:nvSpPr>
        <p:spPr>
          <a:xfrm>
            <a:off x="10907573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49,29 ₴</a:t>
            </a:r>
            <a:endParaRPr lang="en-US" sz="1050" dirty="0"/>
          </a:p>
        </p:txBody>
      </p:sp>
      <p:sp>
        <p:nvSpPr>
          <p:cNvPr id="73" name="Text 65"/>
          <p:cNvSpPr/>
          <p:nvPr/>
        </p:nvSpPr>
        <p:spPr>
          <a:xfrm>
            <a:off x="713232" y="647395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50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однієї пачки включає ціну EXW Roye, логістику, брокерські послуги, митне оформлення та ПДВ-передфінансування · мито 0% за EUR.1 · курс 1 € ≈ 51,2 ₴</a:t>
            </a:r>
            <a:endParaRPr lang="en-US" sz="750" dirty="0"/>
          </a:p>
        </p:txBody>
      </p:sp>
      <p:sp>
        <p:nvSpPr>
          <p:cNvPr id="74" name="Text 66"/>
          <p:cNvSpPr/>
          <p:nvPr/>
        </p:nvSpPr>
        <p:spPr>
          <a:xfrm>
            <a:off x="10746943" y="634593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548640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67665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b="1" spc="28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ОБСЯГ ПОСТАЧАННЯ ·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4000" b="1" spc="-10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ПАЛЕТИ · FULL TRUCK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16642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Повне авто — найнижча собівартість пачки.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922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12922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палет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91230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52 800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91230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695383" y="969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95383" y="13716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spc="80" kern="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2048256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pic>
        <p:nvPicPr>
          <p:cNvPr id="13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" y="2249424"/>
            <a:ext cx="1243584" cy="186537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103120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GOUDA CHESSE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103120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   ·   123 G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03120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17" name="Shape 14"/>
          <p:cNvSpPr/>
          <p:nvPr/>
        </p:nvSpPr>
        <p:spPr>
          <a:xfrm>
            <a:off x="2103120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8" name="Text 15"/>
          <p:cNvSpPr/>
          <p:nvPr/>
        </p:nvSpPr>
        <p:spPr>
          <a:xfrm>
            <a:off x="2267712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палет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46704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11 200 пачок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103120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2103120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1,02 €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3474720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23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29658" y="2249424"/>
            <a:ext cx="1243584" cy="186537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819546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CARBONARA SPICY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819546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   ·   131 G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819546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27" name="Shape 23"/>
          <p:cNvSpPr/>
          <p:nvPr/>
        </p:nvSpPr>
        <p:spPr>
          <a:xfrm>
            <a:off x="5819546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8" name="Text 24"/>
          <p:cNvSpPr/>
          <p:nvPr/>
        </p:nvSpPr>
        <p:spPr>
          <a:xfrm>
            <a:off x="5984138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палет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7063130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11 200 пачок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819546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5819546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1,02 €</a:t>
            </a:r>
            <a:endParaRPr lang="en-US" sz="2700" dirty="0"/>
          </a:p>
        </p:txBody>
      </p:sp>
      <p:sp>
        <p:nvSpPr>
          <p:cNvPr id="32" name="Text 28"/>
          <p:cNvSpPr/>
          <p:nvPr/>
        </p:nvSpPr>
        <p:spPr>
          <a:xfrm>
            <a:off x="7191146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33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46085" y="2249424"/>
            <a:ext cx="1243584" cy="186537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535973" y="2286000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VEGETABLE FLAVOR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9535973" y="2706624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   ·   113 G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9535973" y="2999232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7" name="Shape 32"/>
          <p:cNvSpPr/>
          <p:nvPr/>
        </p:nvSpPr>
        <p:spPr>
          <a:xfrm>
            <a:off x="9535973" y="3108960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8" name="Text 33"/>
          <p:cNvSpPr/>
          <p:nvPr/>
        </p:nvSpPr>
        <p:spPr>
          <a:xfrm>
            <a:off x="9700565" y="30540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палети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10779557" y="3081528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6 400 пачок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35973" y="3383280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41" name="Text 36"/>
          <p:cNvSpPr/>
          <p:nvPr/>
        </p:nvSpPr>
        <p:spPr>
          <a:xfrm>
            <a:off x="9535973" y="35661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0,88 €</a:t>
            </a:r>
            <a:endParaRPr lang="en-US" sz="2700" dirty="0"/>
          </a:p>
        </p:txBody>
      </p:sp>
      <p:sp>
        <p:nvSpPr>
          <p:cNvPr id="42" name="Text 37"/>
          <p:cNvSpPr/>
          <p:nvPr/>
        </p:nvSpPr>
        <p:spPr>
          <a:xfrm>
            <a:off x="10907573" y="3694176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43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3232" y="4389120"/>
            <a:ext cx="1243584" cy="1865376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2103120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SPICY FLAVOR</a:t>
            </a:r>
            <a:endParaRPr lang="en-US" sz="1250" dirty="0"/>
          </a:p>
        </p:txBody>
      </p:sp>
      <p:sp>
        <p:nvSpPr>
          <p:cNvPr id="45" name="Text 39"/>
          <p:cNvSpPr/>
          <p:nvPr/>
        </p:nvSpPr>
        <p:spPr>
          <a:xfrm>
            <a:off x="2103120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   ·   112.5 G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2103120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47" name="Shape 41"/>
          <p:cNvSpPr/>
          <p:nvPr/>
        </p:nvSpPr>
        <p:spPr>
          <a:xfrm>
            <a:off x="2103120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8" name="Text 42"/>
          <p:cNvSpPr/>
          <p:nvPr/>
        </p:nvSpPr>
        <p:spPr>
          <a:xfrm>
            <a:off x="2267712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палет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3346704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50" name="Text 44"/>
          <p:cNvSpPr/>
          <p:nvPr/>
        </p:nvSpPr>
        <p:spPr>
          <a:xfrm>
            <a:off x="2103120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51" name="Text 45"/>
          <p:cNvSpPr/>
          <p:nvPr/>
        </p:nvSpPr>
        <p:spPr>
          <a:xfrm>
            <a:off x="2103120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0,88 €</a:t>
            </a:r>
            <a:endParaRPr lang="en-US" sz="2700" dirty="0"/>
          </a:p>
        </p:txBody>
      </p:sp>
      <p:sp>
        <p:nvSpPr>
          <p:cNvPr id="52" name="Text 46"/>
          <p:cNvSpPr/>
          <p:nvPr/>
        </p:nvSpPr>
        <p:spPr>
          <a:xfrm>
            <a:off x="3474720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5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29658" y="4389120"/>
            <a:ext cx="1243584" cy="1865376"/>
          </a:xfrm>
          <a:prstGeom prst="rect">
            <a:avLst/>
          </a:prstGeom>
        </p:spPr>
      </p:pic>
      <p:sp>
        <p:nvSpPr>
          <p:cNvPr id="54" name="Text 47"/>
          <p:cNvSpPr/>
          <p:nvPr/>
        </p:nvSpPr>
        <p:spPr>
          <a:xfrm>
            <a:off x="5819546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BEEF FLAVOR</a:t>
            </a:r>
            <a:endParaRPr lang="en-US" sz="1250" dirty="0"/>
          </a:p>
        </p:txBody>
      </p:sp>
      <p:sp>
        <p:nvSpPr>
          <p:cNvPr id="55" name="Text 48"/>
          <p:cNvSpPr/>
          <p:nvPr/>
        </p:nvSpPr>
        <p:spPr>
          <a:xfrm>
            <a:off x="5819546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   ·   113 G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5819546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57" name="Shape 50"/>
          <p:cNvSpPr/>
          <p:nvPr/>
        </p:nvSpPr>
        <p:spPr>
          <a:xfrm>
            <a:off x="5819546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8" name="Text 51"/>
          <p:cNvSpPr/>
          <p:nvPr/>
        </p:nvSpPr>
        <p:spPr>
          <a:xfrm>
            <a:off x="5984138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палет</a:t>
            </a:r>
            <a:endParaRPr lang="en-US" sz="1100" dirty="0"/>
          </a:p>
        </p:txBody>
      </p:sp>
      <p:sp>
        <p:nvSpPr>
          <p:cNvPr id="59" name="Text 52"/>
          <p:cNvSpPr/>
          <p:nvPr/>
        </p:nvSpPr>
        <p:spPr>
          <a:xfrm>
            <a:off x="7063130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60" name="Text 53"/>
          <p:cNvSpPr/>
          <p:nvPr/>
        </p:nvSpPr>
        <p:spPr>
          <a:xfrm>
            <a:off x="5819546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61" name="Text 54"/>
          <p:cNvSpPr/>
          <p:nvPr/>
        </p:nvSpPr>
        <p:spPr>
          <a:xfrm>
            <a:off x="5819546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0,88 €</a:t>
            </a:r>
            <a:endParaRPr lang="en-US" sz="2700" dirty="0"/>
          </a:p>
        </p:txBody>
      </p:sp>
      <p:sp>
        <p:nvSpPr>
          <p:cNvPr id="62" name="Text 55"/>
          <p:cNvSpPr/>
          <p:nvPr/>
        </p:nvSpPr>
        <p:spPr>
          <a:xfrm>
            <a:off x="7191146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63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46085" y="4389120"/>
            <a:ext cx="1243584" cy="1865376"/>
          </a:xfrm>
          <a:prstGeom prst="rect">
            <a:avLst/>
          </a:prstGeom>
        </p:spPr>
      </p:pic>
      <p:sp>
        <p:nvSpPr>
          <p:cNvPr id="64" name="Text 56"/>
          <p:cNvSpPr/>
          <p:nvPr/>
        </p:nvSpPr>
        <p:spPr>
          <a:xfrm>
            <a:off x="9535973" y="4425696"/>
            <a:ext cx="1942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spc="-2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 FLAVOR</a:t>
            </a:r>
            <a:endParaRPr lang="en-US" sz="1250" dirty="0"/>
          </a:p>
        </p:txBody>
      </p:sp>
      <p:sp>
        <p:nvSpPr>
          <p:cNvPr id="65" name="Text 57"/>
          <p:cNvSpPr/>
          <p:nvPr/>
        </p:nvSpPr>
        <p:spPr>
          <a:xfrm>
            <a:off x="9535973" y="4846320"/>
            <a:ext cx="19424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9C90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   ·   113 G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9535973" y="5138928"/>
            <a:ext cx="1887626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67" name="Shape 59"/>
          <p:cNvSpPr/>
          <p:nvPr/>
        </p:nvSpPr>
        <p:spPr>
          <a:xfrm>
            <a:off x="9535973" y="5248656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8" name="Text 60"/>
          <p:cNvSpPr/>
          <p:nvPr/>
        </p:nvSpPr>
        <p:spPr>
          <a:xfrm>
            <a:off x="9700565" y="5193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палет</a:t>
            </a:r>
            <a:endParaRPr lang="en-US" sz="1100" dirty="0"/>
          </a:p>
        </p:txBody>
      </p:sp>
      <p:sp>
        <p:nvSpPr>
          <p:cNvPr id="69" name="Text 61"/>
          <p:cNvSpPr/>
          <p:nvPr/>
        </p:nvSpPr>
        <p:spPr>
          <a:xfrm>
            <a:off x="10779557" y="5221224"/>
            <a:ext cx="644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8 000 пачок</a:t>
            </a:r>
            <a:endParaRPr lang="en-US" sz="850" dirty="0"/>
          </a:p>
        </p:txBody>
      </p:sp>
      <p:sp>
        <p:nvSpPr>
          <p:cNvPr id="70" name="Text 62"/>
          <p:cNvSpPr/>
          <p:nvPr/>
        </p:nvSpPr>
        <p:spPr>
          <a:xfrm>
            <a:off x="9535973" y="5522976"/>
            <a:ext cx="19424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12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ЗА 1 ПАЧКУ</a:t>
            </a:r>
            <a:endParaRPr lang="en-US" sz="700" dirty="0"/>
          </a:p>
        </p:txBody>
      </p:sp>
      <p:sp>
        <p:nvSpPr>
          <p:cNvPr id="71" name="Text 63"/>
          <p:cNvSpPr/>
          <p:nvPr/>
        </p:nvSpPr>
        <p:spPr>
          <a:xfrm>
            <a:off x="9535973" y="570585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04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0,88 €</a:t>
            </a:r>
            <a:endParaRPr lang="en-US" sz="2700" dirty="0"/>
          </a:p>
        </p:txBody>
      </p:sp>
      <p:sp>
        <p:nvSpPr>
          <p:cNvPr id="72" name="Text 64"/>
          <p:cNvSpPr/>
          <p:nvPr/>
        </p:nvSpPr>
        <p:spPr>
          <a:xfrm>
            <a:off x="10907573" y="5833872"/>
            <a:ext cx="516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45,18 ₴</a:t>
            </a:r>
            <a:endParaRPr lang="en-US" sz="1050" dirty="0"/>
          </a:p>
        </p:txBody>
      </p:sp>
      <p:sp>
        <p:nvSpPr>
          <p:cNvPr id="73" name="Text 65"/>
          <p:cNvSpPr/>
          <p:nvPr/>
        </p:nvSpPr>
        <p:spPr>
          <a:xfrm>
            <a:off x="713232" y="647395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50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Собівартість однієї пачки включає ціну EXW Roye, логістику, брокерські послуги, митне оформлення та ПДВ-передфінансування · мито 0% за EUR.1 · курс 1 € ≈ 51,2 ₴</a:t>
            </a:r>
            <a:endParaRPr lang="en-US" sz="750" dirty="0"/>
          </a:p>
        </p:txBody>
      </p:sp>
      <p:sp>
        <p:nvSpPr>
          <p:cNvPr id="74" name="Text 66"/>
          <p:cNvSpPr/>
          <p:nvPr/>
        </p:nvSpPr>
        <p:spPr>
          <a:xfrm>
            <a:off x="10746943" y="634593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548640"/>
            <a:ext cx="10765231" cy="8230"/>
          </a:xfrm>
          <a:prstGeom prst="rect">
            <a:avLst/>
          </a:prstGeom>
          <a:solidFill>
            <a:srgbClr val="312A26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67665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b="1" spc="28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РИНОК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93268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spc="-40" kern="0" dirty="0">
                <a:solidFill>
                  <a:srgbClr val="F6F1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ПРЕДСТАВЛЕНА ПРОДУКЦІЯ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16642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9C9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роздрібні мережі та дистриб'ютори, з якими працює SIAS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139696"/>
            <a:ext cx="11057839" cy="3833802"/>
          </a:xfrm>
          <a:prstGeom prst="roundRect">
            <a:avLst>
              <a:gd name="adj" fmla="val 2385"/>
            </a:avLst>
          </a:prstGeom>
          <a:solidFill>
            <a:srgbClr val="F6F1E9"/>
          </a:solidFill>
          <a:ln/>
        </p:spPr>
      </p:sp>
      <p:pic>
        <p:nvPicPr>
          <p:cNvPr id="7" name="Image 0" descr="/home/user/Chaplygin-Illya/sias_deck/assets/logo_w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" y="2286000"/>
            <a:ext cx="10765231" cy="35411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6455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50" spc="200" kern="0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746943" y="634593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5E5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2026-08-01T12:38:03Z</dcterms:created>
  <dcterms:modified xsi:type="dcterms:W3CDTF">2026-08-01T12:38:03Z</dcterms:modified>
</cp:coreProperties>
</file>