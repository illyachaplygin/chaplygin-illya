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Chaplygin-Illya/sias_deck/assets/sias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475488"/>
            <a:ext cx="1371600" cy="5852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b="1" spc="24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ВИРОБНИК · SIAS FRANCE, ROYE</a:t>
            </a:r>
            <a:endParaRPr lang="en-US" sz="850" dirty="0"/>
          </a:p>
        </p:txBody>
      </p:sp>
      <p:sp>
        <p:nvSpPr>
          <p:cNvPr id="5" name="Text 1"/>
          <p:cNvSpPr/>
          <p:nvPr/>
        </p:nvSpPr>
        <p:spPr>
          <a:xfrm>
            <a:off x="6906463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22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ПРАЙС-КАТАЛОГ · 2026</a:t>
            </a:r>
            <a:endParaRPr lang="en-US" sz="850" dirty="0"/>
          </a:p>
        </p:txBody>
      </p:sp>
      <p:sp>
        <p:nvSpPr>
          <p:cNvPr id="6" name="Shape 2"/>
          <p:cNvSpPr/>
          <p:nvPr/>
        </p:nvSpPr>
        <p:spPr>
          <a:xfrm>
            <a:off x="713232" y="1225296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7" name="Text 3"/>
          <p:cNvSpPr/>
          <p:nvPr/>
        </p:nvSpPr>
        <p:spPr>
          <a:xfrm>
            <a:off x="713232" y="1426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spc="300" kern="0" dirty="0">
                <a:solidFill>
                  <a:srgbClr val="F048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최씨라면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67512" y="1719072"/>
            <a:ext cx="9509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200" b="1" spc="-20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CHOI'S RAMYEON</a:t>
            </a:r>
            <a:endParaRPr lang="en-US" sz="6200" dirty="0"/>
          </a:p>
        </p:txBody>
      </p:sp>
      <p:sp>
        <p:nvSpPr>
          <p:cNvPr id="9" name="Text 5"/>
          <p:cNvSpPr/>
          <p:nvPr/>
        </p:nvSpPr>
        <p:spPr>
          <a:xfrm>
            <a:off x="713232" y="2688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Локшина швидкого приготування від корейської групи SIAS,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29626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вироблена на власному заводі у Франції.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13232" y="3419856"/>
            <a:ext cx="50292" cy="457200"/>
          </a:xfrm>
          <a:prstGeom prst="rect">
            <a:avLst/>
          </a:prstGeom>
          <a:solidFill>
            <a:srgbClr val="F0485F"/>
          </a:solidFill>
          <a:ln/>
        </p:spPr>
      </p:sp>
      <p:sp>
        <p:nvSpPr>
          <p:cNvPr id="12" name="Text 8"/>
          <p:cNvSpPr/>
          <p:nvPr/>
        </p:nvSpPr>
        <p:spPr>
          <a:xfrm>
            <a:off x="932688" y="341985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SIAS — виробника цього рівня складно знайти на ринку.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32688" y="36576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Прямий контракт із заводом, без посередників.</a:t>
            </a:r>
            <a:endParaRPr lang="en-US" sz="1200" dirty="0"/>
          </a:p>
        </p:txBody>
      </p:sp>
      <p:pic>
        <p:nvPicPr>
          <p:cNvPr id="14" name="Image 2" descr="/home/user/Chaplygin-Illya/sias_deck/assets/noodle_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4078224"/>
            <a:ext cx="10765231" cy="2849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42611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13232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spc="14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3090672" y="42611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112,5–131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090672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spc="14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ГРАМІВ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468112" y="42611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5468112" y="4590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spc="14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МИТО · EUR.1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735263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950" b="1" spc="16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EXW ROYE, FRANCE</a:t>
            </a:r>
            <a:endParaRPr lang="en-US" sz="950" dirty="0"/>
          </a:p>
        </p:txBody>
      </p:sp>
      <p:pic>
        <p:nvPicPr>
          <p:cNvPr id="22" name="Image 3" descr="/home/user/Chaplygin-Illya/sias_deck/assets/mascot_pane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28" y="1481328"/>
            <a:ext cx="1783080" cy="2368296"/>
          </a:xfrm>
          <a:prstGeom prst="rect">
            <a:avLst/>
          </a:prstGeom>
        </p:spPr>
      </p:pic>
      <p:pic>
        <p:nvPicPr>
          <p:cNvPr id="23" name="Image 4" descr="/home/user/Chaplygin-Illya/sias_deck/assets/lineup_dark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01752" y="4144684"/>
            <a:ext cx="11588191" cy="2658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ВИРОБНИК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9326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00" b="1" spc="-4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SIAS FRANCE · ROYE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18836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Європейська площадка корейської групи SIAS, що працює з 1997 року. Лінійку Choi's Ramyeon виробляють тут за оригінальними корейськими рецептурами.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3232" y="2907792"/>
            <a:ext cx="4754880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3054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16 000 м²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24912" y="3108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виробнича площадка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3474720"/>
            <a:ext cx="4754880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621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IFS · BRC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24912" y="3675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сертифікати харчової безпеки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3232" y="4041648"/>
            <a:ext cx="4754880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EXW Roye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24912" y="4242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умови відвантаження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13232" y="4608576"/>
            <a:ext cx="4754880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754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724912" y="4809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ввізного мита в Україну · EUR.1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3232" y="5175504"/>
            <a:ext cx="4754880" cy="8230"/>
          </a:xfrm>
          <a:prstGeom prst="rect">
            <a:avLst/>
          </a:prstGeom>
          <a:solidFill>
            <a:srgbClr val="342C27"/>
          </a:solidFill>
          <a:ln/>
        </p:spPr>
      </p:sp>
      <p:pic>
        <p:nvPicPr>
          <p:cNvPr id="20" name="Image 1" descr="/home/user/Chaplygin-Illya/sias_deck/assets/plant_mur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792224"/>
            <a:ext cx="5534863" cy="39761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43600" y="59147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SIAS · Roye, Hauts-de-France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595360" y="5896435"/>
            <a:ext cx="134112" cy="265176"/>
          </a:xfrm>
          <a:prstGeom prst="rect">
            <a:avLst/>
          </a:prstGeom>
          <a:solidFill>
            <a:srgbClr val="002654"/>
          </a:solidFill>
          <a:ln/>
        </p:spPr>
      </p:sp>
      <p:sp>
        <p:nvSpPr>
          <p:cNvPr id="23" name="Shape 19"/>
          <p:cNvSpPr/>
          <p:nvPr/>
        </p:nvSpPr>
        <p:spPr>
          <a:xfrm>
            <a:off x="8729472" y="5896435"/>
            <a:ext cx="13411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8863584" y="5896435"/>
            <a:ext cx="134112" cy="265176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25" name="Shape 21"/>
          <p:cNvSpPr/>
          <p:nvPr/>
        </p:nvSpPr>
        <p:spPr>
          <a:xfrm>
            <a:off x="9107424" y="5896435"/>
            <a:ext cx="402336" cy="132588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26" name="Shape 22"/>
          <p:cNvSpPr/>
          <p:nvPr/>
        </p:nvSpPr>
        <p:spPr>
          <a:xfrm>
            <a:off x="9107424" y="6029023"/>
            <a:ext cx="402336" cy="1325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3"/>
          <p:cNvSpPr/>
          <p:nvPr/>
        </p:nvSpPr>
        <p:spPr>
          <a:xfrm>
            <a:off x="713232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spc="200" kern="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CHOI'S RAMYEON — SIAS FRANCE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ОБСЯГ ПОСТАЧАННЯ · 01</a:t>
            </a:r>
            <a:endParaRPr lang="en-US" sz="800" dirty="0"/>
          </a:p>
        </p:txBody>
      </p:sp>
      <p:pic>
        <p:nvPicPr>
          <p:cNvPr id="5" name="Image 1" descr="/home/user/Chaplygin-Illya/sias_deck/assets/flam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896112"/>
            <a:ext cx="475488" cy="585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6736" y="914400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00" b="1" spc="-10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ПАЛЕТ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13232" y="16642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Пробна партія — по одній палеті на кожен смак.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2922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12922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палет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91230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9 600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91230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пачок разом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69538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9538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мито · EUR.1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13232" y="2048256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pic>
        <p:nvPicPr>
          <p:cNvPr id="15" name="Image 2" descr="/home/user/Chaplygin-Illya/sias_deck/packs/goud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2249424"/>
            <a:ext cx="1243584" cy="18653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GOUDA CHESSE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103120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고다치즈   ·   123 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103120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9" name="Shape 14"/>
          <p:cNvSpPr/>
          <p:nvPr/>
        </p:nvSpPr>
        <p:spPr>
          <a:xfrm>
            <a:off x="2103120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2267712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46704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103120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2103120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1,31 €</a:t>
            </a:r>
            <a:endParaRPr lang="en-US" sz="2700" dirty="0"/>
          </a:p>
        </p:txBody>
      </p:sp>
      <p:sp>
        <p:nvSpPr>
          <p:cNvPr id="24" name="Text 19"/>
          <p:cNvSpPr/>
          <p:nvPr/>
        </p:nvSpPr>
        <p:spPr>
          <a:xfrm>
            <a:off x="3474720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67,00 ₴</a:t>
            </a:r>
            <a:endParaRPr lang="en-US" sz="1050" dirty="0"/>
          </a:p>
        </p:txBody>
      </p:sp>
      <p:pic>
        <p:nvPicPr>
          <p:cNvPr id="25" name="Image 3" descr="/home/user/Chaplygin-Illya/sias_deck/packs/carbona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29658" y="2249424"/>
            <a:ext cx="1243584" cy="18653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19546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CARBONARA SPICY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819546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까르보나라   ·   131 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819546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29" name="Shape 23"/>
          <p:cNvSpPr/>
          <p:nvPr/>
        </p:nvSpPr>
        <p:spPr>
          <a:xfrm>
            <a:off x="5819546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4"/>
          <p:cNvSpPr/>
          <p:nvPr/>
        </p:nvSpPr>
        <p:spPr>
          <a:xfrm>
            <a:off x="5984138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063130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819546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819546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1,31 €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7191146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67,00 ₴</a:t>
            </a:r>
            <a:endParaRPr lang="en-US" sz="1050" dirty="0"/>
          </a:p>
        </p:txBody>
      </p:sp>
      <p:pic>
        <p:nvPicPr>
          <p:cNvPr id="35" name="Image 4" descr="/home/user/Chaplygin-Illya/sias_deck/packs/vegetabl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46085" y="2249424"/>
            <a:ext cx="1243584" cy="18653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35973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FLAVOR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535973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야채맛   ·   113 G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535973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39" name="Shape 32"/>
          <p:cNvSpPr/>
          <p:nvPr/>
        </p:nvSpPr>
        <p:spPr>
          <a:xfrm>
            <a:off x="9535973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3"/>
          <p:cNvSpPr/>
          <p:nvPr/>
        </p:nvSpPr>
        <p:spPr>
          <a:xfrm>
            <a:off x="9700565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779557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9535973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9535973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1,13 €</a:t>
            </a:r>
            <a:endParaRPr lang="en-US" sz="2700" dirty="0"/>
          </a:p>
        </p:txBody>
      </p:sp>
      <p:sp>
        <p:nvSpPr>
          <p:cNvPr id="44" name="Text 37"/>
          <p:cNvSpPr/>
          <p:nvPr/>
        </p:nvSpPr>
        <p:spPr>
          <a:xfrm>
            <a:off x="10907573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58,06 ₴</a:t>
            </a:r>
            <a:endParaRPr lang="en-US" sz="1050" dirty="0"/>
          </a:p>
        </p:txBody>
      </p:sp>
      <p:pic>
        <p:nvPicPr>
          <p:cNvPr id="45" name="Image 5" descr="/home/user/Chaplygin-Illya/sias_deck/packs/spic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3232" y="4389120"/>
            <a:ext cx="1243584" cy="186537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03120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 FLAVOR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2103120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매운맛   ·   112.5 G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2103120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9" name="Shape 41"/>
          <p:cNvSpPr/>
          <p:nvPr/>
        </p:nvSpPr>
        <p:spPr>
          <a:xfrm>
            <a:off x="2103120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0" name="Text 42"/>
          <p:cNvSpPr/>
          <p:nvPr/>
        </p:nvSpPr>
        <p:spPr>
          <a:xfrm>
            <a:off x="2267712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3346704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2103120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2103120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1,13 €</a:t>
            </a:r>
            <a:endParaRPr lang="en-US" sz="2700" dirty="0"/>
          </a:p>
        </p:txBody>
      </p:sp>
      <p:sp>
        <p:nvSpPr>
          <p:cNvPr id="54" name="Text 46"/>
          <p:cNvSpPr/>
          <p:nvPr/>
        </p:nvSpPr>
        <p:spPr>
          <a:xfrm>
            <a:off x="3474720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58,06 ₴</a:t>
            </a:r>
            <a:endParaRPr lang="en-US" sz="1050" dirty="0"/>
          </a:p>
        </p:txBody>
      </p:sp>
      <p:pic>
        <p:nvPicPr>
          <p:cNvPr id="55" name="Image 6" descr="/home/user/Chaplygin-Illya/sias_deck/packs/beef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29658" y="4389120"/>
            <a:ext cx="1243584" cy="1865376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5819546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BEEF FLAVOR</a:t>
            </a:r>
            <a:endParaRPr lang="en-US" sz="1250" dirty="0"/>
          </a:p>
        </p:txBody>
      </p:sp>
      <p:sp>
        <p:nvSpPr>
          <p:cNvPr id="57" name="Text 48"/>
          <p:cNvSpPr/>
          <p:nvPr/>
        </p:nvSpPr>
        <p:spPr>
          <a:xfrm>
            <a:off x="5819546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소고기맛   ·   113 G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819546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59" name="Shape 50"/>
          <p:cNvSpPr/>
          <p:nvPr/>
        </p:nvSpPr>
        <p:spPr>
          <a:xfrm>
            <a:off x="5819546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0" name="Text 51"/>
          <p:cNvSpPr/>
          <p:nvPr/>
        </p:nvSpPr>
        <p:spPr>
          <a:xfrm>
            <a:off x="5984138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7063130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62" name="Text 53"/>
          <p:cNvSpPr/>
          <p:nvPr/>
        </p:nvSpPr>
        <p:spPr>
          <a:xfrm>
            <a:off x="5819546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5819546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1,13 €</a:t>
            </a:r>
            <a:endParaRPr lang="en-US" sz="2700" dirty="0"/>
          </a:p>
        </p:txBody>
      </p:sp>
      <p:sp>
        <p:nvSpPr>
          <p:cNvPr id="64" name="Text 55"/>
          <p:cNvSpPr/>
          <p:nvPr/>
        </p:nvSpPr>
        <p:spPr>
          <a:xfrm>
            <a:off x="7191146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58,06 ₴</a:t>
            </a:r>
            <a:endParaRPr lang="en-US" sz="1050" dirty="0"/>
          </a:p>
        </p:txBody>
      </p:sp>
      <p:pic>
        <p:nvPicPr>
          <p:cNvPr id="65" name="Image 7" descr="/home/user/Chaplygin-Illya/sias_deck/packs/chicken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46085" y="4389120"/>
            <a:ext cx="1243584" cy="1865376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9535973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FLAVOR</a:t>
            </a:r>
            <a:endParaRPr lang="en-US" sz="1250" dirty="0"/>
          </a:p>
        </p:txBody>
      </p:sp>
      <p:sp>
        <p:nvSpPr>
          <p:cNvPr id="67" name="Text 57"/>
          <p:cNvSpPr/>
          <p:nvPr/>
        </p:nvSpPr>
        <p:spPr>
          <a:xfrm>
            <a:off x="9535973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치킨맛   ·   113 G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9535973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69" name="Shape 59"/>
          <p:cNvSpPr/>
          <p:nvPr/>
        </p:nvSpPr>
        <p:spPr>
          <a:xfrm>
            <a:off x="9535973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0" name="Text 60"/>
          <p:cNvSpPr/>
          <p:nvPr/>
        </p:nvSpPr>
        <p:spPr>
          <a:xfrm>
            <a:off x="9700565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71" name="Text 61"/>
          <p:cNvSpPr/>
          <p:nvPr/>
        </p:nvSpPr>
        <p:spPr>
          <a:xfrm>
            <a:off x="10779557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72" name="Text 62"/>
          <p:cNvSpPr/>
          <p:nvPr/>
        </p:nvSpPr>
        <p:spPr>
          <a:xfrm>
            <a:off x="9535973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73" name="Text 63"/>
          <p:cNvSpPr/>
          <p:nvPr/>
        </p:nvSpPr>
        <p:spPr>
          <a:xfrm>
            <a:off x="9535973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1,13 €</a:t>
            </a:r>
            <a:endParaRPr lang="en-US" sz="2700" dirty="0"/>
          </a:p>
        </p:txBody>
      </p:sp>
      <p:sp>
        <p:nvSpPr>
          <p:cNvPr id="74" name="Text 64"/>
          <p:cNvSpPr/>
          <p:nvPr/>
        </p:nvSpPr>
        <p:spPr>
          <a:xfrm>
            <a:off x="10907573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58,06 ₴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713232" y="6473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однієї пачки включає ціну EXW Roye, логістику, брокерські послуги, митне оформлення та ПДВ-передфінансування · мито 0% за EUR.1 · курс 1 € ≈ 51,2 ₴</a:t>
            </a:r>
            <a:endParaRPr lang="en-US" sz="750" dirty="0"/>
          </a:p>
        </p:txBody>
      </p:sp>
      <p:sp>
        <p:nvSpPr>
          <p:cNvPr id="76" name="Text 66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ОБСЯГ ПОСТАЧАННЯ · 02</a:t>
            </a:r>
            <a:endParaRPr lang="en-US" sz="800" dirty="0"/>
          </a:p>
        </p:txBody>
      </p:sp>
      <p:pic>
        <p:nvPicPr>
          <p:cNvPr id="5" name="Image 1" descr="/home/user/Chaplygin-Illya/sias_deck/assets/flam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896112"/>
            <a:ext cx="475488" cy="585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6736" y="914400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00" b="1" spc="-10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ПАЛЕТ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13232" y="16642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Робочий обсяг з акцентом на вершкових смаках — Gouda та Carbonara.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2922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12922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палет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91230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19 200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91230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пачок разом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69538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9538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мито · EUR.1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13232" y="2048256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pic>
        <p:nvPicPr>
          <p:cNvPr id="15" name="Image 2" descr="/home/user/Chaplygin-Illya/sias_deck/packs/goud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2249424"/>
            <a:ext cx="1243584" cy="18653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GOUDA CHESSE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103120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고다치즈   ·   123 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103120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9" name="Shape 14"/>
          <p:cNvSpPr/>
          <p:nvPr/>
        </p:nvSpPr>
        <p:spPr>
          <a:xfrm>
            <a:off x="2103120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2267712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палети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46704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4 800 пачок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103120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2103120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1,11 €</a:t>
            </a:r>
            <a:endParaRPr lang="en-US" sz="2700" dirty="0"/>
          </a:p>
        </p:txBody>
      </p:sp>
      <p:sp>
        <p:nvSpPr>
          <p:cNvPr id="24" name="Text 19"/>
          <p:cNvSpPr/>
          <p:nvPr/>
        </p:nvSpPr>
        <p:spPr>
          <a:xfrm>
            <a:off x="3474720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56,88 ₴</a:t>
            </a:r>
            <a:endParaRPr lang="en-US" sz="1050" dirty="0"/>
          </a:p>
        </p:txBody>
      </p:sp>
      <p:pic>
        <p:nvPicPr>
          <p:cNvPr id="25" name="Image 3" descr="/home/user/Chaplygin-Illya/sias_deck/packs/carbona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29658" y="2249424"/>
            <a:ext cx="1243584" cy="18653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19546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CARBONARA SPICY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819546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까르보나라   ·   131 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819546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29" name="Shape 23"/>
          <p:cNvSpPr/>
          <p:nvPr/>
        </p:nvSpPr>
        <p:spPr>
          <a:xfrm>
            <a:off x="5819546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4"/>
          <p:cNvSpPr/>
          <p:nvPr/>
        </p:nvSpPr>
        <p:spPr>
          <a:xfrm>
            <a:off x="5984138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палети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063130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4 800 пачок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819546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819546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1,11 €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7191146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56,88 ₴</a:t>
            </a:r>
            <a:endParaRPr lang="en-US" sz="1050" dirty="0"/>
          </a:p>
        </p:txBody>
      </p:sp>
      <p:pic>
        <p:nvPicPr>
          <p:cNvPr id="35" name="Image 4" descr="/home/user/Chaplygin-Illya/sias_deck/packs/vegetabl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46085" y="2249424"/>
            <a:ext cx="1243584" cy="18653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35973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FLAVOR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535973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야채맛   ·   113 G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535973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39" name="Shape 32"/>
          <p:cNvSpPr/>
          <p:nvPr/>
        </p:nvSpPr>
        <p:spPr>
          <a:xfrm>
            <a:off x="9535973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3"/>
          <p:cNvSpPr/>
          <p:nvPr/>
        </p:nvSpPr>
        <p:spPr>
          <a:xfrm>
            <a:off x="9700565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779557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9535973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9535973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0,96 €</a:t>
            </a:r>
            <a:endParaRPr lang="en-US" sz="2700" dirty="0"/>
          </a:p>
        </p:txBody>
      </p:sp>
      <p:sp>
        <p:nvSpPr>
          <p:cNvPr id="44" name="Text 37"/>
          <p:cNvSpPr/>
          <p:nvPr/>
        </p:nvSpPr>
        <p:spPr>
          <a:xfrm>
            <a:off x="10907573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49,29 ₴</a:t>
            </a:r>
            <a:endParaRPr lang="en-US" sz="1050" dirty="0"/>
          </a:p>
        </p:txBody>
      </p:sp>
      <p:pic>
        <p:nvPicPr>
          <p:cNvPr id="45" name="Image 5" descr="/home/user/Chaplygin-Illya/sias_deck/packs/spic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3232" y="4389120"/>
            <a:ext cx="1243584" cy="186537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03120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 FLAVOR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2103120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매운맛   ·   112.5 G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2103120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9" name="Shape 41"/>
          <p:cNvSpPr/>
          <p:nvPr/>
        </p:nvSpPr>
        <p:spPr>
          <a:xfrm>
            <a:off x="2103120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0" name="Text 42"/>
          <p:cNvSpPr/>
          <p:nvPr/>
        </p:nvSpPr>
        <p:spPr>
          <a:xfrm>
            <a:off x="2267712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палети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3346704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3 200 пачок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2103120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2103120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0,96 €</a:t>
            </a:r>
            <a:endParaRPr lang="en-US" sz="2700" dirty="0"/>
          </a:p>
        </p:txBody>
      </p:sp>
      <p:sp>
        <p:nvSpPr>
          <p:cNvPr id="54" name="Text 46"/>
          <p:cNvSpPr/>
          <p:nvPr/>
        </p:nvSpPr>
        <p:spPr>
          <a:xfrm>
            <a:off x="3474720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49,29 ₴</a:t>
            </a:r>
            <a:endParaRPr lang="en-US" sz="1050" dirty="0"/>
          </a:p>
        </p:txBody>
      </p:sp>
      <p:pic>
        <p:nvPicPr>
          <p:cNvPr id="55" name="Image 6" descr="/home/user/Chaplygin-Illya/sias_deck/packs/beef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29658" y="4389120"/>
            <a:ext cx="1243584" cy="1865376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5819546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BEEF FLAVOR</a:t>
            </a:r>
            <a:endParaRPr lang="en-US" sz="1250" dirty="0"/>
          </a:p>
        </p:txBody>
      </p:sp>
      <p:sp>
        <p:nvSpPr>
          <p:cNvPr id="57" name="Text 48"/>
          <p:cNvSpPr/>
          <p:nvPr/>
        </p:nvSpPr>
        <p:spPr>
          <a:xfrm>
            <a:off x="5819546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소고기맛   ·   113 G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819546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59" name="Shape 50"/>
          <p:cNvSpPr/>
          <p:nvPr/>
        </p:nvSpPr>
        <p:spPr>
          <a:xfrm>
            <a:off x="5819546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0" name="Text 51"/>
          <p:cNvSpPr/>
          <p:nvPr/>
        </p:nvSpPr>
        <p:spPr>
          <a:xfrm>
            <a:off x="5984138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палети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7063130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3 200 пачок</a:t>
            </a:r>
            <a:endParaRPr lang="en-US" sz="850" dirty="0"/>
          </a:p>
        </p:txBody>
      </p:sp>
      <p:sp>
        <p:nvSpPr>
          <p:cNvPr id="62" name="Text 53"/>
          <p:cNvSpPr/>
          <p:nvPr/>
        </p:nvSpPr>
        <p:spPr>
          <a:xfrm>
            <a:off x="5819546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5819546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0,96 €</a:t>
            </a:r>
            <a:endParaRPr lang="en-US" sz="2700" dirty="0"/>
          </a:p>
        </p:txBody>
      </p:sp>
      <p:sp>
        <p:nvSpPr>
          <p:cNvPr id="64" name="Text 55"/>
          <p:cNvSpPr/>
          <p:nvPr/>
        </p:nvSpPr>
        <p:spPr>
          <a:xfrm>
            <a:off x="7191146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49,29 ₴</a:t>
            </a:r>
            <a:endParaRPr lang="en-US" sz="1050" dirty="0"/>
          </a:p>
        </p:txBody>
      </p:sp>
      <p:pic>
        <p:nvPicPr>
          <p:cNvPr id="65" name="Image 7" descr="/home/user/Chaplygin-Illya/sias_deck/packs/chicken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46085" y="4389120"/>
            <a:ext cx="1243584" cy="1865376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9535973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FLAVOR</a:t>
            </a:r>
            <a:endParaRPr lang="en-US" sz="1250" dirty="0"/>
          </a:p>
        </p:txBody>
      </p:sp>
      <p:sp>
        <p:nvSpPr>
          <p:cNvPr id="67" name="Text 57"/>
          <p:cNvSpPr/>
          <p:nvPr/>
        </p:nvSpPr>
        <p:spPr>
          <a:xfrm>
            <a:off x="9535973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치킨맛   ·   113 G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9535973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69" name="Shape 59"/>
          <p:cNvSpPr/>
          <p:nvPr/>
        </p:nvSpPr>
        <p:spPr>
          <a:xfrm>
            <a:off x="9535973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0" name="Text 60"/>
          <p:cNvSpPr/>
          <p:nvPr/>
        </p:nvSpPr>
        <p:spPr>
          <a:xfrm>
            <a:off x="9700565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палета</a:t>
            </a:r>
            <a:endParaRPr lang="en-US" sz="1100" dirty="0"/>
          </a:p>
        </p:txBody>
      </p:sp>
      <p:sp>
        <p:nvSpPr>
          <p:cNvPr id="71" name="Text 61"/>
          <p:cNvSpPr/>
          <p:nvPr/>
        </p:nvSpPr>
        <p:spPr>
          <a:xfrm>
            <a:off x="10779557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1 600 пачок</a:t>
            </a:r>
            <a:endParaRPr lang="en-US" sz="850" dirty="0"/>
          </a:p>
        </p:txBody>
      </p:sp>
      <p:sp>
        <p:nvSpPr>
          <p:cNvPr id="72" name="Text 62"/>
          <p:cNvSpPr/>
          <p:nvPr/>
        </p:nvSpPr>
        <p:spPr>
          <a:xfrm>
            <a:off x="9535973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73" name="Text 63"/>
          <p:cNvSpPr/>
          <p:nvPr/>
        </p:nvSpPr>
        <p:spPr>
          <a:xfrm>
            <a:off x="9535973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0,96 €</a:t>
            </a:r>
            <a:endParaRPr lang="en-US" sz="2700" dirty="0"/>
          </a:p>
        </p:txBody>
      </p:sp>
      <p:sp>
        <p:nvSpPr>
          <p:cNvPr id="74" name="Text 64"/>
          <p:cNvSpPr/>
          <p:nvPr/>
        </p:nvSpPr>
        <p:spPr>
          <a:xfrm>
            <a:off x="10907573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49,29 ₴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713232" y="6473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однієї пачки включає ціну EXW Roye, логістику, брокерські послуги, митне оформлення та ПДВ-передфінансування · мито 0% за EUR.1 · курс 1 € ≈ 51,2 ₴</a:t>
            </a:r>
            <a:endParaRPr lang="en-US" sz="750" dirty="0"/>
          </a:p>
        </p:txBody>
      </p:sp>
      <p:sp>
        <p:nvSpPr>
          <p:cNvPr id="76" name="Text 66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ОБСЯГ ПОСТАЧАННЯ · 03</a:t>
            </a:r>
            <a:endParaRPr lang="en-US" sz="800" dirty="0"/>
          </a:p>
        </p:txBody>
      </p:sp>
      <p:pic>
        <p:nvPicPr>
          <p:cNvPr id="5" name="Image 1" descr="/home/user/Chaplygin-Illya/sias_deck/assets/flam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896112"/>
            <a:ext cx="475488" cy="585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6736" y="914400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000" b="1" spc="-10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ПАЛЕТИ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13232" y="16642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Повне авто (Full Truck) — найнижча собівартість пачки.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2922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12922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палет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91230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52 800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91230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пачок разом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695383" y="9692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95383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spc="80" kern="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мито · EUR.1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13232" y="2048256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pic>
        <p:nvPicPr>
          <p:cNvPr id="15" name="Image 2" descr="/home/user/Chaplygin-Illya/sias_deck/packs/goud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2249424"/>
            <a:ext cx="1243584" cy="18653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GOUDA CHESSE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103120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고다치즈   ·   123 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103120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19" name="Shape 14"/>
          <p:cNvSpPr/>
          <p:nvPr/>
        </p:nvSpPr>
        <p:spPr>
          <a:xfrm>
            <a:off x="2103120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5"/>
          <p:cNvSpPr/>
          <p:nvPr/>
        </p:nvSpPr>
        <p:spPr>
          <a:xfrm>
            <a:off x="2267712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палет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46704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11 200 пачок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103120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2103120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1,02 €</a:t>
            </a:r>
            <a:endParaRPr lang="en-US" sz="2700" dirty="0"/>
          </a:p>
        </p:txBody>
      </p:sp>
      <p:sp>
        <p:nvSpPr>
          <p:cNvPr id="24" name="Text 19"/>
          <p:cNvSpPr/>
          <p:nvPr/>
        </p:nvSpPr>
        <p:spPr>
          <a:xfrm>
            <a:off x="3474720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52,13 ₴</a:t>
            </a:r>
            <a:endParaRPr lang="en-US" sz="1050" dirty="0"/>
          </a:p>
        </p:txBody>
      </p:sp>
      <p:pic>
        <p:nvPicPr>
          <p:cNvPr id="25" name="Image 3" descr="/home/user/Chaplygin-Illya/sias_deck/packs/carbonar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29658" y="2249424"/>
            <a:ext cx="1243584" cy="18653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19546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CARBONARA SPICY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819546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까르보나라   ·   131 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819546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29" name="Shape 23"/>
          <p:cNvSpPr/>
          <p:nvPr/>
        </p:nvSpPr>
        <p:spPr>
          <a:xfrm>
            <a:off x="5819546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4"/>
          <p:cNvSpPr/>
          <p:nvPr/>
        </p:nvSpPr>
        <p:spPr>
          <a:xfrm>
            <a:off x="5984138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палет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063130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11 200 пачок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5819546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5819546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1,02 €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7191146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52,13 ₴</a:t>
            </a:r>
            <a:endParaRPr lang="en-US" sz="1050" dirty="0"/>
          </a:p>
        </p:txBody>
      </p:sp>
      <p:pic>
        <p:nvPicPr>
          <p:cNvPr id="35" name="Image 4" descr="/home/user/Chaplygin-Illya/sias_deck/packs/vegetabl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46085" y="2249424"/>
            <a:ext cx="1243584" cy="18653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35973" y="2286000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FLAVOR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535973" y="2706624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야채맛   ·   113 G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535973" y="2999232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39" name="Shape 32"/>
          <p:cNvSpPr/>
          <p:nvPr/>
        </p:nvSpPr>
        <p:spPr>
          <a:xfrm>
            <a:off x="9535973" y="3108960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3"/>
          <p:cNvSpPr/>
          <p:nvPr/>
        </p:nvSpPr>
        <p:spPr>
          <a:xfrm>
            <a:off x="9700565" y="30540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палети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779557" y="3081528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6 400 пачок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9535973" y="3383280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9535973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0,88 €</a:t>
            </a:r>
            <a:endParaRPr lang="en-US" sz="2700" dirty="0"/>
          </a:p>
        </p:txBody>
      </p:sp>
      <p:sp>
        <p:nvSpPr>
          <p:cNvPr id="44" name="Text 37"/>
          <p:cNvSpPr/>
          <p:nvPr/>
        </p:nvSpPr>
        <p:spPr>
          <a:xfrm>
            <a:off x="10907573" y="3694176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45,18 ₴</a:t>
            </a:r>
            <a:endParaRPr lang="en-US" sz="1050" dirty="0"/>
          </a:p>
        </p:txBody>
      </p:sp>
      <p:pic>
        <p:nvPicPr>
          <p:cNvPr id="45" name="Image 5" descr="/home/user/Chaplygin-Illya/sias_deck/packs/spic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3232" y="4389120"/>
            <a:ext cx="1243584" cy="186537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03120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 FLAVOR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2103120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매운맛   ·   112.5 G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2103120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9" name="Shape 41"/>
          <p:cNvSpPr/>
          <p:nvPr/>
        </p:nvSpPr>
        <p:spPr>
          <a:xfrm>
            <a:off x="2103120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0" name="Text 42"/>
          <p:cNvSpPr/>
          <p:nvPr/>
        </p:nvSpPr>
        <p:spPr>
          <a:xfrm>
            <a:off x="2267712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палет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3346704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8 000 пачок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2103120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53" name="Text 45"/>
          <p:cNvSpPr/>
          <p:nvPr/>
        </p:nvSpPr>
        <p:spPr>
          <a:xfrm>
            <a:off x="2103120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0,88 €</a:t>
            </a:r>
            <a:endParaRPr lang="en-US" sz="2700" dirty="0"/>
          </a:p>
        </p:txBody>
      </p:sp>
      <p:sp>
        <p:nvSpPr>
          <p:cNvPr id="54" name="Text 46"/>
          <p:cNvSpPr/>
          <p:nvPr/>
        </p:nvSpPr>
        <p:spPr>
          <a:xfrm>
            <a:off x="3474720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45,18 ₴</a:t>
            </a:r>
            <a:endParaRPr lang="en-US" sz="1050" dirty="0"/>
          </a:p>
        </p:txBody>
      </p:sp>
      <p:pic>
        <p:nvPicPr>
          <p:cNvPr id="55" name="Image 6" descr="/home/user/Chaplygin-Illya/sias_deck/packs/beef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29658" y="4389120"/>
            <a:ext cx="1243584" cy="1865376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5819546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BEEF FLAVOR</a:t>
            </a:r>
            <a:endParaRPr lang="en-US" sz="1250" dirty="0"/>
          </a:p>
        </p:txBody>
      </p:sp>
      <p:sp>
        <p:nvSpPr>
          <p:cNvPr id="57" name="Text 48"/>
          <p:cNvSpPr/>
          <p:nvPr/>
        </p:nvSpPr>
        <p:spPr>
          <a:xfrm>
            <a:off x="5819546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소고기맛   ·   113 G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819546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59" name="Shape 50"/>
          <p:cNvSpPr/>
          <p:nvPr/>
        </p:nvSpPr>
        <p:spPr>
          <a:xfrm>
            <a:off x="5819546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0" name="Text 51"/>
          <p:cNvSpPr/>
          <p:nvPr/>
        </p:nvSpPr>
        <p:spPr>
          <a:xfrm>
            <a:off x="5984138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палет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7063130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8 000 пачок</a:t>
            </a:r>
            <a:endParaRPr lang="en-US" sz="850" dirty="0"/>
          </a:p>
        </p:txBody>
      </p:sp>
      <p:sp>
        <p:nvSpPr>
          <p:cNvPr id="62" name="Text 53"/>
          <p:cNvSpPr/>
          <p:nvPr/>
        </p:nvSpPr>
        <p:spPr>
          <a:xfrm>
            <a:off x="5819546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5819546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0,88 €</a:t>
            </a:r>
            <a:endParaRPr lang="en-US" sz="2700" dirty="0"/>
          </a:p>
        </p:txBody>
      </p:sp>
      <p:sp>
        <p:nvSpPr>
          <p:cNvPr id="64" name="Text 55"/>
          <p:cNvSpPr/>
          <p:nvPr/>
        </p:nvSpPr>
        <p:spPr>
          <a:xfrm>
            <a:off x="7191146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45,18 ₴</a:t>
            </a:r>
            <a:endParaRPr lang="en-US" sz="1050" dirty="0"/>
          </a:p>
        </p:txBody>
      </p:sp>
      <p:pic>
        <p:nvPicPr>
          <p:cNvPr id="65" name="Image 7" descr="/home/user/Chaplygin-Illya/sias_deck/packs/chicken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46085" y="4389120"/>
            <a:ext cx="1243584" cy="1865376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9535973" y="4425696"/>
            <a:ext cx="1942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FLAVOR</a:t>
            </a:r>
            <a:endParaRPr lang="en-US" sz="1250" dirty="0"/>
          </a:p>
        </p:txBody>
      </p:sp>
      <p:sp>
        <p:nvSpPr>
          <p:cNvPr id="67" name="Text 57"/>
          <p:cNvSpPr/>
          <p:nvPr/>
        </p:nvSpPr>
        <p:spPr>
          <a:xfrm>
            <a:off x="9535973" y="4846320"/>
            <a:ext cx="194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9C9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치킨맛   ·   113 G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9535973" y="5138928"/>
            <a:ext cx="1887626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69" name="Shape 59"/>
          <p:cNvSpPr/>
          <p:nvPr/>
        </p:nvSpPr>
        <p:spPr>
          <a:xfrm>
            <a:off x="9535973" y="5248656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0" name="Text 60"/>
          <p:cNvSpPr/>
          <p:nvPr/>
        </p:nvSpPr>
        <p:spPr>
          <a:xfrm>
            <a:off x="9700565" y="5193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палет</a:t>
            </a:r>
            <a:endParaRPr lang="en-US" sz="1100" dirty="0"/>
          </a:p>
        </p:txBody>
      </p:sp>
      <p:sp>
        <p:nvSpPr>
          <p:cNvPr id="71" name="Text 61"/>
          <p:cNvSpPr/>
          <p:nvPr/>
        </p:nvSpPr>
        <p:spPr>
          <a:xfrm>
            <a:off x="10779557" y="5221224"/>
            <a:ext cx="644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8 000 пачок</a:t>
            </a:r>
            <a:endParaRPr lang="en-US" sz="850" dirty="0"/>
          </a:p>
        </p:txBody>
      </p:sp>
      <p:sp>
        <p:nvSpPr>
          <p:cNvPr id="72" name="Text 62"/>
          <p:cNvSpPr/>
          <p:nvPr/>
        </p:nvSpPr>
        <p:spPr>
          <a:xfrm>
            <a:off x="9535973" y="5522976"/>
            <a:ext cx="19424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00" b="1" spc="12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ЗА 1 ПАЧКУ</a:t>
            </a:r>
            <a:endParaRPr lang="en-US" sz="700" dirty="0"/>
          </a:p>
        </p:txBody>
      </p:sp>
      <p:sp>
        <p:nvSpPr>
          <p:cNvPr id="73" name="Text 63"/>
          <p:cNvSpPr/>
          <p:nvPr/>
        </p:nvSpPr>
        <p:spPr>
          <a:xfrm>
            <a:off x="9535973" y="5705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04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0,88 €</a:t>
            </a:r>
            <a:endParaRPr lang="en-US" sz="2700" dirty="0"/>
          </a:p>
        </p:txBody>
      </p:sp>
      <p:sp>
        <p:nvSpPr>
          <p:cNvPr id="74" name="Text 64"/>
          <p:cNvSpPr/>
          <p:nvPr/>
        </p:nvSpPr>
        <p:spPr>
          <a:xfrm>
            <a:off x="10907573" y="5833872"/>
            <a:ext cx="5160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45,18 ₴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713232" y="6473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Собівартість однієї пачки включає ціну EXW Roye, логістику, брокерські послуги, митне оформлення та ПДВ-передфінансування · мито 0% за EUR.1 · курс 1 € ≈ 51,2 ₴</a:t>
            </a:r>
            <a:endParaRPr lang="en-US" sz="750" dirty="0"/>
          </a:p>
        </p:txBody>
      </p:sp>
      <p:sp>
        <p:nvSpPr>
          <p:cNvPr id="76" name="Text 66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РИНОК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9326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00" b="1" spc="-4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ПРЕДСТАВЛЕНА ПРОДУКЦІЯ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16642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роздрібні мережі та дистриб'ютори, з якими працює SIAS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2139696"/>
            <a:ext cx="11057839" cy="3833802"/>
          </a:xfrm>
          <a:prstGeom prst="roundRect">
            <a:avLst>
              <a:gd name="adj" fmla="val 2385"/>
            </a:avLst>
          </a:prstGeom>
          <a:solidFill>
            <a:srgbClr val="F6F1E9"/>
          </a:solidFill>
          <a:ln/>
        </p:spPr>
      </p:sp>
      <p:pic>
        <p:nvPicPr>
          <p:cNvPr id="8" name="Image 1" descr="/home/user/Chaplygin-Illya/sias_deck/assets/logo_w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2286000"/>
            <a:ext cx="10765231" cy="35411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spc="200" kern="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CHOI'S RAMYEON — SIAS FRANCE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aplygin-Illya/sias_deck/assets/bg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548640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sp>
        <p:nvSpPr>
          <p:cNvPr id="4" name="Text 1"/>
          <p:cNvSpPr/>
          <p:nvPr/>
        </p:nvSpPr>
        <p:spPr>
          <a:xfrm>
            <a:off x="713232" y="6766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00" b="1" spc="2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ВИРОБНИЦТВО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9326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spc="-4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ЗАВОД У ЄС — ТЕХНОЛОГІЯ З КОРЕЇ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13232" y="17007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Змінилася географія, а не технологія: рецептури, обладнання та стандарти перенесені з корейських заводів групи.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" y="2066544"/>
            <a:ext cx="10765231" cy="8230"/>
          </a:xfrm>
          <a:prstGeom prst="rect">
            <a:avLst/>
          </a:prstGeom>
          <a:solidFill>
            <a:srgbClr val="342C27"/>
          </a:solidFill>
          <a:ln/>
        </p:spPr>
      </p:sp>
      <p:pic>
        <p:nvPicPr>
          <p:cNvPr id="8" name="Image 1" descr="/home/user/Chaplygin-Illya/sias_deck/assets/line15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2212848"/>
            <a:ext cx="6766560" cy="2139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4334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spc="18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ЛІНІЯ 150 МЕТРІВ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4553712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послідовні процеси по 50 м: заміс тіста → формування пружної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локшини → сушіння та пакування.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72400" y="2286000"/>
            <a:ext cx="82296" cy="82296"/>
          </a:xfrm>
          <a:prstGeom prst="rect">
            <a:avLst/>
          </a:prstGeom>
          <a:solidFill>
            <a:srgbClr val="F0485F"/>
          </a:solidFill>
          <a:ln/>
        </p:spPr>
      </p:sp>
      <p:sp>
        <p:nvSpPr>
          <p:cNvPr id="12" name="Text 8"/>
          <p:cNvSpPr/>
          <p:nvPr/>
        </p:nvSpPr>
        <p:spPr>
          <a:xfrm>
            <a:off x="7973568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spc="6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KNOW-HOW З КОРЕЇ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73568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Рецептури, обладнання та виробничі процеси перенесені з корейських майданчиків SIAS — у групі їх сім.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772400" y="3218688"/>
            <a:ext cx="82296" cy="82296"/>
          </a:xfrm>
          <a:prstGeom prst="rect">
            <a:avLst/>
          </a:prstGeom>
          <a:solidFill>
            <a:srgbClr val="F0485F"/>
          </a:solidFill>
          <a:ln/>
        </p:spPr>
      </p:sp>
      <p:sp>
        <p:nvSpPr>
          <p:cNvPr id="15" name="Text 11"/>
          <p:cNvSpPr/>
          <p:nvPr/>
        </p:nvSpPr>
        <p:spPr>
          <a:xfrm>
            <a:off x="7973568" y="3163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spc="6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САМИЙ КОНТРОЛЬ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973568" y="34015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 та інспекції на кожному етапі за корейським стандартом якості.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772400" y="4151376"/>
            <a:ext cx="82296" cy="82296"/>
          </a:xfrm>
          <a:prstGeom prst="rect">
            <a:avLst/>
          </a:prstGeom>
          <a:solidFill>
            <a:srgbClr val="F0485F"/>
          </a:solidFill>
          <a:ln/>
        </p:spPr>
      </p:sp>
      <p:sp>
        <p:nvSpPr>
          <p:cNvPr id="18" name="Text 14"/>
          <p:cNvSpPr/>
          <p:nvPr/>
        </p:nvSpPr>
        <p:spPr>
          <a:xfrm>
            <a:off x="7973568" y="4096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spc="60" kern="0" dirty="0">
                <a:solidFill>
                  <a:srgbClr val="F6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КОРЕЙСЬКІ СОУСИ ТА СМАКИ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973568" y="43342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Власні рецептури соусів і приправ — смак не адаптований під «європейську» версію.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772400" y="5138928"/>
            <a:ext cx="3703320" cy="1060704"/>
          </a:xfrm>
          <a:prstGeom prst="roundRect">
            <a:avLst>
              <a:gd name="adj" fmla="val 6897"/>
            </a:avLst>
          </a:prstGeom>
          <a:solidFill>
            <a:srgbClr val="20191A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0" y="5138928"/>
            <a:ext cx="54864" cy="1060704"/>
          </a:xfrm>
          <a:prstGeom prst="rect">
            <a:avLst/>
          </a:prstGeom>
          <a:solidFill>
            <a:srgbClr val="F0485F"/>
          </a:solidFill>
          <a:ln/>
        </p:spPr>
      </p:sp>
      <p:sp>
        <p:nvSpPr>
          <p:cNvPr id="22" name="Text 18"/>
          <p:cNvSpPr/>
          <p:nvPr/>
        </p:nvSpPr>
        <p:spPr>
          <a:xfrm>
            <a:off x="7991856" y="5285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b="1" spc="16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ВИРОБНИЦТВО В ЄС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991856" y="5522976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морського фрахту, коротке плече доставки та сертифікат EUR.1 — 0% ввізного мита в Україну.</a:t>
            </a:r>
            <a:endParaRPr lang="en-US" sz="950" dirty="0"/>
          </a:p>
        </p:txBody>
      </p:sp>
      <p:pic>
        <p:nvPicPr>
          <p:cNvPr id="24" name="Image 2" descr="/home/user/Chaplygin-Illya/sias_deck/assets/mascot_panel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5230368"/>
            <a:ext cx="914400" cy="12070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810512" y="53035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France · savoir-faire coréen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810512" y="5705856"/>
            <a:ext cx="134112" cy="265176"/>
          </a:xfrm>
          <a:prstGeom prst="rect">
            <a:avLst/>
          </a:prstGeom>
          <a:solidFill>
            <a:srgbClr val="002654"/>
          </a:solidFill>
          <a:ln/>
        </p:spPr>
      </p:sp>
      <p:sp>
        <p:nvSpPr>
          <p:cNvPr id="27" name="Shape 22"/>
          <p:cNvSpPr/>
          <p:nvPr/>
        </p:nvSpPr>
        <p:spPr>
          <a:xfrm>
            <a:off x="1944624" y="5705856"/>
            <a:ext cx="134112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2078736" y="5705856"/>
            <a:ext cx="134112" cy="265176"/>
          </a:xfrm>
          <a:prstGeom prst="rect">
            <a:avLst/>
          </a:prstGeom>
          <a:solidFill>
            <a:srgbClr val="ED2939"/>
          </a:solidFill>
          <a:ln/>
        </p:spPr>
      </p:sp>
      <p:sp>
        <p:nvSpPr>
          <p:cNvPr id="29" name="Text 24"/>
          <p:cNvSpPr/>
          <p:nvPr/>
        </p:nvSpPr>
        <p:spPr>
          <a:xfrm>
            <a:off x="2304288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596896" y="5705856"/>
            <a:ext cx="402336" cy="265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2596896" y="5705856"/>
            <a:ext cx="402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C60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127248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C9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3438144" y="5705856"/>
            <a:ext cx="402336" cy="132588"/>
          </a:xfrm>
          <a:prstGeom prst="rect">
            <a:avLst/>
          </a:prstGeom>
          <a:solidFill>
            <a:srgbClr val="0057B7"/>
          </a:solidFill>
          <a:ln/>
        </p:spPr>
      </p:sp>
      <p:sp>
        <p:nvSpPr>
          <p:cNvPr id="34" name="Shape 29"/>
          <p:cNvSpPr/>
          <p:nvPr/>
        </p:nvSpPr>
        <p:spPr>
          <a:xfrm>
            <a:off x="3438144" y="5838444"/>
            <a:ext cx="402336" cy="1325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5" name="Text 30"/>
          <p:cNvSpPr/>
          <p:nvPr/>
        </p:nvSpPr>
        <p:spPr>
          <a:xfrm>
            <a:off x="713232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spc="200" kern="0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CHOI'S RAMYEON — SIAS FRANCE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746943" y="6345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E5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2026-08-02T00:06:27Z</dcterms:created>
  <dcterms:modified xsi:type="dcterms:W3CDTF">2026-08-02T00:06:27Z</dcterms:modified>
</cp:coreProperties>
</file>