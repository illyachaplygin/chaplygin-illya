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plygin-Illya/sias_deck/assets/hero_bow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0A08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977640"/>
            <a:ext cx="12191695" cy="2880360"/>
          </a:xfrm>
          <a:prstGeom prst="rect">
            <a:avLst/>
          </a:prstGeom>
          <a:solidFill>
            <a:srgbClr val="0D0605">
              <a:alpha val="78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7818120" y="2286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20500" b="1" dirty="0">
                <a:solidFill>
                  <a:srgbClr val="FFFFFF">
                    <a:alpha val="18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20500" dirty="0"/>
          </a:p>
        </p:txBody>
      </p:sp>
      <p:sp>
        <p:nvSpPr>
          <p:cNvPr id="6" name="Text 3"/>
          <p:cNvSpPr/>
          <p:nvPr/>
        </p:nvSpPr>
        <p:spPr>
          <a:xfrm>
            <a:off x="594360" y="457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spc="220" kern="0" dirty="0">
                <a:solidFill>
                  <a:srgbClr val="F2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 · 2026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94360" y="841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СМАКІВ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396935" y="457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100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 → УКРАЇНА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396935" y="7863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50" b="1" spc="140" kern="0" dirty="0">
                <a:solidFill>
                  <a:srgbClr val="F2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EUR.1 · 0% МИТО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324612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6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CHOI'S</a:t>
            </a:r>
            <a:endParaRPr lang="en-US" sz="76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6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RAMYEON</a:t>
            </a:r>
            <a:endParaRPr lang="en-US" sz="7600" dirty="0"/>
          </a:p>
        </p:txBody>
      </p:sp>
      <p:sp>
        <p:nvSpPr>
          <p:cNvPr id="12" name="Shape 9"/>
          <p:cNvSpPr/>
          <p:nvPr/>
        </p:nvSpPr>
        <p:spPr>
          <a:xfrm>
            <a:off x="594360" y="5349240"/>
            <a:ext cx="457200" cy="41148"/>
          </a:xfrm>
          <a:prstGeom prst="rect">
            <a:avLst/>
          </a:prstGeom>
          <a:solidFill>
            <a:srgbClr val="B8892B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54864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i="1" dirty="0">
                <a:solidFill>
                  <a:srgbClr val="EFE6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Корейська локша швидкого приготування виробництва Франції — прайс-каталог для команди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594360" y="60533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F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· 6 SKU · вершкові, овочеві, гострі та м'ясні смаки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0"/>
            <a:ext cx="4739335" cy="6858000"/>
          </a:xfrm>
          <a:prstGeom prst="rect">
            <a:avLst/>
          </a:prstGeom>
          <a:solidFill>
            <a:srgbClr val="C81420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530352"/>
            <a:ext cx="201168" cy="201168"/>
          </a:xfrm>
          <a:prstGeom prst="rect">
            <a:avLst/>
          </a:prstGeom>
          <a:solidFill>
            <a:srgbClr val="C81420"/>
          </a:solidFill>
          <a:ln/>
        </p:spPr>
      </p:sp>
      <p:sp>
        <p:nvSpPr>
          <p:cNvPr id="4" name="Text 2"/>
          <p:cNvSpPr/>
          <p:nvPr/>
        </p:nvSpPr>
        <p:spPr>
          <a:xfrm>
            <a:off x="804672" y="4754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spc="14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ПРОФІЛЬ ВИРОБНИКА · 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86868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1C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SIAS France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0352" y="1572768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746F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Choi's Ramyeon · Instant Noodle Bag · Retail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30352" y="2084832"/>
            <a:ext cx="18745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" y="208483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C8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ROYE, FRANCE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30352" y="27614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b="1" spc="130" kern="0" dirty="0">
                <a:solidFill>
                  <a:srgbClr val="B88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 ВИРОБНИЦТВО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30352" y="3063240"/>
            <a:ext cx="6537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 — європейська виробнича площадка корейської групи SIAS (з 1997 року на ринку азійської гастрономії). Лінійку Choi's Ramyeon виробляють на заводах у Roye та Wisches — за корейськими рецептурами, адаптованими під європейського споживача.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0352" y="4224528"/>
            <a:ext cx="2130552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A2E28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76656" y="4315968"/>
            <a:ext cx="1837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C8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76656" y="4736592"/>
            <a:ext cx="1837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рік запуску заводу</a:t>
            </a:r>
            <a:endParaRPr lang="en-US" sz="9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Roye (Франція)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79776" y="4224528"/>
            <a:ext cx="2130552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A2E28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926080" y="4315968"/>
            <a:ext cx="1837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C81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16 000 м²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926080" y="4736592"/>
            <a:ext cx="1837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 виробничого</a:t>
            </a:r>
            <a:endParaRPr lang="en-US" sz="9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майданчика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0" y="4224528"/>
            <a:ext cx="2130552" cy="1051560"/>
          </a:xfrm>
          <a:prstGeom prst="roundRect">
            <a:avLst>
              <a:gd name="adj" fmla="val 8696"/>
            </a:avLst>
          </a:prstGeom>
          <a:solidFill>
            <a:srgbClr val="C81420"/>
          </a:solidFill>
          <a:ln/>
          <a:effectLst>
            <a:outerShdw sx="100000" sy="100000" kx="0" ky="0" algn="bl" rotWithShape="0" blurRad="127000" dist="38100" dir="5400000">
              <a:srgbClr val="3A2E28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175504" y="4315968"/>
            <a:ext cx="1837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175504" y="4736592"/>
            <a:ext cx="1837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FCE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в Україну за</a:t>
            </a:r>
            <a:endParaRPr lang="en-US" sz="9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FCE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сертифікатом EUR.1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30352" y="5532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b="1" spc="130" kern="0" dirty="0">
                <a:solidFill>
                  <a:srgbClr val="B88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СЕРТИФІКАТИ ЯКОСТІ</a:t>
            </a:r>
            <a:endParaRPr lang="en-US" sz="1050" dirty="0"/>
          </a:p>
        </p:txBody>
      </p:sp>
      <p:pic>
        <p:nvPicPr>
          <p:cNvPr id="21" name="Image 0" descr="/home/user/Chaplygin-Illya/sias_deck/assets/cert_ifs_br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" y="5797296"/>
            <a:ext cx="1600200" cy="457200"/>
          </a:xfrm>
          <a:prstGeom prst="rect">
            <a:avLst/>
          </a:prstGeom>
        </p:spPr>
      </p:pic>
      <p:pic>
        <p:nvPicPr>
          <p:cNvPr id="22" name="Image 1" descr="/home/user/Chaplygin-Illya/sias_deck/assets/cert_france_rel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286000" y="5724144"/>
            <a:ext cx="548640" cy="54864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818120" y="548640"/>
            <a:ext cx="38404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</p:spPr>
      </p:sp>
      <p:pic>
        <p:nvPicPr>
          <p:cNvPr id="24" name="Image 2" descr="/home/user/Chaplygin-Illya/sias_deck/assets/sias_log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2440" y="868680"/>
            <a:ext cx="3291840" cy="78638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7818120" y="214884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/>
        </p:spPr>
      </p:sp>
      <p:pic>
        <p:nvPicPr>
          <p:cNvPr id="26" name="Image 3" descr="/home/user/Chaplygin-Illya/sias_deck/assets/factory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973568" y="2304288"/>
            <a:ext cx="3529584" cy="25146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973568" y="4892040"/>
            <a:ext cx="35295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i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Виробничий майданчик · Roye, Франція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7818120" y="5715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spc="150" kern="0" dirty="0">
                <a:solidFill>
                  <a:srgbClr val="F9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ВИРОБНИЦТВО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7818120" y="59436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Франція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9464040" y="6510528"/>
            <a:ext cx="152400" cy="292608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31" name="Shape 25"/>
          <p:cNvSpPr/>
          <p:nvPr/>
        </p:nvSpPr>
        <p:spPr>
          <a:xfrm>
            <a:off x="9616440" y="6510528"/>
            <a:ext cx="15240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26"/>
          <p:cNvSpPr/>
          <p:nvPr/>
        </p:nvSpPr>
        <p:spPr>
          <a:xfrm>
            <a:off x="9768840" y="6510528"/>
            <a:ext cx="152400" cy="292608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33" name="Shape 27"/>
          <p:cNvSpPr/>
          <p:nvPr/>
        </p:nvSpPr>
        <p:spPr>
          <a:xfrm>
            <a:off x="10012680" y="6510528"/>
            <a:ext cx="457200" cy="146304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34" name="Shape 28"/>
          <p:cNvSpPr/>
          <p:nvPr/>
        </p:nvSpPr>
        <p:spPr>
          <a:xfrm>
            <a:off x="10012680" y="6656832"/>
            <a:ext cx="457200" cy="14630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5" name="Text 29"/>
          <p:cNvSpPr/>
          <p:nvPr/>
        </p:nvSpPr>
        <p:spPr>
          <a:xfrm>
            <a:off x="114144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36" name="Text 30"/>
          <p:cNvSpPr/>
          <p:nvPr/>
        </p:nvSpPr>
        <p:spPr>
          <a:xfrm>
            <a:off x="50292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spc="10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· SIAS FRANCE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81420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512064"/>
            <a:ext cx="201168" cy="201168"/>
          </a:xfrm>
          <a:prstGeom prst="rect">
            <a:avLst/>
          </a:prstGeom>
          <a:solidFill>
            <a:srgbClr val="C81420"/>
          </a:solidFill>
          <a:ln/>
        </p:spPr>
      </p:sp>
      <p:sp>
        <p:nvSpPr>
          <p:cNvPr id="4" name="Text 2"/>
          <p:cNvSpPr/>
          <p:nvPr/>
        </p:nvSpPr>
        <p:spPr>
          <a:xfrm>
            <a:off x="804672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spc="14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CHOI'S RAMYEON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C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 та Карбонара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30352" y="128016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B88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вершкові смаки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778240" y="4572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A2E28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778240" y="4572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C8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 → УКРАЇНА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C8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EUR.1 · 0% МИТО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5413248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A2E28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95144" y="1673352"/>
            <a:ext cx="1828800" cy="1609344"/>
          </a:xfrm>
          <a:prstGeom prst="ellipse">
            <a:avLst/>
          </a:prstGeom>
          <a:solidFill>
            <a:srgbClr val="F99023">
              <a:alpha val="12000"/>
            </a:srgbClr>
          </a:solidFill>
          <a:ln/>
        </p:spPr>
      </p:sp>
      <p:pic>
        <p:nvPicPr>
          <p:cNvPr id="11" name="Image 0" descr="/home/user/Chaplygin-Illya/sias_deck/products/gouda_123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496312" y="1792224"/>
            <a:ext cx="1426464" cy="13716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3319272"/>
            <a:ext cx="109728" cy="109728"/>
          </a:xfrm>
          <a:prstGeom prst="rect">
            <a:avLst/>
          </a:prstGeom>
          <a:solidFill>
            <a:srgbClr val="F99023"/>
          </a:solidFill>
          <a:ln/>
        </p:spPr>
      </p:sp>
      <p:sp>
        <p:nvSpPr>
          <p:cNvPr id="13" name="Text 10"/>
          <p:cNvSpPr/>
          <p:nvPr/>
        </p:nvSpPr>
        <p:spPr>
          <a:xfrm>
            <a:off x="1005840" y="3273552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b="1" spc="6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  ·  20 ШТ/КОРОБ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22960" y="356616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50" b="1" dirty="0">
                <a:solidFill>
                  <a:srgbClr val="1C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750" dirty="0"/>
          </a:p>
        </p:txBody>
      </p:sp>
      <p:sp>
        <p:nvSpPr>
          <p:cNvPr id="15" name="Text 12"/>
          <p:cNvSpPr/>
          <p:nvPr/>
        </p:nvSpPr>
        <p:spPr>
          <a:xfrm>
            <a:off x="4864608" y="36118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990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2960" y="3895344"/>
            <a:ext cx="4773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B88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133088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Вершковий смак сиру гауда з ноткою чеддеру — м'який, без гостроти.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22960" y="4590288"/>
            <a:ext cx="4773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spc="6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· 1 ПАЧКА 123 г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22960" y="4828032"/>
            <a:ext cx="4773168" cy="603504"/>
          </a:xfrm>
          <a:prstGeom prst="roundRect">
            <a:avLst>
              <a:gd name="adj" fmla="val 12121"/>
            </a:avLst>
          </a:prstGeom>
          <a:solidFill>
            <a:srgbClr val="7A0A10"/>
          </a:solidFill>
          <a:ln/>
        </p:spPr>
      </p:sp>
      <p:sp>
        <p:nvSpPr>
          <p:cNvPr id="20" name="Text 17"/>
          <p:cNvSpPr/>
          <p:nvPr/>
        </p:nvSpPr>
        <p:spPr>
          <a:xfrm>
            <a:off x="1005840" y="4892040"/>
            <a:ext cx="4407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b="1" spc="80" kern="0" dirty="0">
                <a:solidFill>
                  <a:srgbClr val="F2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ПАЛЕТИ · FULL TRUCK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005840" y="5084064"/>
            <a:ext cx="202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2768803" y="5148072"/>
            <a:ext cx="26444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  ·  8,28 €/кг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22960" y="5541264"/>
            <a:ext cx="20047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палет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827691" y="5541264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1,11 €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259641" y="5541264"/>
            <a:ext cx="1336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822960" y="5797296"/>
            <a:ext cx="4773168" cy="10973"/>
          </a:xfrm>
          <a:prstGeom prst="rect">
            <a:avLst/>
          </a:prstGeom>
          <a:solidFill>
            <a:srgbClr val="DED6CB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" y="5870448"/>
            <a:ext cx="20047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палет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827691" y="5870448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1,31 €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259641" y="5870448"/>
            <a:ext cx="1336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6281928" y="1645920"/>
            <a:ext cx="5413248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A2E28">
                <a:alpha val="2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074152" y="1673352"/>
            <a:ext cx="1828800" cy="1609344"/>
          </a:xfrm>
          <a:prstGeom prst="ellipse">
            <a:avLst/>
          </a:prstGeom>
          <a:solidFill>
            <a:srgbClr val="E0879D">
              <a:alpha val="12000"/>
            </a:srgbClr>
          </a:solidFill>
          <a:ln/>
        </p:spPr>
      </p:sp>
      <p:pic>
        <p:nvPicPr>
          <p:cNvPr id="32" name="Image 1" descr="/home/user/Chaplygin-Illya/sias_deck/products/carbonara_131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275320" y="1792224"/>
            <a:ext cx="1426464" cy="137160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6601968" y="3319272"/>
            <a:ext cx="109728" cy="109728"/>
          </a:xfrm>
          <a:prstGeom prst="rect">
            <a:avLst/>
          </a:prstGeom>
          <a:solidFill>
            <a:srgbClr val="E0879D"/>
          </a:solidFill>
          <a:ln/>
        </p:spPr>
      </p:sp>
      <p:sp>
        <p:nvSpPr>
          <p:cNvPr id="34" name="Text 30"/>
          <p:cNvSpPr/>
          <p:nvPr/>
        </p:nvSpPr>
        <p:spPr>
          <a:xfrm>
            <a:off x="6784848" y="3273552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b="1" spc="6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  ·  20 ШТ/КОРОБ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6601968" y="356616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50" b="1" dirty="0">
                <a:solidFill>
                  <a:srgbClr val="1C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750" dirty="0"/>
          </a:p>
        </p:txBody>
      </p:sp>
      <p:sp>
        <p:nvSpPr>
          <p:cNvPr id="36" name="Text 32"/>
          <p:cNvSpPr/>
          <p:nvPr/>
        </p:nvSpPr>
        <p:spPr>
          <a:xfrm>
            <a:off x="10643616" y="36118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E087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6601968" y="3895344"/>
            <a:ext cx="4773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B88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пікантна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6601968" y="4133088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Вершковий соус карбонара з чорним перцем — гострота рівня HOT.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601968" y="4590288"/>
            <a:ext cx="4773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spc="6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· 1 ПАЧКА 131 г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601968" y="4828032"/>
            <a:ext cx="4773168" cy="603504"/>
          </a:xfrm>
          <a:prstGeom prst="roundRect">
            <a:avLst>
              <a:gd name="adj" fmla="val 12121"/>
            </a:avLst>
          </a:prstGeom>
          <a:solidFill>
            <a:srgbClr val="7A0A10"/>
          </a:solidFill>
          <a:ln/>
        </p:spPr>
      </p:sp>
      <p:sp>
        <p:nvSpPr>
          <p:cNvPr id="41" name="Text 37"/>
          <p:cNvSpPr/>
          <p:nvPr/>
        </p:nvSpPr>
        <p:spPr>
          <a:xfrm>
            <a:off x="6784848" y="4892040"/>
            <a:ext cx="4407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b="1" spc="80" kern="0" dirty="0">
                <a:solidFill>
                  <a:srgbClr val="F2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ПАЛЕТИ · FULL TRUCK</a:t>
            </a:r>
            <a:endParaRPr lang="en-US" sz="850" dirty="0"/>
          </a:p>
        </p:txBody>
      </p:sp>
      <p:sp>
        <p:nvSpPr>
          <p:cNvPr id="42" name="Text 38"/>
          <p:cNvSpPr/>
          <p:nvPr/>
        </p:nvSpPr>
        <p:spPr>
          <a:xfrm>
            <a:off x="6784848" y="5084064"/>
            <a:ext cx="202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1900" dirty="0"/>
          </a:p>
        </p:txBody>
      </p:sp>
      <p:sp>
        <p:nvSpPr>
          <p:cNvPr id="43" name="Text 39"/>
          <p:cNvSpPr/>
          <p:nvPr/>
        </p:nvSpPr>
        <p:spPr>
          <a:xfrm>
            <a:off x="8547811" y="5148072"/>
            <a:ext cx="26444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  ·  7,77 €/кг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6601968" y="5541264"/>
            <a:ext cx="20047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палет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8606699" y="5541264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1,11 €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0038649" y="5541264"/>
            <a:ext cx="1336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6601968" y="5797296"/>
            <a:ext cx="4773168" cy="10973"/>
          </a:xfrm>
          <a:prstGeom prst="rect">
            <a:avLst/>
          </a:prstGeom>
          <a:solidFill>
            <a:srgbClr val="DED6CB"/>
          </a:solidFill>
          <a:ln/>
        </p:spPr>
      </p:sp>
      <p:sp>
        <p:nvSpPr>
          <p:cNvPr id="48" name="Text 44"/>
          <p:cNvSpPr/>
          <p:nvPr/>
        </p:nvSpPr>
        <p:spPr>
          <a:xfrm>
            <a:off x="6601968" y="5870448"/>
            <a:ext cx="20047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палет</a:t>
            </a:r>
            <a:endParaRPr lang="en-US" sz="1000" dirty="0"/>
          </a:p>
        </p:txBody>
      </p:sp>
      <p:sp>
        <p:nvSpPr>
          <p:cNvPr id="49" name="Text 45"/>
          <p:cNvSpPr/>
          <p:nvPr/>
        </p:nvSpPr>
        <p:spPr>
          <a:xfrm>
            <a:off x="8606699" y="5870448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1,31 €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10038649" y="5870448"/>
            <a:ext cx="1336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950" dirty="0"/>
          </a:p>
        </p:txBody>
      </p:sp>
      <p:sp>
        <p:nvSpPr>
          <p:cNvPr id="51" name="Text 47"/>
          <p:cNvSpPr/>
          <p:nvPr/>
        </p:nvSpPr>
        <p:spPr>
          <a:xfrm>
            <a:off x="502920" y="6345936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i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включає EXW, логістику, брокера, митне оформлення і ПДВ-передфінансування, за ставкою мита 0% (EUR.1). Курс: 1 € ≈ 51,2 ₴.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14144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53" name="Text 49"/>
          <p:cNvSpPr/>
          <p:nvPr/>
        </p:nvSpPr>
        <p:spPr>
          <a:xfrm>
            <a:off x="50292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spc="10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· SIAS FRANCE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81420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512064"/>
            <a:ext cx="201168" cy="201168"/>
          </a:xfrm>
          <a:prstGeom prst="rect">
            <a:avLst/>
          </a:prstGeom>
          <a:solidFill>
            <a:srgbClr val="C81420"/>
          </a:solidFill>
          <a:ln/>
        </p:spPr>
      </p:sp>
      <p:sp>
        <p:nvSpPr>
          <p:cNvPr id="4" name="Text 2"/>
          <p:cNvSpPr/>
          <p:nvPr/>
        </p:nvSpPr>
        <p:spPr>
          <a:xfrm>
            <a:off x="804672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spc="14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CHOI'S RAMYEON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C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 та Гостра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30352" y="128016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B88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легкі й пікантні смаки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778240" y="4572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A2E28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778240" y="4572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C8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 → УКРАЇНА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C8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EUR.1 · 0% МИТО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5413248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A2E28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95144" y="1673352"/>
            <a:ext cx="1828800" cy="1609344"/>
          </a:xfrm>
          <a:prstGeom prst="ellipse">
            <a:avLst/>
          </a:prstGeom>
          <a:solidFill>
            <a:srgbClr val="5DB42F">
              <a:alpha val="12000"/>
            </a:srgbClr>
          </a:solidFill>
          <a:ln/>
        </p:spPr>
      </p:sp>
      <p:pic>
        <p:nvPicPr>
          <p:cNvPr id="11" name="Image 0" descr="/home/user/Chaplygin-Illya/sias_deck/products/vegetable_113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496312" y="1792224"/>
            <a:ext cx="1426464" cy="13716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3319272"/>
            <a:ext cx="109728" cy="109728"/>
          </a:xfrm>
          <a:prstGeom prst="rect">
            <a:avLst/>
          </a:prstGeom>
          <a:solidFill>
            <a:srgbClr val="5DB42F"/>
          </a:solidFill>
          <a:ln/>
        </p:spPr>
      </p:sp>
      <p:sp>
        <p:nvSpPr>
          <p:cNvPr id="13" name="Text 10"/>
          <p:cNvSpPr/>
          <p:nvPr/>
        </p:nvSpPr>
        <p:spPr>
          <a:xfrm>
            <a:off x="1005840" y="3273552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b="1" spc="6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  ·  20 ШТ/КОРОБ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22960" y="356616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50" b="1" dirty="0">
                <a:solidFill>
                  <a:srgbClr val="1C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750" dirty="0"/>
          </a:p>
        </p:txBody>
      </p:sp>
      <p:sp>
        <p:nvSpPr>
          <p:cNvPr id="15" name="Text 12"/>
          <p:cNvSpPr/>
          <p:nvPr/>
        </p:nvSpPr>
        <p:spPr>
          <a:xfrm>
            <a:off x="4864608" y="36118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5DB4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2960" y="3895344"/>
            <a:ext cx="4773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B88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гостроти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133088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Овочевий бульйон із сушеними овочами — м'який смак, без перцю.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22960" y="4590288"/>
            <a:ext cx="4773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spc="6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· 1 ПАЧКА 113 г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22960" y="4828032"/>
            <a:ext cx="4773168" cy="603504"/>
          </a:xfrm>
          <a:prstGeom prst="roundRect">
            <a:avLst>
              <a:gd name="adj" fmla="val 12121"/>
            </a:avLst>
          </a:prstGeom>
          <a:solidFill>
            <a:srgbClr val="7A0A10"/>
          </a:solidFill>
          <a:ln/>
        </p:spPr>
      </p:sp>
      <p:sp>
        <p:nvSpPr>
          <p:cNvPr id="20" name="Text 17"/>
          <p:cNvSpPr/>
          <p:nvPr/>
        </p:nvSpPr>
        <p:spPr>
          <a:xfrm>
            <a:off x="1005840" y="4892040"/>
            <a:ext cx="4407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b="1" spc="80" kern="0" dirty="0">
                <a:solidFill>
                  <a:srgbClr val="F2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ПАЛЕТИ · FULL TRUCK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005840" y="5084064"/>
            <a:ext cx="202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2768803" y="5148072"/>
            <a:ext cx="26444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  ·  7,81 €/кг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22960" y="5541264"/>
            <a:ext cx="20047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палет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827691" y="5541264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0,96 €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259641" y="5541264"/>
            <a:ext cx="1336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822960" y="5797296"/>
            <a:ext cx="4773168" cy="10973"/>
          </a:xfrm>
          <a:prstGeom prst="rect">
            <a:avLst/>
          </a:prstGeom>
          <a:solidFill>
            <a:srgbClr val="DED6CB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" y="5870448"/>
            <a:ext cx="20047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палет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827691" y="5870448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1,13 €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259641" y="5870448"/>
            <a:ext cx="1336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6281928" y="1645920"/>
            <a:ext cx="5413248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A2E28">
                <a:alpha val="2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074152" y="1673352"/>
            <a:ext cx="1828800" cy="1609344"/>
          </a:xfrm>
          <a:prstGeom prst="ellipse">
            <a:avLst/>
          </a:prstGeom>
          <a:solidFill>
            <a:srgbClr val="D3010E">
              <a:alpha val="12000"/>
            </a:srgbClr>
          </a:solidFill>
          <a:ln/>
        </p:spPr>
      </p:sp>
      <p:pic>
        <p:nvPicPr>
          <p:cNvPr id="32" name="Image 1" descr="/home/user/Chaplygin-Illya/sias_deck/products/spicy_112.5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275320" y="1792224"/>
            <a:ext cx="1426464" cy="137160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6601968" y="3319272"/>
            <a:ext cx="109728" cy="109728"/>
          </a:xfrm>
          <a:prstGeom prst="rect">
            <a:avLst/>
          </a:prstGeom>
          <a:solidFill>
            <a:srgbClr val="D3010E"/>
          </a:solidFill>
          <a:ln/>
        </p:spPr>
      </p:sp>
      <p:sp>
        <p:nvSpPr>
          <p:cNvPr id="34" name="Text 30"/>
          <p:cNvSpPr/>
          <p:nvPr/>
        </p:nvSpPr>
        <p:spPr>
          <a:xfrm>
            <a:off x="6784848" y="3273552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b="1" spc="6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  ·  20 ШТ/КОРОБ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6601968" y="356616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50" b="1" dirty="0">
                <a:solidFill>
                  <a:srgbClr val="1C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750" dirty="0"/>
          </a:p>
        </p:txBody>
      </p:sp>
      <p:sp>
        <p:nvSpPr>
          <p:cNvPr id="36" name="Text 32"/>
          <p:cNvSpPr/>
          <p:nvPr/>
        </p:nvSpPr>
        <p:spPr>
          <a:xfrm>
            <a:off x="10643616" y="36118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301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6601968" y="3895344"/>
            <a:ext cx="4773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B88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spicy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6601968" y="4133088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Гострий бульйон з перцем чилі — рівень гостроти MEDIUM.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601968" y="4590288"/>
            <a:ext cx="4773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spc="6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· 1 ПАЧКА 112,5 г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601968" y="4828032"/>
            <a:ext cx="4773168" cy="603504"/>
          </a:xfrm>
          <a:prstGeom prst="roundRect">
            <a:avLst>
              <a:gd name="adj" fmla="val 12121"/>
            </a:avLst>
          </a:prstGeom>
          <a:solidFill>
            <a:srgbClr val="7A0A10"/>
          </a:solidFill>
          <a:ln/>
        </p:spPr>
      </p:sp>
      <p:sp>
        <p:nvSpPr>
          <p:cNvPr id="41" name="Text 37"/>
          <p:cNvSpPr/>
          <p:nvPr/>
        </p:nvSpPr>
        <p:spPr>
          <a:xfrm>
            <a:off x="6784848" y="4892040"/>
            <a:ext cx="4407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b="1" spc="80" kern="0" dirty="0">
                <a:solidFill>
                  <a:srgbClr val="F2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ПАЛЕТИ · FULL TRUCK</a:t>
            </a:r>
            <a:endParaRPr lang="en-US" sz="850" dirty="0"/>
          </a:p>
        </p:txBody>
      </p:sp>
      <p:sp>
        <p:nvSpPr>
          <p:cNvPr id="42" name="Text 38"/>
          <p:cNvSpPr/>
          <p:nvPr/>
        </p:nvSpPr>
        <p:spPr>
          <a:xfrm>
            <a:off x="6784848" y="5084064"/>
            <a:ext cx="202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1900" dirty="0"/>
          </a:p>
        </p:txBody>
      </p:sp>
      <p:sp>
        <p:nvSpPr>
          <p:cNvPr id="43" name="Text 39"/>
          <p:cNvSpPr/>
          <p:nvPr/>
        </p:nvSpPr>
        <p:spPr>
          <a:xfrm>
            <a:off x="8547811" y="5148072"/>
            <a:ext cx="26444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  ·  7,84 €/кг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6601968" y="5541264"/>
            <a:ext cx="20047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палет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8606699" y="5541264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0,96 €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0038649" y="5541264"/>
            <a:ext cx="1336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6601968" y="5797296"/>
            <a:ext cx="4773168" cy="10973"/>
          </a:xfrm>
          <a:prstGeom prst="rect">
            <a:avLst/>
          </a:prstGeom>
          <a:solidFill>
            <a:srgbClr val="DED6CB"/>
          </a:solidFill>
          <a:ln/>
        </p:spPr>
      </p:sp>
      <p:sp>
        <p:nvSpPr>
          <p:cNvPr id="48" name="Text 44"/>
          <p:cNvSpPr/>
          <p:nvPr/>
        </p:nvSpPr>
        <p:spPr>
          <a:xfrm>
            <a:off x="6601968" y="5870448"/>
            <a:ext cx="20047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палет</a:t>
            </a:r>
            <a:endParaRPr lang="en-US" sz="1000" dirty="0"/>
          </a:p>
        </p:txBody>
      </p:sp>
      <p:sp>
        <p:nvSpPr>
          <p:cNvPr id="49" name="Text 45"/>
          <p:cNvSpPr/>
          <p:nvPr/>
        </p:nvSpPr>
        <p:spPr>
          <a:xfrm>
            <a:off x="8606699" y="5870448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1,13 €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10038649" y="5870448"/>
            <a:ext cx="1336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51" name="Text 47"/>
          <p:cNvSpPr/>
          <p:nvPr/>
        </p:nvSpPr>
        <p:spPr>
          <a:xfrm>
            <a:off x="502920" y="6345936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i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включає EXW, логістику, брокера, митне оформлення і ПДВ-передфінансування, за ставкою мита 0% (EUR.1). Курс: 1 € ≈ 51,2 ₴.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14144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53" name="Text 49"/>
          <p:cNvSpPr/>
          <p:nvPr/>
        </p:nvSpPr>
        <p:spPr>
          <a:xfrm>
            <a:off x="50292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spc="10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· SIAS FRANCE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81420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512064"/>
            <a:ext cx="201168" cy="201168"/>
          </a:xfrm>
          <a:prstGeom prst="rect">
            <a:avLst/>
          </a:prstGeom>
          <a:solidFill>
            <a:srgbClr val="C81420"/>
          </a:solidFill>
          <a:ln/>
        </p:spPr>
      </p:sp>
      <p:sp>
        <p:nvSpPr>
          <p:cNvPr id="4" name="Text 2"/>
          <p:cNvSpPr/>
          <p:nvPr/>
        </p:nvSpPr>
        <p:spPr>
          <a:xfrm>
            <a:off x="804672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spc="14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CHOI'S RAMYEON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C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 та Курка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30352" y="128016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B88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м'ясні смаки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778240" y="4572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A2E28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778240" y="4572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C8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 → УКРАЇНА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C81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EUR.1 · 0% МИТО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645920"/>
            <a:ext cx="5413248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A2E28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95144" y="1673352"/>
            <a:ext cx="1828800" cy="1609344"/>
          </a:xfrm>
          <a:prstGeom prst="ellipse">
            <a:avLst/>
          </a:prstGeom>
          <a:solidFill>
            <a:srgbClr val="C85D19">
              <a:alpha val="12000"/>
            </a:srgbClr>
          </a:solidFill>
          <a:ln/>
        </p:spPr>
      </p:sp>
      <p:pic>
        <p:nvPicPr>
          <p:cNvPr id="11" name="Image 0" descr="/home/user/Chaplygin-Illya/sias_deck/products/beef_113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496312" y="1792224"/>
            <a:ext cx="1426464" cy="13716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3319272"/>
            <a:ext cx="109728" cy="109728"/>
          </a:xfrm>
          <a:prstGeom prst="rect">
            <a:avLst/>
          </a:prstGeom>
          <a:solidFill>
            <a:srgbClr val="C85D19"/>
          </a:solidFill>
          <a:ln/>
        </p:spPr>
      </p:sp>
      <p:sp>
        <p:nvSpPr>
          <p:cNvPr id="13" name="Text 10"/>
          <p:cNvSpPr/>
          <p:nvPr/>
        </p:nvSpPr>
        <p:spPr>
          <a:xfrm>
            <a:off x="1005840" y="3273552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b="1" spc="6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  ·  20 ШТ/КОРОБ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22960" y="356616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50" b="1" dirty="0">
                <a:solidFill>
                  <a:srgbClr val="1C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750" dirty="0"/>
          </a:p>
        </p:txBody>
      </p:sp>
      <p:sp>
        <p:nvSpPr>
          <p:cNvPr id="15" name="Text 12"/>
          <p:cNvSpPr/>
          <p:nvPr/>
        </p:nvSpPr>
        <p:spPr>
          <a:xfrm>
            <a:off x="4864608" y="36118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C85D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2960" y="3895344"/>
            <a:ext cx="4773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B88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133088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Насичений яловичий бульйон — м'який смак, рівень гостроти MILD.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22960" y="4590288"/>
            <a:ext cx="4773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spc="6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· 1 ПАЧКА 113 г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22960" y="4828032"/>
            <a:ext cx="4773168" cy="603504"/>
          </a:xfrm>
          <a:prstGeom prst="roundRect">
            <a:avLst>
              <a:gd name="adj" fmla="val 12121"/>
            </a:avLst>
          </a:prstGeom>
          <a:solidFill>
            <a:srgbClr val="7A0A10"/>
          </a:solidFill>
          <a:ln/>
        </p:spPr>
      </p:sp>
      <p:sp>
        <p:nvSpPr>
          <p:cNvPr id="20" name="Text 17"/>
          <p:cNvSpPr/>
          <p:nvPr/>
        </p:nvSpPr>
        <p:spPr>
          <a:xfrm>
            <a:off x="1005840" y="4892040"/>
            <a:ext cx="4407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b="1" spc="80" kern="0" dirty="0">
                <a:solidFill>
                  <a:srgbClr val="F2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ПАЛЕТИ · FULL TRUCK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005840" y="5084064"/>
            <a:ext cx="202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2768803" y="5148072"/>
            <a:ext cx="26444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  ·  7,81 €/кг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22960" y="5541264"/>
            <a:ext cx="20047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палет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827691" y="5541264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0,96 €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259641" y="5541264"/>
            <a:ext cx="1336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822960" y="5797296"/>
            <a:ext cx="4773168" cy="10973"/>
          </a:xfrm>
          <a:prstGeom prst="rect">
            <a:avLst/>
          </a:prstGeom>
          <a:solidFill>
            <a:srgbClr val="DED6CB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" y="5870448"/>
            <a:ext cx="20047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палет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827691" y="5870448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1,13 €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259641" y="5870448"/>
            <a:ext cx="1336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6281928" y="1645920"/>
            <a:ext cx="5413248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A2E28">
                <a:alpha val="22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074152" y="1673352"/>
            <a:ext cx="1828800" cy="1609344"/>
          </a:xfrm>
          <a:prstGeom prst="ellipse">
            <a:avLst/>
          </a:prstGeom>
          <a:solidFill>
            <a:srgbClr val="F4C803">
              <a:alpha val="12000"/>
            </a:srgbClr>
          </a:solidFill>
          <a:ln/>
        </p:spPr>
      </p:sp>
      <p:pic>
        <p:nvPicPr>
          <p:cNvPr id="32" name="Image 1" descr="/home/user/Chaplygin-Illya/sias_deck/products/chicken_113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275320" y="1792224"/>
            <a:ext cx="1426464" cy="137160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6601968" y="3319272"/>
            <a:ext cx="109728" cy="109728"/>
          </a:xfrm>
          <a:prstGeom prst="rect">
            <a:avLst/>
          </a:prstGeom>
          <a:solidFill>
            <a:srgbClr val="F4C803"/>
          </a:solidFill>
          <a:ln/>
        </p:spPr>
      </p:sp>
      <p:sp>
        <p:nvSpPr>
          <p:cNvPr id="34" name="Text 30"/>
          <p:cNvSpPr/>
          <p:nvPr/>
        </p:nvSpPr>
        <p:spPr>
          <a:xfrm>
            <a:off x="6784848" y="3273552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b="1" spc="6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  ·  20 ШТ/КОРОБ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6601968" y="356616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50" b="1" dirty="0">
                <a:solidFill>
                  <a:srgbClr val="1C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750" dirty="0"/>
          </a:p>
        </p:txBody>
      </p:sp>
      <p:sp>
        <p:nvSpPr>
          <p:cNvPr id="36" name="Text 32"/>
          <p:cNvSpPr/>
          <p:nvPr/>
        </p:nvSpPr>
        <p:spPr>
          <a:xfrm>
            <a:off x="10643616" y="36118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4C80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6601968" y="3895344"/>
            <a:ext cx="4773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B88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6601968" y="4133088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Ніжний курячий бульйон із зеленню — без гостроти, для всієї родини.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601968" y="4590288"/>
            <a:ext cx="4773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spc="6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· 1 ПАЧКА 113 г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601968" y="4828032"/>
            <a:ext cx="4773168" cy="603504"/>
          </a:xfrm>
          <a:prstGeom prst="roundRect">
            <a:avLst>
              <a:gd name="adj" fmla="val 12121"/>
            </a:avLst>
          </a:prstGeom>
          <a:solidFill>
            <a:srgbClr val="7A0A10"/>
          </a:solidFill>
          <a:ln/>
        </p:spPr>
      </p:sp>
      <p:sp>
        <p:nvSpPr>
          <p:cNvPr id="41" name="Text 37"/>
          <p:cNvSpPr/>
          <p:nvPr/>
        </p:nvSpPr>
        <p:spPr>
          <a:xfrm>
            <a:off x="6784848" y="4892040"/>
            <a:ext cx="4407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b="1" spc="80" kern="0" dirty="0">
                <a:solidFill>
                  <a:srgbClr val="F2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ПАЛЕТИ · FULL TRUCK</a:t>
            </a:r>
            <a:endParaRPr lang="en-US" sz="850" dirty="0"/>
          </a:p>
        </p:txBody>
      </p:sp>
      <p:sp>
        <p:nvSpPr>
          <p:cNvPr id="42" name="Text 38"/>
          <p:cNvSpPr/>
          <p:nvPr/>
        </p:nvSpPr>
        <p:spPr>
          <a:xfrm>
            <a:off x="6784848" y="5084064"/>
            <a:ext cx="202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1900" dirty="0"/>
          </a:p>
        </p:txBody>
      </p:sp>
      <p:sp>
        <p:nvSpPr>
          <p:cNvPr id="43" name="Text 39"/>
          <p:cNvSpPr/>
          <p:nvPr/>
        </p:nvSpPr>
        <p:spPr>
          <a:xfrm>
            <a:off x="8547811" y="5148072"/>
            <a:ext cx="26444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  ·  7,81 €/кг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6601968" y="5541264"/>
            <a:ext cx="20047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палет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8606699" y="5541264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0,96 €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0038649" y="5541264"/>
            <a:ext cx="1336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6601968" y="5797296"/>
            <a:ext cx="4773168" cy="10973"/>
          </a:xfrm>
          <a:prstGeom prst="rect">
            <a:avLst/>
          </a:prstGeom>
          <a:solidFill>
            <a:srgbClr val="DED6CB"/>
          </a:solidFill>
          <a:ln/>
        </p:spPr>
      </p:sp>
      <p:sp>
        <p:nvSpPr>
          <p:cNvPr id="48" name="Text 44"/>
          <p:cNvSpPr/>
          <p:nvPr/>
        </p:nvSpPr>
        <p:spPr>
          <a:xfrm>
            <a:off x="6601968" y="5870448"/>
            <a:ext cx="20047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палет</a:t>
            </a:r>
            <a:endParaRPr lang="en-US" sz="1000" dirty="0"/>
          </a:p>
        </p:txBody>
      </p:sp>
      <p:sp>
        <p:nvSpPr>
          <p:cNvPr id="49" name="Text 45"/>
          <p:cNvSpPr/>
          <p:nvPr/>
        </p:nvSpPr>
        <p:spPr>
          <a:xfrm>
            <a:off x="8606699" y="5870448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C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1,13 €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10038649" y="5870448"/>
            <a:ext cx="1336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51" name="Text 47"/>
          <p:cNvSpPr/>
          <p:nvPr/>
        </p:nvSpPr>
        <p:spPr>
          <a:xfrm>
            <a:off x="502920" y="6345936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i="1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включає EXW, логістику, брокера, митне оформлення і ПДВ-передфінансування, за ставкою мита 0% (EUR.1). Курс: 1 € ≈ 51,2 ₴.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14144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  <p:sp>
        <p:nvSpPr>
          <p:cNvPr id="53" name="Text 49"/>
          <p:cNvSpPr/>
          <p:nvPr/>
        </p:nvSpPr>
        <p:spPr>
          <a:xfrm>
            <a:off x="50292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spc="100" kern="0" dirty="0">
                <a:solidFill>
                  <a:srgbClr val="746F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· SIAS FRANCE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2026-07-31T20:10:39Z</dcterms:created>
  <dcterms:modified xsi:type="dcterms:W3CDTF">2026-07-31T20:10:39Z</dcterms:modified>
</cp:coreProperties>
</file>