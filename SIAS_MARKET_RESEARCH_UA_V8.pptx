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3"/>
    <p:sldId id="258" r:id="rId3"/>
    <p:sldId id="286" r:id="rId34"/>
    <p:sldId id="260" r:id="rId5"/>
    <p:sldId id="287" r:id="rId35"/>
    <p:sldId id="288" r:id="rId36"/>
    <p:sldId id="289" r:id="rId37"/>
    <p:sldId id="290" r:id="rId38"/>
    <p:sldId id="291" r:id="rId39"/>
    <p:sldId id="265" r:id="rId10"/>
    <p:sldId id="292" r:id="rId40"/>
    <p:sldId id="293" r:id="rId41"/>
    <p:sldId id="294" r:id="rId42"/>
    <p:sldId id="295" r:id="rId43"/>
    <p:sldId id="270" r:id="rId15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280" r:id="rId24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5" Type="http://schemas.openxmlformats.org/officeDocument/2006/relationships/slide" Target="slides/slide14.xml"/><Relationship Id="rId24" Type="http://schemas.openxmlformats.org/officeDocument/2006/relationships/slide" Target="slides/slide23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jpg"/><Relationship Id="rId4" Type="http://schemas.openxmlformats.org/officeDocument/2006/relationships/image" Target="../media/image14.jpg"/><Relationship Id="rId5" Type="http://schemas.openxmlformats.org/officeDocument/2006/relationships/image" Target="../media/image3.jpg"/><Relationship Id="rId6" Type="http://schemas.openxmlformats.org/officeDocument/2006/relationships/image" Target="../media/image6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18.jpg"/><Relationship Id="rId5" Type="http://schemas.openxmlformats.org/officeDocument/2006/relationships/image" Target="../media/image23.jpg"/><Relationship Id="rId6" Type="http://schemas.openxmlformats.org/officeDocument/2006/relationships/image" Target="../media/image30.jpg"/><Relationship Id="rId7" Type="http://schemas.openxmlformats.org/officeDocument/2006/relationships/image" Target="../media/image14.jpg"/><Relationship Id="rId8" Type="http://schemas.openxmlformats.org/officeDocument/2006/relationships/image" Target="../media/image1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6.jpg"/><Relationship Id="rId11" Type="http://schemas.openxmlformats.org/officeDocument/2006/relationships/image" Target="../media/image18.jpg"/><Relationship Id="rId12" Type="http://schemas.openxmlformats.org/officeDocument/2006/relationships/image" Target="../media/image19.jpg"/><Relationship Id="rId13" Type="http://schemas.openxmlformats.org/officeDocument/2006/relationships/image" Target="../media/image1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7.jpg"/><Relationship Id="rId6" Type="http://schemas.openxmlformats.org/officeDocument/2006/relationships/image" Target="../media/image22.jpg"/><Relationship Id="rId7" Type="http://schemas.openxmlformats.org/officeDocument/2006/relationships/image" Target="../media/image19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Relationship Id="rId10" Type="http://schemas.openxmlformats.org/officeDocument/2006/relationships/image" Target="../media/image25.jpg"/><Relationship Id="rId11" Type="http://schemas.openxmlformats.org/officeDocument/2006/relationships/image" Target="../media/image26.jpg"/><Relationship Id="rId12" Type="http://schemas.openxmlformats.org/officeDocument/2006/relationships/image" Target="../media/image8.jpg"/><Relationship Id="rId13" Type="http://schemas.openxmlformats.org/officeDocument/2006/relationships/image" Target="../media/image2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2.jpg"/><Relationship Id="rId7" Type="http://schemas.openxmlformats.org/officeDocument/2006/relationships/image" Target="../media/image31.jpg"/><Relationship Id="rId8" Type="http://schemas.openxmlformats.org/officeDocument/2006/relationships/image" Target="../media/image9.jp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Relationship Id="rId12" Type="http://schemas.openxmlformats.org/officeDocument/2006/relationships/image" Target="../media/image35.jpg"/><Relationship Id="rId13" Type="http://schemas.openxmlformats.org/officeDocument/2006/relationships/image" Target="../media/image1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1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52.jpg"/><Relationship Id="rId5" Type="http://schemas.openxmlformats.org/officeDocument/2006/relationships/image" Target="../media/image57.jpg"/><Relationship Id="rId6" Type="http://schemas.openxmlformats.org/officeDocument/2006/relationships/image" Target="../media/image47.jpg"/><Relationship Id="rId7" Type="http://schemas.openxmlformats.org/officeDocument/2006/relationships/image" Target="../media/image64.jpg"/><Relationship Id="rId8" Type="http://schemas.openxmlformats.org/officeDocument/2006/relationships/image" Target="../media/image4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43.jpg"/><Relationship Id="rId8" Type="http://schemas.openxmlformats.org/officeDocument/2006/relationships/image" Target="../media/image52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45.jpg"/><Relationship Id="rId8" Type="http://schemas.openxmlformats.org/officeDocument/2006/relationships/image" Target="../media/image59.jpg"/><Relationship Id="rId9" Type="http://schemas.openxmlformats.org/officeDocument/2006/relationships/image" Target="../media/image3.jpg"/><Relationship Id="rId10" Type="http://schemas.openxmlformats.org/officeDocument/2006/relationships/image" Target="../media/image47.jpg"/><Relationship Id="rId11" Type="http://schemas.openxmlformats.org/officeDocument/2006/relationships/image" Target="../media/image60.jpg"/><Relationship Id="rId12" Type="http://schemas.openxmlformats.org/officeDocument/2006/relationships/image" Target="../media/image4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jp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2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8.jpg"/><Relationship Id="rId6" Type="http://schemas.openxmlformats.org/officeDocument/2006/relationships/image" Target="../media/image79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4.jpg"/><Relationship Id="rId10" Type="http://schemas.openxmlformats.org/officeDocument/2006/relationships/image" Target="../media/image78.jpg"/><Relationship Id="rId11" Type="http://schemas.openxmlformats.org/officeDocument/2006/relationships/image" Target="../media/image7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9.jpg"/><Relationship Id="rId5" Type="http://schemas.openxmlformats.org/officeDocument/2006/relationships/image" Target="../media/image71.jpg"/><Relationship Id="rId6" Type="http://schemas.openxmlformats.org/officeDocument/2006/relationships/image" Target="../media/image70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67–209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72–198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34–195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ПОЗИЦІЙ, грн за пачку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МАРЖА 30 %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при іншій полиці й іншій маржі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Максимальна ціна закупівлі, €/пачку, за формулою вкладок «Цена 120 грн». Колір — порівняння з поточною ціною SIAS: €0,75 (Gouda, Carbonara) і €0,65 (решта).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64408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64408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050791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399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915399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915399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701784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≥ €0,75 — досяжно для всіх SKU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€0,65–0,75 — для чотирьох SKU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€0,50–0,65 — потрібне зниження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&lt; €0,50 — суттєве зниження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Червона рамка — ціль: полиця 120 грн, маржа 30 %.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H66 вкладок «Цена 120 грн» (курс 51,20; бонус 25 %; націнка 1,40; фінансування 2,5 %; ПДВ 20 %). Ціна вниз до євроцента.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C4820A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Корейський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рамен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в Україні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 локшина: усі напрямки ввозу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 · вага нетто, тонн · частка в загальному ввозі 838,5 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СТРУКТУРА ВВОЗУ,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19,9 %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14,1 %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10,4 %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7,0 %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5,8 %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29,9 %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 КРАЇНАХ ПОХОДЖЕННЯ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166,7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19,9 %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86,9 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10,4 %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58,6 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7,0 %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57,3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50,8 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48,8 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5,8 %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29,9 %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00. «Інші країни» — одним рядком: розбивки за країнами в базі немає.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46 %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7 з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4 — 68–85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144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Таврія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129 г · Ашан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103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102 г · Ашан · Зараз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4 — 88–98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112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124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Таврія 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Ашан · Onde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4 — 104–117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 · Зараз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135 г · Ашан · Grono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Клас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4 з 4 — 118–205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ЧудоМаркет · Космос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Клас · Onde · Восторг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123 г · Ашан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34 %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11 з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138 г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136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Зараз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Клас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Grono · Onde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Космос · Таврія 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145 г · Ашан · ЧудоМаркет · Кос…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ЧудоМаркет · Кос…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Космос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Ашан · ЧудоМаркет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Восторг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заливається окропом, без плити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20 %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3 з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65–103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Grono · Клас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Ашан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2 з 2 — 105–195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Клас · Таврія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75 г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Усі бренди в усіх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верхнє число — кількість позицій (SKU) бренду в мережі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нижнє число — медіанна ціна пачки в ₴  ·  чим темніше, тим більше позицій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«Зараз»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«Клас»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«Восторг»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«Космос»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«Таврія»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«ЧудоМ.»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«Торба»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«Сільпо»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МЕДІАНА,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 ПАЧКИ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62–140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70–145 г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105–140 г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67–130 г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122–127 г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137,8 г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131 г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62–145 г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(zakaz.ua) і «Сільпо», 29.09.2026. Клітинка = унікальні EAN × медіана цін по магазинах мережі. «Сільпо» — 4 позиції без EAN (3 Samyang, 1 Nongshim); 93 = 89 позицій з EAN + 4 «Сільпо». Вага — мін.–макс. пачки бренду.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Кількість позицій і медіанна ціна пачки за ваговими смугами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ПОЗИЦІЙ У ВАГОВІЙ СМУЗІ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МЕДІАННА ЦІНА ПАЧКИ,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наші SKU:</a:t>
            </a:r>
          </a:p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112,5–131 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70 % усіх позицій ринку.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ЦІНА НАШИХ SKU ПРОТИ ЦИХ СМУГ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полиці 120 грн наші SKU на 29 % дорожчі за медіану смуги 110–125 г (93 грн), при поточних 140,55 грн — на 51 %.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ЦІНА ПАЧКИ, ₴: мін.–макс. (лінія) · медіана (мітка)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1548" y="2132380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41548" y="2143353"/>
            <a:ext cx="3931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43884" y="2132380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43884" y="2143353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45635" y="2132380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41647" y="21369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63127" y="2201875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40952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14660" y="21369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88920" y="2381097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88920" y="2392070"/>
            <a:ext cx="5440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42132" y="2381097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42132" y="2392070"/>
            <a:ext cx="493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5052" y="2381097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45636" y="2381097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41648" y="238566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79307" y="2450592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939784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59696" y="238566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594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698991" y="3445459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839200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877044" y="33805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788920" y="3624681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88920" y="363565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090672" y="3624681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241548" y="3624681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342132" y="3624681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726679" y="3694176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073896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625583" y="362925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717890"/>
                </a:solidFill>
                <a:latin typeface="Segoe UI"/>
              </a:rPr>
              <a:t>МегаМаркет · Ultramarket · ЕКО · Епіцентр · «Ідеал» — 0 позицій у зрізі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— по 12 позицій; 12 із них збігаються за EAN.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Ліворуч — усі перевірені точки: де категорія є і скільки там позицій. Праворуч — хто туди приходить і чи це наш покупець.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81328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ПЕРЕВІРЕНІ ТОЧКИ ПРОДАЖУ · ПОЗИЦІЙ У КОЖНІЙ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82496"/>
            <a:ext cx="6355080" cy="1828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09928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FFFFFF"/>
                </a:solidFill>
                <a:latin typeface="Segoe UI"/>
              </a:rPr>
              <a:t>ПРОДУКТОВІ МЕРЕЖІ · 18 ПЕРЕВІРЕНО · 13 МАЮТЬ РАМЕН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90195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915668"/>
            <a:ext cx="2831690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5394" y="189280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042769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056485"/>
            <a:ext cx="1132676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6380" y="2033625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18358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197303"/>
            <a:ext cx="1132676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6380" y="217444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232440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338120"/>
            <a:ext cx="660727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4431" y="2315260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246522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2478938"/>
            <a:ext cx="613532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7236" y="245607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2606039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2619756"/>
            <a:ext cx="613532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7236" y="259689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74685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2760573"/>
            <a:ext cx="566338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042" y="273771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288767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2901391"/>
            <a:ext cx="566338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70042" y="287853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302849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3042208"/>
            <a:ext cx="566338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042" y="301934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316931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48840" y="3183026"/>
            <a:ext cx="377558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81262" y="316016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31012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8840" y="3323843"/>
            <a:ext cx="283169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6873" y="330098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345094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3464661"/>
            <a:ext cx="188779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2483" y="344180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359176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8840" y="3605479"/>
            <a:ext cx="94389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98093" y="3582619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373258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МегаМаркет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8840" y="3732580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387339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Ultramarket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387339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401421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ЕКО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48840" y="4014215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" y="415503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Епіцентр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48840" y="415503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" y="4295851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«Ідеал»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4295851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473244"/>
            <a:ext cx="6355080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500676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FFFFFF"/>
                </a:solidFill>
                <a:latin typeface="Segoe UI"/>
              </a:rPr>
              <a:t>АЗІЙСЬКІ ФУДШОПИ · 5 ПЕРЕВІРЕНО · 3 З ЦІНАМИ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469270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48840" y="4706416"/>
            <a:ext cx="3634002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37706" y="468355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77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83351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48840" y="4847234"/>
            <a:ext cx="1132676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36380" y="4824374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" y="497433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8840" y="4988051"/>
            <a:ext cx="1085481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89185" y="496519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" y="511515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OMG! Asia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8840" y="511515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255971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Panda Asian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8840" y="5255971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433364"/>
            <a:ext cx="6355080" cy="18288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460796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FFFFFF"/>
                </a:solidFill>
                <a:latin typeface="Segoe UI"/>
              </a:rPr>
              <a:t>МАРКЕТПЛЕЙСИ · 4 ПЕРЕВІРЕНО · 1 З ЦІНАМИ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65282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48840" y="5666536"/>
            <a:ext cx="1132676" cy="9509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36380" y="564367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579363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Rozetka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48840" y="579363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" y="593445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MAUDAU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48840" y="5934455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2648" y="607527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Bigl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48840" y="607527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78040" y="1481328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78040" y="1481328"/>
            <a:ext cx="41148" cy="113385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60920" y="156362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012680" y="1563624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12680" y="159105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60920" y="1810512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B53A3A"/>
                </a:solidFill>
                <a:latin typeface="Segoe UI"/>
              </a:rPr>
              <a:t>МЕРЕЖІ НАЦІОНАЛЬНОГО ПОКРИТТЯ · 18 ПЕРЕВІРЕНО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60920" y="198424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13 мереж мають корейський рамен, 5 — жодної позиції. «Сільпо» — 4 позиції на всю мережу.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60920" y="2414016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78040" y="2688336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178040" y="2688336"/>
            <a:ext cx="41148" cy="11338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60920" y="27706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12680" y="2770632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12680" y="279806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60920" y="3017520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C4820A"/>
                </a:solidFill>
                <a:latin typeface="Segoe UI"/>
              </a:rPr>
              <a:t>УНІВЕРСАЛЬНІ МАЙДАНЧИКИ · 4 МАЙДАНЧИКИ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60920" y="3191256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Prom · Rozetka · MAUDAU · Bigl. Ціни є лише з Prom: 24 пропозицій, медіана 116 ₴, мінімум 80 ₴.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0920" y="3621024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планована закупівля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178040" y="3895344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78040" y="3895344"/>
            <a:ext cx="41148" cy="113385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60920" y="397763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012680" y="3977639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012680" y="4005072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ВХІД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60920" y="4224528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1E9EA6"/>
                </a:solidFill>
                <a:latin typeface="Segoe UI"/>
              </a:rPr>
              <a:t>СПЕЦІАЛІЗОВАНИЙ ФУДРІТЕЙЛ · 5 МАГАЗИНІВ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60920" y="4398264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OMG! Asia · Тайякі Март · Суші Повар · Asia Foods · Panda Asian. Ціни є з трьох: 42–175 ₴.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60920" y="4828031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78040" y="5102352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178040" y="5102352"/>
            <a:ext cx="41148" cy="113385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60920" y="51846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012680" y="5184648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12680" y="5212080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НЕ НАШ КАНАЛ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0920" y="5431536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9FA9C4"/>
                </a:solidFill>
                <a:latin typeface="Segoe UI"/>
              </a:rPr>
              <a:t>ТУРИСТИЧНІ ТА ВІЙСЬКОВІ МАГАЗИНИ · 0 ПОЗИЦІЙ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60920" y="56052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Рамену там немає: він потребує окропу й каструлі.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60920" y="6035040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 — каталоги zakaz.ua і «Сільпо» 29.09.2026. Фудшопи — сторінки категорій (Суші Повар, Asia Foods, Тайякі Март), Prom.ua — одна сторінка видачі, жовтень 2026; без наборів дорожче 250 ₴. Rozetka, MAUDAU, Bigl, OMG! Asia, Panda Asian цінових даних не дали.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пачки по каналах і наша поточна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Мін.–макс. (лінія), 25–75 % пропозицій (блок), медіана (риска) · ціна пачки, ₴ · смуги — наша поточна полиця у двох варіантах закупівлі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ПРОПОЗИЦІЙ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Національні мережі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5 мереж · Ашан,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Регіональні мережі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8 мереж · Grono, Onde, «Космос»…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Мережі: каталоги 29.09.2026, медіана ціни позиції в мережі. Фудшопи й Prom.ua: сторінки категорій, жовтень 2026, без наборів дорожче 250 ₴. Смуги: Vegetable/Spicy/Beef/Chicken (нижня межа) і Gouda/Carbonara (верхня межа) за фінмоделлю, маржа 30 %.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ЦІНОВІ РІВНІ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Частка пропозицій за ціною пачки в кожному каналі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Мережі — 89 SKU корейського рамену (пакети й стакани); фудшопи й Prom.ua — рамен зі сторінок категорій, без наборів. Числа в смугах — % пропозицій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понад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ЯКІ БРЕНДИ (ПОЗИЦІЙ)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28 · інші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 — унікальні позиції (EAN) за медіанною ціною в мережі, 29.09.2026; «Сільпо» — 4 позиції. Фудшопи й Prom.ua — сторінки категорій, жовтень 2026 (бренд визначено за назвою; «інші» — не корейські або без бренду).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ПОТОЧНА ПОЛИЦЯ · 33 ПАЛЕТИ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на полиці зараз · 33 палети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12573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Собівартість (СС)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115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2324" y="1298448"/>
            <a:ext cx="12573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Бонус мережі 25 %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298448"/>
            <a:ext cx="11201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Наша маржа 30 %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2452" y="1316736"/>
            <a:ext cx="146304" cy="12801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3620" y="1298448"/>
            <a:ext cx="15316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Націнка магазину 40 %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28216"/>
            <a:ext cx="11064240" cy="6217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0208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113 г · закупівля €0,65 · СС 45,18 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810512"/>
            <a:ext cx="1279486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1920240"/>
            <a:ext cx="1279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9322" y="1810512"/>
            <a:ext cx="70473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9322" y="1920240"/>
            <a:ext cx="7047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768" y="1810512"/>
            <a:ext cx="848419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768" y="1920240"/>
            <a:ext cx="8484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9904" y="1810512"/>
            <a:ext cx="1135797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9904" y="1920240"/>
            <a:ext cx="11357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145" y="17922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145" y="206654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+20,55 ₴ · +17 % до цілі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45059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66090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112,5 г · закупівля €0,65 · СС 45,18 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450592"/>
            <a:ext cx="1279486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2560320"/>
            <a:ext cx="1279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9322" y="2450592"/>
            <a:ext cx="70473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9322" y="2560320"/>
            <a:ext cx="7047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768" y="2450592"/>
            <a:ext cx="848419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768" y="2560320"/>
            <a:ext cx="8484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19904" y="2450592"/>
            <a:ext cx="1135797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19904" y="2560320"/>
            <a:ext cx="11357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79145" y="243230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9145" y="270662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+20,55 ₴ · +17 % до цілі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008376"/>
            <a:ext cx="11064240" cy="6217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309067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330098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113 г · закупівля €0,65 · СС 45,18 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3090672"/>
            <a:ext cx="1279486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3200400"/>
            <a:ext cx="1279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39322" y="3090672"/>
            <a:ext cx="70473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39322" y="3200400"/>
            <a:ext cx="7047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768" y="3090672"/>
            <a:ext cx="848419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768" y="3200400"/>
            <a:ext cx="8484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19904" y="3090672"/>
            <a:ext cx="1135797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19904" y="3200400"/>
            <a:ext cx="11357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79145" y="307238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9145" y="334670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+20,55 ₴ · +17 % до цілі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3730751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3941063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113 г · закупівля €0,65 · СС 45,18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46120" y="3730751"/>
            <a:ext cx="1279486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46120" y="3840479"/>
            <a:ext cx="1279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39322" y="3730751"/>
            <a:ext cx="70473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39322" y="3840479"/>
            <a:ext cx="7047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768" y="3730751"/>
            <a:ext cx="848419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57768" y="3840479"/>
            <a:ext cx="8484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19904" y="3730751"/>
            <a:ext cx="1135797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19904" y="3840479"/>
            <a:ext cx="11357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9145" y="3712463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79145" y="398678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+20,55 ₴ · +17 % до цілі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288536"/>
            <a:ext cx="11064240" cy="6217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370831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458114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123 г · закупівля €0,75 · СС 52,13 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46120" y="4370831"/>
            <a:ext cx="1478441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46120" y="4480559"/>
            <a:ext cx="14784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52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38277" y="4370831"/>
            <a:ext cx="81526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38277" y="4480559"/>
            <a:ext cx="815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67253" y="4370831"/>
            <a:ext cx="981055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67253" y="4480559"/>
            <a:ext cx="9810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62024" y="4370831"/>
            <a:ext cx="1312645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62024" y="4480559"/>
            <a:ext cx="13126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98114" y="435254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162,18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98114" y="46268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+42,18 ₴ · +35 % до цілі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" y="50109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5221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131 г · закупівля €0,75 · СС 52,13 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46120" y="5010912"/>
            <a:ext cx="1478441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46120" y="5120640"/>
            <a:ext cx="14784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52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38277" y="5010912"/>
            <a:ext cx="81526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38277" y="5120640"/>
            <a:ext cx="8152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567253" y="5010912"/>
            <a:ext cx="981055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67253" y="5120640"/>
            <a:ext cx="9810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62024" y="5010912"/>
            <a:ext cx="1312645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62024" y="5120640"/>
            <a:ext cx="131264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8114" y="49926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162,18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98114" y="526694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+42,18 ₴ · +35 % до цілі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73768" y="1682495"/>
            <a:ext cx="16459" cy="39502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41003" y="5650991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71800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03034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34269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65504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150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96739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" y="5961888"/>
            <a:ext cx="11064240" cy="4572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66928" y="5961888"/>
            <a:ext cx="41148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60" y="6016752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Ціна партнеру = СС ÷ 0,45  (1 − бонус 25 % − маржа 30 %)   ·   полиця = ціна партнеру × 1,40   ·   числа в смугах — ₴ за пачку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6217920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СС — із Self-Cost (товар, логістика, брокер, ПДВ, фінансування); курс 51,20 ₴/€. Показано маржу 30 %.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6928" y="64922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SIAS: вкладки «Финмодель 6 паллет» / «33 паллет», колонки маржі 30 %; СС — Self-Cost_Sias.xlsx.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ПОТОЧНА ПОЛИЦЯ · 6 ПАЛЕТ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на полиці зараз · 6 палет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12573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Собівартість (СС)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115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2324" y="1298448"/>
            <a:ext cx="12573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Бонус мережі 25 %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298448"/>
            <a:ext cx="11201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Наша маржа 30 %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2452" y="1316736"/>
            <a:ext cx="146304" cy="12801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3620" y="1298448"/>
            <a:ext cx="15316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Націнка магазину 40 %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28216"/>
            <a:ext cx="11064240" cy="6217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0208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113 г · закупівля €0,65 · СС 58,06 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810512"/>
            <a:ext cx="1648325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1920240"/>
            <a:ext cx="16483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8161" y="1810512"/>
            <a:ext cx="90964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8161" y="1920240"/>
            <a:ext cx="909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31517" y="1810512"/>
            <a:ext cx="1094311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1517" y="1920240"/>
            <a:ext cx="10943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9545" y="1810512"/>
            <a:ext cx="1463654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9545" y="1920240"/>
            <a:ext cx="14636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6643" y="17922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6643" y="206654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+60,64 ₴ · +51 % до цілі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45059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66090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112,5 г · закупівля €0,65 · СС 58,06 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450592"/>
            <a:ext cx="1648325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2560320"/>
            <a:ext cx="16483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8161" y="2450592"/>
            <a:ext cx="90964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8161" y="2560320"/>
            <a:ext cx="909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31517" y="2450592"/>
            <a:ext cx="1094311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1517" y="2560320"/>
            <a:ext cx="10943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39545" y="2450592"/>
            <a:ext cx="1463654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39545" y="2560320"/>
            <a:ext cx="14636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6643" y="243230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6643" y="270662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+60,64 ₴ · +51 % до цілі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008376"/>
            <a:ext cx="11064240" cy="6217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309067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330098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113 г · закупівля €0,65 · СС 58,06 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3090672"/>
            <a:ext cx="1648325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3200400"/>
            <a:ext cx="16483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08161" y="3090672"/>
            <a:ext cx="90964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08161" y="3200400"/>
            <a:ext cx="909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31517" y="3090672"/>
            <a:ext cx="1094311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31517" y="3200400"/>
            <a:ext cx="10943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39545" y="3090672"/>
            <a:ext cx="1463654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39545" y="3200400"/>
            <a:ext cx="14636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26643" y="307238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6643" y="334670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+60,64 ₴ · +51 % до цілі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3730751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3941063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113 г · закупівля €0,65 · СС 58,06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46120" y="3730751"/>
            <a:ext cx="1648325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46120" y="3840479"/>
            <a:ext cx="164832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08161" y="3730751"/>
            <a:ext cx="90964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08161" y="3840479"/>
            <a:ext cx="909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31517" y="3730751"/>
            <a:ext cx="1094311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31517" y="3840479"/>
            <a:ext cx="10943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39545" y="3730751"/>
            <a:ext cx="1463654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39545" y="3840479"/>
            <a:ext cx="146365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6643" y="3712463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6643" y="398678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+60,64 ₴ · +51 % до цілі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288536"/>
            <a:ext cx="11064240" cy="6217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370831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458114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123 г · закупівля €0,75 · СС 67,00 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46120" y="4370831"/>
            <a:ext cx="1904024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46120" y="4480559"/>
            <a:ext cx="1904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63860" y="4370831"/>
            <a:ext cx="1051695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63860" y="4480559"/>
            <a:ext cx="10516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37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29271" y="4370831"/>
            <a:ext cx="1264777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29271" y="4480559"/>
            <a:ext cx="12647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07764" y="4370831"/>
            <a:ext cx="1690941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07764" y="4480559"/>
            <a:ext cx="16909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2150" y="435254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208,43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2150" y="46268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+88,43 ₴ · +74 % до цілі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" y="50109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52212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131 г · закупівля €0,75 · СС 67,00 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46120" y="5010912"/>
            <a:ext cx="1904024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46120" y="5120640"/>
            <a:ext cx="1904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67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63860" y="5010912"/>
            <a:ext cx="1051695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63860" y="5120640"/>
            <a:ext cx="10516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37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29271" y="5010912"/>
            <a:ext cx="1264777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29271" y="5120640"/>
            <a:ext cx="126477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07764" y="5010912"/>
            <a:ext cx="1690941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07764" y="5120640"/>
            <a:ext cx="16909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22150" y="49926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208,43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22150" y="526694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+88,43 ₴ · +74 % до цілі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73768" y="1682495"/>
            <a:ext cx="16459" cy="39502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41003" y="5650991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71800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03034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34269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65504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150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96739" y="565099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6928" y="5961888"/>
            <a:ext cx="11064240" cy="4572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66928" y="5961888"/>
            <a:ext cx="41148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60" y="6016752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Ціна партнеру = СС ÷ 0,45  (1 − бонус 25 % − маржа 30 %)   ·   полиця = ціна партнеру × 1,40   ·   числа в смугах — ₴ за пачку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6217920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СС — із Self-Cost (товар, логістика, брокер, ПДВ, фінансування); курс 51,20 ₴/€. Показано маржу 30 %.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6928" y="64922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SIAS: вкладки «Финмодель 6 паллет» / «33 паллет», колонки маржі 30 %; СС — Self-Cost_Sias.xlsx.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ПОПУЛЯРНІ ПАКЕТИ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Популярні пакети: кожна позиція та її ціна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C4820A"/>
                </a:solidFill>
                <a:latin typeface="Segoe UI"/>
              </a:rPr>
              <a:t>смуга: ціль 120 → зараз 33 палети → 6 палет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120 Г · 22 ПОЗИЦІЙ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68–128 ₴ · до 120 ₴ включно: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Кімчі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Hwa Ramyun з гострим перцем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Kokomen зі смаком курки го…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Otoki · Cheesy Ramen зі смаком сир…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зі смаком гост…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середньог…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Vegetable/Spicy/Beef/Chicken 113 г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141 ₴  ·  6 палет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Gouda Cheese 123 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130 Г · 9 ПОЗИЦІЙ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89–205 ₴ · до 120 ₴ включно: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 гостра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Bibim Men в корейському ст…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Jjambbong Ramen з море…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 гостра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Carbonara Spicy 131 г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Шин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140 Г · 6 ПОЗИЦІЙ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103–138 ₴ · до 120 ₴ включно: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Chacharoni зі смаком чорни…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Buldak Jjajang зі смаком г…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Chicken з куркою д…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дуже гостра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медіанна ціна пачки по мережах, де позиція є. Червона лінія — 120 ₴. SIAS: поточна полиця за фінмоделлю, маржа 30 %.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НИЖЧЕ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ДІАПАЗОН ЦІНИ ПАЧКИ ПО МЕРЕЖАХ,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дешевше за ціль 120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дорожче за ціль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10 мереж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6 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7 мереж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«Торба»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145 г · 7 мереж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Рамен зі спеціями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7 мереж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9 мереж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9 мереж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3 мереж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137 г · 7 мереж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АКЦІЇ: ЗВИЧАЙНА ЦІНА → АКЦІЙНА,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звичайна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акційна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курка та сир · 140 г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карбонара · 130 г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Ramen зі смаком курки з… · 135 г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108 ₴  (−39 %) · Ашан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зі смаком курки гостра · 140 г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93 ₴  (−36 %) · «Торба»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Nongshim · Soon Veggie Ramyun овоч… · 112 г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74 ₴  (−23 %) · Ашан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Ottogi · Jin Jjambbong Ramen з м… · 130 г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112 ₴  (−23 %) · Ашан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позиції в мережі (медіана по магазинах); «стара ціна» віддається не всіма мережами, тому акцій насправді більше. Смуги — наша поточна полиця: Vegetable/Spicy/Beef/Chicken (нижня межа) і Gouda/Carbonara (верхня).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СТРУКТУРА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 чого складається ціна на полиці: куди йде кожна гривня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Товар SIAS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9656" y="1316736"/>
            <a:ext cx="146304" cy="12801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0824" y="1298448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Логістика, брокер, ПДВ, фінансування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5464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1298448"/>
            <a:ext cx="12573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Бонус мережі 25 %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8252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9420" y="1298448"/>
            <a:ext cx="11201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Наша маржа 30 %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316736"/>
            <a:ext cx="146304" cy="12801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298448"/>
            <a:ext cx="15316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Націнка магазину 40 %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27632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ЦІЛЬ: ПОЛИЦЯ 120 ₴ (ЗАПИТ ДО SIAS)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84708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Ціль · 33 палети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05740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€0,54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847088"/>
            <a:ext cx="755715" cy="4023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1947672"/>
            <a:ext cx="7557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15551" y="1847088"/>
            <a:ext cx="289055" cy="40233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15551" y="1947672"/>
            <a:ext cx="2890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8322" y="1847088"/>
            <a:ext cx="581952" cy="4023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8322" y="1947672"/>
            <a:ext cx="581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3991" y="1847088"/>
            <a:ext cx="701085" cy="4023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3991" y="1947672"/>
            <a:ext cx="7010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8793" y="1847088"/>
            <a:ext cx="939353" cy="40233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8793" y="1947672"/>
            <a:ext cx="9393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1590" y="1837943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1590" y="2112264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товар SIAS = 23 % полиці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243230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Ціль · 6 палет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264261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€0,32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432304"/>
            <a:ext cx="442243" cy="4023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2532888"/>
            <a:ext cx="4422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2079" y="2432304"/>
            <a:ext cx="592287" cy="40233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2079" y="2532888"/>
            <a:ext cx="592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08082" y="2432304"/>
            <a:ext cx="576263" cy="4023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8082" y="2532888"/>
            <a:ext cx="576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8062" y="2432304"/>
            <a:ext cx="694259" cy="4023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8062" y="2532888"/>
            <a:ext cx="6942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06037" y="2432304"/>
            <a:ext cx="930250" cy="40233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06037" y="2532888"/>
            <a:ext cx="93025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9732" y="24231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9732" y="2697480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товар SIAS = 14 % полиці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999232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B53A3A"/>
                </a:solidFill>
                <a:latin typeface="Segoe UI"/>
              </a:rPr>
              <a:t>ЗАРАЗ: ПОТОЧНА ЗАКУПІВЛЯ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321868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342900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Vegetable/Spicy/Beef/Chicken · €0,65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3218688"/>
            <a:ext cx="912451" cy="4023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6120" y="3319272"/>
            <a:ext cx="9124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72287" y="3218688"/>
            <a:ext cx="317396" cy="40233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72287" y="3319272"/>
            <a:ext cx="3173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03400" y="3218688"/>
            <a:ext cx="684773" cy="4023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03400" y="3319272"/>
            <a:ext cx="68477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01889" y="3218688"/>
            <a:ext cx="824471" cy="4023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01889" y="3319272"/>
            <a:ext cx="8244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40076" y="3218688"/>
            <a:ext cx="1103866" cy="40233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40076" y="3319272"/>
            <a:ext cx="110386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7387" y="320954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7387" y="3483864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товар SIAS = 24 % полиці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380390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401421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Gouda/Carbonara · €0,75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46120" y="3803904"/>
            <a:ext cx="1054939" cy="4023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46120" y="3904488"/>
            <a:ext cx="10549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14775" y="3803904"/>
            <a:ext cx="368337" cy="40233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14775" y="3904488"/>
            <a:ext cx="36833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96828" y="3803904"/>
            <a:ext cx="792233" cy="4023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96828" y="3904488"/>
            <a:ext cx="7922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02777" y="3803904"/>
            <a:ext cx="953422" cy="4023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02777" y="3904488"/>
            <a:ext cx="95342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69916" y="3803904"/>
            <a:ext cx="1275802" cy="40233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9916" y="3904488"/>
            <a:ext cx="12758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9162" y="37947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B53A3A"/>
                </a:solidFill>
                <a:latin typeface="Segoe UI"/>
              </a:rPr>
              <a:t>162,18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9162" y="4069080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товар SIAS = 24 % полиці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438912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4599431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Vegetable/Spicy/Beef/Chicken · €0,65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46120" y="4389120"/>
            <a:ext cx="912451" cy="4023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46120" y="4489704"/>
            <a:ext cx="9124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72287" y="4389120"/>
            <a:ext cx="675989" cy="40233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72287" y="4489704"/>
            <a:ext cx="6759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1993" y="4389120"/>
            <a:ext cx="883991" cy="4023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61993" y="4489704"/>
            <a:ext cx="8839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59701" y="4389120"/>
            <a:ext cx="1063533" cy="4023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59701" y="4489704"/>
            <a:ext cx="106353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36950" y="4389120"/>
            <a:ext cx="1422616" cy="40233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36950" y="4489704"/>
            <a:ext cx="1422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83010" y="437997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83010" y="4654296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товар SIAS = 18 % полиці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8" y="497433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" y="518464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Gouda/Carbonara · €0,75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46120" y="4974336"/>
            <a:ext cx="1054939" cy="4023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46120" y="5074920"/>
            <a:ext cx="10549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14775" y="4974336"/>
            <a:ext cx="782098" cy="40233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14775" y="5074920"/>
            <a:ext cx="7820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110589" y="4974336"/>
            <a:ext cx="1022100" cy="4023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10589" y="5074920"/>
            <a:ext cx="10221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46405" y="4974336"/>
            <a:ext cx="1229263" cy="4023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46405" y="5074920"/>
            <a:ext cx="1229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45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89385" y="4974336"/>
            <a:ext cx="1643590" cy="40233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89385" y="5074920"/>
            <a:ext cx="164359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56419" y="49651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B53A3A"/>
                </a:solidFill>
                <a:latin typeface="Segoe UI"/>
              </a:rPr>
              <a:t>208,43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56419" y="5239512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товар SIAS = 18 % полиці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78352" y="1773936"/>
            <a:ext cx="16459" cy="376732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945587" y="557784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6928" y="5998464"/>
            <a:ext cx="11064240" cy="4206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6928" y="5998464"/>
            <a:ext cx="41148" cy="4206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2960" y="6053328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Ціна партнеру (перші чотири блоки) = полиця ÷ 1,40.  Бонус 25 % і маржа 30 % — частки ціни партнеру.  Націнка магазину 40 % — понад ціну партнеру.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2960" y="6236208"/>
            <a:ext cx="10607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Усі числа — ₴ за пачку, з ПДВ. «Зараз» — СС із Self-Cost; «ціль» — за запитом €0,54 / €0,32 (вкладки «Цена 120 грн»).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 і Self-Cost_Sias.xlsx; курс 51,20 ₴/€. Логістика в «зараз» — залишок СС після товару, ПДВ і фінансування.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ПОТРІБНА ЗАКУПІВЛЯ · 33 ПАЛЕТИ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для полиці 120 ₴ · 33 палети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6934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6662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85,71 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6662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ціна партнеру · 120 ÷ 1,40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1142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6940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6668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38,57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668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макс. СС · × 45 %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1148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6947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6675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€0,753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6675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макс. СС в € · ÷ 51,20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1155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6953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6681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€0,541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6681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мінус фінансування 2,5 %,</a:t>
            </a:r>
          </a:p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витрати партії €0,086, ПДВ 20 %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1161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FFFFFF"/>
                </a:solidFill>
                <a:latin typeface="Segoe UI"/>
              </a:rPr>
              <a:t>€0,54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FFFFFF"/>
                </a:solidFill>
                <a:latin typeface="Segoe UI"/>
              </a:rPr>
              <a:t>запит до SIAS · вниз до цента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240280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 ВСІХ ПОЗИЦІЯХ · ЗАКУПІВЛЯ SIAS, €/ПАЧКУ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24028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2221992"/>
            <a:ext cx="4343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зараз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79108" y="224028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0276" y="222199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потрібно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24028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ПАРТІЯ, €: ЗАРАЗ → ПОТРІБНО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2496312"/>
            <a:ext cx="11064240" cy="5303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25603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77063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113 г · 4 пал. · 6 400 пачок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569464"/>
            <a:ext cx="239193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64320" y="256032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2788920"/>
            <a:ext cx="1987147" cy="16459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59531" y="27797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262432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26791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266090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€4 160  →  €3 456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310896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331927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112,5 г · 5 пал. · 8 000 пачок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3118104"/>
            <a:ext cx="239193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64320" y="310896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3337560"/>
            <a:ext cx="1987147" cy="16459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59531" y="332841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12280" y="317296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12280" y="32278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320954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€5 200  →  €4 320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3593592"/>
            <a:ext cx="11064240" cy="5303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3657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386791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113 г · 5 пал. · 8 000 пачок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3666744"/>
            <a:ext cx="239193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4320" y="365760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3886200"/>
            <a:ext cx="1987147" cy="16459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59531" y="387705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12280" y="372160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37764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0" y="375818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€5 200  →  €4 320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42062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441655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113 г · 5 пал. · 8 000 пачок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4215383"/>
            <a:ext cx="239193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64320" y="420624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4434840"/>
            <a:ext cx="1987147" cy="16459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59531" y="442569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12280" y="427024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12280" y="432511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430682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€5 200  →  €4 320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4690872"/>
            <a:ext cx="11064240" cy="5303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" y="475488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49651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123 г · 7 пал. · 11 200 пачок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764024"/>
            <a:ext cx="275992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32310" y="47548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4983480"/>
            <a:ext cx="1987147" cy="16459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59531" y="497433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12280" y="481888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12280" y="48737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46720" y="485546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€8 400  →  €6 048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" y="5303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" y="551383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131 г · 7 пал. · 11 200 пачок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5312664"/>
            <a:ext cx="275992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32310" y="530352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17520" y="5532120"/>
            <a:ext cx="1987147" cy="16459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59531" y="55229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12280" y="536752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12280" y="54223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46720" y="540410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€8 400  →  €6 048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8" y="5824727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8368" y="591616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УСЬОГО · 33 палет · 52 800 пачок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0" y="591616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партія: €36 560  →  €28 512   (−€8 048 · −22 %)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SIAS, вкладка «Цена 120 грн — 33 паллет»: бонус мережі 25 %, маржа 30 %, націнка 1,40, курс 51,20, ПДВ 20 %, мито 0 %. Запит однаковий для всіх шести SKU; згоди SIAS немає.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ПОТРІБНА ЗАКУПІВЛЯ · 6 ПАЛЕТ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для полиці 120 ₴ · 6 палет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6934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6662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85,71 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6662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ціна партнеру · 120 ÷ 1,40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1142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6940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6668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38,57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668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макс. СС · × 45 %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1148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6947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6675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€0,753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6675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макс. СС в € · ÷ 51,20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1155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6953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6681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303A5D"/>
                </a:solidFill>
                <a:latin typeface="Segoe UI"/>
              </a:rPr>
              <a:t>€0,327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6681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мінус фінансування 2,5 %,</a:t>
            </a:r>
          </a:p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витрати партії €0,343, ПДВ 20 %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1161" y="15361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0" y="1325880"/>
            <a:ext cx="1664208" cy="749808"/>
          </a:xfrm>
          <a:prstGeom prst="roundRect">
            <a:avLst>
              <a:gd name="adj" fmla="val 1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6688" y="138988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FFFFFF"/>
                </a:solidFill>
                <a:latin typeface="Segoe UI"/>
              </a:rPr>
              <a:t>€0,32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6688" y="1700784"/>
            <a:ext cx="1481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spc="-10">
                <a:solidFill>
                  <a:srgbClr val="FFFFFF"/>
                </a:solidFill>
                <a:latin typeface="Segoe UI"/>
              </a:rPr>
              <a:t>запит до SIAS · вниз до цента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240280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 ВСІХ ПОЗИЦІЯХ · ЗАКУПІВЛЯ SIAS, €/ПАЧКУ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24028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2221992"/>
            <a:ext cx="4343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зараз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79108" y="2240280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0276" y="222199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потрібно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24028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ПАРТІЯ, €: ЗАРАЗ → ПОТРІБНО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2496312"/>
            <a:ext cx="11064240" cy="5303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25603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77063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113 г · 1 пал. · 1 600 пачок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569464"/>
            <a:ext cx="239193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64320" y="256032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2788920"/>
            <a:ext cx="1177568" cy="16459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49952" y="27797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262432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26791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266090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€1 040  →  €512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310896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331927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112,5 г · 1 пал. · 1 600 пачок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3118104"/>
            <a:ext cx="239193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64320" y="310896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3337560"/>
            <a:ext cx="1177568" cy="16459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9952" y="332841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12280" y="317296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12280" y="32278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320954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€1 040  →  €512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3593592"/>
            <a:ext cx="11064240" cy="5303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36576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386791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113 г · 1 пал. · 1 600 пачок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3666744"/>
            <a:ext cx="239193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4320" y="365760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3886200"/>
            <a:ext cx="1177568" cy="16459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49952" y="387705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12280" y="372160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37764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0" y="375818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€1 040  →  €512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42062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441655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113 г · 1 пал. · 1 600 пачок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17520" y="4215383"/>
            <a:ext cx="239193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64320" y="420624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4434840"/>
            <a:ext cx="1177568" cy="16459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49952" y="442569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12280" y="427024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12280" y="432511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430682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€1 040  →  €512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4690872"/>
            <a:ext cx="11064240" cy="53035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" y="475488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496519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123 г · 1 пал. · 1 600 пачок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764024"/>
            <a:ext cx="275992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32310" y="47548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4983480"/>
            <a:ext cx="1177568" cy="16459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49952" y="497433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12280" y="481888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12280" y="48737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46720" y="485546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€1 200  →  €512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" y="53035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" y="551383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131 г · 1 пал. · 1 600 пачок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5312664"/>
            <a:ext cx="2759926" cy="16459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32310" y="530352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17520" y="5532120"/>
            <a:ext cx="1177568" cy="16459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49952" y="55229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12280" y="536752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12280" y="54223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46720" y="540410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€1 200  →  €512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8" y="5824727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8368" y="591616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C4820A"/>
                </a:solidFill>
                <a:latin typeface="Segoe UI"/>
              </a:rPr>
              <a:t>УСЬОГО · 6 палет · 9 600 пачок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86400" y="591616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партія: €6 560  →  €3 072   (−€3 488 · −53 %)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SIAS, вкладка «Цена 120 грн — 6 паллет»: бонус мережі 25 %, маржа 30 %, націнка 1,40, курс 51,20, ПДВ 20 %, мито 0 %. Запит однаковий для всіх шести SKU; згоди SIAS немає.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5856</Words>
  <Application>Microsoft Office PowerPoint</Application>
  <PresentationFormat>Широкий екран</PresentationFormat>
  <Paragraphs>1760</Paragraphs>
  <Slides>27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27</vt:i4>
      </vt:variant>
    </vt:vector>
  </HeadingPairs>
  <TitlesOfParts>
    <vt:vector size="31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</cp:revision>
  <dcterms:created xsi:type="dcterms:W3CDTF">2013-01-27T09:14:16Z</dcterms:created>
  <dcterms:modified xsi:type="dcterms:W3CDTF">2026-10-06T15:06:11Z</dcterms:modified>
  <cp:category/>
</cp:coreProperties>
</file>