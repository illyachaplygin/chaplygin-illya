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3"/>
    <p:sldId id="258" r:id="rId3"/>
    <p:sldId id="286" r:id="rId3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7" r:id="rId35"/>
    <p:sldId id="288" r:id="rId36"/>
    <p:sldId id="276" r:id="rId21"/>
    <p:sldId id="277" r:id="rId22"/>
    <p:sldId id="289" r:id="rId37"/>
    <p:sldId id="290" r:id="rId38"/>
    <p:sldId id="291" r:id="rId39"/>
    <p:sldId id="280" r:id="rId24"/>
    <p:sldId id="292" r:id="rId40"/>
    <p:sldId id="293" r:id="rId41"/>
    <p:sldId id="294" r:id="rId42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4" Type="http://schemas.openxmlformats.org/officeDocument/2006/relationships/slide" Target="slides/slide23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openxmlformats.org/officeDocument/2006/relationships/image" Target="../media/image9.jpg"/><Relationship Id="rId8" Type="http://schemas.openxmlformats.org/officeDocument/2006/relationships/image" Target="../media/image10.jpg"/><Relationship Id="rId9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6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10.jpg"/><Relationship Id="rId14" Type="http://schemas.openxmlformats.org/officeDocument/2006/relationships/image" Target="../media/image20.jpg"/><Relationship Id="rId15" Type="http://schemas.openxmlformats.org/officeDocument/2006/relationships/image" Target="../media/image21.jpg"/><Relationship Id="rId16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Relationship Id="rId4" Type="http://schemas.openxmlformats.org/officeDocument/2006/relationships/image" Target="../media/image19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8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Relationship Id="rId13" Type="http://schemas.openxmlformats.org/officeDocument/2006/relationships/image" Target="../media/image30.jpg"/><Relationship Id="rId14" Type="http://schemas.openxmlformats.org/officeDocument/2006/relationships/image" Target="../media/image2.jpg"/><Relationship Id="rId15" Type="http://schemas.openxmlformats.org/officeDocument/2006/relationships/image" Target="../media/image31.jpg"/><Relationship Id="rId16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14.jpg"/><Relationship Id="rId8" Type="http://schemas.openxmlformats.org/officeDocument/2006/relationships/image" Target="../media/image10.jpg"/><Relationship Id="rId9" Type="http://schemas.openxmlformats.org/officeDocument/2006/relationships/image" Target="../media/image36.jpg"/><Relationship Id="rId10" Type="http://schemas.openxmlformats.org/officeDocument/2006/relationships/image" Target="../media/image37.jpg"/><Relationship Id="rId11" Type="http://schemas.openxmlformats.org/officeDocument/2006/relationships/image" Target="../media/image38.jpg"/><Relationship Id="rId12" Type="http://schemas.openxmlformats.org/officeDocument/2006/relationships/image" Target="../media/image39.jpg"/><Relationship Id="rId13" Type="http://schemas.openxmlformats.org/officeDocument/2006/relationships/image" Target="../media/image40.jpg"/><Relationship Id="rId14" Type="http://schemas.openxmlformats.org/officeDocument/2006/relationships/image" Target="../media/image41.jpg"/><Relationship Id="rId15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5.jpg"/><Relationship Id="rId8" Type="http://schemas.openxmlformats.org/officeDocument/2006/relationships/image" Target="../media/image59.jpg"/><Relationship Id="rId9" Type="http://schemas.openxmlformats.org/officeDocument/2006/relationships/image" Target="../media/image3.jpg"/><Relationship Id="rId10" Type="http://schemas.openxmlformats.org/officeDocument/2006/relationships/image" Target="../media/image47.jpg"/><Relationship Id="rId11" Type="http://schemas.openxmlformats.org/officeDocument/2006/relationships/image" Target="../media/image60.jpg"/><Relationship Id="rId12" Type="http://schemas.openxmlformats.org/officeDocument/2006/relationships/image" Target="../media/image4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2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4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4.jpg"/><Relationship Id="rId10" Type="http://schemas.openxmlformats.org/officeDocument/2006/relationships/image" Target="../media/image78.jpg"/><Relationship Id="rId11" Type="http://schemas.openxmlformats.org/officeDocument/2006/relationships/image" Target="../media/image70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9.jpg"/><Relationship Id="rId5" Type="http://schemas.openxmlformats.org/officeDocument/2006/relationships/image" Target="../media/image71.jpg"/><Relationship Id="rId6" Type="http://schemas.openxmlformats.org/officeDocument/2006/relationships/image" Target="../media/image70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jpg"/><Relationship Id="rId4" Type="http://schemas.openxmlformats.org/officeDocument/2006/relationships/image" Target="../media/image14.jpg"/><Relationship Id="rId5" Type="http://schemas.openxmlformats.org/officeDocument/2006/relationships/image" Target="../media/image3.jpg"/><Relationship Id="rId6" Type="http://schemas.openxmlformats.org/officeDocument/2006/relationships/image" Target="../media/image6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 Показано сім позицій, рівновіддалених по ціні.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6002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0017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0001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80010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00025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06484361004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08500696671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0880107311551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3 — 68–90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06451755210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521145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144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68–72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064843610061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03114615060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88010455213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67–85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Таврія В +1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880105211438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129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880105211454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103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5211455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74–84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5524672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8801045522265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0880104315774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 descr="0880104302270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112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74–102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08801043157759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124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00648436100422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87–93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3 — 92–112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14 позицій за медіанною ціною 92–112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064843610068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92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4552226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8010459999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67–101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64843610058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064843631077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06484363107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76–113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085006966714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95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4315773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74–122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3157711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85–122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064843610093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0007460300668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 descr="08801043069588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89–132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08801073112278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589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02229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5" name="Picture 104" descr="08801073115514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0756" y="3794760"/>
            <a:ext cx="548640" cy="548640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02778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778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778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108–169 грн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778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Зараз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3 — 112–205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13 позицій за медіанною ціною 112–205 грн за пачку. Відсортовано від найдешевшої позиції.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88010731141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99–124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455252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8010455225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88010431577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85–125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003114615060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98–129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METRO +4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880104315774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98–124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8801073211773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112–130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4315776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125–135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301480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880104315002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675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54315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0880104307036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3794760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54864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123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864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116–142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585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0225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 descr="00031146017379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0356" y="3794760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0774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774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774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165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74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558784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622792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0880104306022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0556" y="3794760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677656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77656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303A5D"/>
                </a:solidFill>
                <a:latin typeface="Segoe UI"/>
              </a:rPr>
              <a:t>130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677656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202–209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77656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745672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145472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116378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918204"/>
            <a:ext cx="58189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895344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082796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4105656"/>
            <a:ext cx="290945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4082796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955505030283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30616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06484361013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4" name="Picture 83" descr="0064843610127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1" name="Picture 90" descr="0880107311647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8" name="Picture 97" descr="08801043015479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08801731168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31136" y="2203704"/>
            <a:ext cx="13441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0648436310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648436310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110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955505030284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955505030283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955505030280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122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955505030281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50092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120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880104517822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880104306167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4306874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136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96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064843610005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72–124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Grono · NOVUS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07460300592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90–115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06484361013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86–123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880107311394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108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064843631068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105–121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7311647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115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3157728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89–136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Клас · METRO +3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0648436101276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84–123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37603443508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131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125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7311338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94–184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80107311342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86–151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Космос +7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880107311050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140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93–156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Космос · Grono +4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880107311647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130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ЧудоМаркет · Космос · Grono +6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880104301847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131–154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ЧудоМаркет · Grono +4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880107311683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0880173116863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157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Восторг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7311684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105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78–157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Клас · Onde · Восторг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673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8313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7" name="Picture 76" descr="0880104301547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29100" y="3794760"/>
            <a:ext cx="548640" cy="5486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38862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C4820A"/>
                </a:solidFill>
                <a:latin typeface="Segoe UI"/>
              </a:rPr>
              <a:t>137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862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198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862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вузький сегмент поза домом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47872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03904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грн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грн.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грн.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627632"/>
            <a:ext cx="2834640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28816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84848" y="1783080"/>
            <a:ext cx="2359152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ГРН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93392"/>
            <a:ext cx="2359152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9750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 дорожчі.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грн (зараз): 3.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627632"/>
            <a:ext cx="2121408" cy="111556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509760" y="1627632"/>
            <a:ext cx="41148" cy="111556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65792" y="1783080"/>
            <a:ext cx="1645919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ВАГОВИЙ ДІАПАЗОН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93392"/>
            <a:ext cx="1645919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49881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фактичні 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907792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145536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168396"/>
            <a:ext cx="320040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56048" y="3145536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332988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355848"/>
            <a:ext cx="1454727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6048" y="3332988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543300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56048" y="3520440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707891"/>
            <a:ext cx="111556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730752"/>
            <a:ext cx="290945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56048" y="3707891"/>
            <a:ext cx="4572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2907792"/>
            <a:ext cx="559612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ЩО ЦЕ ОЗНАЧАЄ ДЛЯ НАС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3127248"/>
            <a:ext cx="55961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Медіана стакана — 104 грн проти 95 грн у пакеті з бульйоном і 106 грн у пакеті із соусом.</a:t>
            </a:r>
          </a:p>
          <a:p>
            <a:pPr algn="l">
              <a:lnSpc>
                <a:spcPct val="145000"/>
              </a:lnSpc>
            </a:pPr>
            <a:endParaRPr sz="880" b="0" spc="-10">
              <a:solidFill>
                <a:srgbClr val="717890"/>
              </a:solidFill>
              <a:latin typeface="Segoe UI"/>
            </a:endParaRPr>
          </a:p>
          <a:p>
            <a:pPr algn="l">
              <a:lnSpc>
                <a:spcPct val="145000"/>
              </a:lnSpc>
            </a:pPr>
            <a:r>
              <a:rPr sz="880" b="0" spc="-10">
                <a:solidFill>
                  <a:srgbClr val="717890"/>
                </a:solidFill>
                <a:latin typeface="Segoe UI"/>
              </a:rPr>
              <a:t>Сегмент вузький: 18 позицій у 8 мережах і лише 4 бренди. Якщо в лінійці SIAS з’явиться стакан, у поточній пропозиції стакана немає.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40740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13232" y="4416552"/>
            <a:ext cx="640080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16552"/>
            <a:ext cx="40233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50" b="1" spc="-10">
                <a:solidFill>
                  <a:srgbClr val="C4820A"/>
                </a:solidFill>
                <a:latin typeface="Segoe UI"/>
              </a:rPr>
              <a:t>фото — з каталогів мереж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309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4828032"/>
            <a:ext cx="548640" cy="5486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58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671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22311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0064517557028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4828032"/>
            <a:ext cx="548640" cy="54864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22860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860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2860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673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8313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4828032"/>
            <a:ext cx="548640" cy="54864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862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862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8862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862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67528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431536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828032"/>
            <a:ext cx="548640" cy="5486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486400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0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0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585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70225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8" name="Picture 77" descr="0880104302938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4828032"/>
            <a:ext cx="548640" cy="54864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70774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774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774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774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587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6227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5" name="Picture 84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4828032"/>
            <a:ext cx="548640" cy="548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86776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776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776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776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58984" y="4700016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222992" y="4764024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" name="Picture 91" descr="08801043031110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4828032"/>
            <a:ext cx="548640" cy="54864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277856" y="5477255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277856" y="5769864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77856" y="5916168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277856" y="6135624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880107311404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731140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8010731140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65–86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64517557028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82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00311462706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064843610006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120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99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880107321077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34–149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Grono · Клас +3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003114601711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003114601709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103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36192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1554480"/>
            <a:ext cx="1069848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000311462706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11679"/>
            <a:ext cx="548640" cy="5486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71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311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880104304956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8900" y="2011679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2860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68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105 грн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313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0880104302938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2011679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8862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67528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31536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00031146017096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011679"/>
            <a:ext cx="548640" cy="54864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86400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585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70225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0880104302931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0356" y="2011679"/>
            <a:ext cx="548640" cy="54864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0774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774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62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774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774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587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6227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0880104302812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0556" y="2011679"/>
            <a:ext cx="548640" cy="54864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6776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776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67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776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111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776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58984" y="188366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222992" y="194767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" name="Picture 55" descr="0880107321125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20756" y="2011679"/>
            <a:ext cx="548640" cy="54864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77856" y="266090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77856" y="295351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70 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77856" y="309981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137–150 грн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331927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Космос · Клас · Таврія В +1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3" name="Picture 62" descr="08801043028158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700" y="3794760"/>
            <a:ext cx="548640" cy="5486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75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100–158 грн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 · METRO · Onde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67128" y="3666744"/>
            <a:ext cx="1472184" cy="1655064"/>
          </a:xfrm>
          <a:prstGeom prst="rect">
            <a:avLst/>
          </a:prstGeom>
          <a:solidFill>
            <a:srgbClr val="FFFFFF"/>
          </a:solidFill>
          <a:ln w="6350">
            <a:solidFill>
              <a:srgbClr val="E3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2231136" y="3730752"/>
            <a:ext cx="1344168" cy="6766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088010430311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28900" y="3794760"/>
            <a:ext cx="548640" cy="5486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286000" y="4443983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1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86000" y="4736592"/>
            <a:ext cx="1234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 spc="-10">
                <a:solidFill>
                  <a:srgbClr val="5D4B96"/>
                </a:solidFill>
                <a:latin typeface="Segoe UI"/>
              </a:rPr>
              <a:t>80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86000" y="488289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1C2235"/>
                </a:solidFill>
                <a:latin typeface="Segoe UI"/>
              </a:rPr>
              <a:t>195 грн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86000" y="510235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700784"/>
            <a:ext cx="23774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1700784"/>
            <a:ext cx="164592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ПОКРИТТЯ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700784"/>
            <a:ext cx="6400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700784"/>
            <a:ext cx="100584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700784"/>
            <a:ext cx="137160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ДІАПАЗОН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00784"/>
            <a:ext cx="3675887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БРЕНДИ НА ПОЛИЦІ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883664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1883664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1883664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8" y="188366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89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883664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65–202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1883664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 · Ottogi · O’Food · 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" y="210494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2141524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44368" y="2141524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141524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14152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2141524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141524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399385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399385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2399385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2399385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126 грн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399385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72–209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399385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Paldo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" y="2620670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2657246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2657246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288" y="2657246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8" y="2657246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88 грн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2657246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67–124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657246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915107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2915107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2915107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8" y="2915107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915107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2915107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3776" y="3136392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6928" y="3172968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44368" y="3172968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90288" y="3172968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21808" y="3172968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137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172968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117–157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3172968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430828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44368" y="3430828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C&amp;C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90288" y="3430828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21808" y="3430828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108 грн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430828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98–165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55279" y="3430828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" y="3652113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66928" y="3688689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44368" y="3688689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90288" y="3688689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8" y="3688689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3688689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40–150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55279" y="3688689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3946550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44368" y="3946550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0288" y="394655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21808" y="3946550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122 грн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19088" y="3946550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34–150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5279" y="3946550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 · Ottogi · Choi’s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" y="4167835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4204411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44368" y="4204411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90288" y="4204411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21808" y="4204411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134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19088" y="4204411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119–184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5279" y="4204411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462272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44368" y="446227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90288" y="4462272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321808" y="4462272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120 грн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19088" y="4462272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100–134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55279" y="4462272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· Nongshim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93776" y="4683556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66928" y="4720132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944368" y="4720132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регіональна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90288" y="4720132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1808" y="4720132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102 грн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19088" y="4720132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93–111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55279" y="4720132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4977993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44368" y="4977993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· №1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90288" y="4977993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21808" y="4977993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114 грн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19088" y="4977993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90–199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955279" y="4977993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Samyang (3) · Nongshim (1)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" y="5199278"/>
            <a:ext cx="10936224" cy="24871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66928" y="5235854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МегаМаркет · Ultramarket · ЕКО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4368" y="5235854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90288" y="5235854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21808" y="5235854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19088" y="5235854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55279" y="5235854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" y="5493715"/>
            <a:ext cx="23774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Епіцентр · «Ідеал»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5493715"/>
            <a:ext cx="16459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національна / регіон.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90288" y="5493715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21808" y="5493715"/>
            <a:ext cx="10058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419088" y="5493715"/>
            <a:ext cx="1371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55279" y="5493715"/>
            <a:ext cx="3675887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 spc="-10">
                <a:solidFill>
                  <a:srgbClr val="303A5D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6692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56692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41247" y="6400800"/>
            <a:ext cx="29992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грн.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315968" y="5961888"/>
            <a:ext cx="3547872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4315968" y="5961888"/>
            <a:ext cx="41148" cy="8229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590288" y="6400800"/>
            <a:ext cx="29992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065008" y="5961888"/>
            <a:ext cx="356616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8065008" y="5961888"/>
            <a:ext cx="41148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39328" y="640080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 Найімовірніше, один постачальник на дві мережі.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скільки точок у кожному каналі перевірено у зрізі.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12064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ТОЧОК ПРОДАЖУ В КАНАЛІ · ПЕРЕВІРЕНО У ЗРІЗІ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29184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643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8598" y="329184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87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2948" y="329184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305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27298" y="329184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901952"/>
            <a:ext cx="5486" cy="1353312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41648" y="329184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Продуктові мережі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0008" y="2048256"/>
            <a:ext cx="1851660" cy="20116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4820" y="2066544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18  ·  13 мають рамен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491740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50008" y="2468880"/>
            <a:ext cx="514350" cy="201168"/>
          </a:xfrm>
          <a:prstGeom prst="rect">
            <a:avLst/>
          </a:prstGeom>
          <a:solidFill>
            <a:srgbClr val="1E8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37510" y="2487168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912364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Маркетплейси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0008" y="2889504"/>
            <a:ext cx="411480" cy="201168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34640" y="2907792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1645920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1645920"/>
            <a:ext cx="41148" cy="115214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1737360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40112" y="1737360"/>
            <a:ext cx="149961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40112" y="1764792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1975104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55664" y="2139696"/>
            <a:ext cx="49560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тримає 4 позиції на всю мережу.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578608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907792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217920" y="2907792"/>
            <a:ext cx="41148" cy="11521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55664" y="2999232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2999232"/>
            <a:ext cx="1499616" cy="2011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040112" y="3026664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5664" y="3236976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5664" y="3401568"/>
            <a:ext cx="49560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Prom · Rozetka · MAUDAU · Bigl. Медіана в категорії «локшина рамен» на Prom — 135 грн, мінімум 80 грн.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3840480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169663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4169663"/>
            <a:ext cx="41148" cy="115214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55664" y="4261103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40112" y="4261103"/>
            <a:ext cx="149961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40112" y="4288536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55664" y="4498848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55664" y="4663440"/>
            <a:ext cx="49560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Корейський рамен 61–158 грн, ядро 92–135 грн.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102352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5431536"/>
            <a:ext cx="5413248" cy="11521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217920" y="5431536"/>
            <a:ext cx="41148" cy="1152144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55664" y="5522976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40112" y="5522976"/>
            <a:ext cx="1499616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040112" y="5550408"/>
            <a:ext cx="1499616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2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55664" y="5760720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55664" y="5925312"/>
            <a:ext cx="4956048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55664" y="6364224"/>
            <a:ext cx="495604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за формулою вкладок «Цена 120 грн».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маржа 30 %.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 (курс 51,20; бонус 25 %;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пачки, грн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ГРН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145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FFFFFF"/>
                </a:solidFill>
                <a:latin typeface="Segoe UI"/>
              </a:rPr>
              <a:t>122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FFFFFF"/>
                </a:solidFill>
                <a:latin typeface="Segoe UI"/>
              </a:rPr>
              <a:t>108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152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140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130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102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90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113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124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101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74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80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126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108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88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137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122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134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102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114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ГРН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каналах: де стоїть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(риска); ціна пачки, грн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319272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489704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396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6964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468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5036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540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108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8612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1180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6684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52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4756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324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2828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5396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900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4679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148840"/>
            <a:ext cx="5486" cy="351129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0" y="5705855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1783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60" y="1783080"/>
            <a:ext cx="978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" y="22311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243230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4140" y="2418588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49762" y="2331720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23739" y="2286000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6267" y="215798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33206" y="235915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3317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52760" y="233172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28163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30175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63240" y="3003804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70436" y="2916936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38012" y="2871216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90540" y="274320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88476" y="294436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6920" y="29169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52760" y="2916936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340156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656" y="36027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фудшоп · категорія «лапша рамен»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16248" y="3589020"/>
            <a:ext cx="2722880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37328" y="3502151"/>
            <a:ext cx="884936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1688" y="345643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84215" y="3328415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12280" y="352958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148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46920" y="350215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60" y="3502152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73 %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656" y="398678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6656" y="4187951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фудшоп · рамен швидкого приготування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41852" y="4174235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41544" y="4087368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5724" y="404164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318252" y="391363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31252" y="411480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46920" y="408736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52760" y="4087368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6656" y="457200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6656" y="477316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фудшоп · корейський рамьон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77996" y="4759452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50283" y="4672584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813780" y="4626864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66308" y="449884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52640" y="470001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46920" y="4672584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52760" y="4672584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6656" y="515721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6656" y="535838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маркетплейс · пошук «рамен»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24680" y="5344668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079873" y="5257800"/>
            <a:ext cx="1642237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597652" y="5212080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50180" y="508406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548116" y="5285232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46920" y="52578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52760" y="525780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64 %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8804" y="2093976"/>
            <a:ext cx="16459" cy="36027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28920" y="192938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478244" y="2093976"/>
            <a:ext cx="16459" cy="3602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302679" y="1929384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140,55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zakaz.ua і «Сільпо» 29.09.2026, медіана ціни позиції по магазинах мережі. Фудшопи й Prom.ua: сторінки категорій, жовтень 2026; без пропозицій дорожче 250 грн (мультипаки). Prom.ua — одна сторінка видачі, Rozetka, MAUDAU і Bigl цінових даних не дали.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53312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33502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65376" y="1353312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6544" y="1335024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58084" y="1353312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9252" y="1335024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0791" y="1353312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335024"/>
            <a:ext cx="9829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1335024"/>
            <a:ext cx="21214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ДО 120 ГРН · ПОЗИЦІЙ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79222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1783080"/>
            <a:ext cx="329184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1805939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329184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805939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79222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1801368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05282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043684"/>
            <a:ext cx="4718304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2066544"/>
            <a:ext cx="4718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70064" y="2043684"/>
            <a:ext cx="1536192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0064" y="206654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06256" y="2043684"/>
            <a:ext cx="109728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15984" y="2043684"/>
            <a:ext cx="219456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205282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27080" y="2061972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31343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2304287"/>
            <a:ext cx="164592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2327148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2304287"/>
            <a:ext cx="438912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97680" y="2327148"/>
            <a:ext cx="4389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2304287"/>
            <a:ext cx="54864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32714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31343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2322575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57403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2564891"/>
            <a:ext cx="3762102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0" y="2587752"/>
            <a:ext cx="376210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13862" y="2564891"/>
            <a:ext cx="1881051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3862" y="2587752"/>
            <a:ext cx="188105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94914" y="2564891"/>
            <a:ext cx="940525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4914" y="2587752"/>
            <a:ext cx="94052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25740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7080" y="2583179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2834639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51760" y="2825495"/>
            <a:ext cx="2304288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51760" y="2848356"/>
            <a:ext cx="230428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56048" y="2825495"/>
            <a:ext cx="2523744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56048" y="2848356"/>
            <a:ext cx="252374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79792" y="2825495"/>
            <a:ext cx="1536192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79792" y="2848356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15984" y="2825495"/>
            <a:ext cx="219456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0" y="28346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73 %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27080" y="284378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309524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51760" y="3086099"/>
            <a:ext cx="182880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1760" y="310896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80560" y="3086099"/>
            <a:ext cx="237744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60" y="3108960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3086099"/>
            <a:ext cx="365759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23760" y="3086099"/>
            <a:ext cx="201168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23760" y="310896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09760" y="309524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64 %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27080" y="310438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36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335584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651760" y="3346703"/>
            <a:ext cx="1431234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0" y="3369564"/>
            <a:ext cx="143123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82994" y="3346703"/>
            <a:ext cx="2576222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82994" y="3369564"/>
            <a:ext cx="2576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59217" y="3346703"/>
            <a:ext cx="2003728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659217" y="3369564"/>
            <a:ext cx="2003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62946" y="3346703"/>
            <a:ext cx="572493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62946" y="3369564"/>
            <a:ext cx="57249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09760" y="335584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927080" y="3364991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361645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651760" y="3607308"/>
            <a:ext cx="192024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651760" y="363016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0" y="3607308"/>
            <a:ext cx="192024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0" y="363016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92240" y="3607308"/>
            <a:ext cx="192024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492240" y="3630168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412480" y="3607308"/>
            <a:ext cx="82296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12480" y="363016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509760" y="361645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927080" y="362559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3877055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651760" y="3867911"/>
            <a:ext cx="219456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51760" y="3890771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846320" y="3867911"/>
            <a:ext cx="109728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846320" y="3890771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43600" y="3867911"/>
            <a:ext cx="274320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43600" y="3890771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86800" y="3867911"/>
            <a:ext cx="54864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86800" y="389077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509760" y="387705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3886199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4137659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51760" y="4128515"/>
            <a:ext cx="219456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51760" y="4151375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846320" y="4128515"/>
            <a:ext cx="109728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846320" y="4151375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943600" y="4128515"/>
            <a:ext cx="274320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943600" y="4151375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86800" y="4128515"/>
            <a:ext cx="54864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686800" y="4151375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509760" y="413765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27080" y="414680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39826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651760" y="4389120"/>
            <a:ext cx="219456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651760" y="4411979"/>
            <a:ext cx="2194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846320" y="4389120"/>
            <a:ext cx="109728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846320" y="4411979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943600" y="4389120"/>
            <a:ext cx="329184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943600" y="4411979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509760" y="439826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927080" y="440740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66928" y="465886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651760" y="4649724"/>
            <a:ext cx="329184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651760" y="4672583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943600" y="4649724"/>
            <a:ext cx="164592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943600" y="467258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589520" y="4649724"/>
            <a:ext cx="164592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589520" y="467258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509760" y="465886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27080" y="4668012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491947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651760" y="4910328"/>
            <a:ext cx="246888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51760" y="493318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120640" y="4910328"/>
            <a:ext cx="82296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120640" y="493318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43600" y="4910328"/>
            <a:ext cx="246888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43600" y="4933188"/>
            <a:ext cx="2468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412480" y="4910328"/>
            <a:ext cx="82296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412480" y="4933188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509760" y="491947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27080" y="492861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66928" y="518007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651760" y="5170932"/>
            <a:ext cx="822960" cy="20573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651760" y="5193792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474720" y="5170932"/>
            <a:ext cx="137160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474720" y="51937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846320" y="5170932"/>
            <a:ext cx="164592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846320" y="5193792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492240" y="5170932"/>
            <a:ext cx="274320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92240" y="5193792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09760" y="518007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927080" y="51892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6928" y="544068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651760" y="5431536"/>
            <a:ext cx="1012873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651760" y="5454396"/>
            <a:ext cx="101287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664633" y="5431536"/>
            <a:ext cx="2532184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64633" y="5454396"/>
            <a:ext cx="2532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96818" y="5431536"/>
            <a:ext cx="3038621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96818" y="5454396"/>
            <a:ext cx="303862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509760" y="544068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927080" y="5449824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66928" y="5701283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2651760" y="5692140"/>
            <a:ext cx="1012873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2651760" y="5714999"/>
            <a:ext cx="101287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664633" y="5692140"/>
            <a:ext cx="2532184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664633" y="5714999"/>
            <a:ext cx="2532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196818" y="5692140"/>
            <a:ext cx="3038621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196818" y="5714999"/>
            <a:ext cx="303862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509760" y="570128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0927080" y="571042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66928" y="596188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651760" y="5952744"/>
            <a:ext cx="822960" cy="205739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651760" y="5975603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474720" y="5952744"/>
            <a:ext cx="4114800" cy="205739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474720" y="5975603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589520" y="5952744"/>
            <a:ext cx="1645920" cy="205739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89520" y="5975603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509760" y="59618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927080" y="5971031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частка унікальних позицій (EAN) за медіанною ціною в мережі, 29.09.2026; «Сільпо» — 4 позиції. Фудшопи й Prom.ua — пропозиції зі сторінок категорій (до 250 грн), жовтень 2026. Числа в сегментах — % пропозицій.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ПОТОЧНА ПОЛИЦЯ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на полиці зараз проти цілі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115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2324" y="1298448"/>
            <a:ext cx="12573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298448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02452" y="1316736"/>
            <a:ext cx="146304" cy="128016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03620" y="1298448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Націнка магазину 40 %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7556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066543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Vegetable · Spicy · Beef · Chicken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267711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112,5–113 г · закупівля SIAS €0,65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2048255"/>
            <a:ext cx="1271504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57984"/>
            <a:ext cx="12715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7100" y="2048255"/>
            <a:ext cx="700295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7100" y="2157984"/>
            <a:ext cx="7002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11111" y="2048255"/>
            <a:ext cx="843097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1111" y="2157984"/>
            <a:ext cx="84309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67924" y="2048255"/>
            <a:ext cx="1128701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7924" y="2157984"/>
            <a:ext cx="112870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0070" y="2066543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140,55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0070" y="233172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+20,55 грн · +17 %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43199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Gouda Cheese · Carbonara Spicy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944368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123 і 131 г · закупівля SIAS €0,75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11880" y="2724911"/>
            <a:ext cx="1469230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2834639"/>
            <a:ext cx="14692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94826" y="2724911"/>
            <a:ext cx="810143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4826" y="2834639"/>
            <a:ext cx="810143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18685" y="2724911"/>
            <a:ext cx="974914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18685" y="2834639"/>
            <a:ext cx="97491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07316" y="2724911"/>
            <a:ext cx="1304458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7316" y="2834639"/>
            <a:ext cx="130445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5218" y="2743199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162,18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5218" y="3008375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+42,18 грн · +35 %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58444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895344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Vegetable · Spicy · Beef · Chicken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096512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112,5–113 г · закупівля SIAS €0,65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3877056"/>
            <a:ext cx="1638065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1880" y="3986784"/>
            <a:ext cx="16380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63661" y="3877056"/>
            <a:ext cx="903940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63661" y="3986784"/>
            <a:ext cx="9039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81318" y="3877056"/>
            <a:ext cx="1087471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81318" y="3986784"/>
            <a:ext cx="1087471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82506" y="3877056"/>
            <a:ext cx="1454534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82506" y="3986784"/>
            <a:ext cx="145453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0485" y="3895344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180,64 грн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0485" y="4160520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+60,64 грн · +51 %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457200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Gouda Cheese · Carbonara Spicy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4773168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123 і 131 г · закупівля SIAS €0,75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11880" y="4553712"/>
            <a:ext cx="1892186" cy="42062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11880" y="4663440"/>
            <a:ext cx="18921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67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17782" y="4553712"/>
            <a:ext cx="1045118" cy="4206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17782" y="4663440"/>
            <a:ext cx="104511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76616" y="4553712"/>
            <a:ext cx="1256885" cy="42062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76616" y="4663440"/>
            <a:ext cx="125688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47218" y="4553712"/>
            <a:ext cx="1680419" cy="420624"/>
          </a:xfrm>
          <a:prstGeom prst="rect">
            <a:avLst/>
          </a:prstGeom>
          <a:solidFill>
            <a:srgbClr val="A9B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47218" y="4663440"/>
            <a:ext cx="16804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51081" y="4572000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spc="-10">
                <a:solidFill>
                  <a:srgbClr val="B53A3A"/>
                </a:solidFill>
                <a:latin typeface="Segoe UI"/>
              </a:rPr>
              <a:t>208,43 грн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51081" y="4837176"/>
            <a:ext cx="1737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+88,43 грн · +74 %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18324" y="1700784"/>
            <a:ext cx="16459" cy="349300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77000" y="5230368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ціль 120 грн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37560" y="50474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59960" y="50474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82360" y="50474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04760" y="50474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27160" y="50474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6928" y="5596128"/>
            <a:ext cx="11064240" cy="5669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6928" y="5596128"/>
            <a:ext cx="41148" cy="5669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5669280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Як рахується:  ціна партнеру = СС ÷ 0,45  (1 − бонус 25 % − маржа 30 %);   полиця = ціна партнеру × 1,40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5907024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СС 33 палети: 45,18 і 52,13 грн;  6 палет: 58,06 і 67,00 грн (Self-Cost, ПДВ вже в ціні).  Курс 51,20 грн/€. Числа в смугах — грн за пачку.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Фінмодель SIAS (вкладки «Финмодель 6 паллет» / «33 паллет», маржа 30 %); СС — Self-Cost_Sias.xlsx.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 ціль 120 → зараз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грн · до 120 грн включно: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72968" y="2048256"/>
            <a:ext cx="5486" cy="40965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62402" y="2020824"/>
            <a:ext cx="13716" cy="413308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72968" y="2093976"/>
            <a:ext cx="735386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24942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72968" y="2263140"/>
            <a:ext cx="77750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05333" y="22448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185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72968" y="2432304"/>
            <a:ext cx="79369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1531" y="241401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5877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72968" y="2601468"/>
            <a:ext cx="830414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58246" y="25831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27569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72968" y="2770632"/>
            <a:ext cx="903845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31677" y="27523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29260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72968" y="2939796"/>
            <a:ext cx="916803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44635" y="29215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09524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72968" y="3108960"/>
            <a:ext cx="961077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88909" y="309067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26440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72968" y="3278124"/>
            <a:ext cx="971336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99168" y="32598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343357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72968" y="3447288"/>
            <a:ext cx="99347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21305" y="342900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360273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72968" y="3616452"/>
            <a:ext cx="100103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28864" y="359816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77190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172968" y="3785616"/>
            <a:ext cx="100103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28864" y="376732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394106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72968" y="3954780"/>
            <a:ext cx="100319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31024" y="39364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11022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172968" y="4123944"/>
            <a:ext cx="1024789" cy="105155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52621" y="410565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27939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72968" y="4293107"/>
            <a:ext cx="1118197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46029" y="427481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44855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72968" y="4462271"/>
            <a:ext cx="1166251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94083" y="444398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6177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172968" y="4631435"/>
            <a:ext cx="1193248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21080" y="46131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78688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172968" y="4800599"/>
            <a:ext cx="1206746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434578" y="478231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495604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72968" y="4969763"/>
            <a:ext cx="1226724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454556" y="495147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512521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72968" y="5138927"/>
            <a:ext cx="126343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91271" y="512063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529437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172968" y="5308091"/>
            <a:ext cx="1274238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2070" y="528980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66928" y="5445251"/>
            <a:ext cx="5440680" cy="16916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" y="54635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72968" y="5477255"/>
            <a:ext cx="1295835" cy="10515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468803" y="5477255"/>
            <a:ext cx="221911" cy="105155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745579" y="5458967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120 → 140,55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66928" y="5614415"/>
            <a:ext cx="5440680" cy="16916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563270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172968" y="5646419"/>
            <a:ext cx="1295835" cy="10515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68803" y="5646419"/>
            <a:ext cx="455486" cy="105155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79153" y="5628131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120 → 162,18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80186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172968" y="5815583"/>
            <a:ext cx="1349828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7660" y="579729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97103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984747"/>
            <a:ext cx="1386543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14375" y="596645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44368" y="616305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592285" y="616305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240203" y="616305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888121" y="616305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грн · до 120 грн включно: 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42248" y="2048256"/>
            <a:ext cx="5486" cy="1728216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105556" y="2020824"/>
            <a:ext cx="13716" cy="176479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236208" y="3076956"/>
            <a:ext cx="5394960" cy="169164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272784" y="309524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842248" y="3108960"/>
            <a:ext cx="1269709" cy="105155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111957" y="3108960"/>
            <a:ext cx="446302" cy="105155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613124" y="309067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120 → 162,18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36208" y="326440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842248" y="3278124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367859" y="325983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236208" y="343357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842248" y="3447288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645502" y="342900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236208" y="360273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8842248" y="3616452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1068844" y="359816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613648" y="379476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248502" y="379476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883357" y="379476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18212" y="379476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236208" y="3959352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236208" y="4142232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грн · до 120 грн включно: 3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842248" y="4361688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0105556" y="4334256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236208" y="439369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842248" y="4407408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984829" y="438912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36208" y="456285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842248" y="4576572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045141" y="455828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236208" y="47320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842248" y="4745736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166821" y="47274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236208" y="490118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842248" y="4914899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198564" y="489661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236208" y="507034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842248" y="5084063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342464" y="506577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236208" y="523951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842248" y="5253227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355161" y="523493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613648" y="54315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248502" y="54315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9883357" y="54315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0518212" y="54315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грн. SIAS: світла частина смуги — поточна полиця за фінмоделлю (33 палети).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ГРН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ГРН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3944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687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8044" y="1627632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2651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8331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16382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2062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0114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5794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3845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9525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7577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3257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1308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6988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084831"/>
            <a:ext cx="5486" cy="386791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5998464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13055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313432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6408" y="2203703"/>
            <a:ext cx="783706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80114" y="2203703"/>
            <a:ext cx="71878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27728" y="2103120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53408" y="2267712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3762" y="210312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53762" y="2267712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256032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74320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61330" y="2633472"/>
            <a:ext cx="718783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80114" y="2633472"/>
            <a:ext cx="37098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2650" y="2532888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18330" y="269748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5963" y="253288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5963" y="269748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2990087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317296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51758" y="3063239"/>
            <a:ext cx="628356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80114" y="3063239"/>
            <a:ext cx="834716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83078" y="296265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08758" y="312724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69694" y="296265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69694" y="312724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419855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3602735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65670" y="3493007"/>
            <a:ext cx="614444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80114" y="3493007"/>
            <a:ext cx="148394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96990" y="3392423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2670" y="3557015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8918" y="3392423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18918" y="3557015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6928" y="38496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0325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76501" y="3922776"/>
            <a:ext cx="503612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80114" y="3922776"/>
            <a:ext cx="208679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07821" y="3822191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533501" y="3986784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443657" y="382219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3657" y="3986784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427939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4462271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76501" y="4352543"/>
            <a:ext cx="503612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80114" y="4352543"/>
            <a:ext cx="92746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07821" y="4251959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533501" y="4416551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27724" y="4251959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27724" y="4416551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70915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66928" y="4892040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14064" y="4782312"/>
            <a:ext cx="46605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80114" y="4782312"/>
            <a:ext cx="71878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45384" y="4681727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71064" y="484632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53762" y="4681727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53762" y="4846320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513892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32180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839271" y="5212080"/>
            <a:ext cx="340842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80114" y="5212080"/>
            <a:ext cx="23186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70591" y="511149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96271" y="5276088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58164" y="511149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8164" y="52760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5568695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5751575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37485" y="5641847"/>
            <a:ext cx="530972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68805" y="5541263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94485" y="5705855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3321" y="5541263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3321" y="5705855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172799" y="2039112"/>
            <a:ext cx="16459" cy="3941063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722914" y="18653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ціль 120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49283" y="2039112"/>
            <a:ext cx="16459" cy="3941063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65158" y="1865376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зараз 140,55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818120" y="13898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ГРН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81812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019288" y="16276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3368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134856" y="1627632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818120" y="2084831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818120" y="2286000"/>
            <a:ext cx="3349591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222575" y="22677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18120" y="2450591"/>
            <a:ext cx="1732354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05338" y="2432303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90  (−48 %) · «Сільпо»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18120" y="2724911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818120" y="2926079"/>
            <a:ext cx="3349591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222575" y="29077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818120" y="3090671"/>
            <a:ext cx="1732354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605338" y="3072383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90  (−48 %) · «Сільпо»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18120" y="3364991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818120" y="3566160"/>
            <a:ext cx="3422743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1295727" y="354787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818120" y="3730752"/>
            <a:ext cx="2088682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961666" y="3712463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108  (−39 %) · Ашан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818120" y="4005072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818120" y="4206240"/>
            <a:ext cx="2781701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654685" y="41879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818120" y="4370832"/>
            <a:ext cx="1788373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61357" y="435254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93  (−36 %) · «Торба»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18120" y="4645152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818120" y="4846320"/>
            <a:ext cx="1840350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713334" y="48280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818120" y="5010912"/>
            <a:ext cx="1414913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287897" y="499262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74  (−23 %) · Ашан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818120" y="5285232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18120" y="5486400"/>
            <a:ext cx="28163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0689336" y="54681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818120" y="5650992"/>
            <a:ext cx="2165684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38668" y="5632704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112  (−23 %) · Ашан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 (здебільшого «Ашан», «Сільпо»), тому акцій насправді більше. Червона лінія — 120 грн.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ПОТРІБНА ЗАКУПІВЛЯ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для полиці 120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2588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 · 52 800 ПАЧОК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27101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5968" y="13075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запит</a:t>
            </a:r>
          </a:p>
          <a:p>
            <a:pPr algn="ctr">
              <a:lnSpc>
                <a:spcPct val="100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SIAS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088" y="134416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spc="-10">
                <a:solidFill>
                  <a:srgbClr val="FFFFFF"/>
                </a:solidFill>
                <a:latin typeface="Segoe UI"/>
              </a:rPr>
              <a:t>€0,54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263139"/>
            <a:ext cx="5440680" cy="109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89403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€0,75 (Gouda, Carbonara)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83179"/>
            <a:ext cx="5440680" cy="109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09444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€0,65 (Vegetable, Spicy, Beef, Chicken)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663440"/>
            <a:ext cx="5440680" cy="91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2252424"/>
            <a:ext cx="713232" cy="2411015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06954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Макс. СС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пачки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71650" y="2252424"/>
            <a:ext cx="713232" cy="58805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88770" y="2338661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34490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Фінан-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сування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2,5 %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4932" y="2311229"/>
            <a:ext cx="713232" cy="27567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2052" y="261433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−€0,086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7772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Витрати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партії на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пачку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98214" y="2586900"/>
            <a:ext cx="713232" cy="346089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15334" y="2960422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−€0,108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1054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ПДВ 20 %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11496" y="2932990"/>
            <a:ext cx="713232" cy="1730449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28616" y="2750110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€0,541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4336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Макс.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132588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 · 9 600 ПАЧОК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9528" y="1271016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9528" y="1307592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запит</a:t>
            </a:r>
          </a:p>
          <a:p>
            <a:pPr algn="ctr">
              <a:lnSpc>
                <a:spcPct val="100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SIAS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99647" y="134416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spc="-10">
                <a:solidFill>
                  <a:srgbClr val="FFFFFF"/>
                </a:solidFill>
                <a:latin typeface="Segoe UI"/>
              </a:rPr>
              <a:t>€0,32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0488" y="2263139"/>
            <a:ext cx="5440680" cy="109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2089403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€0,75 (Gouda, Carbonara)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0488" y="2583179"/>
            <a:ext cx="5440680" cy="109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2409444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€0,65 (Vegetable, Spicy, Beef, Chicken)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0488" y="4663440"/>
            <a:ext cx="5440680" cy="91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1927" y="2252424"/>
            <a:ext cx="713232" cy="2411015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9047" y="2069544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€0,753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7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Макс. СС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пачки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95209" y="2252424"/>
            <a:ext cx="713232" cy="58805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2329" y="2338661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49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Фінан-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сування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2,5 %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08491" y="2311229"/>
            <a:ext cx="713232" cy="1098137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5611" y="3436798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−€0,343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1331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Витрати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партії на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пачку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21773" y="3409366"/>
            <a:ext cx="713232" cy="209012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38893" y="3645811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−€0,065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4613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ПДВ 20 %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735055" y="3618379"/>
            <a:ext cx="713232" cy="104506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52175" y="3435499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€0,327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97895" y="4718303"/>
            <a:ext cx="9875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Макс.</a:t>
            </a:r>
          </a:p>
          <a:p>
            <a:pPr algn="ctr">
              <a:lnSpc>
                <a:spcPct val="10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44068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ЗНИЖЕННЯ ВІД ПОТОЧНОЇ ЗАКУПІВЛІ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573328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Vegetable · Spicy · Beef · Chicken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66160" y="573328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зараз €0,65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0" y="5687568"/>
            <a:ext cx="3108960" cy="292608"/>
          </a:xfrm>
          <a:prstGeom prst="roundRect">
            <a:avLst>
              <a:gd name="adj" fmla="val 2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5742431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FFFFFF"/>
                </a:solidFill>
                <a:latin typeface="Segoe UI"/>
              </a:rPr>
              <a:t>33 палети: €0,54 (−17 %)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0" y="5687568"/>
            <a:ext cx="3108960" cy="292608"/>
          </a:xfrm>
          <a:prstGeom prst="roundRect">
            <a:avLst>
              <a:gd name="adj" fmla="val 2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5742431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FFFFFF"/>
                </a:solidFill>
                <a:latin typeface="Segoe UI"/>
              </a:rPr>
              <a:t>6 палет: €0,32 (−51 %)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" y="6099048"/>
            <a:ext cx="2926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1" spc="-10">
                <a:solidFill>
                  <a:srgbClr val="303A5D"/>
                </a:solidFill>
                <a:latin typeface="Segoe UI"/>
              </a:rPr>
              <a:t>Gouda Cheese · Carbonara Spicy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6160" y="60990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spc="-10">
                <a:solidFill>
                  <a:srgbClr val="717890"/>
                </a:solidFill>
                <a:latin typeface="Segoe UI"/>
              </a:rPr>
              <a:t>зараз €0,75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0" y="6053328"/>
            <a:ext cx="3108960" cy="292608"/>
          </a:xfrm>
          <a:prstGeom prst="roundRect">
            <a:avLst>
              <a:gd name="adj" fmla="val 2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0" y="61081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FFFFFF"/>
                </a:solidFill>
                <a:latin typeface="Segoe UI"/>
              </a:rPr>
              <a:t>33 палети: €0,54 (−28 %)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1040" y="6053328"/>
            <a:ext cx="3108960" cy="292608"/>
          </a:xfrm>
          <a:prstGeom prst="roundRect">
            <a:avLst>
              <a:gd name="adj" fmla="val 2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6108192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FFFFFF"/>
                </a:solidFill>
                <a:latin typeface="Segoe UI"/>
              </a:rPr>
              <a:t>6 палет: €0,32 (−57 %)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492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120 грн ÷ 1,40 = 85,71 грн ціна партнеру → × 45 % = 38,57 грн макс. СС = €0,753 (курс 51,20). Бонус 25 %, маржа 30 %, ПДВ 20 %, мито 0 %. Запит округлено вниз до євроцента; згоди SIAS немає.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5856</Words>
  <Application>Microsoft Office PowerPoint</Application>
  <PresentationFormat>Широкий екран</PresentationFormat>
  <Paragraphs>1760</Paragraphs>
  <Slides>27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1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2026-10-06T15:06:11Z</dcterms:modified>
  <cp:category/>
</cp:coreProperties>
</file>